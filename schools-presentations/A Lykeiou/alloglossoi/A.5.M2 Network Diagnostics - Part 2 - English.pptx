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D5E855-F43B-4885-8213-F92709BA1A58}" v="1" dt="2026-10-17T14:23:28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addSld modSld sldOrd">
      <pc:chgData name="Άριστος Αρέστη" userId="813aa191-2d4c-464f-9d05-0a7e494d859f" providerId="ADAL" clId="{49C7B61D-1ACF-4AFF-A04E-A3B433E32474}" dt="2026-10-17T14:23:32.297" v="2"/>
      <pc:docMkLst>
        <pc:docMk/>
      </pc:docMkLst>
      <pc:sldChg chg="add ord">
        <pc:chgData name="Άριστος Αρέστη" userId="813aa191-2d4c-464f-9d05-0a7e494d859f" providerId="ADAL" clId="{49C7B61D-1ACF-4AFF-A04E-A3B433E32474}" dt="2026-10-17T14:23:32.297" v="2"/>
        <pc:sldMkLst>
          <pc:docMk/>
          <pc:sldMk cId="1831915996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A4.M2 Πολυμέσα-Ήχος(2).pptx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 και Φύλλο Εργασίας A.5.M2, σχολικά βιβλία Πληροφορικής Α΄ Λυκείου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17-Oct-26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5ZCvW1XSX_E?feature=oembe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Network diagnostics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619125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What is a subnet?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0" name="Clean content 1">
            <a:extLst>
              <a:ext uri="{FF2B5EF4-FFF2-40B4-BE49-F238E27FC236}">
                <a16:creationId xmlns:a16="http://schemas.microsoft.com/office/drawing/2014/main" id="{6FE0B811-E5C7-4C97-BAB9-3623DFC602F6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CE5C69-A305-40F9-A980-FACB9EDD9A99}"/>
              </a:ext>
            </a:extLst>
          </p:cNvPr>
          <p:cNvSpPr>
            <a:spLocks noGrp="1"/>
          </p:cNvSpPr>
          <p:nvPr/>
        </p:nvSpPr>
        <p:spPr>
          <a:xfrm>
            <a:off x="685800" y="1324504"/>
            <a:ext cx="1028700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>
                <a:solidFill>
                  <a:srgbClr val="333333"/>
                </a:solidFill>
              </a:defRPr>
            </a:defPPr>
          </a:lstStyle>
          <a:p>
            <a:pPr>
              <a:buNone/>
              <a:defRPr sz="1875">
                <a:solidFill>
                  <a:srgbClr val="333333"/>
                </a:solidFill>
              </a:defRPr>
            </a:pPr>
            <a:r>
              <a:rPr sz="1875">
                <a:solidFill>
                  <a:srgbClr val="333333"/>
                </a:solidFill>
              </a:rPr>
              <a:t>A subnet is a group of devices whose IP addresses share the same network portion.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F16AD20-5B5D-40C5-854C-B8018814BE88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10096500" cy="857250"/>
          </a:xfrm>
          <a:prstGeom prst="roundRect">
            <a:avLst>
              <a:gd name="adj" fmla="val 16129"/>
            </a:avLst>
          </a:prstGeom>
          <a:solidFill>
            <a:srgbClr val="E8F7FC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23566A"/>
                </a:solidFill>
              </a:defRPr>
            </a:defPPr>
          </a:lstStyle>
          <a:p>
            <a:pPr algn="ctr">
              <a:buNone/>
              <a:defRPr sz="1725" b="1">
                <a:solidFill>
                  <a:srgbClr val="23566A"/>
                </a:solidFill>
              </a:defRPr>
            </a:pPr>
            <a:r>
              <a:rPr sz="1725" b="1">
                <a:solidFill>
                  <a:srgbClr val="23566A"/>
                </a:solidFill>
              </a:rPr>
              <a:t>Mask 255.255.255.0 (/24): the first three parts of the IP address identify the network.</a:t>
            </a:r>
          </a:p>
          <a:p>
            <a:pPr algn="ctr">
              <a:buNone/>
              <a:defRPr sz="1725" b="1">
                <a:solidFill>
                  <a:srgbClr val="23566A"/>
                </a:solidFill>
              </a:defRPr>
            </a:pPr>
            <a:r>
              <a:rPr sz="1725" b="1">
                <a:solidFill>
                  <a:srgbClr val="23566A"/>
                </a:solidFill>
              </a:rPr>
              <a:t>255 = the same part for all devices</a:t>
            </a:r>
          </a:p>
          <a:p>
            <a:pPr algn="ctr">
              <a:buNone/>
              <a:defRPr sz="1725" b="1">
                <a:solidFill>
                  <a:srgbClr val="23566A"/>
                </a:solidFill>
              </a:defRPr>
            </a:pPr>
            <a:r>
              <a:rPr sz="1725" b="1">
                <a:solidFill>
                  <a:srgbClr val="23566A"/>
                </a:solidFill>
              </a:rPr>
              <a:t>0 = different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831978E-9FE4-4437-BCD6-3ACBF61892C1}"/>
              </a:ext>
            </a:extLst>
          </p:cNvPr>
          <p:cNvGraphicFramePr/>
          <p:nvPr/>
        </p:nvGraphicFramePr>
        <p:xfrm>
          <a:off x="781050" y="3048000"/>
          <a:ext cx="10096500" cy="223837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Device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IP Address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Network (/24)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Relation to PC A</a:t>
                      </a:r>
                    </a:p>
                  </a:txBody>
                  <a:tcPr marL="95250" marR="95250" marT="66675" marB="66675" anchor="ctr">
                    <a:solidFill>
                      <a:srgbClr val="2C83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PC 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Reference device</a:t>
                      </a:r>
                    </a:p>
                  </a:txBody>
                  <a:tcPr marL="95250" marR="95250" marT="66675" marB="66675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PC B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192.168.1.25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6733D"/>
                          </a:solidFill>
                        </a:rPr>
                        <a:t>Same subnet</a:t>
                      </a:r>
                    </a:p>
                  </a:txBody>
                  <a:tcPr marL="95250" marR="95250" marT="66675" marB="66675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Printer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192.168.1.0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6733D"/>
                          </a:solidFill>
                        </a:rPr>
                        <a:t>Same subnet</a:t>
                      </a:r>
                    </a:p>
                  </a:txBody>
                  <a:tcPr marL="95250" marR="95250" marT="66675" marB="66675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Laptop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192.168.2.10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</a:rPr>
                        <a:t>192.168.2.0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12B25"/>
                          </a:solidFill>
                        </a:rPr>
                        <a:t>Different subnet</a:t>
                      </a:r>
                    </a:p>
                  </a:txBody>
                  <a:tcPr marL="95250" marR="95250" marT="66675" marB="66675" anchor="ctr">
                    <a:solidFill>
                      <a:srgbClr val="FCE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3B7D4317-995B-4191-88B1-10CDF29AD167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1009650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75" b="1">
                <a:solidFill>
                  <a:srgbClr val="333333"/>
                </a:solidFill>
              </a:defRPr>
            </a:defPPr>
          </a:lstStyle>
          <a:p>
            <a:pPr algn="l">
              <a:buNone/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192.168.1.10 and 192.168.1.25 communicate within the same subnet. Communication with 192.168.2.10 requires a router or Default Gateway.</a:t>
            </a:r>
          </a:p>
        </p:txBody>
      </p:sp>
    </p:spTree>
    <p:extLst>
      <p:ext uri="{BB962C8B-B14F-4D97-AF65-F5344CB8AC3E}">
        <p14:creationId xmlns:p14="http://schemas.microsoft.com/office/powerpoint/2010/main" val="284286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0C27-6CEF-EE3A-991A-0FC47EB8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DNS Server</a:t>
            </a:r>
            <a:br>
              <a:rPr lang="en-GB" dirty="0"/>
            </a:br>
            <a:endParaRPr lang="en-GB" dirty="0"/>
          </a:p>
        </p:txBody>
      </p:sp>
      <p:pic>
        <p:nvPicPr>
          <p:cNvPr id="3" name="Online Media 2" title="How DNS Works?">
            <a:hlinkClick r:id="" action="ppaction://media"/>
            <a:extLst>
              <a:ext uri="{FF2B5EF4-FFF2-40B4-BE49-F238E27FC236}">
                <a16:creationId xmlns:a16="http://schemas.microsoft.com/office/drawing/2014/main" id="{5E81F412-9C4C-4464-A133-B6659ACA415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184650" y="244475"/>
            <a:ext cx="3822700" cy="63690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FF0AB0-FAC4-7E9F-5452-8E2822BA1360}"/>
              </a:ext>
            </a:extLst>
          </p:cNvPr>
          <p:cNvGraphicFramePr>
            <a:graphicFrameLocks noGrp="1"/>
          </p:cNvGraphicFramePr>
          <p:nvPr/>
        </p:nvGraphicFramePr>
        <p:xfrm>
          <a:off x="203200" y="6631305"/>
          <a:ext cx="4152900" cy="182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558221169"/>
                    </a:ext>
                  </a:extLst>
                </a:gridCol>
              </a:tblGrid>
              <a:tr h="182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https://www.youtube.com/shorts/5ZCvW1XSX_E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7299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91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5905500" cy="7620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DNS Server</a:t>
            </a:r>
          </a:p>
        </p:txBody>
      </p:sp>
      <p:sp>
        <p:nvSpPr>
          <p:cNvPr id="7" name="Clean content 3">
            <a:extLst>
              <a:ext uri="{FF2B5EF4-FFF2-40B4-BE49-F238E27FC236}">
                <a16:creationId xmlns:a16="http://schemas.microsoft.com/office/drawing/2014/main" id="{67CB5BBD-28F4-4BB4-B66B-2ADB50A53ABD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089EB-B18F-4A43-846E-6987B5F12BC3}"/>
              </a:ext>
            </a:extLst>
          </p:cNvPr>
          <p:cNvSpPr>
            <a:spLocks noGrp="1"/>
          </p:cNvSpPr>
          <p:nvPr/>
        </p:nvSpPr>
        <p:spPr>
          <a:xfrm>
            <a:off x="781050" y="148590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800" b="0">
                <a:solidFill>
                  <a:srgbClr val="333333"/>
                </a:solidFill>
              </a:defRPr>
            </a:defPPr>
          </a:lstStyle>
          <a:p>
            <a:pPr algn="l">
              <a:buNone/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A DNS server matches a website name to the IP address of its server.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338F2D-351D-464A-AF6D-5EC183339EEA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2428875" cy="1666875"/>
          </a:xfrm>
          <a:prstGeom prst="roundRect">
            <a:avLst>
              <a:gd name="adj" fmla="val 6857"/>
            </a:avLst>
          </a:prstGeom>
          <a:solidFill>
            <a:srgbClr val="E8F7FC"/>
          </a:solidFill>
          <a:ln w="19050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23566A"/>
                </a:solidFill>
              </a:defRPr>
            </a:defPPr>
          </a:lstStyle>
          <a:p>
            <a:pPr algn="ctr">
              <a:buNone/>
              <a:defRPr sz="1800" b="1">
                <a:solidFill>
                  <a:srgbClr val="23566A"/>
                </a:solidFill>
              </a:defRPr>
            </a:pPr>
            <a:r>
              <a:rPr sz="1800" b="1">
                <a:solidFill>
                  <a:srgbClr val="23566A"/>
                </a:solidFill>
              </a:rPr>
              <a:t>Computer</a:t>
            </a:r>
          </a:p>
          <a:p>
            <a:pPr algn="ctr">
              <a:buNone/>
              <a:defRPr sz="1800" b="1">
                <a:solidFill>
                  <a:srgbClr val="23566A"/>
                </a:solidFill>
              </a:defRPr>
            </a:pPr>
            <a:endParaRPr sz="1800" b="1">
              <a:solidFill>
                <a:srgbClr val="23566A"/>
              </a:solidFill>
            </a:endParaRPr>
          </a:p>
          <a:p>
            <a:pPr algn="ctr">
              <a:buNone/>
              <a:defRPr sz="1800" b="1">
                <a:solidFill>
                  <a:srgbClr val="23566A"/>
                </a:solidFill>
              </a:defRPr>
            </a:pPr>
            <a:r>
              <a:rPr sz="1800" b="1">
                <a:solidFill>
                  <a:srgbClr val="23566A"/>
                </a:solidFill>
              </a:rPr>
              <a:t>www.example.com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7BCEF3-EC97-4B41-A892-3BCA445353F2}"/>
              </a:ext>
            </a:extLst>
          </p:cNvPr>
          <p:cNvSpPr>
            <a:spLocks noGrp="1"/>
          </p:cNvSpPr>
          <p:nvPr/>
        </p:nvSpPr>
        <p:spPr>
          <a:xfrm>
            <a:off x="4572000" y="2238375"/>
            <a:ext cx="3143250" cy="2238375"/>
          </a:xfrm>
          <a:prstGeom prst="roundRect">
            <a:avLst>
              <a:gd name="adj" fmla="val 5106"/>
            </a:avLst>
          </a:prstGeom>
          <a:solidFill>
            <a:srgbClr val="2C83A5"/>
          </a:solidFill>
          <a:ln w="19050">
            <a:solidFill>
              <a:srgbClr val="1F617B"/>
            </a:solidFill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FFFFFF"/>
                </a:solidFill>
              </a:defRPr>
            </a:defPPr>
          </a:lstStyle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DNS Server</a:t>
            </a:r>
          </a:p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endParaRPr sz="1650" b="1">
              <a:solidFill>
                <a:srgbClr val="FFFFFF"/>
              </a:solidFill>
            </a:endParaRPr>
          </a:p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Finds the match:</a:t>
            </a:r>
          </a:p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www.example.com</a:t>
            </a:r>
          </a:p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93.184.216.34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029D57-69A8-4971-B835-37DA3295BD67}"/>
              </a:ext>
            </a:extLst>
          </p:cNvPr>
          <p:cNvSpPr>
            <a:spLocks noGrp="1"/>
          </p:cNvSpPr>
          <p:nvPr/>
        </p:nvSpPr>
        <p:spPr>
          <a:xfrm>
            <a:off x="8810625" y="2524125"/>
            <a:ext cx="2095500" cy="1666875"/>
          </a:xfrm>
          <a:prstGeom prst="roundRect">
            <a:avLst>
              <a:gd name="adj" fmla="val 6857"/>
            </a:avLst>
          </a:prstGeom>
          <a:solidFill>
            <a:srgbClr val="E6F4EA"/>
          </a:solidFill>
          <a:ln w="19050">
            <a:solidFill>
              <a:srgbClr val="4C9B63"/>
            </a:solidFill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26733D"/>
                </a:solidFill>
              </a:defRPr>
            </a:defPPr>
          </a:lstStyle>
          <a:p>
            <a:pPr algn="ctr">
              <a:buNone/>
              <a:defRPr sz="1725" b="1">
                <a:solidFill>
                  <a:srgbClr val="26733D"/>
                </a:solidFill>
              </a:defRPr>
            </a:pPr>
            <a:r>
              <a:rPr sz="1725" b="1">
                <a:solidFill>
                  <a:srgbClr val="26733D"/>
                </a:solidFill>
              </a:rPr>
              <a:t>Web Server</a:t>
            </a:r>
          </a:p>
          <a:p>
            <a:endParaRPr sz="1725" b="1">
              <a:solidFill>
                <a:srgbClr val="26733D"/>
              </a:solidFill>
            </a:endParaRPr>
          </a:p>
          <a:p>
            <a:pPr algn="ctr">
              <a:buNone/>
              <a:defRPr sz="1725" b="1">
                <a:solidFill>
                  <a:srgbClr val="26733D"/>
                </a:solidFill>
              </a:defRPr>
            </a:pPr>
            <a:r>
              <a:rPr sz="1725" b="1">
                <a:solidFill>
                  <a:srgbClr val="26733D"/>
                </a:solidFill>
              </a:rPr>
              <a:t>93.184.216.34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12AA52-8F12-4894-B309-6B12C5318276}"/>
              </a:ext>
            </a:extLst>
          </p:cNvPr>
          <p:cNvSpPr>
            <a:spLocks noGrp="1"/>
          </p:cNvSpPr>
          <p:nvPr/>
        </p:nvSpPr>
        <p:spPr>
          <a:xfrm>
            <a:off x="3209925" y="2571750"/>
            <a:ext cx="138112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350" b="1">
                <a:solidFill>
                  <a:srgbClr val="23566A"/>
                </a:solidFill>
              </a:defRPr>
            </a:defPPr>
          </a:lstStyle>
          <a:p>
            <a:pPr algn="ctr">
              <a:buNone/>
              <a:defRPr sz="1350" b="1">
                <a:solidFill>
                  <a:srgbClr val="23566A"/>
                </a:solidFill>
              </a:defRPr>
            </a:pPr>
            <a:r>
              <a:rPr sz="1350" b="1">
                <a:solidFill>
                  <a:srgbClr val="23566A"/>
                </a:solidFill>
              </a:rPr>
              <a:t>1. What is the IP?  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327259-ED6A-4E90-8B3A-0EB6E9DFFDE7}"/>
              </a:ext>
            </a:extLst>
          </p:cNvPr>
          <p:cNvSpPr>
            <a:spLocks noGrp="1"/>
          </p:cNvSpPr>
          <p:nvPr/>
        </p:nvSpPr>
        <p:spPr>
          <a:xfrm>
            <a:off x="3209925" y="3381375"/>
            <a:ext cx="1381125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23566A"/>
                </a:solidFill>
              </a:defRPr>
            </a:defPPr>
          </a:lstStyle>
          <a:p>
            <a:pPr algn="ctr">
              <a:buNone/>
              <a:defRPr sz="1275" b="1">
                <a:solidFill>
                  <a:srgbClr val="23566A"/>
                </a:solidFill>
              </a:defRPr>
            </a:pPr>
            <a:r>
              <a:rPr sz="1275" b="1">
                <a:solidFill>
                  <a:srgbClr val="23566A"/>
                </a:solidFill>
              </a:rPr>
              <a:t>←  2. The IP is</a:t>
            </a:r>
          </a:p>
          <a:p>
            <a:pPr algn="ctr">
              <a:buNone/>
              <a:defRPr sz="1275" b="1">
                <a:solidFill>
                  <a:srgbClr val="23566A"/>
                </a:solidFill>
              </a:defRPr>
            </a:pPr>
            <a:r>
              <a:rPr sz="1275" b="1">
                <a:solidFill>
                  <a:srgbClr val="23566A"/>
                </a:solidFill>
              </a:rPr>
              <a:t>93.184.216.34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9FEEA-82BA-478F-BAC7-BBAD6E094570}"/>
              </a:ext>
            </a:extLst>
          </p:cNvPr>
          <p:cNvSpPr>
            <a:spLocks noGrp="1"/>
          </p:cNvSpPr>
          <p:nvPr/>
        </p:nvSpPr>
        <p:spPr>
          <a:xfrm>
            <a:off x="7686675" y="2905125"/>
            <a:ext cx="1143000" cy="838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350" b="1">
                <a:solidFill>
                  <a:srgbClr val="26733D"/>
                </a:solidFill>
              </a:defRPr>
            </a:defPPr>
          </a:lstStyle>
          <a:p>
            <a:pPr algn="ctr">
              <a:buNone/>
              <a:defRPr sz="1350" b="1">
                <a:solidFill>
                  <a:srgbClr val="26733D"/>
                </a:solidFill>
              </a:defRPr>
            </a:pPr>
            <a:r>
              <a:rPr sz="1350" b="1">
                <a:solidFill>
                  <a:srgbClr val="26733D"/>
                </a:solidFill>
              </a:rPr>
              <a:t>3. Connect</a:t>
            </a:r>
          </a:p>
          <a:p>
            <a:pPr algn="ctr">
              <a:buNone/>
              <a:defRPr sz="1350" b="1">
                <a:solidFill>
                  <a:srgbClr val="26733D"/>
                </a:solidFill>
              </a:defRPr>
            </a:pPr>
            <a:r>
              <a:rPr sz="1350" b="1">
                <a:solidFill>
                  <a:srgbClr val="26733D"/>
                </a:solidFill>
              </a:rPr>
              <a:t>using the IP  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CC7A9D-C4D2-4443-BD81-98D4436B6E60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10125075" cy="1000125"/>
          </a:xfrm>
          <a:prstGeom prst="roundRect">
            <a:avLst>
              <a:gd name="adj" fmla="val 9524"/>
            </a:avLst>
          </a:prstGeom>
          <a:solidFill>
            <a:srgbClr val="F3F4F6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333333"/>
                </a:solidFill>
              </a:defRPr>
            </a:defPPr>
          </a:lstStyle>
          <a:p>
            <a:pPr algn="ctr">
              <a:buNone/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Simplified example</a:t>
            </a:r>
          </a:p>
          <a:p>
            <a:pPr algn="ctr">
              <a:buNone/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Without DNS, users would have to remember the IP address of every website.</a:t>
            </a:r>
          </a:p>
        </p:txBody>
      </p:sp>
    </p:spTree>
    <p:extLst>
      <p:ext uri="{BB962C8B-B14F-4D97-AF65-F5344CB8AC3E}">
        <p14:creationId xmlns:p14="http://schemas.microsoft.com/office/powerpoint/2010/main" val="219190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Diagnostic commands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1ADE6AB2-31D4-43F8-8CB3-B978A6B5109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4A6DC372-EF3F-4BD2-A334-2CA08BBFF7D0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7C771E72-8C57-4BD4-A907-9EB09DBD5ECD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ipconfig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F6C81DD3-BB36-4F23-87B3-BA04996FEDA9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Displays the IP Address, Subnet Mask and Default Gateway.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56CDC298-5F75-4F10-AEA0-2EE2E608B715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nslookup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73831D10-FA81-4630-80A2-DF54065724DA}"/>
              </a:ext>
            </a:extLst>
          </p:cNvPr>
          <p:cNvSpPr>
            <a:spLocks noGrp="1"/>
          </p:cNvSpPr>
          <p:nvPr/>
        </p:nvSpPr>
        <p:spPr>
          <a:xfrm>
            <a:off x="781050" y="317182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Checks the computer's DNS settings.</a:t>
            </a:r>
            <a:endParaRPr sz="1650" b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FAD8B63B-9463-4F1E-9E70-0E1A7E576AB6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ping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B97222AA-170A-45DB-8311-5BF958D4B3D9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Checks whether a destination responds over the network.</a:t>
            </a:r>
          </a:p>
        </p:txBody>
      </p:sp>
      <p:sp>
        <p:nvSpPr>
          <p:cNvPr id="13" name="Block heading 4">
            <a:extLst>
              <a:ext uri="{FF2B5EF4-FFF2-40B4-BE49-F238E27FC236}">
                <a16:creationId xmlns:a16="http://schemas.microsoft.com/office/drawing/2014/main" id="{9B3DBC8C-A3A1-405D-ACE9-6FA8B6D5955A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tracert</a:t>
            </a:r>
          </a:p>
        </p:txBody>
      </p:sp>
      <p:sp>
        <p:nvSpPr>
          <p:cNvPr id="14" name="Block body 4">
            <a:extLst>
              <a:ext uri="{FF2B5EF4-FFF2-40B4-BE49-F238E27FC236}">
                <a16:creationId xmlns:a16="http://schemas.microsoft.com/office/drawing/2014/main" id="{CC22DC93-68B1-49EA-AB54-1E943502D4F4}"/>
              </a:ext>
            </a:extLst>
          </p:cNvPr>
          <p:cNvSpPr>
            <a:spLocks noGrp="1"/>
          </p:cNvSpPr>
          <p:nvPr/>
        </p:nvSpPr>
        <p:spPr>
          <a:xfrm>
            <a:off x="781050" y="517207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Displays the intermediate routers on the path to the destination.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1803C29-DF2A-4883-81B2-75BD68D86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488192"/>
            <a:ext cx="4905375" cy="264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7429500" cy="742950"/>
          </a:xfrm>
        </p:spPr>
        <p:txBody>
          <a:bodyPr vert="horz" lIns="91440" tIns="45720" rIns="91440" bIns="45720" anchor="t">
            <a:normAutofit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buNone/>
              <a:defRPr sz="3450">
                <a:solidFill>
                  <a:srgbClr val="5FCBEF"/>
                </a:solidFill>
              </a:defRPr>
            </a:pPr>
            <a:r>
              <a:rPr sz="3450">
                <a:solidFill>
                  <a:srgbClr val="5FCBEF"/>
                </a:solidFill>
              </a:rPr>
              <a:t>ipconfig (troubleshooting)</a:t>
            </a:r>
            <a:endParaRPr/>
          </a:p>
        </p:txBody>
      </p:sp>
      <p:sp>
        <p:nvSpPr>
          <p:cNvPr id="4" name="Clean content 2">
            <a:extLst>
              <a:ext uri="{FF2B5EF4-FFF2-40B4-BE49-F238E27FC236}">
                <a16:creationId xmlns:a16="http://schemas.microsoft.com/office/drawing/2014/main" id="{AA5D13AE-7AFA-4820-9A3F-59677945B128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7A68A-33DA-403F-BC2C-FAE3F8FABF24}"/>
              </a:ext>
            </a:extLst>
          </p:cNvPr>
          <p:cNvSpPr>
            <a:spLocks noGrp="1"/>
          </p:cNvSpPr>
          <p:nvPr/>
        </p:nvSpPr>
        <p:spPr>
          <a:xfrm>
            <a:off x="781050" y="1495425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buNone/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The commands display the computer's network settings in Windows. They do not change any settings.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6B83BC-0809-4C45-98AA-A9A02A04F0C7}"/>
              </a:ext>
            </a:extLst>
          </p:cNvPr>
          <p:cNvSpPr>
            <a:spLocks noGrp="1"/>
          </p:cNvSpPr>
          <p:nvPr/>
        </p:nvSpPr>
        <p:spPr>
          <a:xfrm>
            <a:off x="781050" y="2105025"/>
            <a:ext cx="10096500" cy="742950"/>
          </a:xfrm>
          <a:prstGeom prst="roundRect">
            <a:avLst>
              <a:gd name="adj" fmla="val 10256"/>
            </a:avLst>
          </a:prstGeom>
          <a:solidFill>
            <a:srgbClr val="163746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</a:defRPr>
            </a:defPPr>
          </a:lstStyle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ipconfig        basic information</a:t>
            </a:r>
          </a:p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ipconfig /all   full details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FDF35E-CFC4-42F1-9F35-075532B299D7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3566A"/>
                </a:solidFill>
              </a:defRPr>
            </a:pPr>
            <a:r>
              <a:rPr sz="1500" b="1">
                <a:solidFill>
                  <a:srgbClr val="23566A"/>
                </a:solidFill>
              </a:rPr>
              <a:t>Use: check whether the computer has the correct IP address, mask, gateway and DNS.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E7F15B-44F2-4174-BF0B-AC2867FE4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990852"/>
            <a:ext cx="9257873" cy="22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9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133BA-58A2-8811-3723-2649854FB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7429500" cy="742950"/>
          </a:xfrm>
        </p:spPr>
        <p:txBody>
          <a:bodyPr vert="horz" lIns="91440" tIns="45720" rIns="91440" bIns="45720" anchor="t">
            <a:normAutofit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buNone/>
              <a:defRPr sz="3450">
                <a:solidFill>
                  <a:srgbClr val="5FCBEF"/>
                </a:solidFill>
              </a:defRPr>
            </a:pPr>
            <a:r>
              <a:rPr sz="3450">
                <a:solidFill>
                  <a:srgbClr val="5FCBEF"/>
                </a:solidFill>
              </a:rPr>
              <a:t>nslookup (troubleshooting)</a:t>
            </a:r>
            <a:endParaRPr/>
          </a:p>
        </p:txBody>
      </p:sp>
      <p:sp>
        <p:nvSpPr>
          <p:cNvPr id="4" name="Clean content 2">
            <a:extLst>
              <a:ext uri="{FF2B5EF4-FFF2-40B4-BE49-F238E27FC236}">
                <a16:creationId xmlns:a16="http://schemas.microsoft.com/office/drawing/2014/main" id="{603478F7-C898-C183-15B6-F8F2631325C4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0F7599-C57A-60C5-2EE3-7CEE5E6BB11C}"/>
              </a:ext>
            </a:extLst>
          </p:cNvPr>
          <p:cNvSpPr>
            <a:spLocks noGrp="1"/>
          </p:cNvSpPr>
          <p:nvPr/>
        </p:nvSpPr>
        <p:spPr>
          <a:xfrm>
            <a:off x="355600" y="1428750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3566A"/>
                </a:solidFill>
              </a:defRPr>
            </a:pPr>
            <a:r>
              <a:rPr sz="1500" b="1">
                <a:solidFill>
                  <a:srgbClr val="23566A"/>
                </a:solidFill>
              </a:rPr>
              <a:t>displays the address of the DNS server that the computer will 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465EA7-8589-4D14-AB8E-31BEBDFB1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216150"/>
            <a:ext cx="7289800" cy="445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06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2" y="609600"/>
            <a:ext cx="5793327" cy="742950"/>
          </a:xfrm>
        </p:spPr>
        <p:txBody>
          <a:bodyPr vert="horz" lIns="91440" tIns="45720" rIns="91440" bIns="45720" anchor="t">
            <a:normAutofit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buNone/>
              <a:defRPr sz="3450">
                <a:solidFill>
                  <a:srgbClr val="5FCBEF"/>
                </a:solidFill>
              </a:defRPr>
            </a:pPr>
            <a:r>
              <a:rPr sz="3450">
                <a:solidFill>
                  <a:srgbClr val="5FCBEF"/>
                </a:solidFill>
              </a:rPr>
              <a:t>ping (troubleshooting)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40" name="Clean content 4">
            <a:extLst>
              <a:ext uri="{FF2B5EF4-FFF2-40B4-BE49-F238E27FC236}">
                <a16:creationId xmlns:a16="http://schemas.microsoft.com/office/drawing/2014/main" id="{7F869091-9CC5-48F4-9FEE-C0C4C32EE931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330E2F-CDED-4A34-B64B-E96705ACE567}"/>
              </a:ext>
            </a:extLst>
          </p:cNvPr>
          <p:cNvSpPr>
            <a:spLocks noGrp="1"/>
          </p:cNvSpPr>
          <p:nvPr/>
        </p:nvSpPr>
        <p:spPr>
          <a:xfrm>
            <a:off x="781050" y="1495425"/>
            <a:ext cx="100965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buNone/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Ping sends small test packets and waits for a reply from the destination.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87EA34E-D5DF-4859-A266-65AFDBB4C497}"/>
              </a:ext>
            </a:extLst>
          </p:cNvPr>
          <p:cNvSpPr>
            <a:spLocks noGrp="1"/>
          </p:cNvSpPr>
          <p:nvPr/>
        </p:nvSpPr>
        <p:spPr>
          <a:xfrm>
            <a:off x="799056" y="1885421"/>
            <a:ext cx="10096500" cy="1009650"/>
          </a:xfrm>
          <a:prstGeom prst="roundRect">
            <a:avLst>
              <a:gd name="adj" fmla="val 7547"/>
            </a:avLst>
          </a:prstGeom>
          <a:solidFill>
            <a:srgbClr val="163746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</a:defRPr>
            </a:defPPr>
          </a:lstStyle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ping 192.168.1.1      checks the local router</a:t>
            </a:r>
          </a:p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ping 8.8.8.8          checks the Internet without DNS</a:t>
            </a:r>
          </a:p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ping www.google.com   checks the Internet and DNS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A24F4-3AFB-4ECC-A295-E071B4A3E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3019425"/>
            <a:ext cx="8443674" cy="361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01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2" y="609600"/>
            <a:ext cx="6326727" cy="742950"/>
          </a:xfrm>
        </p:spPr>
        <p:txBody>
          <a:bodyPr vert="horz" lIns="91440" tIns="45720" rIns="91440" bIns="45720" anchor="t">
            <a:normAutofit/>
          </a:bodyPr>
          <a:lstStyle>
            <a:defPPr>
              <a:defRPr sz="3450">
                <a:solidFill>
                  <a:srgbClr val="5FCBEF"/>
                </a:solidFill>
              </a:defRPr>
            </a:defPPr>
          </a:lstStyle>
          <a:p>
            <a:pPr>
              <a:buNone/>
              <a:defRPr sz="3450">
                <a:solidFill>
                  <a:srgbClr val="5FCBEF"/>
                </a:solidFill>
              </a:defRPr>
            </a:pPr>
            <a:r>
              <a:rPr sz="3450">
                <a:solidFill>
                  <a:srgbClr val="5FCBEF"/>
                </a:solidFill>
              </a:rPr>
              <a:t>tracert (troubleshooting)</a:t>
            </a:r>
            <a:endParaRPr/>
          </a:p>
        </p:txBody>
      </p:sp>
      <p:sp>
        <p:nvSpPr>
          <p:cNvPr id="5" name="Clean content 5">
            <a:extLst>
              <a:ext uri="{FF2B5EF4-FFF2-40B4-BE49-F238E27FC236}">
                <a16:creationId xmlns:a16="http://schemas.microsoft.com/office/drawing/2014/main" id="{EC97C31E-7703-4F76-AF7D-A634EF2410CF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1001375" cy="4953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48E1F3-2B09-4AC2-AD4B-306CA7286834}"/>
              </a:ext>
            </a:extLst>
          </p:cNvPr>
          <p:cNvSpPr>
            <a:spLocks noGrp="1"/>
          </p:cNvSpPr>
          <p:nvPr/>
        </p:nvSpPr>
        <p:spPr>
          <a:xfrm>
            <a:off x="781050" y="1243013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725" b="0">
                <a:solidFill>
                  <a:srgbClr val="333333"/>
                </a:solidFill>
              </a:defRPr>
            </a:defPPr>
          </a:lstStyle>
          <a:p>
            <a:pPr algn="l">
              <a:buNone/>
              <a:defRPr sz="1725" b="0">
                <a:solidFill>
                  <a:srgbClr val="333333"/>
                </a:solidFill>
              </a:defRPr>
            </a:pPr>
            <a:r>
              <a:rPr sz="1725" b="0">
                <a:solidFill>
                  <a:srgbClr val="333333"/>
                </a:solidFill>
              </a:rPr>
              <a:t>Tracert lists the routers, or hops, that traffic passes through on its way to the destination.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D10C96-8AEC-4960-AB57-7B52199C482B}"/>
              </a:ext>
            </a:extLst>
          </p:cNvPr>
          <p:cNvSpPr>
            <a:spLocks noGrp="1"/>
          </p:cNvSpPr>
          <p:nvPr/>
        </p:nvSpPr>
        <p:spPr>
          <a:xfrm>
            <a:off x="781050" y="1986425"/>
            <a:ext cx="10096500" cy="666750"/>
          </a:xfrm>
          <a:prstGeom prst="roundRect">
            <a:avLst>
              <a:gd name="adj" fmla="val 11429"/>
            </a:avLst>
          </a:prstGeom>
          <a:solidFill>
            <a:srgbClr val="163746"/>
          </a:solidFill>
          <a:ln w="14288">
            <a:solidFill>
              <a:srgbClr val="5FCBEF"/>
            </a:solidFill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</a:defRPr>
            </a:defPPr>
          </a:lstStyle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tracert www.google.com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023D39-8FF8-4B86-B353-8C76D724C654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8F7FC"/>
          </a:solidFill>
          <a:ln w="11906">
            <a:solidFill>
              <a:srgbClr val="5FCBEF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3566A"/>
                </a:solidFill>
              </a:defRPr>
            </a:defPPr>
          </a:lstStyle>
          <a:p>
            <a:pPr algn="ctr">
              <a:buNone/>
              <a:defRPr sz="1500" b="1">
                <a:solidFill>
                  <a:srgbClr val="23566A"/>
                </a:solidFill>
              </a:defRPr>
            </a:pPr>
            <a:r>
              <a:rPr sz="1500" b="1">
                <a:solidFill>
                  <a:srgbClr val="23566A"/>
                </a:solidFill>
              </a:rPr>
              <a:t>Use: when ping fails or is slow, check which hop first shows a delay.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158E79-6CA7-4532-9DE7-3553BC519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74" y="2834150"/>
            <a:ext cx="7907625" cy="274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79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Troubleshooting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73383F08-623A-462D-A230-968EFDB9DA69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97D7BDD8-9508-4066-A397-B979ED88C1F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F1736C36-5F43-4C65-BFB2-FE2C8E1539B0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Physical connection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0160AFBB-5761-4B19-83D2-D7D792715BD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Check the cables, ports, indicator lights and wireless connection.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9B4086BE-70E4-4A1F-82CE-DB4DA9B4A13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Settings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F247D9E9-005F-4FAD-BF67-666F30485EE6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Check the IP Address, subnet mask and Default Gateway.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DF305F1F-5AC1-4283-98E0-31602520785C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Tests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FF732DCC-CCBB-4D4B-9717-9FF19AD766E4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Test communication with the router first, then with a remote destination.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D0AB833-C582-49CF-AC48-5F0661D7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553451"/>
            <a:ext cx="4905375" cy="251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Practice Activities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5D78D7B6-4857-428E-A2B0-9D0ADFEC4C4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F1E775E6-98BF-447D-BCB0-D78483465CA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4CF269E8-E189-4D72-951A-2E3AEF4378BC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Answer the following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1D521794-BBE8-4028-AD5D-36201AB06AD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3648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Questions 5–12 from Worksheet A.5.M2.</a:t>
            </a:r>
          </a:p>
          <a:p>
            <a:pPr>
              <a:buNone/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800" b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Office PowerPoint</Application>
  <DocSecurity>0</DocSecurity>
  <PresentationFormat>Widescreen</PresentationFormat>
  <Paragraphs>120</Paragraphs>
  <Slides>11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</vt:lpstr>
      <vt:lpstr>Network diagnostics</vt:lpstr>
      <vt:lpstr>What is a subnet?</vt:lpstr>
      <vt:lpstr>DNS Server </vt:lpstr>
      <vt:lpstr>DNS Server</vt:lpstr>
      <vt:lpstr>Diagnostic commands</vt:lpstr>
      <vt:lpstr>ipconfig (troubleshooting)</vt:lpstr>
      <vt:lpstr>nslookup (troubleshooting)</vt:lpstr>
      <vt:lpstr>ping (troubleshooting)</vt:lpstr>
      <vt:lpstr>tracert (troubleshooting)</vt:lpstr>
      <vt:lpstr>Troubleshooting</vt:lpstr>
      <vt:lpstr>Practice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2026-10-13T13:04:42Z</dcterms:created>
  <dcterms:modified xsi:type="dcterms:W3CDTF">2026-10-17T14:23:39Z</dcterms:modified>
</cp:coreProperties>
</file>