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610aa168df4689" /><Relationship Type="http://schemas.openxmlformats.org/officeDocument/2006/relationships/extended-properties" Target="/docProps/app.xml" Id="Re277691410db44b6" /><Relationship Type="http://schemas.openxmlformats.org/officeDocument/2006/relationships/officeDocument" Target="/ppt/presentation.xml" Id="R2843d89688f24d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93bb2f38a14feb"/>
  </p:sldMasterIdLst>
  <p:notesMasterIdLst>
    <p:notesMasterId xmlns:r="http://schemas.openxmlformats.org/officeDocument/2006/relationships" r:id="Rfcd36d0cd9734f75"/>
  </p:notesMasterIdLst>
  <p:sldIdLst>
    <p:sldId xmlns:r="http://schemas.openxmlformats.org/officeDocument/2006/relationships" id="256" r:id="R6c1f199b15304aba"/>
    <p:sldId xmlns:r="http://schemas.openxmlformats.org/officeDocument/2006/relationships" id="257" r:id="R61879d1c57a84c0a"/>
    <p:sldId xmlns:r="http://schemas.openxmlformats.org/officeDocument/2006/relationships" id="258" r:id="Ra9cc8877c2c14e7c"/>
    <p:sldId xmlns:r="http://schemas.openxmlformats.org/officeDocument/2006/relationships" id="259" r:id="Rfd553f689d374f56"/>
    <p:sldId xmlns:r="http://schemas.openxmlformats.org/officeDocument/2006/relationships" id="260" r:id="Ra67fa4310c8c4c9a"/>
    <p:sldId xmlns:r="http://schemas.openxmlformats.org/officeDocument/2006/relationships" id="261" r:id="Rbb989b42beec4856"/>
    <p:sldId xmlns:r="http://schemas.openxmlformats.org/officeDocument/2006/relationships" id="262" r:id="Rdf6575475a59480f"/>
    <p:sldId xmlns:r="http://schemas.openxmlformats.org/officeDocument/2006/relationships" id="263" r:id="Rfca3d26724eb4be6"/>
    <p:sldId xmlns:r="http://schemas.openxmlformats.org/officeDocument/2006/relationships" id="264" r:id="Rf961b5c9917944bd"/>
    <p:sldId xmlns:r="http://schemas.openxmlformats.org/officeDocument/2006/relationships" id="265" r:id="Ra9d290a79d594ab6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e36ab9e5384de0" /><Relationship Type="http://schemas.openxmlformats.org/officeDocument/2006/relationships/slideMaster" Target="/ppt/slideMasters/slideMaster1.xml" Id="Rc193bb2f38a14feb" /><Relationship Type="http://schemas.openxmlformats.org/officeDocument/2006/relationships/notesMaster" Target="/ppt/notesMasters/notesMaster1.xml" Id="Rfcd36d0cd9734f75" /><Relationship Type="http://schemas.openxmlformats.org/officeDocument/2006/relationships/presProps" Target="/ppt/presProps.xml" Id="R6a87afafd3004ca9" /><Relationship Type="http://schemas.openxmlformats.org/officeDocument/2006/relationships/viewProps" Target="/ppt/viewProps.xml" Id="Rfa5656e9d068449b" /><Relationship Type="http://schemas.openxmlformats.org/officeDocument/2006/relationships/tableStyles" Target="/ppt/tableStyles.xml" Id="Rfae84d7d11db4536" /><Relationship Type="http://schemas.openxmlformats.org/officeDocument/2006/relationships/slide" Target="/ppt/slides/slide1.xml" Id="R6c1f199b15304aba" /><Relationship Type="http://schemas.openxmlformats.org/officeDocument/2006/relationships/slide" Target="/ppt/slides/slide2.xml" Id="R61879d1c57a84c0a" /><Relationship Type="http://schemas.openxmlformats.org/officeDocument/2006/relationships/slide" Target="/ppt/slides/slide3.xml" Id="Ra9cc8877c2c14e7c" /><Relationship Type="http://schemas.openxmlformats.org/officeDocument/2006/relationships/slide" Target="/ppt/slides/slide4.xml" Id="Rfd553f689d374f56" /><Relationship Type="http://schemas.openxmlformats.org/officeDocument/2006/relationships/slide" Target="/ppt/slides/slide5.xml" Id="Ra67fa4310c8c4c9a" /><Relationship Type="http://schemas.openxmlformats.org/officeDocument/2006/relationships/slide" Target="/ppt/slides/slide6.xml" Id="Rbb989b42beec4856" /><Relationship Type="http://schemas.openxmlformats.org/officeDocument/2006/relationships/slide" Target="/ppt/slides/slide7.xml" Id="Rdf6575475a59480f" /><Relationship Type="http://schemas.openxmlformats.org/officeDocument/2006/relationships/slide" Target="/ppt/slides/slide8.xml" Id="Rfca3d26724eb4be6" /><Relationship Type="http://schemas.openxmlformats.org/officeDocument/2006/relationships/slide" Target="/ppt/slides/slide9.xml" Id="Rf961b5c9917944bd" /><Relationship Type="http://schemas.openxmlformats.org/officeDocument/2006/relationships/slide" Target="/ppt/slides/slide10.xml" Id="Ra9d290a79d594a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da9fb4186f4e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f66fcc0efe44a3" /><Relationship Type="http://schemas.openxmlformats.org/officeDocument/2006/relationships/notesMaster" Target="/ppt/notesMasters/notesMaster1.xml" Id="Rdd611fe323f643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4d3a496e7445b5" /><Relationship Type="http://schemas.openxmlformats.org/officeDocument/2006/relationships/notesMaster" Target="/ppt/notesMasters/notesMaster1.xml" Id="R2957913c069446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8e3744c59248db" /><Relationship Type="http://schemas.openxmlformats.org/officeDocument/2006/relationships/notesMaster" Target="/ppt/notesMasters/notesMaster1.xml" Id="Re37a10eb23674b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f8ee1e7ddd4eb7" /><Relationship Type="http://schemas.openxmlformats.org/officeDocument/2006/relationships/notesMaster" Target="/ppt/notesMasters/notesMaster1.xml" Id="Re030c41561eb41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b9bd0a84844137" /><Relationship Type="http://schemas.openxmlformats.org/officeDocument/2006/relationships/notesMaster" Target="/ppt/notesMasters/notesMaster1.xml" Id="R86f81b89740140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93f8aefd0f471a" /><Relationship Type="http://schemas.openxmlformats.org/officeDocument/2006/relationships/notesMaster" Target="/ppt/notesMasters/notesMaster1.xml" Id="Rfb5cc2bcc51246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adce8ab7b97481a" /><Relationship Type="http://schemas.openxmlformats.org/officeDocument/2006/relationships/notesMaster" Target="/ppt/notesMasters/notesMaster1.xml" Id="Rae30e54893b247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47a926550e432b" /><Relationship Type="http://schemas.openxmlformats.org/officeDocument/2006/relationships/notesMaster" Target="/ppt/notesMasters/notesMaster1.xml" Id="R5f1a8fdec3c84ec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0ff7e9819d4b2e" /><Relationship Type="http://schemas.openxmlformats.org/officeDocument/2006/relationships/notesMaster" Target="/ppt/notesMasters/notesMaster1.xml" Id="R61db25d278014d1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d0b7f1993cc4278" /><Relationship Type="http://schemas.openxmlformats.org/officeDocument/2006/relationships/notesMaster" Target="/ppt/notesMasters/notesMaster1.xml" Id="Re8072ee27cd9423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Πρότυπο: A4.M2 Πολυμέσα-Ήχος(2).pptx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Θεωρία και Φύλλο Εργασίας A.5.M2, σχολικά βιβλία Πληροφορικής Α΄ Λυκείου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Θεωρία και Φύλλο Εργασίας A.5.M2, σχολικά βιβλία Πληροφορικής Α΄ Λυκείου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Τετράδιο Εργασιών Πληροφορικής Α΄ Λυκείου, A.5.M2, Δραστηριότητες Εμπέδωσης, σελ. 87–89</a:t>
            </a:r>
          </a:p>
          <a:p xmlns:a="http://schemas.openxmlformats.org/drawingml/2006/main">
            <a:r>
              <a:t>- Σημειώσεις Πληροφορικής Α΄ Λυκείου, ενότητα Α.5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Θεωρία και Φύλλο Εργασίας A.5.M2, σχολικά βιβλία Πληροφορικής Α΄ Λυκείου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Θεωρία και Φύλλο Εργασίας A.5.M2, σχολικά βιβλία Πληροφορικής Α΄ Λυκείου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Θεωρία και Φύλλο Εργασίας A.5.M2, σχολικά βιβλία Πληροφορικής Α΄ Λυκείου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Θεωρία και Φύλλο Εργασίας A.5.M2, σχολικά βιβλία Πληροφορικής Α΄ Λυκείου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Τετράδιο Εργασιών Πληροφορικής Α΄ Λυκείου, A.5.M2, Δραστηριότητες Εμπέδωσης, σελ. 87–89</a:t>
            </a:r>
          </a:p>
          <a:p xmlns:a="http://schemas.openxmlformats.org/drawingml/2006/main">
            <a:r>
              <a:t>- Σημειώσεις Πληροφορικής Α΄ Λυκείου, ενότητα Α.5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Τετράδιο Εργασιών Πληροφορικής Α΄ Λυκείου, A.5.M2, Δραστηριότητες Εμπέδωσης, σελ. 87–89</a:t>
            </a:r>
          </a:p>
          <a:p xmlns:a="http://schemas.openxmlformats.org/drawingml/2006/main">
            <a:r>
              <a:t>- Σημειώσεις Πληροφορικής Α΄ Λυκείου, ενότητα Α.5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acf84f2dd2453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646f19bbfb4e6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09ca23bd6645e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3827416c3742c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05e9f0bd684de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33ad47e173498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fca35ef8f2410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a13aaca6d6427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77a95d4d6f4c1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3bc42e4245430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cf4aabf0744414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b7f170dce04f07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4e41009dde4132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bf9ddcef6442dd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7f62695fab4914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50b528227c4ea7" /></Relationships>
</file>

<file path=ppt/slideLayouts/slideLayout1.xml><?xml version="1.0" encoding="utf-8"?>
<p:sldLayout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reeform 14">
            <a:extLst xmlns:a="http://schemas.openxmlformats.org/drawingml/2006/main">
              <a:ext uri="{FF2B5EF4-FFF2-40B4-BE49-F238E27FC236}">
                <a16:creationId xmlns:a16="http://schemas.microsoft.com/office/drawing/2014/main" id="{4E918921-2CFD-4CA1-B08F-3BAB503B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-7862"/>
            <a:ext cx="863600" cy="5698067"/>
          </a:xfrm>
          <a:custGeom xmlns:a="http://schemas.openxmlformats.org/drawingml/2006/main">
            <a:rect l="l" t="t" r="r" b="b"/>
            <a:pathLst>
              <a:path w="863600" h="5698067">
                <a:moveTo>
                  <a:pt x="0" y="8467"/>
                </a:moveTo>
                <a:lnTo>
                  <a:pt x="863600" y="0"/>
                </a:lnTo>
                <a:lnTo>
                  <a:pt x="863600" y="16934"/>
                </a:lnTo>
                <a:lnTo>
                  <a:pt x="0" y="5698067"/>
                </a:lnTo>
                <a:lnTo>
                  <a:pt x="0" y="8467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traight Connector 18">
            <a:extLst xmlns:a="http://schemas.openxmlformats.org/drawingml/2006/main">
              <a:ext uri="{FF2B5EF4-FFF2-40B4-BE49-F238E27FC236}">
                <a16:creationId xmlns:a16="http://schemas.microsoft.com/office/drawing/2014/main" id="{E37B2AF0-F1FD-4B03-B481-A7AEB0D4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traight Connector 19">
            <a:extLst xmlns:a="http://schemas.openxmlformats.org/drawingml/2006/main">
              <a:ext uri="{FF2B5EF4-FFF2-40B4-BE49-F238E27FC236}">
                <a16:creationId xmlns:a16="http://schemas.microsoft.com/office/drawing/2014/main" id="{655BA76F-F0D3-46DC-8669-115FD578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D257EB0-2B30-4FC6-AA24-873A5B4F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AF7B4680-A767-4058-AF50-A02AD3F1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Isosceles Triangle 22">
            <a:extLst xmlns:a="http://schemas.openxmlformats.org/drawingml/2006/main">
              <a:ext uri="{FF2B5EF4-FFF2-40B4-BE49-F238E27FC236}">
                <a16:creationId xmlns:a16="http://schemas.microsoft.com/office/drawing/2014/main" id="{43640B4D-BEFD-4199-A8AA-0ACAD1F35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C52E025E-B7B6-4C2F-95C3-451B2D04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DD6DD06-FAD9-4434-AAD6-4F5F4054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08CE678E-61E0-4B59-9E06-0CCDA51B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Isosceles Triangle 26">
            <a:extLst xmlns:a="http://schemas.openxmlformats.org/drawingml/2006/main">
              <a:ext uri="{FF2B5EF4-FFF2-40B4-BE49-F238E27FC236}">
                <a16:creationId xmlns:a16="http://schemas.microsoft.com/office/drawing/2014/main" id="{6CF5F7A2-53D8-4ABB-B382-AFAFF845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7FDF0A-A15E-4E62-941B-5415901439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07067" y="2404534"/>
            <a:ext cx="7766936" cy="1646302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algn="r">
              <a:buNone/>
              <a:defRPr sz="540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2274578-9B32-473A-B0FD-5A428DF4E4C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07067" y="4050833"/>
            <a:ext cx="7766936" cy="1096899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5B300C8-64F2-42E4-B5F9-4C502AC14C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EC6B3A-D180-442C-87FB-17957759B4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711ED2-A058-4592-AFE4-D9FE673F9A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FC77581-562F-47E7-8112-9B9297AD12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77120C2-37BA-41A7-88BE-349064B19F7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C73FAF-6252-4F7B-8D52-61D4525FAA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30AB332-D473-41FC-8833-2008668A0B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816F0BE-FA5E-42B7-9F04-6403D88AF5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B34865-9BC9-4F7B-BF47-BAB8288BFA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5" y="2700867"/>
            <a:ext cx="8596668" cy="1826581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4000" b="0" cap="none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A7564D-364D-4098-BF47-59F28828E6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860400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F6BC595-E100-4CF2-8F9C-0A9A5B58E4F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38BCC5-E90B-4F82-9D04-02D3B854EB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E48D55-6385-4245-B919-3F3734427A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540ED1-1734-4A83-A54D-3C3E2024AA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6881F0C-C285-423E-9B15-CB6DB0999EC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4" y="2160589"/>
            <a:ext cx="4184035" cy="388077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BE0EEA2-E839-43FB-8853-72CD6C8907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5089970" y="2160589"/>
            <a:ext cx="4184034" cy="388077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26FBE4-7483-4A34-B95C-F1C086D6F2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DD7005D-403D-4B2D-B4AE-FB49B141D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04274DD-73D4-49E4-A7FC-F02DF42A8A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19B616-EBE7-4DBD-93E3-B48524DC24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FEFB809-40AE-487F-8E1A-27605066CA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5745" y="2160983"/>
            <a:ext cx="4185623" cy="576262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2CE4FF7-CBE0-4679-B6DE-CB30562D470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75745" y="2737245"/>
            <a:ext cx="4185623" cy="330411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E209FA-3B2C-4B90-BB28-4F3BB933049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088383" y="2160983"/>
            <a:ext cx="4185618" cy="576262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A54B334-B088-4BD2-8AB9-463A3A7DDC4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5088384" y="2737245"/>
            <a:ext cx="4185617" cy="330411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FF7CAB-3E66-49EF-ABC4-6B3CBA5B95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1DE1B27-2770-440B-8683-B33AB2F899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875A2C5-0358-4435-9AA6-43968B5196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06C2FF-7108-4081-A2CF-009FBCC1C4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09600"/>
            <a:ext cx="8596668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28814B-6E48-48D5-B472-0ACD110B4F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DFFA3EA-506D-4E17-B515-424F484D46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DEA18EE-9DBE-4F3E-9523-7AC767EA8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D42DD94-4BE1-43A9-ACA5-02458C765B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CF01500-3CEB-4E6E-AD3B-61C1D210C3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13B4083-954B-41BD-B609-2D06C7EC3D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D8CC36-F893-42EA-85A9-4908E04B1A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1498604"/>
            <a:ext cx="3854528" cy="1278466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>
              <a:buNone/>
              <a:defRPr sz="2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EF19624-ADFA-48E6-BD3C-7ED96121EF9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0461" y="514924"/>
            <a:ext cx="4513541" cy="552643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A8F45B7-7981-4D15-B61B-718D2A3AB8E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77334" y="2777069"/>
            <a:ext cx="3854528" cy="2584449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9FBCD0-4CDE-41A3-94CB-65673985F08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AB3597-CA70-4297-B68E-36CA3174A9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CEA9B7B-47EA-4C7C-93C5-0195B76055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1825EE-8171-47C6-9D7E-BA60971B6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4800600"/>
            <a:ext cx="8596667" cy="566738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2400" b="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56AADA7-0CCE-406C-8490-8E3B86C2996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677334" y="609600"/>
            <a:ext cx="8596668" cy="3845718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5A735FF-F666-49B8-836F-25EA123BA33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77334" y="5367338"/>
            <a:ext cx="8596667" cy="674024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83A5BD9-4BEB-4CB2-BC4E-263561C08F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5A0EF9-3902-4E30-9474-29CA9E2B73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3B7EBFC-F60A-4B6C-AED7-920643100F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251AB30-B37C-4942-B0C4-5EB7F0D6D0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5" y="609600"/>
            <a:ext cx="8596668" cy="3403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8DA3222-9946-4CFA-AFC2-94ECB00F57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470400"/>
            <a:ext cx="8596668" cy="1570962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F95A612-A924-458F-B443-59FD13BB29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8939AF-AEBA-4F37-8BDE-8C756BD903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B5C401-FF14-489A-9B3E-D0ED476A25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359351-7955-4803-A7F8-DF08623060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31334" y="609600"/>
            <a:ext cx="8094134" cy="3022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23" name="Text Placeholder 9">
            <a:extLst xmlns:a="http://schemas.openxmlformats.org/drawingml/2006/main">
              <a:ext uri="{FF2B5EF4-FFF2-40B4-BE49-F238E27FC236}">
                <a16:creationId xmlns:a16="http://schemas.microsoft.com/office/drawing/2014/main" id="{54B1FC33-9DF1-4054-B18A-956604D0FF9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366139" y="3632200"/>
            <a:ext cx="7224524" cy="381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B138461-AC1B-4274-9162-5045F49EBB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470400"/>
            <a:ext cx="8596668" cy="1570962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128501-0168-461B-ACB6-54D7311395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107A80A-D5B4-4E94-A1B3-F082DFBECD4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C386AF-2374-4576-91A8-581D8FD8B5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370E8FC-ED60-43AA-AF41-660A35ED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70" y="790378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DA0C394-E2FD-44B8-9735-EBD5F1A4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3011" y="2886556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>
  <p:cSld name="Name Car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3B22F0-2F5D-435B-A869-6932D10A30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5" y="1931988"/>
            <a:ext cx="8596668" cy="2595460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4EE19A-AC66-4CAA-BB73-F9898D79AD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1513914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03FCF3-F551-429E-9CC5-EF959DFFEC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E5D6C97-86E7-4AB6-89C1-6F3FE06FF7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ACCD4F-188D-44BD-8DA0-19E4020DF0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B44E46-9F27-40A4-A138-C87261AAA8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31334" y="609600"/>
            <a:ext cx="8094134" cy="3022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23" name="Text Placeholder 9">
            <a:extLst xmlns:a="http://schemas.openxmlformats.org/drawingml/2006/main">
              <a:ext uri="{FF2B5EF4-FFF2-40B4-BE49-F238E27FC236}">
                <a16:creationId xmlns:a16="http://schemas.microsoft.com/office/drawing/2014/main" id="{67FCD007-0694-45C0-9EBB-82675A840F6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7332" y="4013200"/>
            <a:ext cx="8596669" cy="514248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7EAEAD-5F1B-4C05-8600-78540C7055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1513914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9063699-B292-45EB-8A0D-79D2AF6109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77BDE3D-C164-43B4-AAE3-5A8EE76F2F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2C741F5-99D6-4A1D-B754-5D4CD6E2E1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B584E9A-A507-4AE0-BF59-E4195451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70" y="790378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9CD84491-7D8F-48BA-B9F3-742C7B7F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3011" y="2886556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96DA0E8-F2EE-454B-96F9-FCF7079E50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99" y="609600"/>
            <a:ext cx="8588203" cy="3022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23" name="Text Placeholder 9">
            <a:extLst xmlns:a="http://schemas.openxmlformats.org/drawingml/2006/main">
              <a:ext uri="{FF2B5EF4-FFF2-40B4-BE49-F238E27FC236}">
                <a16:creationId xmlns:a16="http://schemas.microsoft.com/office/drawing/2014/main" id="{019E2193-1BB2-4A64-90D5-565C5128C2B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7332" y="4013200"/>
            <a:ext cx="8596669" cy="514248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8AE9668-4745-44B9-ADC6-C960739713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1513914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C75CF1-5C89-4D2F-A7E8-860AFFDDC0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457B51-C79B-4E04-87FA-3DC4C1479D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A70F5CC-48F9-432B-95CE-D0195B579F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5BF31E-9A0C-4161-914A-53AE471C78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6369F82-FCEE-4B82-AFF4-B7FC808ADEF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15ED90-3B0E-481C-A8CB-EF492CE6924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B306BA6-4EED-4611-951E-517F4F7B483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65D357-67E7-4B77-985A-491D9E6906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437C092-BFDD-4559-9181-69DBA05D75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967673" y="609599"/>
            <a:ext cx="1304743" cy="5251451"/>
          </a:xfrm>
        </p:spPr>
        <p:txBody>
          <a:bodyPr xmlns:a="http://schemas.openxmlformats.org/drawingml/2006/main" vert="eaVert" anchor="ctr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33D11E-BE84-4CB9-AF9A-1AA6E3DB1A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609600"/>
            <a:ext cx="7060150" cy="5251450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ABD5CC-929C-438F-917D-24115BEF3A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5EB7E8-2C32-4192-8FAD-7055EF2805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BBA38E-0375-4975-B2EB-88BCD2F6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05f630e24f4e7f" /><Relationship Type="http://schemas.openxmlformats.org/officeDocument/2006/relationships/slideLayout" Target="/ppt/slideLayouts/slideLayout1.xml" Id="R713dc5c063ac4c4a" /><Relationship Type="http://schemas.openxmlformats.org/officeDocument/2006/relationships/slideLayout" Target="/ppt/slideLayouts/slideLayout2.xml" Id="Rc9c326e9ca6049ee" /><Relationship Type="http://schemas.openxmlformats.org/officeDocument/2006/relationships/slideLayout" Target="/ppt/slideLayouts/slideLayout3.xml" Id="R4b4b92f6083c4df0" /><Relationship Type="http://schemas.openxmlformats.org/officeDocument/2006/relationships/slideLayout" Target="/ppt/slideLayouts/slideLayout4.xml" Id="R9e5b6428eb064004" /><Relationship Type="http://schemas.openxmlformats.org/officeDocument/2006/relationships/slideLayout" Target="/ppt/slideLayouts/slideLayout5.xml" Id="Ra221b9bac76c46a0" /><Relationship Type="http://schemas.openxmlformats.org/officeDocument/2006/relationships/slideLayout" Target="/ppt/slideLayouts/slideLayout6.xml" Id="R490b18001ed34b1e" /><Relationship Type="http://schemas.openxmlformats.org/officeDocument/2006/relationships/slideLayout" Target="/ppt/slideLayouts/slideLayout7.xml" Id="R4837278bad0e4f67" /><Relationship Type="http://schemas.openxmlformats.org/officeDocument/2006/relationships/slideLayout" Target="/ppt/slideLayouts/slideLayout8.xml" Id="R3f1cf4603a974b2b" /><Relationship Type="http://schemas.openxmlformats.org/officeDocument/2006/relationships/slideLayout" Target="/ppt/slideLayouts/slideLayout9.xml" Id="Rf73751f00e0e403b" /><Relationship Type="http://schemas.openxmlformats.org/officeDocument/2006/relationships/slideLayout" Target="/ppt/slideLayouts/slideLayout10.xml" Id="Rd28b4636b93047ee" /><Relationship Type="http://schemas.openxmlformats.org/officeDocument/2006/relationships/slideLayout" Target="/ppt/slideLayouts/slideLayout11.xml" Id="R47c1d2e4ae5444c2" /><Relationship Type="http://schemas.openxmlformats.org/officeDocument/2006/relationships/slideLayout" Target="/ppt/slideLayouts/slideLayout12.xml" Id="R62d1f424ea934e41" /><Relationship Type="http://schemas.openxmlformats.org/officeDocument/2006/relationships/slideLayout" Target="/ppt/slideLayouts/slideLayout13.xml" Id="Rf845912a0d954b47" /><Relationship Type="http://schemas.openxmlformats.org/officeDocument/2006/relationships/slideLayout" Target="/ppt/slideLayouts/slideLayout14.xml" Id="R20e98fdb21004efc" /><Relationship Type="http://schemas.openxmlformats.org/officeDocument/2006/relationships/slideLayout" Target="/ppt/slideLayouts/slideLayout15.xml" Id="R1746bbf97807440e" /><Relationship Type="http://schemas.openxmlformats.org/officeDocument/2006/relationships/slideLayout" Target="/ppt/slideLayouts/slideLayout16.xml" Id="R5823977fd7e84cf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traight Connector 19">
            <a:extLst xmlns:a="http://schemas.openxmlformats.org/drawingml/2006/main">
              <a:ext uri="{FF2B5EF4-FFF2-40B4-BE49-F238E27FC236}">
                <a16:creationId xmlns:a16="http://schemas.microsoft.com/office/drawing/2014/main" id="{E4847988-64DE-4EA1-931A-8E35BF40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A8647E92-895C-4BD4-8405-D49CFEAF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02C6D03-6DA2-4BFE-A1AB-B3F56E10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7CFF94C5-1DFF-468F-81F7-A59CB217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Isosceles Triangle 23">
            <a:extLst xmlns:a="http://schemas.openxmlformats.org/drawingml/2006/main">
              <a:ext uri="{FF2B5EF4-FFF2-40B4-BE49-F238E27FC236}">
                <a16:creationId xmlns:a16="http://schemas.microsoft.com/office/drawing/2014/main" id="{AD4886C9-2FB5-4F7F-A31A-3A9D30D3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14E5C00-25C2-4C47-8920-B5D57AD5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CEA40CE-B0C6-494F-AAEC-7C1B1929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67E0546B-4456-4225-A01D-73D316C7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Isosceles Triangle 27">
            <a:extLst xmlns:a="http://schemas.openxmlformats.org/drawingml/2006/main">
              <a:ext uri="{FF2B5EF4-FFF2-40B4-BE49-F238E27FC236}">
                <a16:creationId xmlns:a16="http://schemas.microsoft.com/office/drawing/2014/main" id="{60B34E2E-02C5-4A0D-BF27-D0F3CBFC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Isosceles Triangle 18">
            <a:extLst xmlns:a="http://schemas.openxmlformats.org/drawingml/2006/main">
              <a:ext uri="{FF2B5EF4-FFF2-40B4-BE49-F238E27FC236}">
                <a16:creationId xmlns:a16="http://schemas.microsoft.com/office/drawing/2014/main" id="{068A91AD-54F9-4831-A261-E1F0DC6F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13200"/>
            <a:ext cx="448733" cy="2844800"/>
          </a:xfrm>
          <a:prstGeom xmlns:a="http://schemas.openxmlformats.org/drawingml/2006/main" prst="triangle">
            <a:avLst>
              <a:gd name="adj" fmla="val 0"/>
            </a:avLst>
          </a:pr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52C832B-F90C-4549-8F7C-D55A0CAAF0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09600"/>
            <a:ext cx="8596668" cy="132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7F95686-1A05-49EC-8A54-890B192043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4" y="2160589"/>
            <a:ext cx="8596668" cy="388077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9E00E7-0945-4FEB-BCA7-892E1CDD149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7205133" y="6041362"/>
            <a:ext cx="91193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0E1AB97B-D0C7-4CCB-8568-F47C13D538D5}" type="datetimeFigureOut">
              <a:t>12-Oct-26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9679E8-24C3-4AC5-B0EC-0526D46F752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677334" y="6041362"/>
            <a:ext cx="629761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D8A05C0-8325-4139-B75F-F72C56BD63B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590663" y="6041362"/>
            <a:ext cx="68333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90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3dc5c063ac4c4a"/>
    <p:sldLayoutId xmlns:r="http://schemas.openxmlformats.org/officeDocument/2006/relationships" id="2147483650" r:id="Rc9c326e9ca6049ee"/>
    <p:sldLayoutId xmlns:r="http://schemas.openxmlformats.org/officeDocument/2006/relationships" id="2147483651" r:id="R4b4b92f6083c4df0"/>
    <p:sldLayoutId xmlns:r="http://schemas.openxmlformats.org/officeDocument/2006/relationships" id="2147483652" r:id="R9e5b6428eb064004"/>
    <p:sldLayoutId xmlns:r="http://schemas.openxmlformats.org/officeDocument/2006/relationships" id="2147483653" r:id="Ra221b9bac76c46a0"/>
    <p:sldLayoutId xmlns:r="http://schemas.openxmlformats.org/officeDocument/2006/relationships" id="2147483654" r:id="R490b18001ed34b1e"/>
    <p:sldLayoutId xmlns:r="http://schemas.openxmlformats.org/officeDocument/2006/relationships" id="2147483655" r:id="R4837278bad0e4f67"/>
    <p:sldLayoutId xmlns:r="http://schemas.openxmlformats.org/officeDocument/2006/relationships" id="2147483656" r:id="R3f1cf4603a974b2b"/>
    <p:sldLayoutId xmlns:r="http://schemas.openxmlformats.org/officeDocument/2006/relationships" id="2147483657" r:id="Rf73751f00e0e403b"/>
    <p:sldLayoutId xmlns:r="http://schemas.openxmlformats.org/officeDocument/2006/relationships" id="2147483658" r:id="Rd28b4636b93047ee"/>
    <p:sldLayoutId xmlns:r="http://schemas.openxmlformats.org/officeDocument/2006/relationships" id="2147483659" r:id="R47c1d2e4ae5444c2"/>
    <p:sldLayoutId xmlns:r="http://schemas.openxmlformats.org/officeDocument/2006/relationships" id="2147483660" r:id="R62d1f424ea934e41"/>
    <p:sldLayoutId xmlns:r="http://schemas.openxmlformats.org/officeDocument/2006/relationships" id="2147483661" r:id="Rf845912a0d954b47"/>
    <p:sldLayoutId xmlns:r="http://schemas.openxmlformats.org/officeDocument/2006/relationships" id="2147483662" r:id="R20e98fdb21004efc"/>
    <p:sldLayoutId xmlns:r="http://schemas.openxmlformats.org/officeDocument/2006/relationships" id="2147483663" r:id="R1746bbf97807440e"/>
    <p:sldLayoutId xmlns:r="http://schemas.openxmlformats.org/officeDocument/2006/relationships" id="2147483664" r:id="R5823977fd7e84cf1"/>
  </p:sldLayoutIdLst>
  <p:txStyles>
    <p:titleStyle>
      <a:lvl1pPr xmlns:a="http://schemas.openxmlformats.org/drawingml/2006/main" algn="l" defTabSz="457200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lt"/>
          <a:cs typeface="+mj-lt"/>
        </a:defRPr>
      </a:lvl1pPr>
      <a:lvl2pPr xmlns:a="http://schemas.openxmlformats.org/drawingml/2006/main">
        <a:buNone/>
        <a:defRPr>
          <a:solidFill>
            <a:schemeClr val="tx2"/>
          </a:solidFill>
        </a:defRPr>
      </a:lvl2pPr>
      <a:lvl3pPr xmlns:a="http://schemas.openxmlformats.org/drawingml/2006/main">
        <a:buNone/>
        <a:defRPr>
          <a:solidFill>
            <a:schemeClr val="tx2"/>
          </a:solidFill>
        </a:defRPr>
      </a:lvl3pPr>
      <a:lvl4pPr xmlns:a="http://schemas.openxmlformats.org/drawingml/2006/main">
        <a:buNone/>
        <a:defRPr>
          <a:solidFill>
            <a:schemeClr val="tx2"/>
          </a:solidFill>
        </a:defRPr>
      </a:lvl4pPr>
      <a:lvl5pPr xmlns:a="http://schemas.openxmlformats.org/drawingml/2006/main">
        <a:buNone/>
        <a:defRPr>
          <a:solidFill>
            <a:schemeClr val="tx2"/>
          </a:solidFill>
        </a:defRPr>
      </a:lvl5pPr>
      <a:lvl6pPr xmlns:a="http://schemas.openxmlformats.org/drawingml/2006/main">
        <a:buNone/>
        <a:defRPr>
          <a:solidFill>
            <a:schemeClr val="tx2"/>
          </a:solidFill>
        </a:defRPr>
      </a:lvl6pPr>
      <a:lvl7pPr xmlns:a="http://schemas.openxmlformats.org/drawingml/2006/main">
        <a:buNone/>
        <a:defRPr>
          <a:solidFill>
            <a:schemeClr val="tx2"/>
          </a:solidFill>
        </a:defRPr>
      </a:lvl7pPr>
      <a:lvl8pPr xmlns:a="http://schemas.openxmlformats.org/drawingml/2006/main">
        <a:buNone/>
        <a:defRPr>
          <a:solidFill>
            <a:schemeClr val="tx2"/>
          </a:solidFill>
        </a:defRPr>
      </a:lvl8pPr>
      <a:lvl9pPr xmlns:a="http://schemas.openxmlformats.org/drawingml/2006/main">
        <a:buNone/>
        <a:defRPr>
          <a:solidFill>
            <a:schemeClr val="tx2"/>
          </a:solidFill>
        </a:defRPr>
      </a:lvl9pPr>
    </p:titleStyle>
    <p:bodyStyle>
      <a:lvl1pPr xmlns:a="http://schemas.openxmlformats.org/drawingml/2006/main" marL="342900" indent="-3429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2d4a0341ef4c30" /><Relationship Type="http://schemas.openxmlformats.org/officeDocument/2006/relationships/notesSlide" Target="/ppt/notesSlides/notesSlide1.xml" Id="R032908dad6e24d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3741e687fe4c485e" /><Relationship Type="http://schemas.openxmlformats.org/officeDocument/2006/relationships/notesSlide" Target="/ppt/notesSlides/notesSlide2.xml" Id="R4ed9b6e5ba474c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4bbf16fd58e44e4" /><Relationship Type="http://schemas.openxmlformats.org/officeDocument/2006/relationships/notesSlide" Target="/ppt/notesSlides/notesSlide3.xml" Id="R79087e3d002245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1a44db02aa9464b" /><Relationship Type="http://schemas.openxmlformats.org/officeDocument/2006/relationships/image" Target="/ppt/media/image.png" Id="R8a8b437b60144e45" /><Relationship Type="http://schemas.openxmlformats.org/officeDocument/2006/relationships/notesSlide" Target="/ppt/notesSlides/notesSlide4.xml" Id="Rbddca3fc018f49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0661a0060ee4152" /><Relationship Type="http://schemas.openxmlformats.org/officeDocument/2006/relationships/image" Target="/ppt/media/image2.png" Id="Rbbb6a1f4dca4453c" /><Relationship Type="http://schemas.openxmlformats.org/officeDocument/2006/relationships/notesSlide" Target="/ppt/notesSlides/notesSlide5.xml" Id="R1b6f8f2566e143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78cbb3435c6451b" /><Relationship Type="http://schemas.openxmlformats.org/officeDocument/2006/relationships/image" Target="/ppt/media/image3.png" Id="R0147ae60dd4047ca" /><Relationship Type="http://schemas.openxmlformats.org/officeDocument/2006/relationships/notesSlide" Target="/ppt/notesSlides/notesSlide6.xml" Id="R7a143cf9f14c4a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7dd11f3e32f44bd" /><Relationship Type="http://schemas.openxmlformats.org/officeDocument/2006/relationships/image" Target="/ppt/media/image4.png" Id="R4822792ea4c844ae" /><Relationship Type="http://schemas.openxmlformats.org/officeDocument/2006/relationships/notesSlide" Target="/ppt/notesSlides/notesSlide7.xml" Id="R58902a8eff3b4c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5db0abe27f248ce" /><Relationship Type="http://schemas.openxmlformats.org/officeDocument/2006/relationships/image" Target="/ppt/media/image5.png" Id="R7dbf5825a4ec4dd3" /><Relationship Type="http://schemas.openxmlformats.org/officeDocument/2006/relationships/notesSlide" Target="/ppt/notesSlides/notesSlide8.xml" Id="Rf1bbcdde6dea43c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91546178a42405d" /><Relationship Type="http://schemas.openxmlformats.org/officeDocument/2006/relationships/image" Target="/ppt/media/image6.png" Id="R456ce9ec7e304f38" /><Relationship Type="http://schemas.openxmlformats.org/officeDocument/2006/relationships/notesSlide" Target="/ppt/notesSlides/notesSlide9.xml" Id="R6920d7e0b14048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6744a429e1534106" /><Relationship Type="http://schemas.openxmlformats.org/officeDocument/2006/relationships/notesSlide" Target="/ppt/notesSlides/notesSlide10.xml" Id="Radcaa25547e249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useBgFill="1"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2783C067-F8BF-4755-B516-8A0CD74C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664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9" name="Isosceles Triangle 48">
            <a:extLst xmlns:a="http://schemas.openxmlformats.org/drawingml/2006/main">
              <a:ext uri="{FF2B5EF4-FFF2-40B4-BE49-F238E27FC236}">
                <a16:creationId xmlns:a16="http://schemas.microsoft.com/office/drawing/2014/main" id="{2ED796EC-E7FF-46DB-B912-FB08BF12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0"/>
            <a:ext cx="842596" cy="5666154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Isosceles Triangle 50">
            <a:extLst xmlns:a="http://schemas.openxmlformats.org/drawingml/2006/main">
              <a:ext uri="{FF2B5EF4-FFF2-40B4-BE49-F238E27FC236}">
                <a16:creationId xmlns:a16="http://schemas.microsoft.com/office/drawing/2014/main" id="{549A2DAB-B431-487D-95AD-BB0FECB4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8534" y="3818467"/>
            <a:ext cx="4450292" cy="30395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88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" name="Straight Connector 52">
            <a:extLst xmlns:a="http://schemas.openxmlformats.org/drawingml/2006/main">
              <a:ext uri="{FF2B5EF4-FFF2-40B4-BE49-F238E27FC236}">
                <a16:creationId xmlns:a16="http://schemas.microsoft.com/office/drawing/2014/main" id="{7EB72ABB-51C2-44BE-92E4-812CE23F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1727200" cy="6858000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5" name="Straight Connector 54">
            <a:extLst xmlns:a="http://schemas.openxmlformats.org/drawingml/2006/main">
              <a:ext uri="{FF2B5EF4-FFF2-40B4-BE49-F238E27FC236}">
                <a16:creationId xmlns:a16="http://schemas.microsoft.com/office/drawing/2014/main" id="{3F0E7EA5-53B8-426D-B5D7-06135FCD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chemeClr val="accent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31F404-85BF-4A44-A7B7-33CE2AAB1A7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07066" y="1397000"/>
            <a:ext cx="8102759" cy="2421467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t>Network diagnostics</a:t>
            </a:r>
          </a:p>
        </p:txBody>
      </p:sp>
      <p:sp>
        <p:nvSpPr>
          <p:cNvPr id="57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819F787-32B4-46A8-BC57-C6571BCE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641" y="0"/>
            <a:ext cx="1766359" cy="6858000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302619682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traight Connector 10">
            <a:extLst xmlns:a="http://schemas.openxmlformats.org/drawingml/2006/main"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Isosceles Triangle 14">
            <a:extLst xmlns:a="http://schemas.openxmlformats.org/drawingml/2006/main"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Isosceles Triangle 18">
            <a:extLst xmlns:a="http://schemas.openxmlformats.org/drawingml/2006/main"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Isosceles Triangle 19">
            <a:extLst xmlns:a="http://schemas.openxmlformats.org/drawingml/2006/main"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13200"/>
            <a:ext cx="448733" cy="2844800"/>
          </a:xfrm>
          <a:prstGeom xmlns:a="http://schemas.openxmlformats.org/drawingml/2006/main" prst="triangle">
            <a:avLst>
              <a:gd name="adj" fmla="val 0"/>
            </a:avLst>
          </a:pr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3" y="609600"/>
            <a:ext cx="6191250" cy="78105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is a subnet?</a:t>
            </a:r>
          </a:p>
        </p:txBody>
      </p:sp>
      <p:sp>
        <p:nvSpPr>
          <p:cNvPr id="22" name="Straight Connector 21">
            <a:extLst xmlns:a="http://schemas.openxmlformats.org/drawingml/2006/main"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traight Connector 23">
            <a:extLst xmlns:a="http://schemas.openxmlformats.org/drawingml/2006/main"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8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Isosceles Triangle 24">
            <a:extLst xmlns:a="http://schemas.openxmlformats.org/drawingml/2006/main"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2">
              <a:alpha val="72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47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6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" name="Isosceles Triangle 29">
            <a:extLst xmlns:a="http://schemas.openxmlformats.org/drawingml/2006/main"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Clean content 1">
            <a:extLst xmlns:a="http://schemas.openxmlformats.org/drawingml/2006/main">
              <a:ext uri="{FF2B5EF4-FFF2-40B4-BE49-F238E27FC236}">
                <a16:creationId xmlns:a16="http://schemas.microsoft.com/office/drawing/2014/main" id="{6FE0B811-E5C7-4C97-BAB9-3623DFC6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81125"/>
            <a:ext cx="11001375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5DCE5C69-A305-40F9-A980-FACB9EDD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4504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333333"/>
                </a:solidFill>
              </a:defRPr>
            </a:defPPr>
          </a:lstStyle>
          <a:p xmlns:a="http://schemas.openxmlformats.org/drawingml/2006/main">
            <a:pPr>
              <a:buNone/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A subnet is a group of devices whose IP addresses share the same network portion.</a:t>
            </a:r>
          </a:p>
        </p:txBody>
      </p:sp>
      <p:sp>
        <p:nvSpPr>
          <p:cNvPr id="42" name="Rectangle: Rounded Corners 41">
            <a:extLst xmlns:a="http://schemas.openxmlformats.org/drawingml/2006/main">
              <a:ext uri="{FF2B5EF4-FFF2-40B4-BE49-F238E27FC236}">
                <a16:creationId xmlns:a16="http://schemas.microsoft.com/office/drawing/2014/main" id="{2F16AD20-5B5D-40C5-854C-B8018814B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66925"/>
            <a:ext cx="10096500" cy="8572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8F7FC"/>
          </a:solidFill>
          <a:ln xmlns:a="http://schemas.openxmlformats.org/drawingml/2006/main" w="14288">
            <a:solidFill>
              <a:srgbClr val="5FCBE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23566A"/>
                </a:solidFill>
              </a:defRPr>
            </a:defPPr>
          </a:lstStyle>
          <a:p xmlns:a="http://schemas.openxmlformats.org/drawingml/2006/main">
            <a:pPr algn="ctr">
              <a:buNone/>
              <a:defRPr sz="1725" b="1">
                <a:solidFill>
                  <a:srgbClr val="23566A"/>
                </a:solidFill>
              </a:defRPr>
            </a:pPr>
            <a:r>
              <a:rPr sz="1725" b="1">
                <a:solidFill>
                  <a:srgbClr val="23566A"/>
                </a:solidFill>
              </a:rPr>
              <a:t>Mask 255.255.255.0 (/24): the first three parts of the IP address identify the network.</a:t>
            </a:r>
            <a:endParaRPr sz="1725" b="1">
              <a:solidFill>
                <a:srgbClr val="23566A"/>
              </a:solidFill>
            </a:endParaRPr>
          </a:p>
          <a:p xmlns:a="http://schemas.openxmlformats.org/drawingml/2006/main">
            <a:pPr algn="ctr">
              <a:buNone/>
              <a:defRPr sz="1725" b="1">
                <a:solidFill>
                  <a:srgbClr val="23566A"/>
                </a:solidFill>
              </a:defRPr>
            </a:pPr>
            <a:r>
              <a:rPr sz="1725" b="1">
                <a:solidFill>
                  <a:srgbClr val="23566A"/>
                </a:solidFill>
              </a:rPr>
              <a:t>255 = the same part for all devices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23566A"/>
                </a:solidFill>
              </a:defRPr>
            </a:pPr>
            <a:r>
              <a:rPr sz="1725" b="1">
                <a:solidFill>
                  <a:srgbClr val="23566A"/>
                </a:solidFill>
              </a:rPr>
              <a:t>0 = different</a:t>
            </a:r>
          </a:p>
        </p:txBody>
      </p:sp>
      <p:graphicFrame>
        <p:nvGraphicFramePr>
          <p:cNvPr id="43" name="Table 42">
            <a:extLst xmlns:a="http://schemas.openxmlformats.org/drawingml/2006/main">
              <a:ext uri="{FF2B5EF4-FFF2-40B4-BE49-F238E27FC236}">
                <a16:creationId xmlns:a16="http://schemas.microsoft.com/office/drawing/2014/main" id="{3831978E-9FE4-4437-BCD6-3ACBF61892C1}"/>
              </a:ext>
            </a:extLst>
          </p:cNvPr>
          <p:cNvGraphicFramePr/>
          <p:nvPr/>
        </p:nvGraphicFramePr>
        <p:xfrm>
          <a:off xmlns:a="http://schemas.openxmlformats.org/drawingml/2006/main" x="781050" y="3048000"/>
          <a:ext xmlns:a="http://schemas.openxmlformats.org/drawingml/2006/main" cx="100965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2476500"/>
                <a:gridCol w="2476500"/>
                <a:gridCol w="3429000"/>
              </a:tblGrid>
              <a:tr h="4476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Device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IP Address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Network (/24)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Relation to PC A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PC A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192.168.1.10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Reference device</a:t>
                      </a:r>
                    </a:p>
                  </a:txBody>
                  <a:tcPr marL="95250" marR="95250" marT="66675" marB="66675" anchor="ctr">
                    <a:solidFill>
                      <a:srgbClr val="F3F4F6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PC B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192.168.1.25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6733D"/>
                          </a:solidFill>
                        </a:rPr>
                        <a:t>Same subnet</a:t>
                      </a:r>
                    </a:p>
                  </a:txBody>
                  <a:tcPr marL="95250" marR="95250" marT="66675" marB="66675" anchor="ctr">
                    <a:solidFill>
                      <a:srgbClr val="E6F4EA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Printer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192.168.1.200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6733D"/>
                          </a:solidFill>
                        </a:rPr>
                        <a:t>Same subnet</a:t>
                      </a:r>
                    </a:p>
                  </a:txBody>
                  <a:tcPr marL="95250" marR="95250" marT="66675" marB="66675" anchor="ctr">
                    <a:solidFill>
                      <a:srgbClr val="E6F4EA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Laptop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192.168.2.10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192.168.2.0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A12B25"/>
                          </a:solidFill>
                        </a:rPr>
                        <a:t>Different subnet</a:t>
                      </a:r>
                    </a:p>
                  </a:txBody>
                  <a:tcPr marL="95250" marR="95250" marT="66675" marB="66675" anchor="ctr">
                    <a:solidFill>
                      <a:srgbClr val="FCE8E6"/>
                    </a:solidFill>
                  </a:tcPr>
                </a:tc>
              </a:tr>
            </a:tbl>
          </a:graphicData>
        </a:graphic>
      </p:graphicFrame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B7D4317-995B-4191-88B1-10CDF29A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05450"/>
            <a:ext cx="10096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>
                <a:solidFill>
                  <a:srgbClr val="333333"/>
                </a:solidFill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333333"/>
                </a:solidFill>
              </a:defRPr>
            </a:pPr>
            <a:r>
              <a:rPr sz="1575" b="1">
                <a:solidFill>
                  <a:srgbClr val="333333"/>
                </a:solidFill>
              </a:rPr>
              <a:t>192.168.1.10 and 192.168.1.25 communicate within the same subnet. Communication with 192.168.2.10 requires a router or Default Gateway.</a:t>
            </a:r>
          </a:p>
        </p:txBody>
      </p:sp>
    </p:spTree>
    <p:extLst>
      <p:ext uri="{BB962C8B-B14F-4D97-AF65-F5344CB8AC3E}">
        <p14:creationId xmlns:p14="http://schemas.microsoft.com/office/powerpoint/2010/main" val="284286805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0CC5F6-A8B2-464D-A77D-97CB05567F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3" y="609600"/>
            <a:ext cx="5905500" cy="7620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DNS Server</a:t>
            </a:r>
          </a:p>
        </p:txBody>
      </p:sp>
      <p:sp>
        <p:nvSpPr>
          <p:cNvPr id="7" name="Clean content 3">
            <a:extLst xmlns:a="http://schemas.openxmlformats.org/drawingml/2006/main">
              <a:ext uri="{FF2B5EF4-FFF2-40B4-BE49-F238E27FC236}">
                <a16:creationId xmlns:a16="http://schemas.microsoft.com/office/drawing/2014/main" id="{67CB5BBD-28F4-4BB4-B66B-2ADB50A5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81125"/>
            <a:ext cx="11001375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12089EB-B18F-4A43-846E-6987B5F1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0">
                <a:solidFill>
                  <a:srgbClr val="333333"/>
                </a:solidFill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333333"/>
                </a:solidFill>
              </a:defRPr>
            </a:pPr>
            <a:r>
              <a:rPr sz="1800" b="0">
                <a:solidFill>
                  <a:srgbClr val="333333"/>
                </a:solidFill>
              </a:rPr>
              <a:t>A DNS server matches a website name to the IP address of its server.</a:t>
            </a:r>
          </a:p>
        </p:txBody>
      </p:sp>
      <p:sp>
        <p:nvSpPr>
          <p:cNvPr id="9" name="Rectangle: Rounded Corners 8">
            <a:extLst xmlns:a="http://schemas.openxmlformats.org/drawingml/2006/main">
              <a:ext uri="{FF2B5EF4-FFF2-40B4-BE49-F238E27FC236}">
                <a16:creationId xmlns:a16="http://schemas.microsoft.com/office/drawing/2014/main" id="{CF338F2D-351D-464A-AF6D-5EC18333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24125"/>
            <a:ext cx="2428875" cy="1666875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E8F7FC"/>
          </a:solidFill>
          <a:ln xmlns:a="http://schemas.openxmlformats.org/drawingml/2006/main" w="19050">
            <a:solidFill>
              <a:srgbClr val="5FCBE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23566A"/>
                </a:solidFill>
              </a:defRPr>
            </a:defPPr>
          </a:lstStyle>
          <a:p xmlns:a="http://schemas.openxmlformats.org/drawingml/2006/main">
            <a:pPr algn="ctr">
              <a:buNone/>
              <a:defRPr sz="1800" b="1">
                <a:solidFill>
                  <a:srgbClr val="23566A"/>
                </a:solidFill>
              </a:defRPr>
            </a:pPr>
            <a:r>
              <a:rPr sz="1800" b="1">
                <a:solidFill>
                  <a:srgbClr val="23566A"/>
                </a:solidFill>
              </a:rPr>
              <a:t>Computer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23566A"/>
                </a:solidFill>
              </a:defRPr>
            </a:pPr>
          </a:p>
          <a:p xmlns:a="http://schemas.openxmlformats.org/drawingml/2006/main">
            <a:pPr algn="ctr">
              <a:buNone/>
              <a:defRPr sz="1800" b="1">
                <a:solidFill>
                  <a:srgbClr val="23566A"/>
                </a:solidFill>
              </a:defRPr>
            </a:pPr>
            <a:r>
              <a:rPr sz="1800" b="1">
                <a:solidFill>
                  <a:srgbClr val="23566A"/>
                </a:solidFill>
              </a:rPr>
              <a:t>www.example.com</a:t>
            </a:r>
          </a:p>
        </p:txBody>
      </p:sp>
      <p:sp>
        <p:nvSpPr>
          <p:cNvPr id="10" name="Rectangle: Rounded Corners 9">
            <a:extLst xmlns:a="http://schemas.openxmlformats.org/drawingml/2006/main">
              <a:ext uri="{FF2B5EF4-FFF2-40B4-BE49-F238E27FC236}">
                <a16:creationId xmlns:a16="http://schemas.microsoft.com/office/drawing/2014/main" id="{217BCEF3-EC97-4B41-A892-3BCA4453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38375"/>
            <a:ext cx="3143250" cy="2238375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2C83A5"/>
          </a:solidFill>
          <a:ln xmlns:a="http://schemas.openxmlformats.org/drawingml/2006/main" w="19050">
            <a:solidFill>
              <a:srgbClr val="1F617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DNS Server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Finds the match: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www.example.com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93.184.216.34</a:t>
            </a:r>
          </a:p>
        </p:txBody>
      </p:sp>
      <p:sp>
        <p:nvSpPr>
          <p:cNvPr id="11" name="Rectangle: Rounded Corners 10">
            <a:extLst xmlns:a="http://schemas.openxmlformats.org/drawingml/2006/main">
              <a:ext uri="{FF2B5EF4-FFF2-40B4-BE49-F238E27FC236}">
                <a16:creationId xmlns:a16="http://schemas.microsoft.com/office/drawing/2014/main" id="{EB029D57-69A8-4971-B835-37DA3295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524125"/>
            <a:ext cx="2095500" cy="1666875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E6F4EA"/>
          </a:solidFill>
          <a:ln xmlns:a="http://schemas.openxmlformats.org/drawingml/2006/main" w="19050">
            <a:solidFill>
              <a:srgbClr val="4C9B6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26733D"/>
                </a:solidFill>
              </a:defRPr>
            </a:defPPr>
          </a:lstStyle>
          <a:p xmlns:a="http://schemas.openxmlformats.org/drawingml/2006/main">
            <a:pPr algn="ctr">
              <a:buNone/>
              <a:defRPr sz="1725" b="1">
                <a:solidFill>
                  <a:srgbClr val="26733D"/>
                </a:solidFill>
              </a:defRPr>
            </a:pPr>
            <a:r>
              <a:rPr sz="1725" b="1">
                <a:solidFill>
                  <a:srgbClr val="26733D"/>
                </a:solidFill>
              </a:rPr>
              <a:t>Web Server</a:t>
            </a:r>
          </a:p>
          <a:p xmlns:a="http://schemas.openxmlformats.org/drawingml/2006/main">
            <a:endParaRPr sz="1725" b="1">
              <a:solidFill>
                <a:srgbClr val="26733D"/>
              </a:solidFill>
            </a:endParaRPr>
          </a:p>
          <a:p xmlns:a="http://schemas.openxmlformats.org/drawingml/2006/main">
            <a:pPr algn="ctr">
              <a:buNone/>
              <a:defRPr sz="1725" b="1">
                <a:solidFill>
                  <a:srgbClr val="26733D"/>
                </a:solidFill>
              </a:defRPr>
            </a:pPr>
            <a:r>
              <a:rPr sz="1725" b="1">
                <a:solidFill>
                  <a:srgbClr val="26733D"/>
                </a:solidFill>
              </a:rPr>
              <a:t>93.184.216.34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912AA52-8F12-4894-B309-6B12C531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571750"/>
            <a:ext cx="1381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1">
                <a:solidFill>
                  <a:srgbClr val="23566A"/>
                </a:solidFill>
              </a:defRPr>
            </a:defPPr>
          </a:lstStyle>
          <a:p xmlns:a="http://schemas.openxmlformats.org/drawingml/2006/main">
            <a:pPr algn="ctr">
              <a:buNone/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1. What is the IP?  →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A327259-ED6A-4E90-8B3A-0EB6E9DF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381375"/>
            <a:ext cx="13811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23566A"/>
                </a:solidFill>
              </a:defRPr>
            </a:defPPr>
          </a:lstStyle>
          <a:p xmlns:a="http://schemas.openxmlformats.org/drawingml/2006/main">
            <a:pPr algn="ctr">
              <a:buNone/>
              <a:defRPr sz="1275" b="1">
                <a:solidFill>
                  <a:srgbClr val="23566A"/>
                </a:solidFill>
              </a:defRPr>
            </a:pPr>
            <a:r>
              <a:rPr sz="1275" b="1">
                <a:solidFill>
                  <a:srgbClr val="23566A"/>
                </a:solidFill>
              </a:rPr>
              <a:t>←  2. The IP is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23566A"/>
                </a:solidFill>
              </a:defRPr>
            </a:pPr>
            <a:r>
              <a:rPr sz="1275" b="1">
                <a:solidFill>
                  <a:srgbClr val="23566A"/>
                </a:solidFill>
              </a:rPr>
              <a:t>93.184.216.34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449FEEA-82BA-478F-BAC7-BBAD6E09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905125"/>
            <a:ext cx="114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1">
                <a:solidFill>
                  <a:srgbClr val="26733D"/>
                </a:solidFill>
              </a:defRPr>
            </a:defPPr>
          </a:lstStyle>
          <a:p xmlns:a="http://schemas.openxmlformats.org/drawingml/2006/main">
            <a:pPr algn="ctr">
              <a:buNone/>
              <a:defRPr sz="1350" b="1">
                <a:solidFill>
                  <a:srgbClr val="26733D"/>
                </a:solidFill>
              </a:defRPr>
            </a:pPr>
            <a:r>
              <a:rPr sz="1350" b="1">
                <a:solidFill>
                  <a:srgbClr val="26733D"/>
                </a:solidFill>
              </a:rPr>
              <a:t>3. Connect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26733D"/>
                </a:solidFill>
              </a:defRPr>
            </a:pPr>
            <a:r>
              <a:rPr sz="1350" b="1">
                <a:solidFill>
                  <a:srgbClr val="26733D"/>
                </a:solidFill>
              </a:rPr>
              <a:t>using the IP  →</a:t>
            </a:r>
          </a:p>
        </p:txBody>
      </p:sp>
      <p:sp>
        <p:nvSpPr>
          <p:cNvPr id="15" name="Rectangle: Rounded Corners 14">
            <a:extLst xmlns:a="http://schemas.openxmlformats.org/drawingml/2006/main">
              <a:ext uri="{FF2B5EF4-FFF2-40B4-BE49-F238E27FC236}">
                <a16:creationId xmlns:a16="http://schemas.microsoft.com/office/drawing/2014/main" id="{D3CC7A9D-C4D2-4443-BD81-98D4436B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10125075" cy="10001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11906">
            <a:solidFill>
              <a:srgbClr val="B7DD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333333"/>
                </a:solidFill>
              </a:defRPr>
            </a:defPPr>
          </a:lstStyle>
          <a:p xmlns:a="http://schemas.openxmlformats.org/drawingml/2006/main">
            <a:pPr algn="ctr">
              <a:buNone/>
              <a:defRPr sz="1650" b="1">
                <a:solidFill>
                  <a:srgbClr val="333333"/>
                </a:solidFill>
              </a:defRPr>
            </a:pPr>
            <a:r>
              <a:rPr sz="1650" b="1">
                <a:solidFill>
                  <a:srgbClr val="333333"/>
                </a:solidFill>
              </a:rPr>
              <a:t>Simplified example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333333"/>
                </a:solidFill>
              </a:defRPr>
            </a:pPr>
            <a:r>
              <a:rPr sz="1650" b="1">
                <a:solidFill>
                  <a:srgbClr val="333333"/>
                </a:solidFill>
              </a:rPr>
              <a:t>Without DNS, users would have to remember the IP address of every website.</a:t>
            </a:r>
          </a:p>
        </p:txBody>
      </p:sp>
    </p:spTree>
    <p:extLst>
      <p:ext uri="{BB962C8B-B14F-4D97-AF65-F5344CB8AC3E}">
        <p14:creationId xmlns:p14="http://schemas.microsoft.com/office/powerpoint/2010/main" val="219190660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0CC5F6-A8B2-464D-A77D-97CB05567F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2" y="609600"/>
            <a:ext cx="5825735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Diagnostic commands</a:t>
            </a:r>
          </a:p>
        </p:txBody>
      </p:sp>
      <p:sp>
        <p:nvSpPr>
          <p:cNvPr id="4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3" y="1563757"/>
            <a:ext cx="5952067" cy="4477604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endParaRPr sz="2800"/>
          </a:p>
        </p:txBody>
      </p:sp>
      <p:sp>
        <p:nvSpPr>
          <p:cNvPr id="5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1ADE6AB2-31D4-43F8-8CB3-B978A6B5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4A6DC372-EF3F-4BD2-A334-2CA08BBF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A.5.M2 | Theory</a:t>
            </a:r>
          </a:p>
        </p:txBody>
      </p:sp>
      <p:sp>
        <p:nvSpPr>
          <p:cNvPr id="7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7C771E72-8C57-4BD4-A907-9EB09DBD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ipconfig</a:t>
            </a:r>
          </a:p>
        </p:txBody>
      </p:sp>
      <p:sp>
        <p:nvSpPr>
          <p:cNvPr id="8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F6C81DD3-BB36-4F23-87B3-BA04996F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76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Displays the IP Address, Subnet Mask and Default Gateway.</a:t>
            </a:r>
          </a:p>
        </p:txBody>
      </p:sp>
      <p:sp>
        <p:nvSpPr>
          <p:cNvPr id="9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56CDC298-5F75-4F10-AEA0-2EE2E608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nslookup</a:t>
            </a:r>
            <a:endParaRPr sz="1575" b="1">
              <a:solidFill>
                <a:srgbClr val="18A7CC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10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73831D10-FA81-4630-80A2-DF540657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71825"/>
            <a:ext cx="476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Checks the computer's DNS settings.</a:t>
            </a:r>
            <a:endParaRPr sz="1650" b="0">
              <a:solidFill>
                <a:srgbClr val="333333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11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FAD8B63B-9463-4F1E-9E70-0E1A7E57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576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ping</a:t>
            </a:r>
          </a:p>
        </p:txBody>
      </p:sp>
      <p:sp>
        <p:nvSpPr>
          <p:cNvPr id="12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B97222AA-170A-45DB-8311-5BF958D4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476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Checks whether a destination responds over the network.</a:t>
            </a:r>
          </a:p>
        </p:txBody>
      </p:sp>
      <p:sp>
        <p:nvSpPr>
          <p:cNvPr id="13" name="Block heading 4">
            <a:extLst xmlns:a="http://schemas.openxmlformats.org/drawingml/2006/main">
              <a:ext uri="{FF2B5EF4-FFF2-40B4-BE49-F238E27FC236}">
                <a16:creationId xmlns:a16="http://schemas.microsoft.com/office/drawing/2014/main" id="{9B3DBC8C-A3A1-405D-ACE9-6FA8B6D5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tracert</a:t>
            </a:r>
          </a:p>
        </p:txBody>
      </p:sp>
      <p:sp>
        <p:nvSpPr>
          <p:cNvPr id="14" name="Block body 4">
            <a:extLst xmlns:a="http://schemas.openxmlformats.org/drawingml/2006/main">
              <a:ext uri="{FF2B5EF4-FFF2-40B4-BE49-F238E27FC236}">
                <a16:creationId xmlns:a16="http://schemas.microsoft.com/office/drawing/2014/main" id="{CC22DC93-68B1-49EA-AB54-1E943502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72075"/>
            <a:ext cx="476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Displays the intermediate routers on the path to the destination.</a:t>
            </a:r>
          </a:p>
        </p:txBody>
      </p:sp>
      <p:pic>
        <p:nvPicPr>
          <p:cNvPr id="28" name="Picture 27">
            <a:extLst xmlns:a="http://schemas.openxmlformats.org/drawingml/2006/main">
              <a:ext uri="{FF2B5EF4-FFF2-40B4-BE49-F238E27FC236}">
                <a16:creationId xmlns:a16="http://schemas.microsoft.com/office/drawing/2014/main" id="{91803C29-DF2A-4883-81B2-75BD68D860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8b437b60144e45"/>
          <a:stretch xmlns:a="http://schemas.openxmlformats.org/drawingml/2006/main"/>
        </p:blipFill>
        <p:spPr>
          <a:xfrm xmlns:a="http://schemas.openxmlformats.org/drawingml/2006/main">
            <a:off x="5953125" y="2488192"/>
            <a:ext cx="4905375" cy="264361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88141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2C863D9-1989-4443-A424-8213A05F31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3" y="609600"/>
            <a:ext cx="7429500" cy="74295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>
            <a:defPPr>
              <a:defRPr sz="3450">
                <a:solidFill>
                  <a:srgbClr val="5FCBEF"/>
                </a:solidFill>
              </a:defRPr>
            </a:defPPr>
          </a:lstStyle>
          <a:p xmlns:a="http://schemas.openxmlformats.org/drawingml/2006/main">
            <a:pPr>
              <a:buNone/>
              <a:defRPr sz="3450">
                <a:solidFill>
                  <a:srgbClr val="5FCBEF"/>
                </a:solidFill>
              </a:defRPr>
            </a:pPr>
            <a:r>
              <a:rPr sz="3450">
                <a:solidFill>
                  <a:srgbClr val="5FCBEF"/>
                </a:solidFill>
              </a:rPr>
              <a:t>ipconfig (troubleshooting)</a:t>
            </a:r>
            <a:endParaRPr/>
          </a:p>
        </p:txBody>
      </p:sp>
      <p:sp>
        <p:nvSpPr>
          <p:cNvPr id="4" name="Clean content 2">
            <a:extLst xmlns:a="http://schemas.openxmlformats.org/drawingml/2006/main">
              <a:ext uri="{FF2B5EF4-FFF2-40B4-BE49-F238E27FC236}">
                <a16:creationId xmlns:a16="http://schemas.microsoft.com/office/drawing/2014/main" id="{AA5D13AE-7AFA-4820-9A3F-59677945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81125"/>
            <a:ext cx="11001375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817A68A-33DA-403F-BC2C-FAE3F8FA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95425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333333"/>
                </a:solidFill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The commands display the computer's network settings in Windows. They do not change any settings.</a:t>
            </a:r>
          </a:p>
        </p:txBody>
      </p:sp>
      <p:sp>
        <p:nvSpPr>
          <p:cNvPr id="6" name="Rectangle: Rounded Corners 5">
            <a:extLst xmlns:a="http://schemas.openxmlformats.org/drawingml/2006/main">
              <a:ext uri="{FF2B5EF4-FFF2-40B4-BE49-F238E27FC236}">
                <a16:creationId xmlns:a16="http://schemas.microsoft.com/office/drawing/2014/main" id="{CF6B83BC-0809-4C45-98AA-A9A02A04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10096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63746"/>
          </a:solidFill>
          <a:ln xmlns:a="http://schemas.openxmlformats.org/drawingml/2006/main" w="14288">
            <a:solidFill>
              <a:srgbClr val="5FCBE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ipconfig        basic information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ipconfig /all   full details</a:t>
            </a:r>
          </a:p>
        </p:txBody>
      </p:sp>
      <p:sp>
        <p:nvSpPr>
          <p:cNvPr id="8" name="Rectangle: Rounded Corners 7">
            <a:extLst xmlns:a="http://schemas.openxmlformats.org/drawingml/2006/main">
              <a:ext uri="{FF2B5EF4-FFF2-40B4-BE49-F238E27FC236}">
                <a16:creationId xmlns:a16="http://schemas.microsoft.com/office/drawing/2014/main" id="{08FDF35E-CFC4-42F1-9F35-075532B2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62600"/>
            <a:ext cx="10096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7FC"/>
          </a:solidFill>
          <a:ln xmlns:a="http://schemas.openxmlformats.org/drawingml/2006/main" w="11906">
            <a:solidFill>
              <a:srgbClr val="5FCBE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23566A"/>
                </a:solidFill>
              </a:defRPr>
            </a:defPPr>
          </a:lstStyle>
          <a:p xmlns:a="http://schemas.openxmlformats.org/drawingml/2006/main">
            <a:pPr algn="ctr">
              <a:buNone/>
              <a:defRPr sz="1500" b="1">
                <a:solidFill>
                  <a:srgbClr val="23566A"/>
                </a:solidFill>
              </a:defRPr>
            </a:pPr>
            <a:r>
              <a:rPr sz="1500" b="1">
                <a:solidFill>
                  <a:srgbClr val="23566A"/>
                </a:solidFill>
              </a:rPr>
              <a:t>Use: check whether the computer has the correct IP address, mask, gateway and DNS.</a:t>
            </a:r>
          </a:p>
        </p:txBody>
      </p:sp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A2E7F15B-44F2-4174-BF0B-AC2867FE4C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b6a1f4dca445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2990852"/>
            <a:ext cx="9257873" cy="228917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39400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86133BA-58A2-8811-3723-2649854FB3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3" y="609600"/>
            <a:ext cx="7429500" cy="74295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>
            <a:defPPr>
              <a:defRPr sz="3450">
                <a:solidFill>
                  <a:srgbClr val="5FCBEF"/>
                </a:solidFill>
              </a:defRPr>
            </a:defPPr>
          </a:lstStyle>
          <a:p xmlns:a="http://schemas.openxmlformats.org/drawingml/2006/main">
            <a:pPr>
              <a:buNone/>
              <a:defRPr sz="3450">
                <a:solidFill>
                  <a:srgbClr val="5FCBEF"/>
                </a:solidFill>
              </a:defRPr>
            </a:pPr>
            <a:r>
              <a:rPr sz="3450">
                <a:solidFill>
                  <a:srgbClr val="5FCBEF"/>
                </a:solidFill>
              </a:rPr>
              <a:t>nslookup (troubleshooting)</a:t>
            </a:r>
            <a:endParaRPr/>
          </a:p>
        </p:txBody>
      </p:sp>
      <p:sp>
        <p:nvSpPr>
          <p:cNvPr id="4" name="Clean content 2">
            <a:extLst xmlns:a="http://schemas.openxmlformats.org/drawingml/2006/main">
              <a:ext uri="{FF2B5EF4-FFF2-40B4-BE49-F238E27FC236}">
                <a16:creationId xmlns:a16="http://schemas.microsoft.com/office/drawing/2014/main" id="{603478F7-C898-C183-15B6-F8F26313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81125"/>
            <a:ext cx="11001375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Rectangle: Rounded Corners 7">
            <a:extLst xmlns:a="http://schemas.openxmlformats.org/drawingml/2006/main">
              <a:ext uri="{FF2B5EF4-FFF2-40B4-BE49-F238E27FC236}">
                <a16:creationId xmlns:a16="http://schemas.microsoft.com/office/drawing/2014/main" id="{6C0F7599-C57A-60C5-2EE3-7CEE5E6B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" y="1428750"/>
            <a:ext cx="10096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7FC"/>
          </a:solidFill>
          <a:ln xmlns:a="http://schemas.openxmlformats.org/drawingml/2006/main" w="11906">
            <a:solidFill>
              <a:srgbClr val="5FCBE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23566A"/>
                </a:solidFill>
              </a:defRPr>
            </a:defPPr>
          </a:lstStyle>
          <a:p xmlns:a="http://schemas.openxmlformats.org/drawingml/2006/main">
            <a:pPr algn="ctr">
              <a:buNone/>
              <a:defRPr sz="1500" b="1">
                <a:solidFill>
                  <a:srgbClr val="23566A"/>
                </a:solidFill>
              </a:defRPr>
            </a:pPr>
            <a:r>
              <a:rPr sz="1500" b="1">
                <a:solidFill>
                  <a:srgbClr val="23566A"/>
                </a:solidFill>
              </a:rPr>
              <a:t>displays the address of the DNS server that the computer will use</a:t>
            </a:r>
            <a:endParaRPr sz="1500" b="1">
              <a:solidFill>
                <a:srgbClr val="23566A"/>
              </a:solidFill>
            </a:endParaRPr>
          </a:p>
        </p:txBody>
      </p:sp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40465EA7-8589-4D14-AB8E-31BEBDFB1B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47ae60dd40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60500" y="2216150"/>
            <a:ext cx="7289800" cy="445114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50672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traight Connector 10">
            <a:extLst xmlns:a="http://schemas.openxmlformats.org/drawingml/2006/main"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Isosceles Triangle 14">
            <a:extLst xmlns:a="http://schemas.openxmlformats.org/drawingml/2006/main"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Isosceles Triangle 18">
            <a:extLst xmlns:a="http://schemas.openxmlformats.org/drawingml/2006/main"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Isosceles Triangle 19">
            <a:extLst xmlns:a="http://schemas.openxmlformats.org/drawingml/2006/main"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13200"/>
            <a:ext cx="448733" cy="2844800"/>
          </a:xfrm>
          <a:prstGeom xmlns:a="http://schemas.openxmlformats.org/drawingml/2006/main" prst="triangle">
            <a:avLst>
              <a:gd name="adj" fmla="val 0"/>
            </a:avLst>
          </a:pr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2" y="609600"/>
            <a:ext cx="5793327" cy="74295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>
            <a:defPPr>
              <a:defRPr sz="3450">
                <a:solidFill>
                  <a:srgbClr val="5FCBEF"/>
                </a:solidFill>
              </a:defRPr>
            </a:defPPr>
          </a:lstStyle>
          <a:p xmlns:a="http://schemas.openxmlformats.org/drawingml/2006/main">
            <a:pPr>
              <a:buNone/>
              <a:defRPr sz="3450">
                <a:solidFill>
                  <a:srgbClr val="5FCBEF"/>
                </a:solidFill>
              </a:defRPr>
            </a:pPr>
            <a:r>
              <a:rPr sz="3450">
                <a:solidFill>
                  <a:srgbClr val="5FCBEF"/>
                </a:solidFill>
              </a:rPr>
              <a:t>ping (troubleshooting)</a:t>
            </a:r>
            <a:endParaRPr sz="3450">
              <a:solidFill>
                <a:srgbClr val="5FCBEF"/>
              </a:solidFill>
            </a:endParaRPr>
          </a:p>
        </p:txBody>
      </p:sp>
      <p:sp>
        <p:nvSpPr>
          <p:cNvPr id="22" name="Straight Connector 21">
            <a:extLst xmlns:a="http://schemas.openxmlformats.org/drawingml/2006/main"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traight Connector 23">
            <a:extLst xmlns:a="http://schemas.openxmlformats.org/drawingml/2006/main"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8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Isosceles Triangle 24">
            <a:extLst xmlns:a="http://schemas.openxmlformats.org/drawingml/2006/main"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2">
              <a:alpha val="72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47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6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" name="Isosceles Triangle 29">
            <a:extLst xmlns:a="http://schemas.openxmlformats.org/drawingml/2006/main"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Clean content 4">
            <a:extLst xmlns:a="http://schemas.openxmlformats.org/drawingml/2006/main">
              <a:ext uri="{FF2B5EF4-FFF2-40B4-BE49-F238E27FC236}">
                <a16:creationId xmlns:a16="http://schemas.microsoft.com/office/drawing/2014/main" id="{7F869091-9CC5-48F4-9FEE-C0C4C32E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81125"/>
            <a:ext cx="11001375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B3330E2F-CDED-4A34-B64B-E96705AC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95425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333333"/>
                </a:solidFill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Ping sends small test packets and waits for a reply from the destination.</a:t>
            </a:r>
          </a:p>
        </p:txBody>
      </p:sp>
      <p:sp>
        <p:nvSpPr>
          <p:cNvPr id="42" name="Rectangle: Rounded Corners 41">
            <a:extLst xmlns:a="http://schemas.openxmlformats.org/drawingml/2006/main">
              <a:ext uri="{FF2B5EF4-FFF2-40B4-BE49-F238E27FC236}">
                <a16:creationId xmlns:a16="http://schemas.microsoft.com/office/drawing/2014/main" id="{987EA34E-D5DF-4859-A266-65AFDBB4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056" y="1885421"/>
            <a:ext cx="100965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63746"/>
          </a:solidFill>
          <a:ln xmlns:a="http://schemas.openxmlformats.org/drawingml/2006/main" w="14288">
            <a:solidFill>
              <a:srgbClr val="5FCBE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ping 192.168.1.1      checks the local router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ping 8.8.8.8          checks the Internet without DNS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ping www.google.com   checks the Internet and DNS</a:t>
            </a:r>
          </a:p>
        </p:txBody>
      </p:sp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DE0A24F4-3AFB-4ECC-A295-E071B4A3EB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22792ea4c844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74459" y="3019425"/>
            <a:ext cx="8443674" cy="36125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50126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6EAA72-EC7F-4ECD-B4EF-D54E871C68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2" y="609600"/>
            <a:ext cx="6326727" cy="74295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>
            <a:defPPr>
              <a:defRPr sz="3450">
                <a:solidFill>
                  <a:srgbClr val="5FCBEF"/>
                </a:solidFill>
              </a:defRPr>
            </a:defPPr>
          </a:lstStyle>
          <a:p xmlns:a="http://schemas.openxmlformats.org/drawingml/2006/main">
            <a:pPr>
              <a:buNone/>
              <a:defRPr sz="3450">
                <a:solidFill>
                  <a:srgbClr val="5FCBEF"/>
                </a:solidFill>
              </a:defRPr>
            </a:pPr>
            <a:r>
              <a:rPr sz="3450">
                <a:solidFill>
                  <a:srgbClr val="5FCBEF"/>
                </a:solidFill>
              </a:rPr>
              <a:t>tracert (troubleshooting)</a:t>
            </a:r>
            <a:endParaRPr/>
          </a:p>
        </p:txBody>
      </p:sp>
      <p:sp>
        <p:nvSpPr>
          <p:cNvPr id="5" name="Clean content 5">
            <a:extLst xmlns:a="http://schemas.openxmlformats.org/drawingml/2006/main">
              <a:ext uri="{FF2B5EF4-FFF2-40B4-BE49-F238E27FC236}">
                <a16:creationId xmlns:a16="http://schemas.microsoft.com/office/drawing/2014/main" id="{EC97C31E-7703-4F76-AF7D-A634EF24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81125"/>
            <a:ext cx="11001375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D48E1F3-2B09-4AC2-AD4B-306CA728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43013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333333"/>
                </a:solidFill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Tracert lists the routers, or hops, that traffic passes through on its way to the destination.</a:t>
            </a:r>
          </a:p>
        </p:txBody>
      </p:sp>
      <p:sp>
        <p:nvSpPr>
          <p:cNvPr id="7" name="Rectangle: Rounded Corners 6">
            <a:extLst xmlns:a="http://schemas.openxmlformats.org/drawingml/2006/main">
              <a:ext uri="{FF2B5EF4-FFF2-40B4-BE49-F238E27FC236}">
                <a16:creationId xmlns:a16="http://schemas.microsoft.com/office/drawing/2014/main" id="{58D10C96-8AEC-4960-AB57-7B52199C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6425"/>
            <a:ext cx="100965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63746"/>
          </a:solidFill>
          <a:ln xmlns:a="http://schemas.openxmlformats.org/drawingml/2006/main" w="14288">
            <a:solidFill>
              <a:srgbClr val="5FCBE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tracert www.google.com</a:t>
            </a:r>
          </a:p>
        </p:txBody>
      </p:sp>
      <p:sp>
        <p:nvSpPr>
          <p:cNvPr id="9" name="Rectangle: Rounded Corners 8">
            <a:extLst xmlns:a="http://schemas.openxmlformats.org/drawingml/2006/main">
              <a:ext uri="{FF2B5EF4-FFF2-40B4-BE49-F238E27FC236}">
                <a16:creationId xmlns:a16="http://schemas.microsoft.com/office/drawing/2014/main" id="{E2023D39-8FF8-4B86-B353-8C76D724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62600"/>
            <a:ext cx="10096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7FC"/>
          </a:solidFill>
          <a:ln xmlns:a="http://schemas.openxmlformats.org/drawingml/2006/main" w="11906">
            <a:solidFill>
              <a:srgbClr val="5FCBE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23566A"/>
                </a:solidFill>
              </a:defRPr>
            </a:defPPr>
          </a:lstStyle>
          <a:p xmlns:a="http://schemas.openxmlformats.org/drawingml/2006/main">
            <a:pPr algn="ctr">
              <a:buNone/>
              <a:defRPr sz="1500" b="1">
                <a:solidFill>
                  <a:srgbClr val="23566A"/>
                </a:solidFill>
              </a:defRPr>
            </a:pPr>
            <a:r>
              <a:rPr sz="1500" b="1">
                <a:solidFill>
                  <a:srgbClr val="23566A"/>
                </a:solidFill>
              </a:rPr>
              <a:t>Use: when ping fails or is slow, check which hop first shows a delay.</a:t>
            </a:r>
          </a:p>
        </p:txBody>
      </p:sp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AB158E79-6CA7-4532-9DE7-3553BC519C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f5825a4ec4d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2674" y="2834150"/>
            <a:ext cx="7907625" cy="274326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77937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6EAA72-EC7F-4ECD-B4EF-D54E871C68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2" y="609600"/>
            <a:ext cx="5825735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Troubleshooting</a:t>
            </a:r>
          </a:p>
        </p:txBody>
      </p:sp>
      <p:sp>
        <p:nvSpPr>
          <p:cNvPr id="4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3" y="2160589"/>
            <a:ext cx="6716071" cy="388077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73383F08-623A-462D-A230-968EFDB9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97D7BDD8-9508-4066-A397-B979ED88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A.5.M2 | Theory</a:t>
            </a:r>
          </a:p>
        </p:txBody>
      </p:sp>
      <p:sp>
        <p:nvSpPr>
          <p:cNvPr id="7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F1736C36-5F43-4C65-BFB2-FE2C8E15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Physical connection</a:t>
            </a:r>
          </a:p>
        </p:txBody>
      </p:sp>
      <p:sp>
        <p:nvSpPr>
          <p:cNvPr id="8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0160AFBB-5761-4B19-83D2-D7D79271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Check the cables, ports, indicator lights and wireless connection.</a:t>
            </a:r>
          </a:p>
        </p:txBody>
      </p:sp>
      <p:sp>
        <p:nvSpPr>
          <p:cNvPr id="9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9B4086BE-70E4-4A1F-82CE-DB4DA9B4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Settings</a:t>
            </a:r>
          </a:p>
        </p:txBody>
      </p:sp>
      <p:sp>
        <p:nvSpPr>
          <p:cNvPr id="10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F247D9E9-005F-4FAD-BF67-666F3048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Check the IP Address, subnet mask and Default Gateway.</a:t>
            </a:r>
          </a:p>
        </p:txBody>
      </p:sp>
      <p:sp>
        <p:nvSpPr>
          <p:cNvPr id="11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DF305F1F-5AC1-4283-98E0-31602520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Tests</a:t>
            </a:r>
          </a:p>
        </p:txBody>
      </p:sp>
      <p:sp>
        <p:nvSpPr>
          <p:cNvPr id="12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FF732DCC-CCBB-4D4B-9717-9FF19AD7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Test communication with the router first, then with a remote destination.</a:t>
            </a:r>
          </a:p>
        </p:txBody>
      </p:sp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8D0AB833-C582-49CF-AC48-5F0661D705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6ce9ec7e304f38"/>
          <a:stretch xmlns:a="http://schemas.openxmlformats.org/drawingml/2006/main"/>
        </p:blipFill>
        <p:spPr>
          <a:xfrm xmlns:a="http://schemas.openxmlformats.org/drawingml/2006/main">
            <a:off x="5953125" y="2553451"/>
            <a:ext cx="4905375" cy="25130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65962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0E24EE7-B9BA-0224-B2C0-9853440AA6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09600"/>
            <a:ext cx="8596668" cy="71300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Practice Activities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7059D2-7234-9A18-8EC3-97389EC073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5745" y="1528147"/>
            <a:ext cx="7080326" cy="57626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Content Placeholder 4">
            <a:extLst xmlns:a="http://schemas.openxmlformats.org/drawingml/2006/main">
              <a:ext uri="{FF2B5EF4-FFF2-40B4-BE49-F238E27FC236}">
                <a16:creationId xmlns:a16="http://schemas.microsoft.com/office/drawing/2014/main" id="{9BF9A9EA-A3CB-AC85-3752-6360C044E60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75745" y="2309955"/>
            <a:ext cx="4185623" cy="330411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endParaRPr sz="2400"/>
          </a:p>
        </p:txBody>
      </p:sp>
      <p:sp>
        <p:nvSpPr>
          <p:cNvPr id="6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5D78D7B6-4857-428E-A2B0-9D0ADFEC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F1E775E6-98BF-447D-BCB0-D7848346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A.5.M2</a:t>
            </a:r>
          </a:p>
        </p:txBody>
      </p:sp>
      <p:sp>
        <p:nvSpPr>
          <p:cNvPr id="8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4CF269E8-E189-4D72-951A-2E3AEF43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Answer the following</a:t>
            </a:r>
          </a:p>
        </p:txBody>
      </p:sp>
      <p:sp>
        <p:nvSpPr>
          <p:cNvPr id="9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1D521794-BBE8-4028-AD5D-36201AB0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048875" cy="3648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Questions 5–12 from Worksheet A.5.M2.</a:t>
            </a:r>
            <a:endParaRPr sz="1800" b="0">
              <a:solidFill>
                <a:srgbClr val="333333"/>
              </a:solidFill>
              <a:latin typeface="Trebuchet MS"/>
              <a:ea typeface="Trebuchet MS"/>
              <a:cs typeface="Trebuchet MS"/>
            </a:endParaRPr>
          </a:p>
          <a:p xmlns:a="http://schemas.openxmlformats.org/drawingml/2006/main"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</a:p>
        </p:txBody>
      </p:sp>
    </p:spTree>
    <p:extLst>
      <p:ext uri="{BB962C8B-B14F-4D97-AF65-F5344CB8AC3E}">
        <p14:creationId xmlns:p14="http://schemas.microsoft.com/office/powerpoint/2010/main" val="2467819896"/>
      </p:ext>
    </p:extLst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2026-10-13T13:04:42.2790000Z</dcterms:created>
  <dcterms:modified xsi:type="dcterms:W3CDTF">2026-10-13T13:04:42.2800000Z</dcterms:modified>
</coreProperties>
</file>