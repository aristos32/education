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f9bfca0f5f43ef" /><Relationship Type="http://schemas.openxmlformats.org/officeDocument/2006/relationships/extended-properties" Target="/docProps/app.xml" Id="R8ba3f4e99b4b4d9f" /><Relationship Type="http://schemas.openxmlformats.org/officeDocument/2006/relationships/officeDocument" Target="/ppt/presentation.xml" Id="Rd8a7b6d65e0043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e73d81d13542e9"/>
  </p:sldMasterIdLst>
  <p:notesMasterIdLst>
    <p:notesMasterId xmlns:r="http://schemas.openxmlformats.org/officeDocument/2006/relationships" r:id="Rfb6eb3da2527472b"/>
  </p:notesMasterIdLst>
  <p:sldIdLst>
    <p:sldId xmlns:r="http://schemas.openxmlformats.org/officeDocument/2006/relationships" id="256" r:id="R1a300ef745014b9a"/>
    <p:sldId xmlns:r="http://schemas.openxmlformats.org/officeDocument/2006/relationships" id="257" r:id="Rde345499c2464608"/>
    <p:sldId xmlns:r="http://schemas.openxmlformats.org/officeDocument/2006/relationships" id="258" r:id="Ra083610ad4ae496f"/>
    <p:sldId xmlns:r="http://schemas.openxmlformats.org/officeDocument/2006/relationships" id="259" r:id="Rb434ba30aed84a5f"/>
    <p:sldId xmlns:r="http://schemas.openxmlformats.org/officeDocument/2006/relationships" id="260" r:id="Rc0a4bc35472849ed"/>
    <p:sldId xmlns:r="http://schemas.openxmlformats.org/officeDocument/2006/relationships" id="261" r:id="R47a8bcaf04014b9e"/>
    <p:sldId xmlns:r="http://schemas.openxmlformats.org/officeDocument/2006/relationships" id="262" r:id="R467b15fdfad64a6a"/>
    <p:sldId xmlns:r="http://schemas.openxmlformats.org/officeDocument/2006/relationships" id="263" r:id="Rd05f8f41997a4fd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e1f0137d3c4c38" /><Relationship Type="http://schemas.openxmlformats.org/officeDocument/2006/relationships/slideMaster" Target="/ppt/slideMasters/slideMaster1.xml" Id="Re2e73d81d13542e9" /><Relationship Type="http://schemas.openxmlformats.org/officeDocument/2006/relationships/notesMaster" Target="/ppt/notesMasters/notesMaster1.xml" Id="Rfb6eb3da2527472b" /><Relationship Type="http://schemas.openxmlformats.org/officeDocument/2006/relationships/presProps" Target="/ppt/presProps.xml" Id="Rfc162c39476e43e5" /><Relationship Type="http://schemas.openxmlformats.org/officeDocument/2006/relationships/viewProps" Target="/ppt/viewProps.xml" Id="Rd0453a0e38fb41de" /><Relationship Type="http://schemas.openxmlformats.org/officeDocument/2006/relationships/tableStyles" Target="/ppt/tableStyles.xml" Id="R1ccdb8b036964e17" /><Relationship Type="http://schemas.openxmlformats.org/officeDocument/2006/relationships/slide" Target="/ppt/slides/slide1.xml" Id="R1a300ef745014b9a" /><Relationship Type="http://schemas.openxmlformats.org/officeDocument/2006/relationships/slide" Target="/ppt/slides/slide2.xml" Id="Rde345499c2464608" /><Relationship Type="http://schemas.openxmlformats.org/officeDocument/2006/relationships/slide" Target="/ppt/slides/slide3.xml" Id="Ra083610ad4ae496f" /><Relationship Type="http://schemas.openxmlformats.org/officeDocument/2006/relationships/slide" Target="/ppt/slides/slide4.xml" Id="Rb434ba30aed84a5f" /><Relationship Type="http://schemas.openxmlformats.org/officeDocument/2006/relationships/slide" Target="/ppt/slides/slide5.xml" Id="Rc0a4bc35472849ed" /><Relationship Type="http://schemas.openxmlformats.org/officeDocument/2006/relationships/slide" Target="/ppt/slides/slide6.xml" Id="R47a8bcaf04014b9e" /><Relationship Type="http://schemas.openxmlformats.org/officeDocument/2006/relationships/slide" Target="/ppt/slides/slide7.xml" Id="R467b15fdfad64a6a" /><Relationship Type="http://schemas.openxmlformats.org/officeDocument/2006/relationships/slide" Target="/ppt/slides/slide8.xml" Id="Rd05f8f41997a4f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8163cd799d46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4a6f7310584aa3" /><Relationship Type="http://schemas.openxmlformats.org/officeDocument/2006/relationships/notesMaster" Target="/ppt/notesMasters/notesMaster1.xml" Id="R3a23c2d3f0f846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31eef90c264dcd" /><Relationship Type="http://schemas.openxmlformats.org/officeDocument/2006/relationships/notesMaster" Target="/ppt/notesMasters/notesMaster1.xml" Id="Re647933f8f7646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49705e09c1415e" /><Relationship Type="http://schemas.openxmlformats.org/officeDocument/2006/relationships/notesMaster" Target="/ppt/notesMasters/notesMaster1.xml" Id="Re22a2d4c92e54d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55cb5f07234f1c" /><Relationship Type="http://schemas.openxmlformats.org/officeDocument/2006/relationships/notesMaster" Target="/ppt/notesMasters/notesMaster1.xml" Id="Rd8ebd486f9ff4e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74bd5a1c2c41f7" /><Relationship Type="http://schemas.openxmlformats.org/officeDocument/2006/relationships/notesMaster" Target="/ppt/notesMasters/notesMaster1.xml" Id="R00db3d2d21434d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b48269e3214bd8" /><Relationship Type="http://schemas.openxmlformats.org/officeDocument/2006/relationships/notesMaster" Target="/ppt/notesMasters/notesMaster1.xml" Id="Rcc081eab79484f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47ebd416504f7c" /><Relationship Type="http://schemas.openxmlformats.org/officeDocument/2006/relationships/notesMaster" Target="/ppt/notesMasters/notesMaster1.xml" Id="R3fdca10976804f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570ffcceb94ba3" /><Relationship Type="http://schemas.openxmlformats.org/officeDocument/2006/relationships/notesMaster" Target="/ppt/notesMasters/notesMaster1.xml" Id="R8489c13020eb47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Πρότυπο: A.5.M1 Εισαγωγή.pptx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Σημειώσεις Πληροφορικής Α΄ Λυκείου, Α5.1 Εισαγωγή στα Δίκτυα, σελ. 97–105</a:t>
            </a:r>
          </a:p>
          <a:p xmlns:a="http://schemas.openxmlformats.org/drawingml/2006/main">
            <a:r>
              <a:t>- Τετράδιο Εργασιών Πληροφορικής Α΄ Λυκείου, Φύλλο Εργασίας A.5.M1, σελ. 81–83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b0705f4d864b5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28b82a89054c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f83fe736c74b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ca1a448d2c44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97f56867204a9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aaa6c3689c498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b82a377a49428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b22006b5ee4ec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b58e980eb1472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546fdd5d68452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f0a75306b042b0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7e928b9223490a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403e5166374f42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4f9b469c9b4d3a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078e4bca184fd2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a84a12d1dd444d" /></Relationships>
</file>

<file path=ppt/slideLayouts/slideLayout1.xml><?xml version="1.0" encoding="utf-8"?>
<p:sldLayout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reeform 14">
            <a:extLst xmlns:a="http://schemas.openxmlformats.org/drawingml/2006/main"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7862"/>
            <a:ext cx="863600" cy="5698067"/>
          </a:xfrm>
          <a:custGeom xmlns:a="http://schemas.openxmlformats.org/drawingml/2006/main"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Straight Connector 18">
            <a:extLst xmlns:a="http://schemas.openxmlformats.org/drawingml/2006/main"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Straight Connector 19">
            <a:extLst xmlns:a="http://schemas.openxmlformats.org/drawingml/2006/main"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2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3" name="Isosceles Triangle 22">
            <a:extLst xmlns:a="http://schemas.openxmlformats.org/drawingml/2006/main"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4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5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7" name="Isosceles Triangle 26">
            <a:extLst xmlns:a="http://schemas.openxmlformats.org/drawingml/2006/main"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07067" y="2404534"/>
            <a:ext cx="7766936" cy="164630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07067" y="4050833"/>
            <a:ext cx="7766936" cy="1096899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2700867"/>
            <a:ext cx="8596668" cy="1826581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40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860400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4184035" cy="388077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5089970" y="2160589"/>
            <a:ext cx="4184034" cy="388077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5745" y="2160983"/>
            <a:ext cx="4185623" cy="57626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75745" y="2737245"/>
            <a:ext cx="4185623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088383" y="2160983"/>
            <a:ext cx="4185618" cy="57626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5088384" y="2737245"/>
            <a:ext cx="4185617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1498604"/>
            <a:ext cx="3854528" cy="1278466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>
              <a:buNone/>
              <a:defRPr sz="2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0461" y="514924"/>
            <a:ext cx="4513541" cy="552643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7334" y="2777069"/>
            <a:ext cx="3854528" cy="2584449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4800600"/>
            <a:ext cx="8596667" cy="566738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2400" b="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677334" y="609600"/>
            <a:ext cx="8596668" cy="3845718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7334" y="5367338"/>
            <a:ext cx="8596667" cy="674024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609600"/>
            <a:ext cx="8596668" cy="3403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470400"/>
            <a:ext cx="8596668" cy="1570962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31334" y="609600"/>
            <a:ext cx="8094134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366139" y="3632200"/>
            <a:ext cx="7224524" cy="381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470400"/>
            <a:ext cx="8596668" cy="1570962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70" y="790378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3011" y="2886556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Name Car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1931988"/>
            <a:ext cx="8596668" cy="2595460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31334" y="609600"/>
            <a:ext cx="8094134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7332" y="4013200"/>
            <a:ext cx="8596669" cy="514248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70" y="790378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3011" y="2886556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99" y="609600"/>
            <a:ext cx="8588203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7332" y="4013200"/>
            <a:ext cx="8596669" cy="514248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967673" y="609599"/>
            <a:ext cx="1304743" cy="5251451"/>
          </a:xfrm>
        </p:spPr>
        <p:txBody>
          <a:bodyPr xmlns:a="http://schemas.openxmlformats.org/drawingml/2006/main" vert="eaVert" anchor="ctr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609600"/>
            <a:ext cx="7060150" cy="525145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4f5b230d7c4288" /><Relationship Type="http://schemas.openxmlformats.org/officeDocument/2006/relationships/slideLayout" Target="/ppt/slideLayouts/slideLayout1.xml" Id="Rabc04a4af1dc4ab7" /><Relationship Type="http://schemas.openxmlformats.org/officeDocument/2006/relationships/slideLayout" Target="/ppt/slideLayouts/slideLayout2.xml" Id="R8c6178dd1ec04a31" /><Relationship Type="http://schemas.openxmlformats.org/officeDocument/2006/relationships/slideLayout" Target="/ppt/slideLayouts/slideLayout3.xml" Id="Re4f083a836df4af4" /><Relationship Type="http://schemas.openxmlformats.org/officeDocument/2006/relationships/slideLayout" Target="/ppt/slideLayouts/slideLayout4.xml" Id="R21b7be8a44a9482f" /><Relationship Type="http://schemas.openxmlformats.org/officeDocument/2006/relationships/slideLayout" Target="/ppt/slideLayouts/slideLayout5.xml" Id="R982aff01002643a2" /><Relationship Type="http://schemas.openxmlformats.org/officeDocument/2006/relationships/slideLayout" Target="/ppt/slideLayouts/slideLayout6.xml" Id="R10a580859f274fc1" /><Relationship Type="http://schemas.openxmlformats.org/officeDocument/2006/relationships/slideLayout" Target="/ppt/slideLayouts/slideLayout7.xml" Id="R6764fea417834628" /><Relationship Type="http://schemas.openxmlformats.org/officeDocument/2006/relationships/slideLayout" Target="/ppt/slideLayouts/slideLayout8.xml" Id="R64f89e01f72040ac" /><Relationship Type="http://schemas.openxmlformats.org/officeDocument/2006/relationships/slideLayout" Target="/ppt/slideLayouts/slideLayout9.xml" Id="Rfa6caf3e517a4db1" /><Relationship Type="http://schemas.openxmlformats.org/officeDocument/2006/relationships/slideLayout" Target="/ppt/slideLayouts/slideLayout10.xml" Id="R620372b1a5304367" /><Relationship Type="http://schemas.openxmlformats.org/officeDocument/2006/relationships/slideLayout" Target="/ppt/slideLayouts/slideLayout11.xml" Id="R4ebee299cdfc4742" /><Relationship Type="http://schemas.openxmlformats.org/officeDocument/2006/relationships/slideLayout" Target="/ppt/slideLayouts/slideLayout12.xml" Id="R1ddb742ca15743e3" /><Relationship Type="http://schemas.openxmlformats.org/officeDocument/2006/relationships/slideLayout" Target="/ppt/slideLayouts/slideLayout13.xml" Id="Re92c30a334324718" /><Relationship Type="http://schemas.openxmlformats.org/officeDocument/2006/relationships/slideLayout" Target="/ppt/slideLayouts/slideLayout14.xml" Id="Rad78bf96770b45c1" /><Relationship Type="http://schemas.openxmlformats.org/officeDocument/2006/relationships/slideLayout" Target="/ppt/slideLayouts/slideLayout15.xml" Id="R569afd8f6dc24832" /><Relationship Type="http://schemas.openxmlformats.org/officeDocument/2006/relationships/slideLayout" Target="/ppt/slideLayouts/slideLayout16.xml" Id="R3e520ece77c64af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traight Connector 19">
            <a:extLst xmlns:a="http://schemas.openxmlformats.org/drawingml/2006/main"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3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4" name="Isosceles Triangle 23">
            <a:extLst xmlns:a="http://schemas.openxmlformats.org/drawingml/2006/main"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5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6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7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8" name="Isosceles Triangle 27">
            <a:extLst xmlns:a="http://schemas.openxmlformats.org/drawingml/2006/main"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132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2160589"/>
            <a:ext cx="8596668" cy="388077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7205133" y="6041362"/>
            <a:ext cx="9119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677334" y="6041362"/>
            <a:ext cx="629761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590663" y="6041362"/>
            <a:ext cx="6833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c04a4af1dc4ab7"/>
    <p:sldLayoutId xmlns:r="http://schemas.openxmlformats.org/officeDocument/2006/relationships" id="2147483650" r:id="R8c6178dd1ec04a31"/>
    <p:sldLayoutId xmlns:r="http://schemas.openxmlformats.org/officeDocument/2006/relationships" id="2147483651" r:id="Re4f083a836df4af4"/>
    <p:sldLayoutId xmlns:r="http://schemas.openxmlformats.org/officeDocument/2006/relationships" id="2147483652" r:id="R21b7be8a44a9482f"/>
    <p:sldLayoutId xmlns:r="http://schemas.openxmlformats.org/officeDocument/2006/relationships" id="2147483653" r:id="R982aff01002643a2"/>
    <p:sldLayoutId xmlns:r="http://schemas.openxmlformats.org/officeDocument/2006/relationships" id="2147483654" r:id="R10a580859f274fc1"/>
    <p:sldLayoutId xmlns:r="http://schemas.openxmlformats.org/officeDocument/2006/relationships" id="2147483655" r:id="R6764fea417834628"/>
    <p:sldLayoutId xmlns:r="http://schemas.openxmlformats.org/officeDocument/2006/relationships" id="2147483656" r:id="R64f89e01f72040ac"/>
    <p:sldLayoutId xmlns:r="http://schemas.openxmlformats.org/officeDocument/2006/relationships" id="2147483657" r:id="Rfa6caf3e517a4db1"/>
    <p:sldLayoutId xmlns:r="http://schemas.openxmlformats.org/officeDocument/2006/relationships" id="2147483658" r:id="R620372b1a5304367"/>
    <p:sldLayoutId xmlns:r="http://schemas.openxmlformats.org/officeDocument/2006/relationships" id="2147483659" r:id="R4ebee299cdfc4742"/>
    <p:sldLayoutId xmlns:r="http://schemas.openxmlformats.org/officeDocument/2006/relationships" id="2147483660" r:id="R1ddb742ca15743e3"/>
    <p:sldLayoutId xmlns:r="http://schemas.openxmlformats.org/officeDocument/2006/relationships" id="2147483661" r:id="Re92c30a334324718"/>
    <p:sldLayoutId xmlns:r="http://schemas.openxmlformats.org/officeDocument/2006/relationships" id="2147483662" r:id="Rad78bf96770b45c1"/>
    <p:sldLayoutId xmlns:r="http://schemas.openxmlformats.org/officeDocument/2006/relationships" id="2147483663" r:id="R569afd8f6dc24832"/>
    <p:sldLayoutId xmlns:r="http://schemas.openxmlformats.org/officeDocument/2006/relationships" id="2147483664" r:id="R3e520ece77c64af8"/>
  </p:sldLayoutIdLst>
  <p:txStyles>
    <p:titleStyle>
      <a:lvl1pPr xmlns:a="http://schemas.openxmlformats.org/drawingml/2006/main"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 xmlns:a="http://schemas.openxmlformats.org/drawingml/2006/main">
        <a:buNone/>
        <a:defRPr>
          <a:solidFill>
            <a:schemeClr val="tx2"/>
          </a:solidFill>
        </a:defRPr>
      </a:lvl2pPr>
      <a:lvl3pPr xmlns:a="http://schemas.openxmlformats.org/drawingml/2006/main">
        <a:buNone/>
        <a:defRPr>
          <a:solidFill>
            <a:schemeClr val="tx2"/>
          </a:solidFill>
        </a:defRPr>
      </a:lvl3pPr>
      <a:lvl4pPr xmlns:a="http://schemas.openxmlformats.org/drawingml/2006/main">
        <a:buNone/>
        <a:defRPr>
          <a:solidFill>
            <a:schemeClr val="tx2"/>
          </a:solidFill>
        </a:defRPr>
      </a:lvl4pPr>
      <a:lvl5pPr xmlns:a="http://schemas.openxmlformats.org/drawingml/2006/main">
        <a:buNone/>
        <a:defRPr>
          <a:solidFill>
            <a:schemeClr val="tx2"/>
          </a:solidFill>
        </a:defRPr>
      </a:lvl5pPr>
      <a:lvl6pPr xmlns:a="http://schemas.openxmlformats.org/drawingml/2006/main">
        <a:buNone/>
        <a:defRPr>
          <a:solidFill>
            <a:schemeClr val="tx2"/>
          </a:solidFill>
        </a:defRPr>
      </a:lvl6pPr>
      <a:lvl7pPr xmlns:a="http://schemas.openxmlformats.org/drawingml/2006/main">
        <a:buNone/>
        <a:defRPr>
          <a:solidFill>
            <a:schemeClr val="tx2"/>
          </a:solidFill>
        </a:defRPr>
      </a:lvl7pPr>
      <a:lvl8pPr xmlns:a="http://schemas.openxmlformats.org/drawingml/2006/main">
        <a:buNone/>
        <a:defRPr>
          <a:solidFill>
            <a:schemeClr val="tx2"/>
          </a:solidFill>
        </a:defRPr>
      </a:lvl8pPr>
      <a:lvl9pPr xmlns:a="http://schemas.openxmlformats.org/drawingml/2006/main">
        <a:buNone/>
        <a:defRPr>
          <a:solidFill>
            <a:schemeClr val="tx2"/>
          </a:solidFill>
        </a:defRPr>
      </a:lvl9pPr>
    </p:titleStyle>
    <p:bodyStyle>
      <a:lvl1pPr xmlns:a="http://schemas.openxmlformats.org/drawingml/2006/main"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497f29c2045d1" /><Relationship Type="http://schemas.openxmlformats.org/officeDocument/2006/relationships/notesSlide" Target="/ppt/notesSlides/notesSlide1.xml" Id="R876b1ce69c104f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03bb1e732ba4e31" /><Relationship Type="http://schemas.openxmlformats.org/officeDocument/2006/relationships/image" Target="/ppt/media/image.png" Id="Rd530e8473b3644c4" /><Relationship Type="http://schemas.openxmlformats.org/officeDocument/2006/relationships/notesSlide" Target="/ppt/notesSlides/notesSlide2.xml" Id="R9584c336d7864d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d6e9041233349c4" /><Relationship Type="http://schemas.openxmlformats.org/officeDocument/2006/relationships/image" Target="/ppt/media/image2.png" Id="R048e0d486b954aca" /><Relationship Type="http://schemas.openxmlformats.org/officeDocument/2006/relationships/notesSlide" Target="/ppt/notesSlides/notesSlide3.xml" Id="R04eaf95c64924e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9241e349b384584" /><Relationship Type="http://schemas.openxmlformats.org/officeDocument/2006/relationships/image" Target="/ppt/media/image.jpeg" Id="R028c973048c34d5a" /><Relationship Type="http://schemas.openxmlformats.org/officeDocument/2006/relationships/notesSlide" Target="/ppt/notesSlides/notesSlide4.xml" Id="R2524dc5d60434b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1462c1059184a5e" /><Relationship Type="http://schemas.openxmlformats.org/officeDocument/2006/relationships/image" Target="/ppt/media/image2.jpeg" Id="R8d8990d1dda94cdb" /><Relationship Type="http://schemas.openxmlformats.org/officeDocument/2006/relationships/notesSlide" Target="/ppt/notesSlides/notesSlide5.xml" Id="R1ee819e2f81941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3d54a855d034fce" /><Relationship Type="http://schemas.openxmlformats.org/officeDocument/2006/relationships/notesSlide" Target="/ppt/notesSlides/notesSlide6.xml" Id="Rd39f034f062c4f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c08152db404428c" /><Relationship Type="http://schemas.openxmlformats.org/officeDocument/2006/relationships/notesSlide" Target="/ppt/notesSlides/notesSlide7.xml" Id="R4e2230321a944a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9b9eb8bec686456f" /><Relationship Type="http://schemas.openxmlformats.org/officeDocument/2006/relationships/notesSlide" Target="/ppt/notesSlides/notesSlide8.xml" Id="Ra9f11574d61744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664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9" name="Isosceles Triangle 48">
            <a:extLst xmlns:a="http://schemas.openxmlformats.org/drawingml/2006/main"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0"/>
            <a:ext cx="842596" cy="5666154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Isosceles Triangle 50">
            <a:extLst xmlns:a="http://schemas.openxmlformats.org/drawingml/2006/main"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8534" y="3818467"/>
            <a:ext cx="4450292" cy="30395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88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Straight Connector 52">
            <a:extLst xmlns:a="http://schemas.openxmlformats.org/drawingml/2006/main"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1727200" cy="6858000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5" name="Straight Connector 54">
            <a:extLst xmlns:a="http://schemas.openxmlformats.org/drawingml/2006/main"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chemeClr val="accent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07066" y="1397000"/>
            <a:ext cx="8102759" cy="2421467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t>Computer Networks</a:t>
            </a:r>
            <a:endParaRPr/>
          </a:p>
          <a:p xmlns:a="http://schemas.openxmlformats.org/drawingml/2006/main">
            <a:pPr algn="l">
              <a:buNone/>
            </a:pPr>
            <a:r>
              <a:t>Part 2</a:t>
            </a:r>
            <a:endParaRPr/>
          </a:p>
        </p:txBody>
      </p:sp>
      <p:sp>
        <p:nvSpPr>
          <p:cNvPr id="57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41" y="0"/>
            <a:ext cx="1766359" cy="6858000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EB01542-F65E-4B18-ACCB-69AE531824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/>
              <a:t>Connection Media</a:t>
            </a:r>
            <a:endParaRPr b="1"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606E10-B033-4090-8AE6-B8F8966553A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5637202" cy="388077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800"/>
              <a:t/>
            </a:r>
            <a:endParaRPr sz="2800"/>
          </a:p>
        </p:txBody>
      </p:sp>
      <p:sp>
        <p:nvSpPr>
          <p:cNvPr id="4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CE807267-4568-4FCE-85F7-D3698ECF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1D877CD5-2DE9-42B1-97D7-26FDCA80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2</a:t>
            </a:r>
          </a:p>
        </p:txBody>
      </p:sp>
      <p:sp>
        <p:nvSpPr>
          <p:cNvPr id="6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98FC2AA6-4965-4816-ACC0-76C2F067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Network Cables</a:t>
            </a:r>
          </a:p>
        </p:txBody>
      </p:sp>
      <p:sp>
        <p:nvSpPr>
          <p:cNvPr id="7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A0113B09-23E5-49F5-AC48-62711BF1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They transfer data using electrical pulses.</a:t>
            </a:r>
          </a:p>
        </p:txBody>
      </p:sp>
      <p:sp>
        <p:nvSpPr>
          <p:cNvPr id="8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C6F63A60-2788-45D4-B604-2D57BCDC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Optical Fibres</a:t>
            </a:r>
          </a:p>
        </p:txBody>
      </p:sp>
      <p:sp>
        <p:nvSpPr>
          <p:cNvPr id="9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2F13ECFC-AF4B-4737-B5D7-B145C406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They transfer data using light pulses.</a:t>
            </a:r>
          </a:p>
        </p:txBody>
      </p:sp>
      <p:sp>
        <p:nvSpPr>
          <p:cNvPr id="10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6788F802-98B6-4B13-9A5C-E718F5B7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Wireless Connection</a:t>
            </a:r>
          </a:p>
        </p:txBody>
      </p:sp>
      <p:sp>
        <p:nvSpPr>
          <p:cNvPr id="11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997C3C59-4538-41F3-BE25-333A59B1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uses electromagnetic waves and does not require a cable to the device.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0e8473b3644c4"/>
          <a:stretch xmlns:a="http://schemas.openxmlformats.org/drawingml/2006/main"/>
        </p:blipFill>
        <p:spPr>
          <a:xfrm xmlns:a="http://schemas.openxmlformats.org/drawingml/2006/main">
            <a:off x="5953125" y="3042595"/>
            <a:ext cx="4905375" cy="153481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231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traight Connector 10">
            <a:extLst xmlns:a="http://schemas.openxmlformats.org/drawingml/2006/main"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4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5" name="Isosceles Triangle 14">
            <a:extLst xmlns:a="http://schemas.openxmlformats.org/drawingml/2006/main"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6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7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8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0" name="Isosceles Triangle 19">
            <a:extLst xmlns:a="http://schemas.openxmlformats.org/drawingml/2006/main"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3" y="609600"/>
            <a:ext cx="3851123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Network Cables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3851122" cy="3880773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/>
            </a:r>
            <a:endParaRPr/>
          </a:p>
        </p:txBody>
      </p:sp>
      <p:sp>
        <p:nvSpPr>
          <p:cNvPr id="22" name="Straight Connector 21">
            <a:extLst xmlns:a="http://schemas.openxmlformats.org/drawingml/2006/main"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Straight Connector 23">
            <a:extLst xmlns:a="http://schemas.openxmlformats.org/drawingml/2006/main"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8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8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0" name="Isosceles Triangle 24">
            <a:extLst xmlns:a="http://schemas.openxmlformats.org/drawingml/2006/main"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2">
              <a:alpha val="72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2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47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4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6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8" name="Isosceles Triangle 29">
            <a:extLst xmlns:a="http://schemas.openxmlformats.org/drawingml/2006/main"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9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854612CA-C517-46CE-B0DB-F02D90E1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0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F796AF19-EC14-4CD6-A830-1AF26C2E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2</a:t>
            </a:r>
          </a:p>
        </p:txBody>
      </p:sp>
      <p:sp>
        <p:nvSpPr>
          <p:cNvPr id="41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DC3E4429-37B4-49D9-A23D-8B068A72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Cat 5 and Cat 6</a:t>
            </a:r>
          </a:p>
        </p:txBody>
      </p:sp>
      <p:sp>
        <p:nvSpPr>
          <p:cNvPr id="42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FE084515-FC82-4168-8A3C-AC6B893C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They are common cables used to connect computers to a local network.</a:t>
            </a:r>
          </a:p>
        </p:txBody>
      </p:sp>
      <p:sp>
        <p:nvSpPr>
          <p:cNvPr id="43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C9A1228C-4E57-4B2E-8D6A-72BFF13D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RJ45 Connector</a:t>
            </a:r>
          </a:p>
        </p:txBody>
      </p:sp>
      <p:sp>
        <p:nvSpPr>
          <p:cNvPr id="44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516BF146-546B-47CA-937E-79B249E8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 cable ends in a special connector that plugs into the network card or switch.</a:t>
            </a:r>
          </a:p>
        </p:txBody>
      </p:sp>
      <p:sp>
        <p:nvSpPr>
          <p:cNvPr id="45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553C3E45-3941-4D74-8F8F-9AC82034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Distance</a:t>
            </a:r>
          </a:p>
        </p:txBody>
      </p:sp>
      <p:sp>
        <p:nvSpPr>
          <p:cNvPr id="46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0BC9A0EF-7A12-4A54-8CB9-C0283A5F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 usual maximum distance for this type of cable connection is about 100 metres.</a:t>
            </a:r>
          </a:p>
        </p:txBody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8e0d486b954aca"/>
          <a:stretch xmlns:a="http://schemas.openxmlformats.org/drawingml/2006/main"/>
        </p:blipFill>
        <p:spPr>
          <a:xfrm xmlns:a="http://schemas.openxmlformats.org/drawingml/2006/main">
            <a:off x="5953125" y="1979371"/>
            <a:ext cx="4905375" cy="366125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759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3" y="609600"/>
            <a:ext cx="3851123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Optical Fibres</a:t>
            </a:r>
            <a:endParaRPr/>
          </a:p>
        </p:txBody>
      </p:sp>
      <p:sp>
        <p:nvSpPr>
          <p:cNvPr id="3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191C7DC1-F6EF-447C-88C8-79387385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D6C02044-8595-439E-9DD3-AB416BB3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2</a:t>
            </a:r>
          </a:p>
        </p:txBody>
      </p:sp>
      <p:sp>
        <p:nvSpPr>
          <p:cNvPr id="5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6AFF6A65-D31F-4CF0-80D2-3A911C51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How They Work</a:t>
            </a:r>
          </a:p>
        </p:txBody>
      </p:sp>
      <p:sp>
        <p:nvSpPr>
          <p:cNvPr id="6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41A080D9-006E-4A2B-B6A9-0A013AB4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They use light instead of electric current to transfer data.</a:t>
            </a:r>
          </a:p>
        </p:txBody>
      </p:sp>
      <p:sp>
        <p:nvSpPr>
          <p:cNvPr id="7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74641074-8C48-4718-8B52-BCECB738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Advantages</a:t>
            </a:r>
          </a:p>
        </p:txBody>
      </p:sp>
      <p:sp>
        <p:nvSpPr>
          <p:cNvPr id="8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157AD8C4-C3EE-4447-BF30-043C6A40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They support very high speeds and connections over many kilometres.</a:t>
            </a:r>
          </a:p>
        </p:txBody>
      </p:sp>
      <p:sp>
        <p:nvSpPr>
          <p:cNvPr id="9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B20CBE78-645C-4BFF-AC1F-3425223E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Limitations</a:t>
            </a:r>
          </a:p>
        </p:txBody>
      </p:sp>
      <p:sp>
        <p:nvSpPr>
          <p:cNvPr id="10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AD102521-5F83-4321-9621-73817E3F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They cost more and are more difficult to install than copper cables.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8c973048c34d5a"/>
          <a:stretch xmlns:a="http://schemas.openxmlformats.org/drawingml/2006/main"/>
        </p:blipFill>
        <p:spPr>
          <a:xfrm xmlns:a="http://schemas.openxmlformats.org/drawingml/2006/main">
            <a:off x="5953125" y="2336057"/>
            <a:ext cx="4905375" cy="29478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1492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2" y="609600"/>
            <a:ext cx="5825735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Wireless Connection</a:t>
            </a:r>
            <a:endParaRPr/>
          </a:p>
        </p:txBody>
      </p:sp>
      <p:sp>
        <p:nvSpPr>
          <p:cNvPr id="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3" y="1563757"/>
            <a:ext cx="5952067" cy="4477604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800"/>
              <a:t/>
            </a:r>
            <a:endParaRPr sz="2800"/>
          </a:p>
        </p:txBody>
      </p:sp>
      <p:sp>
        <p:nvSpPr>
          <p:cNvPr id="5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F8C4F0C0-2A39-4E9A-A186-81A7226A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AC8C75B5-C37F-4767-8064-A3B7BC8D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2</a:t>
            </a:r>
          </a:p>
        </p:txBody>
      </p:sp>
      <p:sp>
        <p:nvSpPr>
          <p:cNvPr id="7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2870043F-D99C-4727-8189-FDB6FF12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Advantages</a:t>
            </a:r>
          </a:p>
        </p:txBody>
      </p:sp>
      <p:sp>
        <p:nvSpPr>
          <p:cNvPr id="8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9BD27CAC-5E05-42B4-B1A2-FB760966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 connection is easy to establish and the device can move without a cable.</a:t>
            </a:r>
          </a:p>
        </p:txBody>
      </p:sp>
      <p:sp>
        <p:nvSpPr>
          <p:cNvPr id="9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3D17DD30-C596-47D1-94A0-925FCBFC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Signal</a:t>
            </a:r>
          </a:p>
        </p:txBody>
      </p:sp>
      <p:sp>
        <p:nvSpPr>
          <p:cNvPr id="10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E1FF8EDF-CD67-4050-9AB4-2E45C1FE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Distance and physical obstacles can reduce connection quality.</a:t>
            </a:r>
          </a:p>
        </p:txBody>
      </p:sp>
      <p:sp>
        <p:nvSpPr>
          <p:cNvPr id="11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668701BD-DF1D-4F5C-B193-BB20A13A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Interference and Security</a:t>
            </a:r>
          </a:p>
        </p:txBody>
      </p:sp>
      <p:sp>
        <p:nvSpPr>
          <p:cNvPr id="12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45B4B7F5-0880-4DC5-834A-2960DF83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Other wireless devices may cause interference. The network also needs suitable protection.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8990d1dda94cdb"/>
          <a:stretch xmlns:a="http://schemas.openxmlformats.org/drawingml/2006/main"/>
        </p:blipFill>
        <p:spPr>
          <a:xfrm xmlns:a="http://schemas.openxmlformats.org/drawingml/2006/main">
            <a:off x="6453188" y="1857375"/>
            <a:ext cx="390525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8814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traight Connector 10">
            <a:extLst xmlns:a="http://schemas.openxmlformats.org/drawingml/2006/main"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4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5" name="Isosceles Triangle 14">
            <a:extLst xmlns:a="http://schemas.openxmlformats.org/drawingml/2006/main"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6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7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8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0" name="Isosceles Triangle 19">
            <a:extLst xmlns:a="http://schemas.openxmlformats.org/drawingml/2006/main"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3" y="609600"/>
            <a:ext cx="3851123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Speed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3851122" cy="3880773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/>
            </a:r>
            <a:endParaRPr/>
          </a:p>
        </p:txBody>
      </p:sp>
      <p:sp>
        <p:nvSpPr>
          <p:cNvPr id="22" name="Straight Connector 21">
            <a:extLst xmlns:a="http://schemas.openxmlformats.org/drawingml/2006/main"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Straight Connector 23">
            <a:extLst xmlns:a="http://schemas.openxmlformats.org/drawingml/2006/main"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8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8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0" name="Isosceles Triangle 24">
            <a:extLst xmlns:a="http://schemas.openxmlformats.org/drawingml/2006/main"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2">
              <a:alpha val="72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2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47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4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6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8" name="Isosceles Triangle 29">
            <a:extLst xmlns:a="http://schemas.openxmlformats.org/drawingml/2006/main"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9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5AC6E51A-2553-4EAC-84B5-CC8A0E54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0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7EC71942-C115-4154-8688-97C8FC3B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2</a:t>
            </a:r>
          </a:p>
        </p:txBody>
      </p:sp>
      <p:sp>
        <p:nvSpPr>
          <p:cNvPr id="41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BD2F4B4B-DB2B-4CD9-BDC4-390A30E5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bps</a:t>
            </a:r>
          </a:p>
        </p:txBody>
      </p:sp>
      <p:sp>
        <p:nvSpPr>
          <p:cNvPr id="42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55E9E526-A8D8-49A3-8C7D-BCD6034D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Speed shows how many bits are transferred per second.</a:t>
            </a:r>
          </a:p>
        </p:txBody>
      </p:sp>
      <p:sp>
        <p:nvSpPr>
          <p:cNvPr id="43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DF67FA99-2A3D-4100-BD08-9937E997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Units</a:t>
            </a:r>
          </a:p>
        </p:txBody>
      </p:sp>
      <p:sp>
        <p:nvSpPr>
          <p:cNvPr id="44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6FF537DB-5C30-41AF-8D84-44216D16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Common units are Kbps, Mbps and Gbps.</a:t>
            </a:r>
          </a:p>
        </p:txBody>
      </p:sp>
      <p:sp>
        <p:nvSpPr>
          <p:cNvPr id="45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6F498E4C-8543-4F4D-A939-FB29A4F5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Factors</a:t>
            </a:r>
          </a:p>
        </p:txBody>
      </p:sp>
      <p:sp>
        <p:nvSpPr>
          <p:cNvPr id="46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A3CE1A48-CEF0-4B05-AE13-BD17F3B3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Actual speed depends on the connection medium and the capabilities of the devices.</a:t>
            </a:r>
          </a:p>
        </p:txBody>
      </p:sp>
    </p:spTree>
    <p:extLst>
      <p:ext uri="{BB962C8B-B14F-4D97-AF65-F5344CB8AC3E}">
        <p14:creationId xmlns:p14="http://schemas.microsoft.com/office/powerpoint/2010/main" val="145987599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2" y="609600"/>
            <a:ext cx="5825735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Network Services</a:t>
            </a:r>
            <a:endParaRPr/>
          </a:p>
        </p:txBody>
      </p:sp>
      <p:sp>
        <p:nvSpPr>
          <p:cNvPr id="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3" y="2160589"/>
            <a:ext cx="6716071" cy="388077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800">
                <a:latin typeface="+mj-lt"/>
                <a:ea typeface="+mj-lt"/>
                <a:cs typeface="+mj-lt"/>
              </a:rPr>
              <a:t/>
            </a:r>
          </a:p>
        </p:txBody>
      </p:sp>
      <p:sp>
        <p:nvSpPr>
          <p:cNvPr id="5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2665A598-14EA-47CE-8D97-710DB511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B912E555-D9EC-422C-B2C8-039D3FA6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2</a:t>
            </a:r>
          </a:p>
        </p:txBody>
      </p:sp>
      <p:sp>
        <p:nvSpPr>
          <p:cNvPr id="7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EC0A44CB-5D23-4C66-B72B-0E57B2B3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Local Network</a:t>
            </a:r>
          </a:p>
        </p:txBody>
      </p:sp>
      <p:sp>
        <p:nvSpPr>
          <p:cNvPr id="8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DA9AE494-1D41-4B99-9FA2-68B4C6F0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can provide shared files, software and printers.</a:t>
            </a:r>
          </a:p>
        </p:txBody>
      </p:sp>
      <p:sp>
        <p:nvSpPr>
          <p:cNvPr id="9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4339F8F6-22FD-4B7B-A618-B6AF147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World Wide Web</a:t>
            </a:r>
          </a:p>
        </p:txBody>
      </p:sp>
      <p:sp>
        <p:nvSpPr>
          <p:cNvPr id="10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69D5182C-071A-4BC3-B17B-4FD64AD7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transfers web pages and other files between web servers and browsers.</a:t>
            </a:r>
          </a:p>
        </p:txBody>
      </p:sp>
      <p:sp>
        <p:nvSpPr>
          <p:cNvPr id="11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027FD00B-01FA-462B-9F5B-C94B8F9E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Other Services</a:t>
            </a:r>
          </a:p>
        </p:txBody>
      </p:sp>
      <p:sp>
        <p:nvSpPr>
          <p:cNvPr id="12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3326F68E-53BC-46F3-A6A2-D071D9D1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Email, file transfer and interactive communication operate through networks.</a:t>
            </a:r>
          </a:p>
        </p:txBody>
      </p:sp>
    </p:spTree>
    <p:extLst>
      <p:ext uri="{BB962C8B-B14F-4D97-AF65-F5344CB8AC3E}">
        <p14:creationId xmlns:p14="http://schemas.microsoft.com/office/powerpoint/2010/main" val="37866596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71300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Reinforcement Activities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5745" y="1528147"/>
            <a:ext cx="7080326" cy="57626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5" name="Content Placeholder 4">
            <a:extLst xmlns:a="http://schemas.openxmlformats.org/drawingml/2006/main"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75745" y="2309955"/>
            <a:ext cx="4185623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400"/>
              <a:t/>
            </a:r>
            <a:endParaRPr sz="2400"/>
          </a:p>
        </p:txBody>
      </p:sp>
      <p:sp>
        <p:nvSpPr>
          <p:cNvPr id="6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1385200B-5A3C-4855-A173-8DF2E9CC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89EFA94F-8322-4052-9DD0-EB8F1029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Part 2</a:t>
            </a:r>
          </a:p>
        </p:txBody>
      </p:sp>
      <p:sp>
        <p:nvSpPr>
          <p:cNvPr id="8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83997FA5-1DE0-4658-B52E-9AC082B3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4</a:t>
            </a:r>
          </a:p>
        </p:txBody>
      </p:sp>
      <p:sp>
        <p:nvSpPr>
          <p:cNvPr id="9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285999A5-150B-44D2-BF15-92DD95CB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Choose the appropriate connection medium for each situation.</a:t>
            </a:r>
          </a:p>
        </p:txBody>
      </p:sp>
      <p:sp>
        <p:nvSpPr>
          <p:cNvPr id="10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6C94165B-160A-4D73-8B1A-856215A1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5</a:t>
            </a:r>
          </a:p>
        </p:txBody>
      </p:sp>
      <p:sp>
        <p:nvSpPr>
          <p:cNvPr id="11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A5F9D648-81F9-4956-8EFC-E711AE71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State two advantages and two disadvantages of wireless networks.</a:t>
            </a:r>
          </a:p>
        </p:txBody>
      </p:sp>
      <p:sp>
        <p:nvSpPr>
          <p:cNvPr id="12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AE655A56-D8EC-4757-9C79-6C99C56B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6</a:t>
            </a:r>
          </a:p>
        </p:txBody>
      </p:sp>
      <p:sp>
        <p:nvSpPr>
          <p:cNvPr id="13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B4DC63C6-0C8E-43C9-B123-0A03F72B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Name two Internet services.</a:t>
            </a: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2026-10-05T14:38:27.8040000Z</dcterms:created>
  <dcterms:modified xsi:type="dcterms:W3CDTF">2026-10-05T14:38:27.8040000Z</dcterms:modified>
</coreProperties>
</file>