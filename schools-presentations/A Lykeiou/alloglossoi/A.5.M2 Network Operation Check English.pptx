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a5683e4382b44cd" /><Relationship Type="http://schemas.openxmlformats.org/officeDocument/2006/relationships/extended-properties" Target="/docProps/app.xml" Id="R01c50c5864ac4cae" /><Relationship Type="http://schemas.openxmlformats.org/officeDocument/2006/relationships/officeDocument" Target="/ppt/presentation.xml" Id="R833bd088475348a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69c2650e29e492f"/>
  </p:sldMasterIdLst>
  <p:notesMasterIdLst>
    <p:notesMasterId xmlns:r="http://schemas.openxmlformats.org/officeDocument/2006/relationships" r:id="R532dac88a6c64995"/>
  </p:notesMasterIdLst>
  <p:sldIdLst>
    <p:sldId xmlns:r="http://schemas.openxmlformats.org/officeDocument/2006/relationships" id="256" r:id="Rc0dfecbda7fd4e13"/>
    <p:sldId xmlns:r="http://schemas.openxmlformats.org/officeDocument/2006/relationships" id="257" r:id="R430e0265e9c84822"/>
    <p:sldId xmlns:r="http://schemas.openxmlformats.org/officeDocument/2006/relationships" id="258" r:id="Rae54786d266d4c0c"/>
    <p:sldId xmlns:r="http://schemas.openxmlformats.org/officeDocument/2006/relationships" id="259" r:id="Rd79b36a026fe4fe5"/>
    <p:sldId xmlns:r="http://schemas.openxmlformats.org/officeDocument/2006/relationships" id="260" r:id="Re0a05c851da84a87"/>
    <p:sldId xmlns:r="http://schemas.openxmlformats.org/officeDocument/2006/relationships" id="261" r:id="R0401b70e1e824979"/>
    <p:sldId xmlns:r="http://schemas.openxmlformats.org/officeDocument/2006/relationships" id="262" r:id="Rf8dacef0306e4af4"/>
    <p:sldId xmlns:r="http://schemas.openxmlformats.org/officeDocument/2006/relationships" id="263" r:id="R2bfbd76d987748c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27feb66e3df4804" /><Relationship Type="http://schemas.openxmlformats.org/officeDocument/2006/relationships/slideMaster" Target="/ppt/slideMasters/slideMaster1.xml" Id="Rc69c2650e29e492f" /><Relationship Type="http://schemas.openxmlformats.org/officeDocument/2006/relationships/notesMaster" Target="/ppt/notesMasters/notesMaster1.xml" Id="R532dac88a6c64995" /><Relationship Type="http://schemas.openxmlformats.org/officeDocument/2006/relationships/presProps" Target="/ppt/presProps.xml" Id="R577d73e01e3a4fc2" /><Relationship Type="http://schemas.openxmlformats.org/officeDocument/2006/relationships/viewProps" Target="/ppt/viewProps.xml" Id="R675380a883404e8a" /><Relationship Type="http://schemas.openxmlformats.org/officeDocument/2006/relationships/tableStyles" Target="/ppt/tableStyles.xml" Id="R34471282398c49b8" /><Relationship Type="http://schemas.openxmlformats.org/officeDocument/2006/relationships/slide" Target="/ppt/slides/slide1.xml" Id="Rc0dfecbda7fd4e13" /><Relationship Type="http://schemas.openxmlformats.org/officeDocument/2006/relationships/slide" Target="/ppt/slides/slide2.xml" Id="R430e0265e9c84822" /><Relationship Type="http://schemas.openxmlformats.org/officeDocument/2006/relationships/slide" Target="/ppt/slides/slide3.xml" Id="Rae54786d266d4c0c" /><Relationship Type="http://schemas.openxmlformats.org/officeDocument/2006/relationships/slide" Target="/ppt/slides/slide4.xml" Id="Rd79b36a026fe4fe5" /><Relationship Type="http://schemas.openxmlformats.org/officeDocument/2006/relationships/slide" Target="/ppt/slides/slide5.xml" Id="Re0a05c851da84a87" /><Relationship Type="http://schemas.openxmlformats.org/officeDocument/2006/relationships/slide" Target="/ppt/slides/slide6.xml" Id="R0401b70e1e824979" /><Relationship Type="http://schemas.openxmlformats.org/officeDocument/2006/relationships/slide" Target="/ppt/slides/slide7.xml" Id="Rf8dacef0306e4af4" /><Relationship Type="http://schemas.openxmlformats.org/officeDocument/2006/relationships/slide" Target="/ppt/slides/slide8.xml" Id="R2bfbd76d987748c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b008ff6a16a440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dfb3b4b8fc54437" /><Relationship Type="http://schemas.openxmlformats.org/officeDocument/2006/relationships/notesMaster" Target="/ppt/notesMasters/notesMaster1.xml" Id="R62809e2040ef49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c9e86d96a864590" /><Relationship Type="http://schemas.openxmlformats.org/officeDocument/2006/relationships/notesMaster" Target="/ppt/notesMasters/notesMaster1.xml" Id="R3bc2d56b26f94a0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4f1595a5bec4c14" /><Relationship Type="http://schemas.openxmlformats.org/officeDocument/2006/relationships/notesMaster" Target="/ppt/notesMasters/notesMaster1.xml" Id="Rceebcab6dc3a402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f36974e14c04d2e" /><Relationship Type="http://schemas.openxmlformats.org/officeDocument/2006/relationships/notesMaster" Target="/ppt/notesMasters/notesMaster1.xml" Id="R2ddd546ec0aa4ee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2d39d26f29c4c29" /><Relationship Type="http://schemas.openxmlformats.org/officeDocument/2006/relationships/notesMaster" Target="/ppt/notesMasters/notesMaster1.xml" Id="R1fdee63b793d4df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a9fee27f9b40db" /><Relationship Type="http://schemas.openxmlformats.org/officeDocument/2006/relationships/notesMaster" Target="/ppt/notesMasters/notesMaster1.xml" Id="R44374d2b139d42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29ef9a25272440f" /><Relationship Type="http://schemas.openxmlformats.org/officeDocument/2006/relationships/notesMaster" Target="/ppt/notesMasters/notesMaster1.xml" Id="R35ba32ed66e341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3d80b94cce54afe" /><Relationship Type="http://schemas.openxmlformats.org/officeDocument/2006/relationships/notesMaster" Target="/ppt/notesMasters/notesMaster1.xml" Id="R8a909e809ba84ce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Πρότυπο: A4.M2 Πολυμέσα-Ήχος(2).pptx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Τετράδιο Εργασιών Πληροφορικής Α΄ Λυκείου, A.5.M2, Δραστηριότητες Εμπέδωσης, σελ. 87–89</a:t>
            </a:r>
          </a:p>
          <a:p xmlns:a="http://schemas.openxmlformats.org/drawingml/2006/main">
            <a:r>
              <a:t>- Σημειώσεις Πληροφορικής Α΄ Λυκείου, ενότητα Α.5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a87e0c1d847425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ccaed5146c2486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66ddfea95472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4946b6d60247a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6d92a4ed94fa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ebf5b4392c448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adc3776a7654b49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5aa155e814a9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88d73f99b46ec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9de42e6444348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e3823699424af0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cf5c366685041b7" /></Relationships>
</file>

<file path=ppt/slideLayouts/_rels/slideLayout1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c427e12ceb74fa2" /></Relationships>
</file>

<file path=ppt/slideLayouts/_rels/slideLayout1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49c4c16eb3a402e" /></Relationships>
</file>

<file path=ppt/slideLayouts/_rels/slideLayout1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335019dd74f26" /></Relationships>
</file>

<file path=ppt/slideLayouts/_rels/slideLayout1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237cc13b23a4260" /></Relationships>
</file>

<file path=ppt/slideLayouts/slideLayout1.xml><?xml version="1.0" encoding="utf-8"?>
<p:sldLayout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Freeform 14">
            <a:extLst xmlns:a="http://schemas.openxmlformats.org/drawingml/2006/main">
              <a:ext uri="{FF2B5EF4-FFF2-40B4-BE49-F238E27FC236}">
                <a16:creationId xmlns:a16="http://schemas.microsoft.com/office/drawing/2014/main" id="{4E918921-2CFD-4CA1-B08F-3BAB503BE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-7862"/>
            <a:ext cx="863600" cy="5698067"/>
          </a:xfrm>
          <a:custGeom xmlns:a="http://schemas.openxmlformats.org/drawingml/2006/main">
            <a:rect l="l" t="t" r="r" b="b"/>
            <a:pathLst>
              <a:path w="863600" h="5698067">
                <a:moveTo>
                  <a:pt x="0" y="8467"/>
                </a:moveTo>
                <a:lnTo>
                  <a:pt x="863600" y="0"/>
                </a:lnTo>
                <a:lnTo>
                  <a:pt x="863600" y="16934"/>
                </a:lnTo>
                <a:lnTo>
                  <a:pt x="0" y="5698067"/>
                </a:lnTo>
                <a:lnTo>
                  <a:pt x="0" y="8467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Straight Connector 18">
            <a:extLst xmlns:a="http://schemas.openxmlformats.org/drawingml/2006/main">
              <a:ext uri="{FF2B5EF4-FFF2-40B4-BE49-F238E27FC236}">
                <a16:creationId xmlns:a16="http://schemas.microsoft.com/office/drawing/2014/main" id="{E37B2AF0-F1FD-4B03-B481-A7AEB0D49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655BA76F-F0D3-46DC-8669-115FD5788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D257EB0-2B30-4FC6-AA24-873A5B4F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2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AF7B4680-A767-4058-AF50-A02AD3F1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Isosceles Triangle 22">
            <a:extLst xmlns:a="http://schemas.openxmlformats.org/drawingml/2006/main">
              <a:ext uri="{FF2B5EF4-FFF2-40B4-BE49-F238E27FC236}">
                <a16:creationId xmlns:a16="http://schemas.microsoft.com/office/drawing/2014/main" id="{43640B4D-BEFD-4199-A8AA-0ACAD1F35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C52E025E-B7B6-4C2F-95C3-451B2D04D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2DD6DD06-FAD9-4434-AAD6-4F5F40544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08CE678E-61E0-4B59-9E06-0CCDA51B5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Isosceles Triangle 26">
            <a:extLst xmlns:a="http://schemas.openxmlformats.org/drawingml/2006/main">
              <a:ext uri="{FF2B5EF4-FFF2-40B4-BE49-F238E27FC236}">
                <a16:creationId xmlns:a16="http://schemas.microsoft.com/office/drawing/2014/main" id="{6CF5F7A2-53D8-4ABB-B382-AFAFF845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87FDF0A-A15E-4E62-941B-5415901439B4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7" y="2404534"/>
            <a:ext cx="7766936" cy="164630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algn="r">
              <a:buNone/>
              <a:defRPr sz="54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F2274578-9B32-473A-B0FD-5A428DF4E4CC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07067" y="4050833"/>
            <a:ext cx="7766936" cy="1096899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B300C8-64F2-42E4-B5F9-4C502AC14CE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1BEC6B3A-D180-442C-87FB-17957759B4F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B6711ED2-A058-4592-AFE4-D9FE673F9AF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FC77581-562F-47E7-8112-9B9297AD12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77120C2-37BA-41A7-88BE-349064B19F74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8C73FAF-6252-4F7B-8D52-61D4525FAA8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0AB332-D473-41FC-8833-2008668A0B4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816F0BE-FA5E-42B7-9F04-6403D88AF5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1B34865-9BC9-4F7B-BF47-BAB8288BFAA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2700867"/>
            <a:ext cx="8596668" cy="1826581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40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0A7564D-364D-4098-BF47-59F28828E61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860400"/>
          </a:xfrm>
        </p:spPr>
        <p:txBody>
          <a:bodyPr xmlns:a="http://schemas.openxmlformats.org/drawingml/2006/main" anchor="t"/>
          <a:lstStyle xmlns:a="http://schemas.openxmlformats.org/drawingml/2006/main"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CF6BC595-E100-4CF2-8F9C-0A9A5B58E4F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E38BCC5-E90B-4F82-9D04-02D3B854EB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E48D55-6385-4245-B919-3F3734427AD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A540ED1-1734-4A83-A54D-3C3E2024AA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6881F0C-C285-423E-9B15-CB6DB0999EC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4184035" cy="3880772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BE0EEA2-E839-43FB-8853-72CD6C8907C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5089970" y="2160589"/>
            <a:ext cx="4184034" cy="388077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6326FBE4-7483-4A34-B95C-F1C086D6F26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9DD7005D-403D-4B2D-B4AE-FB49B141D1E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104274DD-73D4-49E4-A7FC-F02DF42A8A9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019B616-EBE7-4DBD-93E3-B48524DC24C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FEFB809-40AE-487F-8E1A-27605066CA4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2160983"/>
            <a:ext cx="4185623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62CE4FF7-CBE0-4679-B6DE-CB30562D470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73724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B8E209FA-3B2C-4B90-BB28-4F3BB933049B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5088383" y="2160983"/>
            <a:ext cx="4185618" cy="576262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A54B334-B088-4BD2-8AB9-463A3A7DDC49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5088384" y="2737245"/>
            <a:ext cx="4185617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56FF7CAB-3E66-49EF-ABC4-6B3CBA5B954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21DE1B27-2770-440B-8683-B33AB2F8997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7875A2C5-0358-4435-9AA6-43968B51961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506C2FF-7108-4081-A2CF-009FBCC1C43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FC28814B-6E48-48D5-B472-0ACD110B4F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1DFFA3EA-506D-4E17-B515-424F484D46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0DEA18EE-9DBE-4F3E-9523-7AC767EA8D7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9D42DD94-4BE1-43A9-ACA5-02458C765BA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DCF01500-3CEB-4E6E-AD3B-61C1D210C3C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B13B4083-954B-41BD-B609-2D06C7EC3D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CD8CC36-F893-42EA-85A9-4908E04B1AB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1498604"/>
            <a:ext cx="3854528" cy="1278466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>
              <a:buNone/>
              <a:defRPr sz="2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6EF19624-ADFA-48E6-BD3C-7ED96121EF9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0461" y="514924"/>
            <a:ext cx="4513541" cy="552643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AA8F45B7-7981-4D15-B61B-718D2A3AB8E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2777069"/>
            <a:ext cx="3854528" cy="2584449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19FBCD0-4CDE-41A3-94CB-65673985F08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9AB3597-CA70-4297-B68E-36CA3174A995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4CEA9B7B-47EA-4C7C-93C5-0195B760557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C1825EE-8171-47C6-9D7E-BA60971B602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4800600"/>
            <a:ext cx="8596667" cy="566738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2400" b="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256AADA7-0CCE-406C-8490-8E3B86C29967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677334" y="609600"/>
            <a:ext cx="8596668" cy="3845718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 xmlns:a="http://schemas.openxmlformats.org/drawingml/2006/main">
            <a:r>
              <a:t>Click icon to add picture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5A735FF-F666-49B8-836F-25EA123BA339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77334" y="5367338"/>
            <a:ext cx="8596667" cy="67402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A83A5BD9-4BEB-4CB2-BC4E-263561C08FC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D05A0EF9-3902-4E30-9474-29CA9E2B730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3B7EBFC-F60A-4B6C-AED7-920643100F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F251AB30-B37C-4942-B0C4-5EB7F0D6D05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609600"/>
            <a:ext cx="8596668" cy="3403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8DA3222-9946-4CFA-AFC2-94ECB00F57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F95A612-A924-458F-B443-59FD13BB292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08939AF-AEBA-4F37-8BDE-8C756BD903D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B5C401-FF14-489A-9B3E-D0ED476A258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3359351-7955-4803-A7F8-DF086230603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54B1FC33-9DF1-4054-B18A-956604D0FF9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1366139" y="3632200"/>
            <a:ext cx="7224524" cy="381000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B138461-AC1B-4274-9162-5045F49EBB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470400"/>
            <a:ext cx="8596668" cy="15709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A9128501-0168-461B-ACB6-54D73113959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107A80A-D5B4-4E94-A1B3-F082DFBECD4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C386AF-2374-4576-91A8-581D8FD8B58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B370E8FC-ED60-43AA-AF41-660A35EDF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6DA0C394-E2FD-44B8-9735-EBD5F1A44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2.xml><?xml version="1.0" encoding="utf-8"?>
<p:sldLayout xmlns:p="http://schemas.openxmlformats.org/presentationml/2006/main" preserve="1">
  <p:cSld name="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93B22F0-2F5D-435B-A869-6932D10A30E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5" y="1931988"/>
            <a:ext cx="8596668" cy="2595460"/>
          </a:xfrm>
        </p:spPr>
        <p:txBody>
          <a:bodyPr xmlns:a="http://schemas.openxmlformats.org/drawingml/2006/main" anchor="b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74EE19A-AC66-4CAA-BB73-F9898D79AD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503FCF3-F551-429E-9CC5-EF959DFFEC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5D6C97-86E7-4AB6-89C1-6F3FE06FF7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CACCD4F-188D-44BD-8DA0-19E4020DF0D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3.xml><?xml version="1.0" encoding="utf-8"?>
<p:sldLayout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7B44E46-9F27-40A4-A138-C87261AAA82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31334" y="609600"/>
            <a:ext cx="8094134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67FCD007-0694-45C0-9EBB-82675A840F6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B27EAEAD-5F1B-4C05-8600-78540C7055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9063699-B292-45EB-8A0D-79D2AF61094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77BDE3D-C164-43B4-AAE3-5A8EE76F2FE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2C741F5-99D6-4A1D-B754-5D4CD6E2E12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B584E9A-A507-4AE0-BF59-E41954519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870" y="790378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“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CD84491-7D8F-48BA-B9F3-742C7B7F8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3011" y="2886556"/>
            <a:ext cx="609600" cy="584776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rPr sz="800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ea typeface="Arial"/>
                <a:cs typeface="Arial"/>
              </a:rPr>
              <a:t>”</a:t>
            </a:r>
          </a:p>
        </p:txBody>
      </p:sp>
    </p:spTree>
  </p:cSld>
</p:sldLayout>
</file>

<file path=ppt/slideLayouts/slideLayout14.xml><?xml version="1.0" encoding="utf-8"?>
<p:sldLayout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C96DA0E8-F2EE-454B-96F9-FCF7079E505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799" y="609600"/>
            <a:ext cx="8588203" cy="302260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algn="l">
              <a:buNone/>
              <a:defRPr sz="4400" b="0" cap="none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23" name="Text Placeholder 9">
            <a:extLst xmlns:a="http://schemas.openxmlformats.org/drawingml/2006/main">
              <a:ext uri="{FF2B5EF4-FFF2-40B4-BE49-F238E27FC236}">
                <a16:creationId xmlns:a16="http://schemas.microsoft.com/office/drawing/2014/main" id="{019E2193-1BB2-4A64-90D5-565C5128C2B5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>
          <a:xfrm xmlns:a="http://schemas.openxmlformats.org/drawingml/2006/main">
            <a:off x="677332" y="4013200"/>
            <a:ext cx="8596669" cy="514248"/>
          </a:xfrm>
        </p:spPr>
        <p:txBody>
          <a:bodyPr xmlns:a="http://schemas.openxmlformats.org/drawingml/2006/main" anchor="b">
            <a:noAutofit/>
          </a:bodyPr>
          <a:lstStyle xmlns:a="http://schemas.openxmlformats.org/drawingml/2006/main"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8AE9668-4745-44B9-ADC6-C960739713B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4527448"/>
            <a:ext cx="8596668" cy="1513914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5C75CF1-5C89-4D2F-A7E8-860AFFDDC0EC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DC457B51-C79B-4E04-87FA-3DC4C1479D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AA70F5CC-48F9-432B-95CE-D0195B579F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5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25BF31E-9A0C-4161-914A-53AE471C780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E6369F82-FCEE-4B82-AFF4-B7FC808ADEF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F15ED90-3B0E-481C-A8CB-EF492CE6924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B306BA6-4EED-4611-951E-517F4F7B483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765D357-67E7-4B77-985A-491D9E6906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Layouts/slideLayout16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9437C092-BFDD-4559-9181-69DBA05D75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967673" y="609599"/>
            <a:ext cx="1304743" cy="5251451"/>
          </a:xfrm>
        </p:spPr>
        <p:txBody>
          <a:bodyPr xmlns:a="http://schemas.openxmlformats.org/drawingml/2006/main" vert="eaVert" anchor="ctr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AB33D11E-BE84-4CB9-AF9A-1AA6E3DB1A0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5" y="609600"/>
            <a:ext cx="7060150" cy="5251450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5ABD5CC-929C-438F-917D-24115BEF3AB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95EB7E8-2C32-4192-8FAD-7055EF28053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39BBA38E-0375-4975-B2EB-88BCD2F64F0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774ae77f1594f25" /><Relationship Type="http://schemas.openxmlformats.org/officeDocument/2006/relationships/slideLayout" Target="/ppt/slideLayouts/slideLayout1.xml" Id="R19287b8d52b540f2" /><Relationship Type="http://schemas.openxmlformats.org/officeDocument/2006/relationships/slideLayout" Target="/ppt/slideLayouts/slideLayout2.xml" Id="R2c673549b57d4569" /><Relationship Type="http://schemas.openxmlformats.org/officeDocument/2006/relationships/slideLayout" Target="/ppt/slideLayouts/slideLayout3.xml" Id="R62e2b6c6aa4640fa" /><Relationship Type="http://schemas.openxmlformats.org/officeDocument/2006/relationships/slideLayout" Target="/ppt/slideLayouts/slideLayout4.xml" Id="R24c4d1fe99044c95" /><Relationship Type="http://schemas.openxmlformats.org/officeDocument/2006/relationships/slideLayout" Target="/ppt/slideLayouts/slideLayout5.xml" Id="R0b19fa7815a24f6e" /><Relationship Type="http://schemas.openxmlformats.org/officeDocument/2006/relationships/slideLayout" Target="/ppt/slideLayouts/slideLayout6.xml" Id="R0a5039df441b40f5" /><Relationship Type="http://schemas.openxmlformats.org/officeDocument/2006/relationships/slideLayout" Target="/ppt/slideLayouts/slideLayout7.xml" Id="Rac131dcdf3ab4c6c" /><Relationship Type="http://schemas.openxmlformats.org/officeDocument/2006/relationships/slideLayout" Target="/ppt/slideLayouts/slideLayout8.xml" Id="R48f543541e754854" /><Relationship Type="http://schemas.openxmlformats.org/officeDocument/2006/relationships/slideLayout" Target="/ppt/slideLayouts/slideLayout9.xml" Id="Reb9f601ad8ca4e2b" /><Relationship Type="http://schemas.openxmlformats.org/officeDocument/2006/relationships/slideLayout" Target="/ppt/slideLayouts/slideLayout10.xml" Id="R56eed9ffd21244c2" /><Relationship Type="http://schemas.openxmlformats.org/officeDocument/2006/relationships/slideLayout" Target="/ppt/slideLayouts/slideLayout11.xml" Id="R129cdbc18fdc4344" /><Relationship Type="http://schemas.openxmlformats.org/officeDocument/2006/relationships/slideLayout" Target="/ppt/slideLayouts/slideLayout12.xml" Id="Rbe961ec1a5004c91" /><Relationship Type="http://schemas.openxmlformats.org/officeDocument/2006/relationships/slideLayout" Target="/ppt/slideLayouts/slideLayout13.xml" Id="R7e6f2d8552ef4ff6" /><Relationship Type="http://schemas.openxmlformats.org/officeDocument/2006/relationships/slideLayout" Target="/ppt/slideLayouts/slideLayout14.xml" Id="R7a3ab083203d4b7d" /><Relationship Type="http://schemas.openxmlformats.org/officeDocument/2006/relationships/slideLayout" Target="/ppt/slideLayouts/slideLayout15.xml" Id="R6b8bfe62a96c4fbb" /><Relationship Type="http://schemas.openxmlformats.org/officeDocument/2006/relationships/slideLayout" Target="/ppt/slideLayouts/slideLayout16.xml" Id="R4b5f6989ce9446a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Straight Connector 19">
            <a:extLst xmlns:a="http://schemas.openxmlformats.org/drawingml/2006/main">
              <a:ext uri="{FF2B5EF4-FFF2-40B4-BE49-F238E27FC236}">
                <a16:creationId xmlns:a16="http://schemas.microsoft.com/office/drawing/2014/main" id="{E4847988-64DE-4EA1-931A-8E35BF404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Straight Connector 20">
            <a:extLst xmlns:a="http://schemas.openxmlformats.org/drawingml/2006/main">
              <a:ext uri="{FF2B5EF4-FFF2-40B4-BE49-F238E27FC236}">
                <a16:creationId xmlns:a16="http://schemas.microsoft.com/office/drawing/2014/main" id="{A8647E92-895C-4BD4-8405-D49CFEAF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2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D02C6D03-6DA2-4BFE-A1AB-B3F56E100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3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7CFF94C5-1DFF-468F-81F7-A59CB2176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4" name="Isosceles Triangle 23">
            <a:extLst xmlns:a="http://schemas.openxmlformats.org/drawingml/2006/main">
              <a:ext uri="{FF2B5EF4-FFF2-40B4-BE49-F238E27FC236}">
                <a16:creationId xmlns:a16="http://schemas.microsoft.com/office/drawing/2014/main" id="{AD4886C9-2FB5-4F7F-A31A-3A9D30D39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5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14E5C00-25C2-4C47-8920-B5D57AD5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6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8CEA40CE-B0C6-494F-AAEC-7C1B19293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7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67E0546B-4456-4225-A01D-73D316C78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Isosceles Triangle 27">
            <a:extLst xmlns:a="http://schemas.openxmlformats.org/drawingml/2006/main">
              <a:ext uri="{FF2B5EF4-FFF2-40B4-BE49-F238E27FC236}">
                <a16:creationId xmlns:a16="http://schemas.microsoft.com/office/drawing/2014/main" id="{60B34E2E-02C5-4A0D-BF27-D0F3CBFCB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068A91AD-54F9-4831-A261-E1F0DC6F2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52C832B-F90C-4549-8F7C-D55A0CAAF08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1320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t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97F95686-1A05-49EC-8A54-890B192043D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7334" y="2160589"/>
            <a:ext cx="8596668" cy="388077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A9E00E7-0945-4FEB-BCA7-892E1CDD1490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7205133" y="6041362"/>
            <a:ext cx="9119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0E1AB97B-D0C7-4CCB-8568-F47C13D538D5}" type="datetimeFigureOut">
              <a:t>06/09/2026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69679E8-24C3-4AC5-B0EC-0526D46F752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677334" y="6041362"/>
            <a:ext cx="6297612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D8A05C0-8325-4139-B75F-F72C56BD63B0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590663" y="6041362"/>
            <a:ext cx="683339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accent1"/>
                </a:solidFill>
              </a:defRPr>
            </a:lvl1pPr>
          </a:lstStyle>
          <a:p xmlns:a="http://schemas.openxmlformats.org/drawingml/2006/main">
            <a:fld id="{E2239BDF-7A9B-44BA-815E-434EFA41A2DE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9287b8d52b540f2"/>
    <p:sldLayoutId xmlns:r="http://schemas.openxmlformats.org/officeDocument/2006/relationships" id="2147483650" r:id="R2c673549b57d4569"/>
    <p:sldLayoutId xmlns:r="http://schemas.openxmlformats.org/officeDocument/2006/relationships" id="2147483651" r:id="R62e2b6c6aa4640fa"/>
    <p:sldLayoutId xmlns:r="http://schemas.openxmlformats.org/officeDocument/2006/relationships" id="2147483652" r:id="R24c4d1fe99044c95"/>
    <p:sldLayoutId xmlns:r="http://schemas.openxmlformats.org/officeDocument/2006/relationships" id="2147483653" r:id="R0b19fa7815a24f6e"/>
    <p:sldLayoutId xmlns:r="http://schemas.openxmlformats.org/officeDocument/2006/relationships" id="2147483654" r:id="R0a5039df441b40f5"/>
    <p:sldLayoutId xmlns:r="http://schemas.openxmlformats.org/officeDocument/2006/relationships" id="2147483655" r:id="Rac131dcdf3ab4c6c"/>
    <p:sldLayoutId xmlns:r="http://schemas.openxmlformats.org/officeDocument/2006/relationships" id="2147483656" r:id="R48f543541e754854"/>
    <p:sldLayoutId xmlns:r="http://schemas.openxmlformats.org/officeDocument/2006/relationships" id="2147483657" r:id="Reb9f601ad8ca4e2b"/>
    <p:sldLayoutId xmlns:r="http://schemas.openxmlformats.org/officeDocument/2006/relationships" id="2147483658" r:id="R56eed9ffd21244c2"/>
    <p:sldLayoutId xmlns:r="http://schemas.openxmlformats.org/officeDocument/2006/relationships" id="2147483659" r:id="R129cdbc18fdc4344"/>
    <p:sldLayoutId xmlns:r="http://schemas.openxmlformats.org/officeDocument/2006/relationships" id="2147483660" r:id="Rbe961ec1a5004c91"/>
    <p:sldLayoutId xmlns:r="http://schemas.openxmlformats.org/officeDocument/2006/relationships" id="2147483661" r:id="R7e6f2d8552ef4ff6"/>
    <p:sldLayoutId xmlns:r="http://schemas.openxmlformats.org/officeDocument/2006/relationships" id="2147483662" r:id="R7a3ab083203d4b7d"/>
    <p:sldLayoutId xmlns:r="http://schemas.openxmlformats.org/officeDocument/2006/relationships" id="2147483663" r:id="R6b8bfe62a96c4fbb"/>
    <p:sldLayoutId xmlns:r="http://schemas.openxmlformats.org/officeDocument/2006/relationships" id="2147483664" r:id="R4b5f6989ce9446a4"/>
  </p:sldLayoutIdLst>
  <p:txStyles>
    <p:titleStyle>
      <a:lvl1pPr xmlns:a="http://schemas.openxmlformats.org/drawingml/2006/main" algn="l" defTabSz="457200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lt"/>
          <a:cs typeface="+mj-lt"/>
        </a:defRPr>
      </a:lvl1pPr>
      <a:lvl2pPr xmlns:a="http://schemas.openxmlformats.org/drawingml/2006/main">
        <a:buNone/>
        <a:defRPr>
          <a:solidFill>
            <a:schemeClr val="tx2"/>
          </a:solidFill>
        </a:defRPr>
      </a:lvl2pPr>
      <a:lvl3pPr xmlns:a="http://schemas.openxmlformats.org/drawingml/2006/main">
        <a:buNone/>
        <a:defRPr>
          <a:solidFill>
            <a:schemeClr val="tx2"/>
          </a:solidFill>
        </a:defRPr>
      </a:lvl3pPr>
      <a:lvl4pPr xmlns:a="http://schemas.openxmlformats.org/drawingml/2006/main">
        <a:buNone/>
        <a:defRPr>
          <a:solidFill>
            <a:schemeClr val="tx2"/>
          </a:solidFill>
        </a:defRPr>
      </a:lvl4pPr>
      <a:lvl5pPr xmlns:a="http://schemas.openxmlformats.org/drawingml/2006/main">
        <a:buNone/>
        <a:defRPr>
          <a:solidFill>
            <a:schemeClr val="tx2"/>
          </a:solidFill>
        </a:defRPr>
      </a:lvl5pPr>
      <a:lvl6pPr xmlns:a="http://schemas.openxmlformats.org/drawingml/2006/main">
        <a:buNone/>
        <a:defRPr>
          <a:solidFill>
            <a:schemeClr val="tx2"/>
          </a:solidFill>
        </a:defRPr>
      </a:lvl6pPr>
      <a:lvl7pPr xmlns:a="http://schemas.openxmlformats.org/drawingml/2006/main">
        <a:buNone/>
        <a:defRPr>
          <a:solidFill>
            <a:schemeClr val="tx2"/>
          </a:solidFill>
        </a:defRPr>
      </a:lvl7pPr>
      <a:lvl8pPr xmlns:a="http://schemas.openxmlformats.org/drawingml/2006/main">
        <a:buNone/>
        <a:defRPr>
          <a:solidFill>
            <a:schemeClr val="tx2"/>
          </a:solidFill>
        </a:defRPr>
      </a:lvl8pPr>
      <a:lvl9pPr xmlns:a="http://schemas.openxmlformats.org/drawingml/2006/main">
        <a:buNone/>
        <a:defRPr>
          <a:solidFill>
            <a:schemeClr val="tx2"/>
          </a:solidFill>
        </a:defRPr>
      </a:lvl9pPr>
    </p:titleStyle>
    <p:bodyStyle>
      <a:lvl1pPr xmlns:a="http://schemas.openxmlformats.org/drawingml/2006/main" marL="342900" indent="-3429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ae00e518d1a4275" /><Relationship Type="http://schemas.openxmlformats.org/officeDocument/2006/relationships/notesSlide" Target="/ppt/notesSlides/notesSlide1.xml" Id="R8b299bdf96e7421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5ae91b8ca3348e3" /><Relationship Type="http://schemas.openxmlformats.org/officeDocument/2006/relationships/image" Target="/ppt/media/image.png" Id="R2873aa572b0f4310" /><Relationship Type="http://schemas.openxmlformats.org/officeDocument/2006/relationships/notesSlide" Target="/ppt/notesSlides/notesSlide2.xml" Id="R040bd51be8e64b2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cb5e209e85184108" /><Relationship Type="http://schemas.openxmlformats.org/officeDocument/2006/relationships/image" Target="/ppt/media/image.jpeg" Id="R593f763dc5e644c5" /><Relationship Type="http://schemas.openxmlformats.org/officeDocument/2006/relationships/notesSlide" Target="/ppt/notesSlides/notesSlide3.xml" Id="Rfb22ed7199b4421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022959c86cb4daa" /><Relationship Type="http://schemas.openxmlformats.org/officeDocument/2006/relationships/notesSlide" Target="/ppt/notesSlides/notesSlide4.xml" Id="R16c26af51b80424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40f29756dea4a86" /><Relationship Type="http://schemas.openxmlformats.org/officeDocument/2006/relationships/image" Target="/ppt/media/image2.png" Id="R92275d15c09944a5" /><Relationship Type="http://schemas.openxmlformats.org/officeDocument/2006/relationships/notesSlide" Target="/ppt/notesSlides/notesSlide5.xml" Id="R4ad43ae300314d7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fc608987b5f841cb" /><Relationship Type="http://schemas.openxmlformats.org/officeDocument/2006/relationships/image" Target="/ppt/media/image2.jpeg" Id="R0567f6b4562d41f0" /><Relationship Type="http://schemas.openxmlformats.org/officeDocument/2006/relationships/notesSlide" Target="/ppt/notesSlides/notesSlide6.xml" Id="R3ed53b8aa3ae46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658ff75a82e4b4e" /><Relationship Type="http://schemas.openxmlformats.org/officeDocument/2006/relationships/image" Target="/ppt/media/image3.png" Id="Rf2fa8b11a88c4e73" /><Relationship Type="http://schemas.openxmlformats.org/officeDocument/2006/relationships/notesSlide" Target="/ppt/notesSlides/notesSlide7.xml" Id="Rf669d5a15b7b43a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85233bac7b54a26" /><Relationship Type="http://schemas.openxmlformats.org/officeDocument/2006/relationships/notesSlide" Target="/ppt/notesSlides/notesSlide8.xml" Id="R4b18a34b72f54cf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2783C067-F8BF-4755-B516-8A0CD74C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6646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49" name="Isosceles Triangle 48">
            <a:extLst xmlns:a="http://schemas.openxmlformats.org/drawingml/2006/main">
              <a:ext uri="{FF2B5EF4-FFF2-40B4-BE49-F238E27FC236}">
                <a16:creationId xmlns:a16="http://schemas.microsoft.com/office/drawing/2014/main" id="{2ED796EC-E7FF-46DB-B912-FB08BF12A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0800000">
            <a:off x="0" y="0"/>
            <a:ext cx="842596" cy="5666154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Isosceles Triangle 50">
            <a:extLst xmlns:a="http://schemas.openxmlformats.org/drawingml/2006/main">
              <a:ext uri="{FF2B5EF4-FFF2-40B4-BE49-F238E27FC236}">
                <a16:creationId xmlns:a16="http://schemas.microsoft.com/office/drawing/2014/main" id="{549A2DAB-B431-487D-95AD-BB0FECB49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8534" y="3818467"/>
            <a:ext cx="4450292" cy="30395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88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traight Connector 52">
            <a:extLst xmlns:a="http://schemas.openxmlformats.org/drawingml/2006/main">
              <a:ext uri="{FF2B5EF4-FFF2-40B4-BE49-F238E27FC236}">
                <a16:creationId xmlns:a16="http://schemas.microsoft.com/office/drawing/2014/main" id="{7EB72ABB-51C2-44BE-92E4-812CE23F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0"/>
            <a:ext cx="1727200" cy="6858000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2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5" name="Straight Connector 54">
            <a:extLst xmlns:a="http://schemas.openxmlformats.org/drawingml/2006/main">
              <a:ext uri="{FF2B5EF4-FFF2-40B4-BE49-F238E27FC236}">
                <a16:creationId xmlns:a16="http://schemas.microsoft.com/office/drawing/2014/main" id="{3F0E7EA5-53B8-426D-B5D7-06135FCD0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15875">
            <a:solidFill>
              <a:schemeClr val="accent1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D31F404-85BF-4A44-A7B7-33CE2AAB1A7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07066" y="1397000"/>
            <a:ext cx="8102759" cy="2421467"/>
          </a:xfrm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t>Network Operation Check</a:t>
            </a:r>
            <a:endParaRPr/>
          </a:p>
        </p:txBody>
      </p:sp>
      <p:sp>
        <p:nvSpPr>
          <p:cNvPr id="57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0819F787-32B4-46A8-BC57-C6571BCEE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5641" y="0"/>
            <a:ext cx="1766359" cy="6858000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3026196822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EB01542-F65E-4B18-ACCB-69AE5318249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b="1"/>
              <a:t>Network Settings</a:t>
            </a:r>
            <a:endParaRPr b="1"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2606E10-B033-4090-8AE6-B8F8966553A7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5637202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4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04BC7A28-0935-4D62-A481-2322F798E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5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7B06E582-AF3C-4534-B175-F142D3F4D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6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48D2101-A3FB-40C0-9DB4-EB7673E39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 Address</a:t>
            </a:r>
          </a:p>
        </p:txBody>
      </p:sp>
      <p:sp>
        <p:nvSpPr>
          <p:cNvPr id="7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578FFDC7-9C35-42E4-853C-5F53B710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unique logical address that identifies a device within a network.</a:t>
            </a:r>
          </a:p>
        </p:txBody>
      </p:sp>
      <p:sp>
        <p:nvSpPr>
          <p:cNvPr id="8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35AC735A-BD50-49D2-A35E-8D3A59F9B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Subnet Mask</a:t>
            </a:r>
          </a:p>
        </p:txBody>
      </p:sp>
      <p:sp>
        <p:nvSpPr>
          <p:cNvPr id="9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FF17751D-4454-4E25-8C19-D9219C7A2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It determines which part of the IP address identifies the network and which part identifies the device.</a:t>
            </a:r>
          </a:p>
        </p:txBody>
      </p:sp>
      <p:sp>
        <p:nvSpPr>
          <p:cNvPr id="10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BE3C2AEA-6BDE-433C-B110-62618BA5D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Default Gateway</a:t>
            </a:r>
          </a:p>
        </p:txBody>
      </p:sp>
      <p:sp>
        <p:nvSpPr>
          <p:cNvPr id="11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0A7E670E-D690-49A2-9511-0692F439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address of the router that forwards data to other networks.</a:t>
            </a:r>
          </a:p>
        </p:txBody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73aa572b0f4310"/>
          <a:stretch xmlns:a="http://schemas.openxmlformats.org/drawingml/2006/main"/>
        </p:blipFill>
        <p:spPr>
          <a:xfrm xmlns:a="http://schemas.openxmlformats.org/drawingml/2006/main">
            <a:off x="5953125" y="3042595"/>
            <a:ext cx="4905375" cy="1534811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872317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Subnets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7177555A-3A01-47F9-B651-136B0E435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2D6CB451-2788-4929-BA8D-B758D2D5D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130E6DB3-7507-4E5E-939C-10144B5B3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Same Subnet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C7D3B068-2128-41C6-A0FD-A999E6AFB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Two devices on the same subnet can communicate without an intermediate router.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5F1268BA-118F-4566-B3D6-DDC54238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Another Network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044970C1-BA81-4BB7-8366-C0668603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When the destination is on another network, the device sends the packets to the default gateway.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80286375-FA52-460A-B2DD-44E43C9F2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Uniqueness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3B91EBAE-5013-43F6-90FD-77B279903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Each active device needs a different IP address on the same network.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3f763dc5e644c5"/>
          <a:stretch xmlns:a="http://schemas.openxmlformats.org/drawingml/2006/main"/>
        </p:blipFill>
        <p:spPr>
          <a:xfrm xmlns:a="http://schemas.openxmlformats.org/drawingml/2006/main">
            <a:off x="6675638" y="1857375"/>
            <a:ext cx="3460348" cy="39052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2C863D9-1989-4443-A424-8213A05F31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DNS</a:t>
            </a:r>
            <a:endParaRPr/>
          </a:p>
        </p:txBody>
      </p:sp>
      <p:sp>
        <p:nvSpPr>
          <p:cNvPr id="3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90FD9911-2532-411E-AF49-5300F6992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68535E2F-3361-4BCC-BFE3-20766531C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5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723280F4-FAF1-403A-A86E-DBB7306FC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Names and IP Addresses</a:t>
            </a:r>
          </a:p>
        </p:txBody>
      </p:sp>
      <p:sp>
        <p:nvSpPr>
          <p:cNvPr id="6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20BA3EC0-D753-4F2E-9807-9FA5F21AA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DNS maps a website name to its corresponding IP address.</a:t>
            </a:r>
          </a:p>
        </p:txBody>
      </p:sp>
      <p:sp>
        <p:nvSpPr>
          <p:cNvPr id="7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DEE6C5E1-E7E6-480D-B58E-DB3668BA6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DNS Server</a:t>
            </a:r>
          </a:p>
        </p:txBody>
      </p:sp>
      <p:sp>
        <p:nvSpPr>
          <p:cNvPr id="8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8835A1E9-BEC3-49D4-A4A6-354893CF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computer queries a DNS server to find the destination address.</a:t>
            </a:r>
          </a:p>
        </p:txBody>
      </p:sp>
      <p:sp>
        <p:nvSpPr>
          <p:cNvPr id="9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02ECF532-807C-4207-BD8F-5DE6E52F6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nslookup</a:t>
            </a:r>
          </a:p>
        </p:txBody>
      </p:sp>
      <p:sp>
        <p:nvSpPr>
          <p:cNvPr id="10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CF888EC1-2AC2-4E0B-97E2-7AA961BCC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0048875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This command displays information about the mapping between names and IP addresses.</a:t>
            </a:r>
          </a:p>
        </p:txBody>
      </p:sp>
    </p:spTree>
    <p:extLst>
      <p:ext uri="{BB962C8B-B14F-4D97-AF65-F5344CB8AC3E}">
        <p14:creationId xmlns:p14="http://schemas.microsoft.com/office/powerpoint/2010/main" val="257014926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60CC5F6-A8B2-464D-A77D-97CB05567F6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Diagnostic Commands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1563757"/>
            <a:ext cx="5952067" cy="4477604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/>
              <a:t/>
            </a:r>
            <a:endParaRPr sz="2800"/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1ADE6AB2-31D4-43F8-8CB3-B978A6B5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4A6DC372-EF3F-4BD2-A334-2CA08BBFF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7C771E72-8C57-4BD4-A907-9EB09DBD5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ipconfig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F6C81DD3-BB36-4F23-87B3-BA04996FE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Displays the IP address, subnet mask and default gateway.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56CDC298-5F75-4F10-AEA0-2EE2E608B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5750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ipconfig /all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73831D10-FA81-4630-80A2-DF540657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7182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Displays additional information, such as the physical address and DNS servers.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FAD8B63B-9463-4F1E-9E70-0E1A7E57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5762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ping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B97222AA-170A-45DB-8311-5BF958D4B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71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Checks whether a destination responds through the network.</a:t>
            </a:r>
          </a:p>
        </p:txBody>
      </p:sp>
      <p:sp>
        <p:nvSpPr>
          <p:cNvPr id="13" name="Block heading 4">
            <a:extLst xmlns:a="http://schemas.openxmlformats.org/drawingml/2006/main">
              <a:ext uri="{FF2B5EF4-FFF2-40B4-BE49-F238E27FC236}">
                <a16:creationId xmlns:a16="http://schemas.microsoft.com/office/drawing/2014/main" id="{9B3DBC8C-A3A1-405D-ACE9-6FA8B6D59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57750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tracert</a:t>
            </a:r>
          </a:p>
        </p:txBody>
      </p:sp>
      <p:sp>
        <p:nvSpPr>
          <p:cNvPr id="14" name="Block body 4">
            <a:extLst xmlns:a="http://schemas.openxmlformats.org/drawingml/2006/main">
              <a:ext uri="{FF2B5EF4-FFF2-40B4-BE49-F238E27FC236}">
                <a16:creationId xmlns:a16="http://schemas.microsoft.com/office/drawing/2014/main" id="{CC22DC93-68B1-49EA-AB54-1E943502D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Shows the intermediate routers on the path to the destination.</a:t>
            </a:r>
          </a:p>
        </p:txBody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2275d15c09944a5"/>
          <a:stretch xmlns:a="http://schemas.openxmlformats.org/drawingml/2006/main"/>
        </p:blipFill>
        <p:spPr>
          <a:xfrm xmlns:a="http://schemas.openxmlformats.org/drawingml/2006/main">
            <a:off x="5953125" y="2488192"/>
            <a:ext cx="4905375" cy="264361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4388141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traight Connector 10">
            <a:extLst xmlns:a="http://schemas.openxmlformats.org/drawingml/2006/main">
              <a:ext uri="{FF2B5EF4-FFF2-40B4-BE49-F238E27FC236}">
                <a16:creationId xmlns:a16="http://schemas.microsoft.com/office/drawing/2014/main" id="{3DE7BDB4-5B22-4942-A5BF-1BC290BB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2" name="Straight Connector 11">
            <a:extLst xmlns:a="http://schemas.openxmlformats.org/drawingml/2006/main">
              <a:ext uri="{FF2B5EF4-FFF2-40B4-BE49-F238E27FC236}">
                <a16:creationId xmlns:a16="http://schemas.microsoft.com/office/drawing/2014/main" id="{F972E8AA-2DAA-4786-A1DC-793A00EB1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1" flipV="0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accent1">
                <a:alpha val="70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6778DC79-DE09-4F89-81B1-275C542D7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4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EAEC370A-1F34-4D8E-B065-81F6F568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5" name="Isosceles Triangle 14">
            <a:extLst xmlns:a="http://schemas.openxmlformats.org/drawingml/2006/main">
              <a:ext uri="{FF2B5EF4-FFF2-40B4-BE49-F238E27FC236}">
                <a16:creationId xmlns:a16="http://schemas.microsoft.com/office/drawing/2014/main" id="{A816EDF3-D9EE-488C-AFDC-022381513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6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E8330BD4-97D9-4D24-815A-0E557B04F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75000"/>
              <a:alpha val="5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7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EA8EDE67-BAC0-478C-99D9-BBC5AD532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8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33DFB3F3-2523-4F1F-BC2B-B97C172F2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19" name="Isosceles Triangle 18">
            <a:extLst xmlns:a="http://schemas.openxmlformats.org/drawingml/2006/main">
              <a:ext uri="{FF2B5EF4-FFF2-40B4-BE49-F238E27FC236}">
                <a16:creationId xmlns:a16="http://schemas.microsoft.com/office/drawing/2014/main" id="{5E5660E4-7443-4FCC-AD43-9D1AE972B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lumMod val="75000"/>
              <a:alpha val="66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0" name="Isosceles Triangle 19">
            <a:extLst xmlns:a="http://schemas.openxmlformats.org/drawingml/2006/main">
              <a:ext uri="{FF2B5EF4-FFF2-40B4-BE49-F238E27FC236}">
                <a16:creationId xmlns:a16="http://schemas.microsoft.com/office/drawing/2014/main" id="{4EDF9C36-B365-4426-85B9-82E0DE187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0" y="4013200"/>
            <a:ext cx="448733" cy="2844800"/>
          </a:xfrm>
          <a:prstGeom xmlns:a="http://schemas.openxmlformats.org/drawingml/2006/main" prst="triangle">
            <a:avLst>
              <a:gd name="adj" fmla="val 0"/>
            </a:avLst>
          </a:prstGeom>
          <a:solidFill xmlns:a="http://schemas.openxmlformats.org/drawingml/2006/main">
            <a:schemeClr val="accent1"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2A92CD4-88DD-4F68-B449-EA9821C3EFD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3" y="609600"/>
            <a:ext cx="3851123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Connection Speed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98A4CE2-B83D-4007-86B1-3CC11CF360D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4" y="2160589"/>
            <a:ext cx="3851122" cy="3880773"/>
          </a:xfr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t/>
            </a:r>
            <a:endParaRPr/>
          </a:p>
        </p:txBody>
      </p:sp>
      <p:sp>
        <p:nvSpPr>
          <p:cNvPr id="22" name="Straight Connector 21">
            <a:extLst xmlns:a="http://schemas.openxmlformats.org/drawingml/2006/main">
              <a:ext uri="{FF2B5EF4-FFF2-40B4-BE49-F238E27FC236}">
                <a16:creationId xmlns:a16="http://schemas.microsoft.com/office/drawing/2014/main" id="{58A65593-EBC9-4FFD-A2E3-84A86F989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1012" y="0"/>
            <a:ext cx="1219200" cy="6858000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7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4" name="Straight Connector 23">
            <a:extLst xmlns:a="http://schemas.openxmlformats.org/drawingml/2006/main">
              <a:ext uri="{FF2B5EF4-FFF2-40B4-BE49-F238E27FC236}">
                <a16:creationId xmlns:a16="http://schemas.microsoft.com/office/drawing/2014/main" id="{46DF67F7-9F42-4763-BDC4-3162061DA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7425267" y="3681413"/>
            <a:ext cx="4763558" cy="3176587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chemeClr val="bg1">
                <a:lumMod val="85000"/>
              </a:schemeClr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6" name="Rectangle 23">
            <a:extLst xmlns:a="http://schemas.openxmlformats.org/drawingml/2006/main">
              <a:ext uri="{FF2B5EF4-FFF2-40B4-BE49-F238E27FC236}">
                <a16:creationId xmlns:a16="http://schemas.microsoft.com/office/drawing/2014/main" id="{3F088236-D655-4F88-B238-E16762358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476" y="-8467"/>
            <a:ext cx="3007349" cy="6866467"/>
          </a:xfrm>
          <a:custGeom xmlns:a="http://schemas.openxmlformats.org/drawingml/2006/main">
            <a:rect l="l" t="t" r="r" b="b"/>
            <a:pathLst>
              <a:path w="3007349" h="6866467">
                <a:moveTo>
                  <a:pt x="2045532" y="0"/>
                </a:moveTo>
                <a:lnTo>
                  <a:pt x="3007349" y="0"/>
                </a:lnTo>
                <a:lnTo>
                  <a:pt x="3007349" y="6866467"/>
                </a:lnTo>
                <a:lnTo>
                  <a:pt x="0" y="6866467"/>
                </a:lnTo>
                <a:lnTo>
                  <a:pt x="2045532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3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28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3DAC0C92-199E-475C-9390-119A9B02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3442" y="-8467"/>
            <a:ext cx="2588558" cy="6866467"/>
          </a:xfrm>
          <a:custGeom xmlns:a="http://schemas.openxmlformats.org/drawingml/2006/main">
            <a:rect l="l" t="t" r="r" b="b"/>
            <a:pathLst>
              <a:path w="2573311" h="6866467">
                <a:moveTo>
                  <a:pt x="0" y="0"/>
                </a:moveTo>
                <a:lnTo>
                  <a:pt x="2573311" y="0"/>
                </a:lnTo>
                <a:lnTo>
                  <a:pt x="2573311" y="6866467"/>
                </a:lnTo>
                <a:lnTo>
                  <a:pt x="1202336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2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0" name="Isosceles Triangle 24">
            <a:extLst xmlns:a="http://schemas.openxmlformats.org/drawingml/2006/main">
              <a:ext uri="{FF2B5EF4-FFF2-40B4-BE49-F238E27FC236}">
                <a16:creationId xmlns:a16="http://schemas.microsoft.com/office/drawing/2014/main" id="{C4CFB339-0ED8-4FE2-9EF1-6D1375B84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2333" y="3048000"/>
            <a:ext cx="3259667" cy="3810000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2">
              <a:alpha val="72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2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31896C80-2069-4431-9C19-83B913734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-8467"/>
            <a:ext cx="2854326" cy="6866467"/>
          </a:xfrm>
          <a:custGeom xmlns:a="http://schemas.openxmlformats.org/drawingml/2006/main">
            <a:rect l="l" t="t" r="r" b="b"/>
            <a:pathLst>
              <a:path w="2858013" h="6866467">
                <a:moveTo>
                  <a:pt x="0" y="0"/>
                </a:moveTo>
                <a:lnTo>
                  <a:pt x="2858013" y="0"/>
                </a:lnTo>
                <a:lnTo>
                  <a:pt x="2858013" y="6866467"/>
                </a:lnTo>
                <a:lnTo>
                  <a:pt x="2473942" y="68664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2">
              <a:lumMod val="75000"/>
              <a:alpha val="47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4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BF120A21-0841-4823-B0C4-28AEBCEF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98730" y="-8467"/>
            <a:ext cx="1290094" cy="6866467"/>
          </a:xfrm>
          <a:custGeom xmlns:a="http://schemas.openxmlformats.org/drawingml/2006/main">
            <a:rect l="l" t="t" r="r" b="b"/>
            <a:pathLst>
              <a:path w="1290094" h="6858000">
                <a:moveTo>
                  <a:pt x="1019735" y="0"/>
                </a:moveTo>
                <a:lnTo>
                  <a:pt x="1290094" y="0"/>
                </a:lnTo>
                <a:lnTo>
                  <a:pt x="1290094" y="6858000"/>
                </a:lnTo>
                <a:lnTo>
                  <a:pt x="0" y="6858000"/>
                </a:lnTo>
                <a:lnTo>
                  <a:pt x="1019735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lumMod val="60000"/>
              <a:lumOff val="40000"/>
              <a:alpha val="7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6" name="Rectangle 29">
            <a:extLst xmlns:a="http://schemas.openxmlformats.org/drawingml/2006/main">
              <a:ext uri="{FF2B5EF4-FFF2-40B4-BE49-F238E27FC236}">
                <a16:creationId xmlns:a16="http://schemas.microsoft.com/office/drawing/2014/main" id="{DBB05BAE-BBD3-4289-899F-A6851503C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38999" y="-8467"/>
            <a:ext cx="1249825" cy="6866467"/>
          </a:xfrm>
          <a:custGeom xmlns:a="http://schemas.openxmlformats.org/drawingml/2006/main">
            <a:rect l="l" t="t" r="r" b="b"/>
            <a:pathLst>
              <a:path w="1249825" h="6858000">
                <a:moveTo>
                  <a:pt x="0" y="0"/>
                </a:moveTo>
                <a:lnTo>
                  <a:pt x="1249825" y="0"/>
                </a:lnTo>
                <a:lnTo>
                  <a:pt x="1249825" y="6858000"/>
                </a:lnTo>
                <a:lnTo>
                  <a:pt x="1109382" y="6858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chemeClr val="accent1">
              <a:alpha val="65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8" name="Isosceles Triangle 29">
            <a:extLst xmlns:a="http://schemas.openxmlformats.org/drawingml/2006/main">
              <a:ext uri="{FF2B5EF4-FFF2-40B4-BE49-F238E27FC236}">
                <a16:creationId xmlns:a16="http://schemas.microsoft.com/office/drawing/2014/main" id="{9874D11C-36F5-4BBE-A490-019A54E9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1666" y="3589867"/>
            <a:ext cx="1817159" cy="3268133"/>
          </a:xfrm>
          <a:prstGeom xmlns:a="http://schemas.openxmlformats.org/drawingml/2006/main" prst="triangle">
            <a:avLst>
              <a:gd name="adj" fmla="val 100000"/>
            </a:avLst>
          </a:prstGeom>
          <a:solidFill xmlns:a="http://schemas.openxmlformats.org/drawingml/2006/main">
            <a:schemeClr val="accent1">
              <a:alpha val="80000"/>
            </a:schemeClr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</p:sp>
      <p:sp>
        <p:nvSpPr>
          <p:cNvPr id="39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EAF74570-906E-409B-835C-2A042042E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40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86FACE8D-D66A-4D4F-92EA-DA7787DF2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41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A6E9481-BE9F-4D32-8D1A-0503E42E3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Download</a:t>
            </a:r>
          </a:p>
        </p:txBody>
      </p:sp>
      <p:sp>
        <p:nvSpPr>
          <p:cNvPr id="42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053D11A1-6A21-4480-B26A-09648D650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rate at which data travels from the Internet to the device.</a:t>
            </a:r>
          </a:p>
        </p:txBody>
      </p:sp>
      <p:sp>
        <p:nvSpPr>
          <p:cNvPr id="43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546B8F5C-9405-4AE3-A3E4-1EB6534C7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Upload</a:t>
            </a:r>
          </a:p>
        </p:txBody>
      </p:sp>
      <p:sp>
        <p:nvSpPr>
          <p:cNvPr id="44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BE265DAF-6DF9-4E68-921B-A9E30C419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The rate at which data travels from the device to the Internet.</a:t>
            </a:r>
          </a:p>
        </p:txBody>
      </p:sp>
      <p:sp>
        <p:nvSpPr>
          <p:cNvPr id="45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7AAE4F79-E2DB-4855-9135-5D88C5DE9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Mbps</a:t>
            </a:r>
          </a:p>
        </p:txBody>
      </p:sp>
      <p:sp>
        <p:nvSpPr>
          <p:cNvPr id="46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035FFD76-493F-4B83-B64F-6035E0DA7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A common unit used to measure connection speed.</a:t>
            </a:r>
          </a:p>
        </p:txBody>
      </p:sp>
      <p:pic>
        <p:nvPicPr>
          <p:cNvPr id="7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67f6b4562d41f0"/>
          <a:stretch xmlns:a="http://schemas.openxmlformats.org/drawingml/2006/main"/>
        </p:blipFill>
        <p:spPr>
          <a:xfrm xmlns:a="http://schemas.openxmlformats.org/drawingml/2006/main">
            <a:off x="5953125" y="2336057"/>
            <a:ext cx="4905375" cy="294788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9875993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B66EAA72-EC7F-4ECD-B4EF-D54E871C688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2" y="609600"/>
            <a:ext cx="5825735" cy="1320800"/>
          </a:xfrm>
        </p:spPr>
        <p:txBody>
          <a:bodyPr xmlns:a="http://schemas.openxmlformats.org/drawingml/2006/main" vert="horz" lIns="91440" tIns="45720" rIns="91440" bIns="45720" anchor="t">
            <a:normAutofit fontScale="100000"/>
          </a:bodyPr>
          <a:lstStyle xmlns:a="http://schemas.openxmlformats.org/drawingml/2006/main"/>
          <a:p xmlns:a="http://schemas.openxmlformats.org/drawingml/2006/main">
            <a:r>
              <a:t>Troubleshooting</a:t>
            </a:r>
            <a:endParaRPr/>
          </a:p>
        </p:txBody>
      </p:sp>
      <p:sp>
        <p:nvSpPr>
          <p:cNvPr id="4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EB3F7303-CEA4-CFC4-5052-5C4AC627408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77333" y="2160589"/>
            <a:ext cx="6716071" cy="388077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800">
                <a:latin typeface="+mj-lt"/>
                <a:ea typeface="+mj-lt"/>
                <a:cs typeface="+mj-lt"/>
              </a:rPr>
              <a:t/>
            </a:r>
          </a:p>
        </p:txBody>
      </p:sp>
      <p:sp>
        <p:nvSpPr>
          <p:cNvPr id="5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73383F08-623A-462D-A230-968EFDB9D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6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97D7BDD8-9508-4066-A397-B979ED88C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 | Theory</a:t>
            </a:r>
          </a:p>
        </p:txBody>
      </p:sp>
      <p:sp>
        <p:nvSpPr>
          <p:cNvPr id="7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F1736C36-5F43-4C65-BFB2-FE2C8E15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Physical Connection</a:t>
            </a:r>
          </a:p>
        </p:txBody>
      </p:sp>
      <p:sp>
        <p:nvSpPr>
          <p:cNvPr id="8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0160AFBB-5761-4B19-83D2-D7D792715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 cables, ports, indicator lights and the wireless connection.</a:t>
            </a:r>
          </a:p>
        </p:txBody>
      </p:sp>
      <p:sp>
        <p:nvSpPr>
          <p:cNvPr id="9" name="Block heading 2">
            <a:extLst xmlns:a="http://schemas.openxmlformats.org/drawingml/2006/main">
              <a:ext uri="{FF2B5EF4-FFF2-40B4-BE49-F238E27FC236}">
                <a16:creationId xmlns:a16="http://schemas.microsoft.com/office/drawing/2014/main" id="{9B4086BE-70E4-4A1F-82CE-DB4DA9B4A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908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Settings</a:t>
            </a:r>
          </a:p>
        </p:txBody>
      </p:sp>
      <p:sp>
        <p:nvSpPr>
          <p:cNvPr id="10" name="Block body 2">
            <a:extLst xmlns:a="http://schemas.openxmlformats.org/drawingml/2006/main">
              <a:ext uri="{FF2B5EF4-FFF2-40B4-BE49-F238E27FC236}">
                <a16:creationId xmlns:a16="http://schemas.microsoft.com/office/drawing/2014/main" id="{F247D9E9-005F-4FAD-BF67-666F3048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Check the IP address, subnet mask and default gateway.</a:t>
            </a:r>
          </a:p>
        </p:txBody>
      </p:sp>
      <p:sp>
        <p:nvSpPr>
          <p:cNvPr id="11" name="Block heading 3">
            <a:extLst xmlns:a="http://schemas.openxmlformats.org/drawingml/2006/main">
              <a:ext uri="{FF2B5EF4-FFF2-40B4-BE49-F238E27FC236}">
                <a16:creationId xmlns:a16="http://schemas.microsoft.com/office/drawing/2014/main" id="{DF305F1F-5AC1-4283-98E0-316025207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476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Tests</a:t>
            </a:r>
          </a:p>
        </p:txBody>
      </p:sp>
      <p:sp>
        <p:nvSpPr>
          <p:cNvPr id="12" name="Block body 3">
            <a:extLst xmlns:a="http://schemas.openxmlformats.org/drawingml/2006/main">
              <a:ext uri="{FF2B5EF4-FFF2-40B4-BE49-F238E27FC236}">
                <a16:creationId xmlns:a16="http://schemas.microsoft.com/office/drawing/2014/main" id="{FF732DCC-CCBB-4D4B-9717-9FF19AD76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4762500" cy="981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Test communication with the router first and then with a remote destination.</a:t>
            </a:r>
          </a:p>
        </p:txBody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fa8b11a88c4e73"/>
          <a:stretch xmlns:a="http://schemas.openxmlformats.org/drawingml/2006/main"/>
        </p:blipFill>
        <p:spPr>
          <a:xfrm xmlns:a="http://schemas.openxmlformats.org/drawingml/2006/main">
            <a:off x="5953125" y="2553451"/>
            <a:ext cx="4905375" cy="2513099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65962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0E24EE7-B9BA-0224-B2C0-9853440AA6E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77334" y="609600"/>
            <a:ext cx="8596668" cy="713001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Reinforcement Activities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4F7059D2-7234-9A18-8EC3-97389EC073B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75745" y="1528147"/>
            <a:ext cx="7080326" cy="57626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/>
            </a:r>
            <a:endParaRPr/>
          </a:p>
        </p:txBody>
      </p:sp>
      <p:sp>
        <p:nvSpPr>
          <p:cNvPr id="5" name="Content Placeholder 4">
            <a:extLst xmlns:a="http://schemas.openxmlformats.org/drawingml/2006/main">
              <a:ext uri="{FF2B5EF4-FFF2-40B4-BE49-F238E27FC236}">
                <a16:creationId xmlns:a16="http://schemas.microsoft.com/office/drawing/2014/main" id="{9BF9A9EA-A3CB-AC85-3752-6360C044E602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75745" y="2309955"/>
            <a:ext cx="4185623" cy="3304117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/>
          <a:p xmlns:a="http://schemas.openxmlformats.org/drawingml/2006/main">
            <a:r>
              <a:rPr sz="2400"/>
              <a:t/>
            </a:r>
            <a:endParaRPr sz="2400"/>
          </a:p>
        </p:txBody>
      </p:sp>
      <p:sp>
        <p:nvSpPr>
          <p:cNvPr id="6" name="Clean content area">
            <a:extLst xmlns:a="http://schemas.openxmlformats.org/drawingml/2006/main">
              <a:ext uri="{FF2B5EF4-FFF2-40B4-BE49-F238E27FC236}">
                <a16:creationId xmlns:a16="http://schemas.microsoft.com/office/drawing/2014/main" id="{5D78D7B6-4857-428E-A2B0-9D0ADFEC4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352550"/>
            <a:ext cx="11049000" cy="500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</a:ln>
        </p:spPr>
      </p:sp>
      <p:sp>
        <p:nvSpPr>
          <p:cNvPr id="7" name="Section reference">
            <a:extLst xmlns:a="http://schemas.openxmlformats.org/drawingml/2006/main">
              <a:ext uri="{FF2B5EF4-FFF2-40B4-BE49-F238E27FC236}">
                <a16:creationId xmlns:a16="http://schemas.microsoft.com/office/drawing/2014/main" id="{F1E775E6-98BF-447D-BCB0-D78483465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668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68EAD"/>
                </a:solidFill>
                <a:latin typeface="Trebuchet MS"/>
                <a:ea typeface="Trebuchet MS"/>
                <a:cs typeface="Trebuchet MS"/>
              </a:rPr>
              <a:t>A.5.M2</a:t>
            </a:r>
          </a:p>
        </p:txBody>
      </p:sp>
      <p:sp>
        <p:nvSpPr>
          <p:cNvPr id="8" name="Block heading 1">
            <a:extLst xmlns:a="http://schemas.openxmlformats.org/drawingml/2006/main">
              <a:ext uri="{FF2B5EF4-FFF2-40B4-BE49-F238E27FC236}">
                <a16:creationId xmlns:a16="http://schemas.microsoft.com/office/drawing/2014/main" id="{4CF269E8-E189-4D72-951A-2E3AEF43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857375"/>
            <a:ext cx="10048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1">
                <a:solidFill>
                  <a:srgbClr val="18A7CC"/>
                </a:solidFill>
                <a:latin typeface="Trebuchet MS"/>
                <a:ea typeface="Trebuchet MS"/>
                <a:cs typeface="Trebuchet MS"/>
              </a:rPr>
              <a:t>Questions to Answer</a:t>
            </a:r>
          </a:p>
        </p:txBody>
      </p:sp>
      <p:sp>
        <p:nvSpPr>
          <p:cNvPr id="9" name="Block body 1">
            <a:extLst xmlns:a="http://schemas.openxmlformats.org/drawingml/2006/main">
              <a:ext uri="{FF2B5EF4-FFF2-40B4-BE49-F238E27FC236}">
                <a16:creationId xmlns:a16="http://schemas.microsoft.com/office/drawing/2014/main" id="{1D521794-BBE8-4028-AD5D-36201AB0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71700"/>
            <a:ext cx="10048875" cy="3648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r>
              <a:rPr sz="1200" b="0">
                <a:solidFill>
                  <a:srgbClr val="333333"/>
                </a:solidFill>
                <a:latin typeface="Trebuchet MS"/>
                <a:ea typeface="Trebuchet MS"/>
                <a:cs typeface="Trebuchet MS"/>
              </a:rPr>
              <a:t>Questions 1–12 in Worksheet A.5.M2.</a:t>
            </a:r>
          </a:p>
        </p:txBody>
      </p:sp>
    </p:spTree>
    <p:extLst>
      <p:ext uri="{BB962C8B-B14F-4D97-AF65-F5344CB8AC3E}">
        <p14:creationId xmlns:p14="http://schemas.microsoft.com/office/powerpoint/2010/main" val="2467819896"/>
      </p:ext>
    </p:extLst>
  </p:cSld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2026-10-05T14:38:31.9650000Z</dcterms:created>
  <dcterms:modified xsi:type="dcterms:W3CDTF">2026-10-05T14:38:31.9650000Z</dcterms:modified>
</coreProperties>
</file>