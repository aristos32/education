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modSld">
      <pc:chgData name="Άριστος Αρέστη" userId="813aa191-2d4c-464f-9d05-0a7e494d859f" providerId="ADAL" clId="{49C7B61D-1ACF-4AFF-A04E-A3B433E32474}" dt="2026-10-13T13:17:08.147" v="0" actId="14100"/>
      <pc:docMkLst>
        <pc:docMk/>
      </pc:docMkLst>
      <pc:sldChg chg="modSp mod">
        <pc:chgData name="Άριστος Αρέστη" userId="813aa191-2d4c-464f-9d05-0a7e494d859f" providerId="ADAL" clId="{49C7B61D-1ACF-4AFF-A04E-A3B433E32474}" dt="2026-10-13T13:17:08.147" v="0" actId="14100"/>
        <pc:sldMkLst>
          <pc:docMk/>
          <pc:sldMk cId="2371128756" sldId="258"/>
        </pc:sldMkLst>
        <pc:picChg chg="mod">
          <ac:chgData name="Άριστος Αρέστη" userId="813aa191-2d4c-464f-9d05-0a7e494d859f" providerId="ADAL" clId="{49C7B61D-1ACF-4AFF-A04E-A3B433E32474}" dt="2026-10-13T13:17:08.147" v="0" actId="14100"/>
          <ac:picMkLst>
            <pc:docMk/>
            <pc:sldMk cId="2371128756" sldId="258"/>
            <ac:picMk id="6" creationId="{C7F65D54-B296-40AB-B22A-5158BC2B66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A4.M2 Πολυμέσα-Ήχος(2).pptx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13-Oct-26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Network diagnostics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Network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04BC7A28-0935-4D62-A481-2322F798EF3C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7B06E582-AF3C-4534-B175-F142D3F4D403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F48D2101-A3FB-40C0-9DB4-EB7673E39CDB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 Address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578FFDC7-9C35-42E4-853C-5F53B710184B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t>the address of this device (e.g. 192.168.10.89). 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35AC735A-BD50-49D2-A35E-8D3A59F9BB0E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Subnet Mask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FF17751D-4454-4E25-8C19-D9219C7A20D9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t>the subnet address: four numbers, usually 255 or 0, e.g. 255.255.255.0.</a:t>
            </a:r>
          </a:p>
          <a:p>
            <a:endParaRPr/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BE3C2AEA-6BDE-433C-B110-62618BA5D19D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Default Gateway</a:t>
            </a: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0A7E670E-D690-49A2-9511-0692F4390AF7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address of the router that forwards data to other networks (e.g. 192.168.10.254).</a:t>
            </a:r>
            <a:endParaRPr/>
          </a:p>
          <a:p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348EDC7-4CD0-4612-8A68-20C343E17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57925" y="4118437"/>
            <a:ext cx="4905375" cy="1534811"/>
          </a:xfrm>
          <a:prstGeom prst="rect">
            <a:avLst/>
          </a:prstGeom>
        </p:spPr>
      </p:pic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B2D42C70-2276-4040-A41B-9A5F13036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111" y="1266826"/>
            <a:ext cx="3668949" cy="208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1AB5-A52B-F4C1-4CA3-DB53B985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Network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F65D54-B296-40AB-B22A-5158BC2B6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536" y="1712794"/>
            <a:ext cx="4200747" cy="238295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608D0-CAE4-0818-735D-CF7E3D00D431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C845F3-E1F4-496B-BC76-6E0E97F95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875" y="530399"/>
            <a:ext cx="7770125" cy="627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2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619125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What is a subnet?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0" name="Clean content 1">
            <a:extLst>
              <a:ext uri="{FF2B5EF4-FFF2-40B4-BE49-F238E27FC236}">
                <a16:creationId xmlns:a16="http://schemas.microsoft.com/office/drawing/2014/main" id="{6FE0B811-E5C7-4C97-BAB9-3623DFC602F6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CE5C69-A305-40F9-A980-FACB9EDD9A99}"/>
              </a:ext>
            </a:extLst>
          </p:cNvPr>
          <p:cNvSpPr>
            <a:spLocks noGrp="1"/>
          </p:cNvSpPr>
          <p:nvPr/>
        </p:nvSpPr>
        <p:spPr>
          <a:xfrm>
            <a:off x="685800" y="1324504"/>
            <a:ext cx="1028700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>
                <a:solidFill>
                  <a:srgbClr val="333333"/>
                </a:solidFill>
              </a:defRPr>
            </a:defPPr>
          </a:lstStyle>
          <a:p>
            <a:pPr>
              <a:buNone/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A subnet is a group of devices whose IP addresses share the same network portion.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F16AD20-5B5D-40C5-854C-B8018814BE88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10096500" cy="857250"/>
          </a:xfrm>
          <a:prstGeom prst="roundRect">
            <a:avLst>
              <a:gd name="adj" fmla="val 16129"/>
            </a:avLst>
          </a:prstGeom>
          <a:solidFill>
            <a:srgbClr val="E8F7FC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23566A"/>
                </a:solidFill>
              </a:defRPr>
            </a:defPPr>
          </a:lstStyle>
          <a:p>
            <a:pPr algn="ctr">
              <a:buNone/>
              <a:defRPr sz="1725" b="1">
                <a:solidFill>
                  <a:srgbClr val="23566A"/>
                </a:solidFill>
              </a:defRPr>
            </a:pPr>
            <a:r>
              <a:rPr sz="1725" b="1">
                <a:solidFill>
                  <a:srgbClr val="23566A"/>
                </a:solidFill>
              </a:rPr>
              <a:t>Mask 255.255.255.0 (/24): the first three parts of the IP address identify the network.</a:t>
            </a:r>
          </a:p>
          <a:p>
            <a:pPr algn="ctr">
              <a:buNone/>
              <a:defRPr sz="1725" b="1">
                <a:solidFill>
                  <a:srgbClr val="23566A"/>
                </a:solidFill>
              </a:defRPr>
            </a:pPr>
            <a:r>
              <a:rPr sz="1725" b="1">
                <a:solidFill>
                  <a:srgbClr val="23566A"/>
                </a:solidFill>
              </a:rPr>
              <a:t>255 = the same part for all devices</a:t>
            </a:r>
          </a:p>
          <a:p>
            <a:pPr algn="ctr">
              <a:buNone/>
              <a:defRPr sz="1725" b="1">
                <a:solidFill>
                  <a:srgbClr val="23566A"/>
                </a:solidFill>
              </a:defRPr>
            </a:pPr>
            <a:r>
              <a:rPr sz="1725" b="1">
                <a:solidFill>
                  <a:srgbClr val="23566A"/>
                </a:solidFill>
              </a:rPr>
              <a:t>0 = different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A56905C-6CCF-4C2A-A77B-A6CCC62F3291}"/>
              </a:ext>
            </a:extLst>
          </p:cNvPr>
          <p:cNvGraphicFramePr/>
          <p:nvPr/>
        </p:nvGraphicFramePr>
        <p:xfrm>
          <a:off x="781050" y="3048000"/>
          <a:ext cx="10096500" cy="223837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Device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IP Address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Network (/24)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Relation to PC A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PC 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Reference device</a:t>
                      </a:r>
                    </a:p>
                  </a:txBody>
                  <a:tcPr marL="95250" marR="95250" marT="66675" marB="66675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PC B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192.168.1.25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6733D"/>
                          </a:solidFill>
                        </a:rPr>
                        <a:t>Same subnet</a:t>
                      </a:r>
                    </a:p>
                  </a:txBody>
                  <a:tcPr marL="95250" marR="95250" marT="66675" marB="66675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Printer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6733D"/>
                          </a:solidFill>
                        </a:rPr>
                        <a:t>Same subnet</a:t>
                      </a:r>
                    </a:p>
                  </a:txBody>
                  <a:tcPr marL="95250" marR="95250" marT="66675" marB="66675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Laptop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192.168.2.10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192.168.2.0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12B25"/>
                          </a:solidFill>
                        </a:rPr>
                        <a:t>Different subnet</a:t>
                      </a:r>
                    </a:p>
                  </a:txBody>
                  <a:tcPr marL="95250" marR="95250" marT="66675" marB="66675" anchor="ctr">
                    <a:solidFill>
                      <a:srgbClr val="FC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3B7D4317-995B-4191-88B1-10CDF29AD167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100965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75" b="1">
                <a:solidFill>
                  <a:srgbClr val="333333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192.168.1.10 and 192.168.1.25 communicate within the same subnet. Communication with 192.168.2.10 requires a router or Default Gateway.</a:t>
            </a:r>
          </a:p>
        </p:txBody>
      </p:sp>
    </p:spTree>
    <p:extLst>
      <p:ext uri="{BB962C8B-B14F-4D97-AF65-F5344CB8AC3E}">
        <p14:creationId xmlns:p14="http://schemas.microsoft.com/office/powerpoint/2010/main" val="284286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Subnets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7177555A-3A01-47F9-B651-136B0E4355F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2D6CB451-2788-4929-BA8D-B758D2D5D98B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130E6DB3-7507-4E5E-939C-10144B5B3BFE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Same subnet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C7D3B068-2128-41C6-A0FD-A999E6AFB89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Two devices on the same subnet can communicate without an intermediate router.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5F1268BA-118F-4566-B3D6-DDC54238DF3E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Different network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044970C1-BA81-4BB7-8366-C066860304E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When the destination is on another network, the device sends the packets to the Default Gateway.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80286375-FA52-460A-B2DD-44E43C9F2B24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Unique addresses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3B91EBAE-5013-43F6-90FD-77B279903BA1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Each active device needs a different IP address on the same network.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8FAD646-D99C-497E-94BD-E84B1AEED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75638" y="1857375"/>
            <a:ext cx="3460348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6F53-01B6-B1A0-0538-5A57F687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Network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4567-A36E-4C64-9B8E-40575FEAF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92FD612A-8ED7-25CA-EBD6-B6FC3F8ADC2D}"/>
              </a:ext>
            </a:extLst>
          </p:cNvPr>
          <p:cNvSpPr>
            <a:spLocks noGrp="1"/>
          </p:cNvSpPr>
          <p:nvPr/>
        </p:nvSpPr>
        <p:spPr>
          <a:xfrm>
            <a:off x="-437167" y="1362075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r>
              <a:t> </a:t>
            </a:r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2F6F4B63-FDDE-3C87-B6DD-4BCECDACB5A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16C33D2D-3093-FEA3-CDB7-E0D6EB963E4C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PC1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DD0792B9-5EFD-C1D8-E250-3ED3B8FB9FFD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t> IP Address: 192.168.10.23 </a:t>
            </a:r>
          </a:p>
          <a:p>
            <a:r>
              <a:t> Subnet Mask: 255.255.255.0 </a:t>
            </a:r>
          </a:p>
          <a:p>
            <a:r>
              <a:t> Default Gateway: 192.168.10.1 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D985BB78-7B95-451F-8CA9-2E9380EEA229}"/>
              </a:ext>
            </a:extLst>
          </p:cNvPr>
          <p:cNvSpPr>
            <a:spLocks noGrp="1"/>
          </p:cNvSpPr>
          <p:nvPr/>
        </p:nvSpPr>
        <p:spPr>
          <a:xfrm>
            <a:off x="781051" y="3165677"/>
            <a:ext cx="4495799" cy="65497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sending data to the device with IP address 192.168.10.35 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0C21CEEF-7273-49A8-0E31-7440AE68B0F8}"/>
              </a:ext>
            </a:extLst>
          </p:cNvPr>
          <p:cNvSpPr>
            <a:spLocks noGrp="1"/>
          </p:cNvSpPr>
          <p:nvPr/>
        </p:nvSpPr>
        <p:spPr>
          <a:xfrm>
            <a:off x="781050" y="3794125"/>
            <a:ext cx="4495799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t>applies the Subnet Mask and finds that the first three numbers match its own address (192.168.10).</a:t>
            </a:r>
          </a:p>
          <a:p>
            <a:endParaRPr/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5CC52013-73E9-3F57-D8BA-2AF2E5152631}"/>
              </a:ext>
            </a:extLst>
          </p:cNvPr>
          <p:cNvSpPr>
            <a:spLocks noGrp="1"/>
          </p:cNvSpPr>
          <p:nvPr/>
        </p:nvSpPr>
        <p:spPr>
          <a:xfrm>
            <a:off x="781048" y="5105399"/>
            <a:ext cx="4323215" cy="57206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sending data to the device with IP address 192.168.2.5</a:t>
            </a:r>
          </a:p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endParaRPr sz="1575" b="1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17F30AC6-3922-99D5-5845-D4576A63A248}"/>
              </a:ext>
            </a:extLst>
          </p:cNvPr>
          <p:cNvSpPr>
            <a:spLocks noGrp="1"/>
          </p:cNvSpPr>
          <p:nvPr/>
        </p:nvSpPr>
        <p:spPr>
          <a:xfrm>
            <a:off x="781048" y="5794374"/>
            <a:ext cx="6140451" cy="898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t>applies the Subnet Mask and finds that the first three numbers differ from its own address (192.168.10 and 192.168.2).</a:t>
            </a:r>
          </a:p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8CDD51-EA8E-4CEA-A20F-C65ABFF6E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390" y="1112293"/>
            <a:ext cx="6567525" cy="438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09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1BFE-EBA3-53A0-5FD8-73F983E2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7429500" cy="742950"/>
          </a:xfrm>
        </p:spPr>
        <p:txBody>
          <a:bodyPr vert="horz" lIns="91440" tIns="45720" rIns="91440" bIns="45720" anchor="t">
            <a:normAutofit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buNone/>
              <a:defRPr sz="3450">
                <a:solidFill>
                  <a:srgbClr val="5FCBEF"/>
                </a:solidFill>
              </a:defRPr>
            </a:pPr>
            <a:r>
              <a:rPr sz="3450">
                <a:solidFill>
                  <a:srgbClr val="5FCBEF"/>
                </a:solidFill>
              </a:rPr>
              <a:t>ipconfig (troubleshooting)</a:t>
            </a:r>
            <a:endParaRPr/>
          </a:p>
        </p:txBody>
      </p:sp>
      <p:sp>
        <p:nvSpPr>
          <p:cNvPr id="4" name="Clean content 2">
            <a:extLst>
              <a:ext uri="{FF2B5EF4-FFF2-40B4-BE49-F238E27FC236}">
                <a16:creationId xmlns:a16="http://schemas.microsoft.com/office/drawing/2014/main" id="{D5B3C804-9765-A0C6-CDC2-F9B2C179DAFA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173BB-812C-6D1E-5B5B-49194A054108}"/>
              </a:ext>
            </a:extLst>
          </p:cNvPr>
          <p:cNvSpPr>
            <a:spLocks noGrp="1"/>
          </p:cNvSpPr>
          <p:nvPr/>
        </p:nvSpPr>
        <p:spPr>
          <a:xfrm>
            <a:off x="781050" y="1495425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buNone/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The commands display the computer's network settings in Windows. They do not change any settings.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E1F2F5-8959-BB3F-7934-7F2F80FF76A5}"/>
              </a:ext>
            </a:extLst>
          </p:cNvPr>
          <p:cNvSpPr>
            <a:spLocks noGrp="1"/>
          </p:cNvSpPr>
          <p:nvPr/>
        </p:nvSpPr>
        <p:spPr>
          <a:xfrm>
            <a:off x="781050" y="2105025"/>
            <a:ext cx="10096500" cy="742950"/>
          </a:xfrm>
          <a:prstGeom prst="roundRect">
            <a:avLst>
              <a:gd name="adj" fmla="val 10256"/>
            </a:avLst>
          </a:prstGeom>
          <a:solidFill>
            <a:srgbClr val="163746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</a:defRPr>
            </a:defPPr>
          </a:lstStyle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ipconfig        basic information</a:t>
            </a:r>
          </a:p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ipconfig /all   full details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4FFFCA-3763-8415-E692-6A4CE96B396C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3566A"/>
                </a:solidFill>
              </a:defRPr>
            </a:pPr>
            <a:r>
              <a:rPr sz="1500" b="1">
                <a:solidFill>
                  <a:srgbClr val="23566A"/>
                </a:solidFill>
              </a:rPr>
              <a:t>Use: check whether the computer has the correct IP address, mask, gateway and DNS.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A796F4-422E-45A6-9C07-D92DD2CE1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990852"/>
            <a:ext cx="9257873" cy="22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4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Practice Activities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5D78D7B6-4857-428E-A2B0-9D0ADFEC4C4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F1E775E6-98BF-447D-BCB0-D78483465CA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4CF269E8-E189-4D72-951A-2E3AEF4378BC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Answer the following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1D521794-BBE8-4028-AD5D-36201AB06AD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3648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Questions 1–4 from Worksheet A.5.M2.</a:t>
            </a:r>
          </a:p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800" b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Run an Internet speed test in the lab using your browser.</a:t>
            </a:r>
          </a:p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800" b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Repeat the test at home using your smartphone.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Microsoft Office PowerPoint</Application>
  <DocSecurity>0</DocSecurity>
  <PresentationFormat>Widescreen</PresentationFormat>
  <Paragraphs>93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Network diagnostics</vt:lpstr>
      <vt:lpstr>Network settings</vt:lpstr>
      <vt:lpstr>Local Network</vt:lpstr>
      <vt:lpstr>What is a subnet?</vt:lpstr>
      <vt:lpstr>Subnets</vt:lpstr>
      <vt:lpstr>Network settings</vt:lpstr>
      <vt:lpstr>ipconfig (troubleshooting)</vt:lpstr>
      <vt:lpstr>Practice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2026-10-13T12:57:57Z</dcterms:created>
  <dcterms:modified xsi:type="dcterms:W3CDTF">2026-10-13T13:17:18Z</dcterms:modified>
</cp:coreProperties>
</file>