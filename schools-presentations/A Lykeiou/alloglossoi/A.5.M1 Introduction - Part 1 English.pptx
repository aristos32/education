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8766C-F189-46AD-AA14-E432BF4FDC6C}" v="2" dt="2026-10-08T05:46:01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">
      <pc:chgData name="Άριστος Αρέστη" userId="813aa191-2d4c-464f-9d05-0a7e494d859f" providerId="ADAL" clId="{49C7B61D-1ACF-4AFF-A04E-A3B433E32474}" dt="2026-10-08T05:46:24.719" v="376" actId="1076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10-08T05:46:24.719" v="376" actId="1076"/>
        <pc:sldMkLst>
          <pc:docMk/>
          <pc:sldMk cId="1459875993" sldId="261"/>
        </pc:sldMkLst>
        <pc:spChg chg="mod">
          <ac:chgData name="Άριστος Αρέστη" userId="813aa191-2d4c-464f-9d05-0a7e494d859f" providerId="ADAL" clId="{49C7B61D-1ACF-4AFF-A04E-A3B433E32474}" dt="2026-10-08T05:46:24.719" v="376" actId="1076"/>
          <ac:spMkLst>
            <pc:docMk/>
            <pc:sldMk cId="1459875993" sldId="261"/>
            <ac:spMk id="39" creationId="{4CF7BC71-3174-4D73-8BC9-07D3A64CED1D}"/>
          </ac:spMkLst>
        </pc:spChg>
        <pc:spChg chg="mod">
          <ac:chgData name="Άριστος Αρέστη" userId="813aa191-2d4c-464f-9d05-0a7e494d859f" providerId="ADAL" clId="{49C7B61D-1ACF-4AFF-A04E-A3B433E32474}" dt="2026-10-08T05:45:15.411" v="359" actId="20577"/>
          <ac:spMkLst>
            <pc:docMk/>
            <pc:sldMk cId="1459875993" sldId="261"/>
            <ac:spMk id="41" creationId="{72025841-5F3E-4A8B-BBCB-C2D4BF0A45C6}"/>
          </ac:spMkLst>
        </pc:spChg>
        <pc:spChg chg="mod">
          <ac:chgData name="Άριστος Αρέστη" userId="813aa191-2d4c-464f-9d05-0a7e494d859f" providerId="ADAL" clId="{49C7B61D-1ACF-4AFF-A04E-A3B433E32474}" dt="2026-10-08T05:46:01.163" v="373"/>
          <ac:spMkLst>
            <pc:docMk/>
            <pc:sldMk cId="1459875993" sldId="261"/>
            <ac:spMk id="42" creationId="{95554E29-4CB7-4BD9-8947-DCF0A4817FFD}"/>
          </ac:spMkLst>
        </pc:spChg>
        <pc:spChg chg="mod">
          <ac:chgData name="Άριστος Αρέστη" userId="813aa191-2d4c-464f-9d05-0a7e494d859f" providerId="ADAL" clId="{49C7B61D-1ACF-4AFF-A04E-A3B433E32474}" dt="2026-10-08T05:45:19.388" v="365" actId="20577"/>
          <ac:spMkLst>
            <pc:docMk/>
            <pc:sldMk cId="1459875993" sldId="261"/>
            <ac:spMk id="43" creationId="{3442AF39-5E21-47CA-9B8C-2D1B30A96F15}"/>
          </ac:spMkLst>
        </pc:spChg>
        <pc:spChg chg="mod">
          <ac:chgData name="Άριστος Αρέστη" userId="813aa191-2d4c-464f-9d05-0a7e494d859f" providerId="ADAL" clId="{49C7B61D-1ACF-4AFF-A04E-A3B433E32474}" dt="2026-10-08T05:45:55.711" v="372" actId="21"/>
          <ac:spMkLst>
            <pc:docMk/>
            <pc:sldMk cId="1459875993" sldId="261"/>
            <ac:spMk id="44" creationId="{CA2ED603-8C10-4C79-90C2-688E7BED1F9E}"/>
          </ac:spMkLst>
        </pc:spChg>
        <pc:spChg chg="mod">
          <ac:chgData name="Άριστος Αρέστη" userId="813aa191-2d4c-464f-9d05-0a7e494d859f" providerId="ADAL" clId="{49C7B61D-1ACF-4AFF-A04E-A3B433E32474}" dt="2026-10-08T05:45:30.886" v="368" actId="14100"/>
          <ac:spMkLst>
            <pc:docMk/>
            <pc:sldMk cId="1459875993" sldId="261"/>
            <ac:spMk id="46" creationId="{A622C1E7-BC4C-4293-BB77-F709CD5F78AD}"/>
          </ac:spMkLst>
        </pc:spChg>
        <pc:picChg chg="add">
          <ac:chgData name="Άριστος Αρέστη" userId="813aa191-2d4c-464f-9d05-0a7e494d859f" providerId="ADAL" clId="{49C7B61D-1ACF-4AFF-A04E-A3B433E32474}" dt="2026-10-06T18:47:43.776" v="7" actId="22"/>
          <ac:picMkLst>
            <pc:docMk/>
            <pc:sldMk cId="1459875993" sldId="261"/>
            <ac:picMk id="5" creationId="{FD2A978B-839D-CE28-DD39-A0E1A6F3D313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10-06T18:48:50.582" v="14" actId="14100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10-06T18:48:46.516" v="13" actId="14100"/>
          <ac:spMkLst>
            <pc:docMk/>
            <pc:sldMk cId="3786659628" sldId="262"/>
            <ac:spMk id="8" creationId="{50B08CB6-9B4B-41EE-9BC5-BC0FAFE16193}"/>
          </ac:spMkLst>
        </pc:spChg>
        <pc:spChg chg="mod">
          <ac:chgData name="Άριστος Αρέστη" userId="813aa191-2d4c-464f-9d05-0a7e494d859f" providerId="ADAL" clId="{49C7B61D-1ACF-4AFF-A04E-A3B433E32474}" dt="2026-10-06T18:48:42.394" v="12" actId="14100"/>
          <ac:spMkLst>
            <pc:docMk/>
            <pc:sldMk cId="3786659628" sldId="262"/>
            <ac:spMk id="10" creationId="{3F48067B-2A0C-451D-8B4D-0AE03204EB0A}"/>
          </ac:spMkLst>
        </pc:spChg>
        <pc:spChg chg="mod">
          <ac:chgData name="Άριστος Αρέστη" userId="813aa191-2d4c-464f-9d05-0a7e494d859f" providerId="ADAL" clId="{49C7B61D-1ACF-4AFF-A04E-A3B433E32474}" dt="2026-10-06T18:48:50.582" v="14" actId="14100"/>
          <ac:spMkLst>
            <pc:docMk/>
            <pc:sldMk cId="3786659628" sldId="262"/>
            <ac:spMk id="12" creationId="{0242B9D2-4882-4BBE-AEA0-9AF714B6C4CB}"/>
          </ac:spMkLst>
        </pc:spChg>
        <pc:picChg chg="add">
          <ac:chgData name="Άριστος Αρέστη" userId="813aa191-2d4c-464f-9d05-0a7e494d859f" providerId="ADAL" clId="{49C7B61D-1ACF-4AFF-A04E-A3B433E32474}" dt="2026-10-06T18:48:36.774" v="11" actId="22"/>
          <ac:picMkLst>
            <pc:docMk/>
            <pc:sldMk cId="3786659628" sldId="262"/>
            <ac:picMk id="13" creationId="{DF74343C-C649-57A3-98EE-B2E6259A6E00}"/>
          </ac:picMkLst>
        </pc:picChg>
      </pc:sldChg>
      <pc:sldChg chg="modSp add mod">
        <pc:chgData name="Άριστος Αρέστη" userId="813aa191-2d4c-464f-9d05-0a7e494d859f" providerId="ADAL" clId="{49C7B61D-1ACF-4AFF-A04E-A3B433E32474}" dt="2026-10-06T18:51:18.753" v="292" actId="6549"/>
        <pc:sldMkLst>
          <pc:docMk/>
          <pc:sldMk cId="457266055" sldId="272"/>
        </pc:sldMkLst>
        <pc:spChg chg="mod">
          <ac:chgData name="Άριστος Αρέστη" userId="813aa191-2d4c-464f-9d05-0a7e494d859f" providerId="ADAL" clId="{49C7B61D-1ACF-4AFF-A04E-A3B433E32474}" dt="2026-10-06T18:49:44.510" v="44" actId="20577"/>
          <ac:spMkLst>
            <pc:docMk/>
            <pc:sldMk cId="457266055" sldId="272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9C7B61D-1ACF-4AFF-A04E-A3B433E32474}" dt="2026-10-06T18:51:18.753" v="292" actId="6549"/>
          <ac:spMkLst>
            <pc:docMk/>
            <pc:sldMk cId="457266055" sldId="272"/>
            <ac:spMk id="3" creationId="{00000000-0000-0000-0000-000000000000}"/>
          </ac:spMkLst>
        </pc:spChg>
      </pc:sldChg>
      <pc:sldChg chg="modSp add mod">
        <pc:chgData name="Άριστος Αρέστη" userId="813aa191-2d4c-464f-9d05-0a7e494d859f" providerId="ADAL" clId="{49C7B61D-1ACF-4AFF-A04E-A3B433E32474}" dt="2026-10-06T18:51:49.006" v="352" actId="20577"/>
        <pc:sldMkLst>
          <pc:docMk/>
          <pc:sldMk cId="3963452469" sldId="273"/>
        </pc:sldMkLst>
        <pc:spChg chg="mod">
          <ac:chgData name="Άριστος Αρέστη" userId="813aa191-2d4c-464f-9d05-0a7e494d859f" providerId="ADAL" clId="{49C7B61D-1ACF-4AFF-A04E-A3B433E32474}" dt="2026-10-06T18:51:32.623" v="314" actId="20577"/>
          <ac:spMkLst>
            <pc:docMk/>
            <pc:sldMk cId="3963452469" sldId="273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9C7B61D-1ACF-4AFF-A04E-A3B433E32474}" dt="2026-10-06T18:51:49.006" v="352" actId="20577"/>
          <ac:spMkLst>
            <pc:docMk/>
            <pc:sldMk cId="3963452469" sldId="27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Computer Networks</a:t>
            </a:r>
          </a:p>
          <a:p>
            <a:pPr algn="l">
              <a:buNone/>
            </a:pPr>
            <a:r>
              <a:t>Part 1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a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45B11AF0-B09E-4EA4-9D57-C420292F86F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45DB81B0-361B-4960-AE31-2C40AC40F1F8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12E58BC-01F4-408D-809A-D976EE41877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Definition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82C6FD23-E583-45B6-B4A2-556214C7908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computer network is a group of two or more computers or other devices connected to one another.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6165E775-C5CB-468A-814F-EF59D227C7F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Data Exchange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2F656A2-2A38-4618-BA44-9B6A79BB797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Devices send and receive information through the network.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0902FBB0-3C68-4C25-AA2D-1A337094780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Sharing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6AED2E86-3B20-4113-B41D-47731ED387CC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network allows users to share files, software, printers and an Internet connection.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LAN and WAN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1C2720E8-1069-4CA5-9AB4-89306F81603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C60D70D7-86BE-4773-9F24-9B5B973E81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AC6FC001-33F2-4BB4-B82D-46D49C33999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Local Area Network (LAN)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8FF07643-707D-4C55-BF57-9A915C77625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covers a limited geographical area, such as a room, a building or nearby buildings.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1E87EAC6-673F-46FC-8F5C-B85A942BD7A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Wide Area Network (WAN)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F54D49C2-A5BF-4CB1-BB07-61C4A1A835A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connects several local networks and can cover cities or countries.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3D1958B1-26B1-4111-ADEC-0D2AACCF9B2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Internet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7D621D15-AEC2-4569-9BEF-F3221DECA1A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Internet is the largest WAN. It connects the networks of organisations, schools, companies and homes.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Network Interface Cards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A8483864-6391-40FC-A8EA-7468A2CD74D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FFD1A59-ED30-44E8-8891-AA9C67676E2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974704AF-72C2-41DD-947B-A63BB77F11C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Network Interface Card (NIC)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65761EC-FE00-4B43-A353-8EF762022902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connects a computer or another device to the network.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A604C126-20FF-4C85-8F49-BCB7196A377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Wired Network Card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06AED263-5DF4-49B6-A87B-E5CEE260DF3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uses a network cable and an RJ45 port.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60588685-E77F-44CC-8E0E-2B8D9D4063E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Wireless Network Card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2935B540-E302-4B51-8D2B-E6069064AA1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uses radio waves and an antenna to connect to a Wi-Fi network.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4485" y="1857375"/>
            <a:ext cx="1662655" cy="18764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67600" y="3886200"/>
            <a:ext cx="18764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Switch and Access Point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6C651F2-4D08-4A43-BDC9-B043AB9FC01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71FFCA11-54AF-42A4-83E2-7C590D83DB5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6EB852F5-EF60-4B61-96B2-ADD7E6C8C69F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Switch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BFA44D8-CF7A-4202-B2BC-AACA48279C4A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switch has several ports and connects wired devices to the same local network.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27363ACC-E8F5-4307-8000-F3919C64F3E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Access Point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BAD4DF4C-890E-4460-BD86-1461BF466CF8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An access point connects wireless devices to the local network.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ACF72B5F-1210-451A-96EE-F783EDAD5A98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Mixed Networks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891F2858-419C-4D7F-8B98-675739C0C1BB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network can include a switch and an access point, depending on how each device connects.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Router / Modem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4CF7BC71-3174-4D73-8BC9-07D3A64CED1D}"/>
              </a:ext>
            </a:extLst>
          </p:cNvPr>
          <p:cNvSpPr>
            <a:spLocks noGrp="1"/>
          </p:cNvSpPr>
          <p:nvPr/>
        </p:nvSpPr>
        <p:spPr>
          <a:xfrm>
            <a:off x="367554" y="1353312"/>
            <a:ext cx="11049000" cy="468553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B953E2AF-248F-478A-9E07-597819B8F05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72025841-5F3E-4A8B-BBCB-C2D4BF0A45C6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1200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Modem</a:t>
            </a:r>
            <a:endParaRPr sz="1200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95554E29-4CB7-4BD9-8947-DCF0A4817FFD}"/>
              </a:ext>
            </a:extLst>
          </p:cNvPr>
          <p:cNvSpPr>
            <a:spLocks noGrp="1"/>
          </p:cNvSpPr>
          <p:nvPr/>
        </p:nvSpPr>
        <p:spPr>
          <a:xfrm>
            <a:off x="781050" y="2171701"/>
            <a:ext cx="3996549" cy="5921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GB" sz="1200" dirty="0">
                <a:solidFill>
                  <a:srgbClr val="333333"/>
                </a:solidFill>
                <a:ea typeface="Trebuchet MS"/>
                <a:cs typeface="Trebuchet MS"/>
              </a:rPr>
              <a:t>A modem converts the signal into the form required by the connection to the service provider.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3442AF39-5E21-47CA-9B8C-2D1B30A96F1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1200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Router</a:t>
            </a:r>
            <a:endParaRPr sz="1200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CA2ED603-8C10-4C79-90C2-688E7BED1F9E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016348" cy="67177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GB" sz="1200" b="1" dirty="0">
                <a:solidFill>
                  <a:srgbClr val="333333"/>
                </a:solidFill>
                <a:ea typeface="Trebuchet MS"/>
                <a:cs typeface="Trebuchet MS"/>
              </a:rPr>
              <a:t>A router connects different networks and forwards data in the correct direction.</a:t>
            </a:r>
          </a:p>
          <a:p>
            <a:endParaRPr sz="12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D862BCD3-4170-4DD7-B3EE-29DF97AC87B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Home Network Device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A622C1E7-BC4C-4293-BB77-F709CD5F78AD}"/>
              </a:ext>
            </a:extLst>
          </p:cNvPr>
          <p:cNvSpPr>
            <a:spLocks noGrp="1"/>
          </p:cNvSpPr>
          <p:nvPr/>
        </p:nvSpPr>
        <p:spPr>
          <a:xfrm>
            <a:off x="781050" y="4838701"/>
            <a:ext cx="3957087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At home, the router, switch, access point and modem are often combined in one device.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A978B-839D-CE28-DD39-A0E1A6F3D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11" y="1631142"/>
            <a:ext cx="5972196" cy="40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Speeds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730" y="1850038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It’s the number of binary digits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)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that are transferred from device to device per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-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per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bps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, ή b/s).</a:t>
            </a:r>
          </a:p>
          <a:p>
            <a:endParaRPr lang="el-GR" sz="3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It depends on the device and the data transfer medium</a:t>
            </a:r>
            <a:r>
              <a:rPr lang="el-GR" sz="2800" b="1" dirty="0">
                <a:solidFill>
                  <a:srgbClr val="FF0000"/>
                </a:solidFill>
              </a:rPr>
              <a:t>. </a:t>
            </a:r>
            <a:endParaRPr lang="el-G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6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speeds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Multiples of </a:t>
            </a:r>
            <a:r>
              <a:rPr lang="el-GR" sz="3000" dirty="0" err="1"/>
              <a:t>bps</a:t>
            </a:r>
            <a:r>
              <a:rPr lang="el-GR" sz="3000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Client–Server</a:t>
            </a:r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1183AB3C-ECC5-44CA-82AD-A551B9805D6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Theory | Part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D6BB66FD-847C-4261-BD16-315C68E5A8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Client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0B08CB6-9B4B-41EE-9BC5-BC0FAFE16193}"/>
              </a:ext>
            </a:extLst>
          </p:cNvPr>
          <p:cNvSpPr>
            <a:spLocks noGrp="1"/>
          </p:cNvSpPr>
          <p:nvPr/>
        </p:nvSpPr>
        <p:spPr>
          <a:xfrm>
            <a:off x="781051" y="2171700"/>
            <a:ext cx="53340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user’s device or application requests access to a service.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79D44DC9-AB35-404C-A53F-2EDE8617077F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Server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3F48067B-2A0C-451D-8B4D-0AE03204EB0A}"/>
              </a:ext>
            </a:extLst>
          </p:cNvPr>
          <p:cNvSpPr>
            <a:spLocks noGrp="1"/>
          </p:cNvSpPr>
          <p:nvPr/>
        </p:nvSpPr>
        <p:spPr>
          <a:xfrm>
            <a:off x="781051" y="3505200"/>
            <a:ext cx="555625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server remains connected to the network and provides the service to many clients.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28C4BD32-B9B0-4ACD-A5D2-C3D04E64CE2F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Example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0242B9D2-4882-4BBE-AEA0-9AF714B6C4CB}"/>
              </a:ext>
            </a:extLst>
          </p:cNvPr>
          <p:cNvSpPr>
            <a:spLocks noGrp="1"/>
          </p:cNvSpPr>
          <p:nvPr/>
        </p:nvSpPr>
        <p:spPr>
          <a:xfrm>
            <a:off x="781051" y="4838700"/>
            <a:ext cx="54864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web browser acts as a client and requests a web page from the web server.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74343C-C649-57A3-98EE-B2E6259A6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0" y="2143125"/>
            <a:ext cx="4728107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Reinforcement Activities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63C20413-FF96-4AE9-9A28-3A05A72BD13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476A37C6-FE4E-4184-B71B-B7B6EED62EC9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Part 1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50F48D0D-6B77-4406-8F25-A7ED949E6B1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DCEF91A9-C234-4677-B00E-7F243C65E4C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True or False statements about networks, network categories, equipment, sharing and the client-server model.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8D8DA1AB-70C5-40CD-A99C-018542B5E802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6EDBF30-2B88-48E9-927E-BD4703B8666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Give examples of devices other than computers that can connect to a network.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8FA2BF11-2D95-4BA9-9115-CA5688ECAB1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9D94A2CF-BBE2-45A7-A0A1-ADAC00ACDCBF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Identify the network devices and connection media shown in the images.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832</Words>
  <Application>Microsoft Office PowerPoint</Application>
  <DocSecurity>0</DocSecurity>
  <PresentationFormat>Widescreen</PresentationFormat>
  <Paragraphs>98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Computer Networks Part 1</vt:lpstr>
      <vt:lpstr>What Is a Network?</vt:lpstr>
      <vt:lpstr>LAN and WAN</vt:lpstr>
      <vt:lpstr>Network Interface Cards</vt:lpstr>
      <vt:lpstr>Switch and Access Point</vt:lpstr>
      <vt:lpstr>Router / Modem</vt:lpstr>
      <vt:lpstr>Data transfer Speeds (bps, Kbps, Mbps και Gbps) </vt:lpstr>
      <vt:lpstr>Data transfer speeds (bps, Kbps, Mbps και Gbps) </vt:lpstr>
      <vt:lpstr>Client–Server</vt:lpstr>
      <vt:lpstr>Reinforcement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2026-10-05T14:38:23Z</dcterms:created>
  <dcterms:modified xsi:type="dcterms:W3CDTF">2026-10-08T05:46:29Z</dcterms:modified>
</cp:coreProperties>
</file>