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9" r:id="rId5"/>
    <p:sldId id="260" r:id="rId6"/>
    <p:sldId id="261" r:id="rId7"/>
    <p:sldId id="268" r:id="rId8"/>
    <p:sldId id="264" r:id="rId9"/>
    <p:sldId id="262" r:id="rId10"/>
    <p:sldId id="265" r:id="rId11"/>
    <p:sldId id="266" r:id="rId12"/>
    <p:sldId id="263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03662E-FB06-461C-B8B4-19BFF1646D8D}" v="1" dt="2026-10-20T12:24:57.441"/>
    <p1510:client id="{8911D93C-67BC-469F-B8A9-BFF428D514BE}" v="5" dt="2026-10-19T12:38:54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0" y="2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delSld modSld">
      <pc:chgData name="Άριστος Αρέστη" userId="813aa191-2d4c-464f-9d05-0a7e494d859f" providerId="ADAL" clId="{49C7B61D-1ACF-4AFF-A04E-A3B433E32474}" dt="2026-10-20T12:24:57.441" v="171"/>
      <pc:docMkLst>
        <pc:docMk/>
      </pc:docMkLst>
      <pc:sldChg chg="delSp modSp del mod">
        <pc:chgData name="Άριστος Αρέστη" userId="813aa191-2d4c-464f-9d05-0a7e494d859f" providerId="ADAL" clId="{49C7B61D-1ACF-4AFF-A04E-A3B433E32474}" dt="2026-10-20T12:23:58.740" v="169" actId="47"/>
        <pc:sldMkLst>
          <pc:docMk/>
          <pc:sldMk cId="1459875993" sldId="258"/>
        </pc:sldMkLst>
      </pc:sldChg>
      <pc:sldChg chg="addSp modSp mod">
        <pc:chgData name="Άριστος Αρέστη" userId="813aa191-2d4c-464f-9d05-0a7e494d859f" providerId="ADAL" clId="{49C7B61D-1ACF-4AFF-A04E-A3B433E32474}" dt="2026-10-17T13:37:05.216" v="131" actId="14100"/>
        <pc:sldMkLst>
          <pc:docMk/>
          <pc:sldMk cId="2570149264" sldId="259"/>
        </pc:sldMkLst>
        <pc:spChg chg="mod">
          <ac:chgData name="Άριστος Αρέστη" userId="813aa191-2d4c-464f-9d05-0a7e494d859f" providerId="ADAL" clId="{49C7B61D-1ACF-4AFF-A04E-A3B433E32474}" dt="2026-10-17T13:36:56.168" v="129" actId="14100"/>
          <ac:spMkLst>
            <pc:docMk/>
            <pc:sldMk cId="2570149264" sldId="259"/>
            <ac:spMk id="6" creationId="{01E76ABD-51E4-4C40-84AE-34189E8D1CFB}"/>
          </ac:spMkLst>
        </pc:spChg>
        <pc:spChg chg="mod">
          <ac:chgData name="Άριστος Αρέστη" userId="813aa191-2d4c-464f-9d05-0a7e494d859f" providerId="ADAL" clId="{49C7B61D-1ACF-4AFF-A04E-A3B433E32474}" dt="2026-10-17T13:37:00.569" v="130" actId="14100"/>
          <ac:spMkLst>
            <pc:docMk/>
            <pc:sldMk cId="2570149264" sldId="259"/>
            <ac:spMk id="8" creationId="{9FC32465-D766-4DCB-9FA1-58B20576BF65}"/>
          </ac:spMkLst>
        </pc:spChg>
        <pc:spChg chg="mod">
          <ac:chgData name="Άριστος Αρέστη" userId="813aa191-2d4c-464f-9d05-0a7e494d859f" providerId="ADAL" clId="{49C7B61D-1ACF-4AFF-A04E-A3B433E32474}" dt="2026-10-17T13:37:05.216" v="131" actId="14100"/>
          <ac:spMkLst>
            <pc:docMk/>
            <pc:sldMk cId="2570149264" sldId="259"/>
            <ac:spMk id="10" creationId="{8AA540DC-54DB-4415-ADD8-351A4809C829}"/>
          </ac:spMkLst>
        </pc:spChg>
        <pc:picChg chg="add mod">
          <ac:chgData name="Άριστος Αρέστη" userId="813aa191-2d4c-464f-9d05-0a7e494d859f" providerId="ADAL" clId="{49C7B61D-1ACF-4AFF-A04E-A3B433E32474}" dt="2026-10-17T13:36:52.385" v="128" actId="1076"/>
          <ac:picMkLst>
            <pc:docMk/>
            <pc:sldMk cId="2570149264" sldId="259"/>
            <ac:picMk id="11" creationId="{F50F8A86-CE4E-4FBE-E6B5-3EE2FB09723C}"/>
          </ac:picMkLst>
        </pc:picChg>
      </pc:sldChg>
      <pc:sldChg chg="modSp mod">
        <pc:chgData name="Άριστος Αρέστη" userId="813aa191-2d4c-464f-9d05-0a7e494d859f" providerId="ADAL" clId="{49C7B61D-1ACF-4AFF-A04E-A3B433E32474}" dt="2026-10-17T13:44:46.352" v="137" actId="14100"/>
        <pc:sldMkLst>
          <pc:docMk/>
          <pc:sldMk cId="643881412" sldId="260"/>
        </pc:sldMkLst>
        <pc:spChg chg="mod">
          <ac:chgData name="Άριστος Αρέστη" userId="813aa191-2d4c-464f-9d05-0a7e494d859f" providerId="ADAL" clId="{49C7B61D-1ACF-4AFF-A04E-A3B433E32474}" dt="2026-10-17T13:44:46.352" v="137" actId="14100"/>
          <ac:spMkLst>
            <pc:docMk/>
            <pc:sldMk cId="643881412" sldId="260"/>
            <ac:spMk id="19" creationId="{FB18A0AF-361D-46D3-9ADE-D65E17AD63CE}"/>
          </ac:spMkLst>
        </pc:spChg>
      </pc:sldChg>
      <pc:sldChg chg="modSp mod">
        <pc:chgData name="Άριστος Αρέστη" userId="813aa191-2d4c-464f-9d05-0a7e494d859f" providerId="ADAL" clId="{49C7B61D-1ACF-4AFF-A04E-A3B433E32474}" dt="2026-10-17T13:52:03.872" v="153" actId="313"/>
        <pc:sldMkLst>
          <pc:docMk/>
          <pc:sldMk cId="3786659628" sldId="262"/>
        </pc:sldMkLst>
        <pc:spChg chg="mod">
          <ac:chgData name="Άριστος Αρέστη" userId="813aa191-2d4c-464f-9d05-0a7e494d859f" providerId="ADAL" clId="{49C7B61D-1ACF-4AFF-A04E-A3B433E32474}" dt="2026-10-17T13:51:42.071" v="152" actId="20577"/>
          <ac:spMkLst>
            <pc:docMk/>
            <pc:sldMk cId="3786659628" sldId="262"/>
            <ac:spMk id="9" creationId="{0BB8E7CC-9C1C-4FBF-986C-298FD52230DE}"/>
          </ac:spMkLst>
        </pc:spChg>
        <pc:spChg chg="mod">
          <ac:chgData name="Άριστος Αρέστη" userId="813aa191-2d4c-464f-9d05-0a7e494d859f" providerId="ADAL" clId="{49C7B61D-1ACF-4AFF-A04E-A3B433E32474}" dt="2026-10-17T13:52:03.872" v="153" actId="313"/>
          <ac:spMkLst>
            <pc:docMk/>
            <pc:sldMk cId="3786659628" sldId="262"/>
            <ac:spMk id="12" creationId="{5F1BF7B4-DC94-4169-AFCA-E14146EA6F91}"/>
          </ac:spMkLst>
        </pc:spChg>
      </pc:sldChg>
      <pc:sldChg chg="addSp delSp modSp mod delAnim modAnim">
        <pc:chgData name="Άριστος Αρέστη" userId="813aa191-2d4c-464f-9d05-0a7e494d859f" providerId="ADAL" clId="{49C7B61D-1ACF-4AFF-A04E-A3B433E32474}" dt="2026-10-20T12:24:57.441" v="171"/>
        <pc:sldMkLst>
          <pc:docMk/>
          <pc:sldMk cId="2546948046" sldId="264"/>
        </pc:sldMkLst>
        <pc:spChg chg="mod">
          <ac:chgData name="Άριστος Αρέστη" userId="813aa191-2d4c-464f-9d05-0a7e494d859f" providerId="ADAL" clId="{49C7B61D-1ACF-4AFF-A04E-A3B433E32474}" dt="2026-10-17T13:47:12.592" v="139" actId="1076"/>
          <ac:spMkLst>
            <pc:docMk/>
            <pc:sldMk cId="2546948046" sldId="264"/>
            <ac:spMk id="2" creationId="{822775A2-0C13-4306-1424-872EED65A1EC}"/>
          </ac:spMkLst>
        </pc:spChg>
        <pc:spChg chg="add mod">
          <ac:chgData name="Άριστος Αρέστη" userId="813aa191-2d4c-464f-9d05-0a7e494d859f" providerId="ADAL" clId="{49C7B61D-1ACF-4AFF-A04E-A3B433E32474}" dt="2026-10-20T12:24:57.441" v="171"/>
          <ac:spMkLst>
            <pc:docMk/>
            <pc:sldMk cId="2546948046" sldId="264"/>
            <ac:spMk id="7" creationId="{FAE0BD9F-A90F-4058-F924-B1C682A3AC5E}"/>
          </ac:spMkLst>
        </pc:spChg>
        <pc:picChg chg="del mod">
          <ac:chgData name="Άριστος Αρέστη" userId="813aa191-2d4c-464f-9d05-0a7e494d859f" providerId="ADAL" clId="{49C7B61D-1ACF-4AFF-A04E-A3B433E32474}" dt="2026-10-19T12:38:35.963" v="166" actId="478"/>
          <ac:picMkLst>
            <pc:docMk/>
            <pc:sldMk cId="2546948046" sldId="264"/>
            <ac:picMk id="5" creationId="{C5367215-8AC1-6C2F-DCA1-F4976041DCBE}"/>
          </ac:picMkLst>
        </pc:picChg>
        <pc:picChg chg="add mod">
          <ac:chgData name="Άριστος Αρέστη" userId="813aa191-2d4c-464f-9d05-0a7e494d859f" providerId="ADAL" clId="{49C7B61D-1ACF-4AFF-A04E-A3B433E32474}" dt="2026-10-19T12:38:57.094" v="168" actId="1076"/>
          <ac:picMkLst>
            <pc:docMk/>
            <pc:sldMk cId="2546948046" sldId="264"/>
            <ac:picMk id="6" creationId="{A307BB1C-9770-B2A6-C170-D862C5D5F295}"/>
          </ac:picMkLst>
        </pc:picChg>
      </pc:sldChg>
      <pc:sldChg chg="addSp delSp modSp add mod delAnim modAnim">
        <pc:chgData name="Άριστος Αρέστη" userId="813aa191-2d4c-464f-9d05-0a7e494d859f" providerId="ADAL" clId="{49C7B61D-1ACF-4AFF-A04E-A3B433E32474}" dt="2026-10-17T13:51:08.215" v="149" actId="114"/>
        <pc:sldMkLst>
          <pc:docMk/>
          <pc:sldMk cId="1519916523" sldId="266"/>
        </pc:sldMkLst>
        <pc:spChg chg="mod">
          <ac:chgData name="Άριστος Αρέστη" userId="813aa191-2d4c-464f-9d05-0a7e494d859f" providerId="ADAL" clId="{49C7B61D-1ACF-4AFF-A04E-A3B433E32474}" dt="2026-10-17T13:51:08.215" v="149" actId="114"/>
          <ac:spMkLst>
            <pc:docMk/>
            <pc:sldMk cId="1519916523" sldId="266"/>
            <ac:spMk id="2" creationId="{BDE864AD-6E26-089B-0189-7A02188D22C9}"/>
          </ac:spMkLst>
        </pc:spChg>
        <pc:picChg chg="add mod">
          <ac:chgData name="Άριστος Αρέστη" userId="813aa191-2d4c-464f-9d05-0a7e494d859f" providerId="ADAL" clId="{49C7B61D-1ACF-4AFF-A04E-A3B433E32474}" dt="2026-10-10T08:39:50.474" v="79" actId="14100"/>
          <ac:picMkLst>
            <pc:docMk/>
            <pc:sldMk cId="1519916523" sldId="266"/>
            <ac:picMk id="6" creationId="{50051419-6438-2C42-631D-FA003B4B25EB}"/>
          </ac:picMkLst>
        </pc:picChg>
      </pc:sldChg>
      <pc:sldChg chg="addSp delSp modSp new mod">
        <pc:chgData name="Άριστος Αρέστη" userId="813aa191-2d4c-464f-9d05-0a7e494d859f" providerId="ADAL" clId="{49C7B61D-1ACF-4AFF-A04E-A3B433E32474}" dt="2026-10-17T13:34:42.450" v="101" actId="14100"/>
        <pc:sldMkLst>
          <pc:docMk/>
          <pc:sldMk cId="337339817" sldId="267"/>
        </pc:sldMkLst>
        <pc:spChg chg="mod">
          <ac:chgData name="Άριστος Αρέστη" userId="813aa191-2d4c-464f-9d05-0a7e494d859f" providerId="ADAL" clId="{49C7B61D-1ACF-4AFF-A04E-A3B433E32474}" dt="2026-10-17T13:34:42.450" v="101" actId="14100"/>
          <ac:spMkLst>
            <pc:docMk/>
            <pc:sldMk cId="337339817" sldId="267"/>
            <ac:spMk id="2" creationId="{A606BC23-EC61-54FD-A399-6EB5AA4B82A8}"/>
          </ac:spMkLst>
        </pc:spChg>
        <pc:picChg chg="add mod ord">
          <ac:chgData name="Άριστος Αρέστη" userId="813aa191-2d4c-464f-9d05-0a7e494d859f" providerId="ADAL" clId="{49C7B61D-1ACF-4AFF-A04E-A3B433E32474}" dt="2026-10-17T13:34:36.601" v="100" actId="1076"/>
          <ac:picMkLst>
            <pc:docMk/>
            <pc:sldMk cId="337339817" sldId="267"/>
            <ac:picMk id="6" creationId="{65352AE7-0F50-A282-E0B2-2CF80885B09A}"/>
          </ac:picMkLst>
        </pc:picChg>
      </pc:sldChg>
      <pc:sldChg chg="addSp delSp modSp new mod">
        <pc:chgData name="Άριστος Αρέστη" userId="813aa191-2d4c-464f-9d05-0a7e494d859f" providerId="ADAL" clId="{49C7B61D-1ACF-4AFF-A04E-A3B433E32474}" dt="2026-10-19T12:36:23.990" v="165" actId="14100"/>
        <pc:sldMkLst>
          <pc:docMk/>
          <pc:sldMk cId="4244717423" sldId="268"/>
        </pc:sldMkLst>
        <pc:spChg chg="add mod">
          <ac:chgData name="Άριστος Αρέστη" userId="813aa191-2d4c-464f-9d05-0a7e494d859f" providerId="ADAL" clId="{49C7B61D-1ACF-4AFF-A04E-A3B433E32474}" dt="2026-10-19T12:36:21.485" v="164" actId="1076"/>
          <ac:spMkLst>
            <pc:docMk/>
            <pc:sldMk cId="4244717423" sldId="268"/>
            <ac:spMk id="2" creationId="{A540131A-EC19-622F-8436-335EC7672AF3}"/>
          </ac:spMkLst>
        </pc:spChg>
        <pc:picChg chg="add mod">
          <ac:chgData name="Άριστος Αρέστη" userId="813aa191-2d4c-464f-9d05-0a7e494d859f" providerId="ADAL" clId="{49C7B61D-1ACF-4AFF-A04E-A3B433E32474}" dt="2026-10-19T12:36:23.990" v="165" actId="14100"/>
          <ac:picMkLst>
            <pc:docMk/>
            <pc:sldMk cId="4244717423" sldId="268"/>
            <ac:picMk id="6" creationId="{544FC0CE-B789-5D00-CAF1-F246B78590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Template: A4.M2 Multimedia-Audio(2).pptx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Computer Science Workbook, Grade 10, A.5.M5, Consolidation Activities, pp. 105–108</a:t>
            </a:r>
          </a:p>
          <a:p>
            <a:r>
              <a:t>- Computer Science Notes, Grade 10, Section A.5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Computer Science Workbook, Grade 10, A.5.M5, Consolidation Activities, pp. 105–108</a:t>
            </a:r>
          </a:p>
          <a:p>
            <a:r>
              <a:t>- Computer Science Notes, Grade 10, Section A.5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Computer Science Workbook, Grade 10, A.5.M5, Consolidation Activities, pp. 105–108</a:t>
            </a:r>
          </a:p>
          <a:p>
            <a:r>
              <a:t>- Computer Science Notes, Grade 10, Section A.5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Computer Science Workbook, Grade 10, A.5.M5, Consolidation Activities, pp. 105–108</a:t>
            </a:r>
          </a:p>
          <a:p>
            <a:r>
              <a:t>- Computer Science Notes, Grade 10, Section A.5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A9E1-8C51-7554-2E2A-248DC75F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4F14A-4D94-182D-CA55-256606B5F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68357-3573-EEA9-CAC2-9F1739400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Computer Science Workbook, Grade 10, A.5.M5, Consolidation Activities, pp. 105–108</a:t>
            </a:r>
          </a:p>
          <a:p>
            <a:r>
              <a:t>- Computer Science Notes, Grade 10, Section A.5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4F6EB-A999-CE03-1F50-E44561F6DF6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2467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Computer Science Workbook, Grade 10, A.5.M5, Consolidation Activities, pp. 105–108</a:t>
            </a:r>
          </a:p>
          <a:p>
            <a:r>
              <a:t>- Computer Science Notes, Grade 10, Section A.5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Computer Science Workbook, Grade 10, A.5.M5, Consolidation Activities, pp. 105–108</a:t>
            </a:r>
          </a:p>
          <a:p>
            <a:r>
              <a:t>- Computer Science Notes, Grade 10, Section A.5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20-Oct-26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JlQovysQBn0?feature=oembed" TargetMode="Externa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BCjj1oXQ0KY?feature=oembe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Security and Communication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Security Software</a:t>
            </a:r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4147D144-A33F-415E-8071-C1081C1B27DB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1C20513A-7CA2-46AD-B59E-44D86A0777E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FBB91-C8BA-4B21-BDEC-66AB4D91E1AA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Each tool checks a different area of the computer.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96A53B-EA62-474D-A940-588B58EC4607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310515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2C83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DD0A9F-B3E3-4DDB-8A77-B031C71487ED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3105150" cy="590550"/>
          </a:xfrm>
          <a:prstGeom prst="roundRect">
            <a:avLst>
              <a:gd name="adj" fmla="val 16129"/>
            </a:avLst>
          </a:prstGeom>
          <a:solidFill>
            <a:srgbClr val="2C83A5"/>
          </a:solidFill>
          <a:ln w="9525">
            <a:solidFill>
              <a:srgbClr val="2C83A5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Antivirus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7138B2-1DEF-4382-9AC5-66C302458676}"/>
              </a:ext>
            </a:extLst>
          </p:cNvPr>
          <p:cNvSpPr>
            <a:spLocks noGrp="1"/>
          </p:cNvSpPr>
          <p:nvPr/>
        </p:nvSpPr>
        <p:spPr>
          <a:xfrm>
            <a:off x="952500" y="3057525"/>
            <a:ext cx="2762250" cy="2000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425" b="0">
                <a:solidFill>
                  <a:srgbClr val="333333"/>
                </a:solidFill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Checks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Files and applications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Detects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Viruses and other malware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Action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Quarantine or deletion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F05F43-1E32-48FB-A045-952C26A4132A}"/>
              </a:ext>
            </a:extLst>
          </p:cNvPr>
          <p:cNvSpPr>
            <a:spLocks noGrp="1"/>
          </p:cNvSpPr>
          <p:nvPr/>
        </p:nvSpPr>
        <p:spPr>
          <a:xfrm>
            <a:off x="4267200" y="2333625"/>
            <a:ext cx="310515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E28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6D9DB6-0B25-42E8-B3BE-1F0343991D33}"/>
              </a:ext>
            </a:extLst>
          </p:cNvPr>
          <p:cNvSpPr>
            <a:spLocks noGrp="1"/>
          </p:cNvSpPr>
          <p:nvPr/>
        </p:nvSpPr>
        <p:spPr>
          <a:xfrm>
            <a:off x="4267200" y="2333625"/>
            <a:ext cx="3105150" cy="590550"/>
          </a:xfrm>
          <a:prstGeom prst="roundRect">
            <a:avLst>
              <a:gd name="adj" fmla="val 16129"/>
            </a:avLst>
          </a:prstGeom>
          <a:solidFill>
            <a:srgbClr val="E28B2D"/>
          </a:solidFill>
          <a:ln w="9525">
            <a:solidFill>
              <a:srgbClr val="E28B2D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Firewall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E02CB2-8433-49DD-93D5-E7B5133E65C0}"/>
              </a:ext>
            </a:extLst>
          </p:cNvPr>
          <p:cNvSpPr>
            <a:spLocks noGrp="1"/>
          </p:cNvSpPr>
          <p:nvPr/>
        </p:nvSpPr>
        <p:spPr>
          <a:xfrm>
            <a:off x="4438650" y="3057525"/>
            <a:ext cx="2762250" cy="2000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425" b="0">
                <a:solidFill>
                  <a:srgbClr val="333333"/>
                </a:solidFill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Checks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Network traffic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Applies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Access rules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Blocks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Suspicious connections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FBA07E-890A-47DE-8419-FF6A439EF0A4}"/>
              </a:ext>
            </a:extLst>
          </p:cNvPr>
          <p:cNvSpPr>
            <a:spLocks noGrp="1"/>
          </p:cNvSpPr>
          <p:nvPr/>
        </p:nvSpPr>
        <p:spPr>
          <a:xfrm>
            <a:off x="7753350" y="2333625"/>
            <a:ext cx="310515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6C6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01E73C-25D5-42CA-A27B-C246DE8B2BE5}"/>
              </a:ext>
            </a:extLst>
          </p:cNvPr>
          <p:cNvSpPr>
            <a:spLocks noGrp="1"/>
          </p:cNvSpPr>
          <p:nvPr/>
        </p:nvSpPr>
        <p:spPr>
          <a:xfrm>
            <a:off x="7753350" y="2333625"/>
            <a:ext cx="3105150" cy="590550"/>
          </a:xfrm>
          <a:prstGeom prst="roundRect">
            <a:avLst>
              <a:gd name="adj" fmla="val 16129"/>
            </a:avLst>
          </a:prstGeom>
          <a:solidFill>
            <a:srgbClr val="6C6FB3"/>
          </a:solidFill>
          <a:ln w="9525">
            <a:solidFill>
              <a:srgbClr val="6C6FB3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Antispyware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8C36DE-A130-4007-9050-3A8226CF5EBC}"/>
              </a:ext>
            </a:extLst>
          </p:cNvPr>
          <p:cNvSpPr>
            <a:spLocks noGrp="1"/>
          </p:cNvSpPr>
          <p:nvPr/>
        </p:nvSpPr>
        <p:spPr>
          <a:xfrm>
            <a:off x="7924800" y="3057525"/>
            <a:ext cx="2762250" cy="2000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425" b="0">
                <a:solidFill>
                  <a:srgbClr val="333333"/>
                </a:solidFill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Checks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Hidden monitoring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Detects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Collection of personal data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Removes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Spyware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F5F628-BDED-4475-90B3-371F5CDD2E6B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Best protection: updated software and careful user choices.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BC23-EC61-54FD-A399-6EB5AA4B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4233"/>
          </a:xfrm>
        </p:spPr>
        <p:txBody>
          <a:bodyPr/>
          <a:lstStyle/>
          <a:p>
            <a:r>
              <a:rPr lang="en-US" dirty="0"/>
              <a:t>Firewall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352AE7-0F50-A282-E0B2-2CF80885B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4400" y="1577513"/>
            <a:ext cx="6855701" cy="456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Social Networks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527E1629-A509-4441-B996-CF3220FD5068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19B93FA2-9359-49C5-B1A9-7C604441EA9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DC0A8D62-9AF9-42C9-B8B8-E81FE7E03258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Profile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01E76ABD-51E4-4C40-84AE-34189E8D1CFB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6493207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user creates a digital profile with information they choose to publish.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EB96E0F2-42FE-44BE-B96B-90FC9FFA89F0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Content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9FC32465-D766-4DCB-9FA1-58B20576BF65}"/>
              </a:ext>
            </a:extLst>
          </p:cNvPr>
          <p:cNvSpPr>
            <a:spLocks noGrp="1"/>
          </p:cNvSpPr>
          <p:nvPr/>
        </p:nvSpPr>
        <p:spPr>
          <a:xfrm>
            <a:off x="781051" y="3505200"/>
            <a:ext cx="632261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Users share text, images and video.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47E7D417-C104-43A0-8F8B-0481DA18342A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Interaction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8AA540DC-54DB-4415-ADD8-351A4809C829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669215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can follow other users, comment and join groups.</a:t>
            </a:r>
          </a:p>
        </p:txBody>
      </p:sp>
      <p:pic>
        <p:nvPicPr>
          <p:cNvPr id="11" name="Picture 10" descr="The Most Popular Social Networks | VGraphs | Facebook">
            <a:extLst>
              <a:ext uri="{FF2B5EF4-FFF2-40B4-BE49-F238E27FC236}">
                <a16:creationId xmlns:a16="http://schemas.microsoft.com/office/drawing/2014/main" id="{F50F8A86-CE4E-4FBE-E6B5-3EE2FB09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205" y="1143140"/>
            <a:ext cx="4166345" cy="521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Personal Data</a:t>
            </a:r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257E802C-5A8E-47DD-BB8A-043E85DBF695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A23652BC-31B0-4C61-9877-5C7152C1711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5B40B-3D3B-4A16-AEBC-2BE7786D9B85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Every post involves three important decisions.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A3DD9B-A87F-498D-8F7E-B90C0AB0AD9D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295275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4288">
            <a:solidFill>
              <a:srgbClr val="2C83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61340B-997F-4AEF-B5C1-67E1E5BEF4CC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2952750" cy="590550"/>
          </a:xfrm>
          <a:prstGeom prst="roundRect">
            <a:avLst>
              <a:gd name="adj" fmla="val 16129"/>
            </a:avLst>
          </a:prstGeom>
          <a:solidFill>
            <a:srgbClr val="2C83A5"/>
          </a:solidFill>
          <a:ln w="9525">
            <a:solidFill>
              <a:srgbClr val="2C83A5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1. What do I share?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92F750-AE3E-4BDA-BF75-CC8416DC5F0F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2609850" cy="1714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Examples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Address and telephone number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Photos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School or location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I avoid details that reveal who I am or where I am.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5E093-A55E-4289-BEEE-92E0764396E2}"/>
              </a:ext>
            </a:extLst>
          </p:cNvPr>
          <p:cNvSpPr>
            <a:spLocks noGrp="1"/>
          </p:cNvSpPr>
          <p:nvPr/>
        </p:nvSpPr>
        <p:spPr>
          <a:xfrm>
            <a:off x="3790950" y="32385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3000" b="1">
                <a:solidFill>
                  <a:srgbClr val="5FCBEF"/>
                </a:solidFill>
              </a:defRPr>
            </a:defPPr>
          </a:lstStyle>
          <a:p>
            <a:pPr algn="ctr">
              <a:defRPr sz="3000" b="1">
                <a:solidFill>
                  <a:srgbClr val="5FCBEF"/>
                </a:solidFill>
              </a:defRPr>
            </a:pPr>
            <a:r>
              <a:rPr sz="3000" b="1">
                <a:solidFill>
                  <a:srgbClr val="5FCBEF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0B21CC-B0F9-4986-A977-5F7285D2A2CC}"/>
              </a:ext>
            </a:extLst>
          </p:cNvPr>
          <p:cNvSpPr>
            <a:spLocks noGrp="1"/>
          </p:cNvSpPr>
          <p:nvPr/>
        </p:nvSpPr>
        <p:spPr>
          <a:xfrm>
            <a:off x="4438650" y="2381250"/>
            <a:ext cx="295275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4288">
            <a:solidFill>
              <a:srgbClr val="6C6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E360C90-10A9-4523-8A42-7651794C2111}"/>
              </a:ext>
            </a:extLst>
          </p:cNvPr>
          <p:cNvSpPr>
            <a:spLocks noGrp="1"/>
          </p:cNvSpPr>
          <p:nvPr/>
        </p:nvSpPr>
        <p:spPr>
          <a:xfrm>
            <a:off x="4438650" y="2381250"/>
            <a:ext cx="2952750" cy="590550"/>
          </a:xfrm>
          <a:prstGeom prst="roundRect">
            <a:avLst>
              <a:gd name="adj" fmla="val 16129"/>
            </a:avLst>
          </a:prstGeom>
          <a:solidFill>
            <a:srgbClr val="6C6FB3"/>
          </a:solidFill>
          <a:ln w="9525">
            <a:solidFill>
              <a:srgbClr val="6C6FB3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2. Who can see it?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A396FC-C521-47CD-A354-9FA984AB45CB}"/>
              </a:ext>
            </a:extLst>
          </p:cNvPr>
          <p:cNvSpPr>
            <a:spLocks noGrp="1"/>
          </p:cNvSpPr>
          <p:nvPr/>
        </p:nvSpPr>
        <p:spPr>
          <a:xfrm>
            <a:off x="4610100" y="3105150"/>
            <a:ext cx="2609850" cy="1714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Privacy settings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Friends only or specific people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Review connection requests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They limit the audience, but someone may keep a copy.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36E6B1-E9A2-45BE-B3F2-0A752716F014}"/>
              </a:ext>
            </a:extLst>
          </p:cNvPr>
          <p:cNvSpPr>
            <a:spLocks noGrp="1"/>
          </p:cNvSpPr>
          <p:nvPr/>
        </p:nvSpPr>
        <p:spPr>
          <a:xfrm>
            <a:off x="7448550" y="32385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3000" b="1">
                <a:solidFill>
                  <a:srgbClr val="5FCBEF"/>
                </a:solidFill>
              </a:defRPr>
            </a:defPPr>
          </a:lstStyle>
          <a:p>
            <a:pPr algn="ctr">
              <a:defRPr sz="3000" b="1">
                <a:solidFill>
                  <a:srgbClr val="5FCBEF"/>
                </a:solidFill>
              </a:defRPr>
            </a:pPr>
            <a:r>
              <a:rPr sz="3000" b="1">
                <a:solidFill>
                  <a:srgbClr val="5FCBEF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E65C4FF-8744-4F4E-AD1F-34B8E4D4620E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276225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4288">
            <a:solidFill>
              <a:srgbClr val="E28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4A206E-342C-4978-92A0-3A70DC90A776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2762250" cy="590550"/>
          </a:xfrm>
          <a:prstGeom prst="roundRect">
            <a:avLst>
              <a:gd name="adj" fmla="val 16129"/>
            </a:avLst>
          </a:prstGeom>
          <a:solidFill>
            <a:srgbClr val="E28B2D"/>
          </a:solidFill>
          <a:ln w="9525">
            <a:solidFill>
              <a:srgbClr val="E28B2D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3. What remains?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786BDB-F5F0-475E-BD6C-F95776D0C91D}"/>
              </a:ext>
            </a:extLst>
          </p:cNvPr>
          <p:cNvSpPr>
            <a:spLocks noGrp="1"/>
          </p:cNvSpPr>
          <p:nvPr/>
        </p:nvSpPr>
        <p:spPr>
          <a:xfrm>
            <a:off x="8267700" y="3105150"/>
            <a:ext cx="2419350" cy="1714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Digital footprint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A post may be: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copied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shared again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remain available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Deleting it does not guarantee that it is gone.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18A0AF-361D-46D3-9ADE-D65E17AD63CE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10096500" cy="884812"/>
          </a:xfrm>
          <a:prstGeom prst="roundRect">
            <a:avLst>
              <a:gd name="adj" fmla="val 12903"/>
            </a:avLst>
          </a:prstGeom>
          <a:solidFill>
            <a:srgbClr val="FFF3E3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8A4F0F"/>
                </a:solidFill>
              </a:defRPr>
            </a:defPPr>
          </a:lstStyle>
          <a:p>
            <a:pPr algn="ctr">
              <a:defRPr sz="1500" b="1">
                <a:solidFill>
                  <a:srgbClr val="8A4F0F"/>
                </a:solidFill>
              </a:defRPr>
            </a:pPr>
            <a:r>
              <a:rPr sz="1500" b="1" dirty="0">
                <a:solidFill>
                  <a:srgbClr val="8A4F0F"/>
                </a:solidFill>
              </a:rPr>
              <a:t>Example: a photo with location enabled can reveal where you are.</a:t>
            </a:r>
            <a:endParaRPr lang="en-US" sz="1500" b="1" dirty="0">
              <a:solidFill>
                <a:srgbClr val="8A4F0F"/>
              </a:solidFill>
            </a:endParaRPr>
          </a:p>
          <a:p>
            <a:pPr algn="ctr">
              <a:defRPr sz="1500" b="1">
                <a:solidFill>
                  <a:srgbClr val="8A4F0F"/>
                </a:solidFill>
              </a:defRPr>
            </a:pPr>
            <a:endParaRPr lang="en-US" sz="1500" b="1" dirty="0">
              <a:solidFill>
                <a:srgbClr val="8A4F0F"/>
              </a:solidFill>
            </a:endParaRPr>
          </a:p>
          <a:p>
            <a:pPr algn="ctr">
              <a:defRPr sz="1500" b="1">
                <a:solidFill>
                  <a:srgbClr val="8A4F0F"/>
                </a:solidFill>
              </a:defRPr>
            </a:pPr>
            <a:r>
              <a:rPr lang="en-GB" sz="1500" b="1" dirty="0">
                <a:solidFill>
                  <a:srgbClr val="8A4F0F"/>
                </a:solidFill>
              </a:rPr>
              <a:t>https://www.youtube.com/watch?v=F7pYHN9iC9I</a:t>
            </a:r>
            <a:endParaRPr sz="1500" b="1" dirty="0">
              <a:solidFill>
                <a:srgbClr val="8A4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857250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Phishing (credential theft)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C226B8F1-56F9-450F-90F1-3BE4CB4FACBA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1D5CEB-A548-4A6E-AF66-8D9E83EAD345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650" b="0">
                <a:solidFill>
                  <a:srgbClr val="333333"/>
                </a:solidFill>
              </a:defRPr>
            </a:defPPr>
          </a:lstStyle>
          <a:p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A fraudulent message that tries to steal passwords, bank details or other personal information.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6402F73-FAA2-4400-A6C4-907F59E3AEC2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5810250" cy="3000375"/>
          </a:xfrm>
          <a:prstGeom prst="roundRect">
            <a:avLst>
              <a:gd name="adj" fmla="val 3175"/>
            </a:avLst>
          </a:prstGeom>
          <a:solidFill>
            <a:srgbClr val="FFF5F4"/>
          </a:solidFill>
          <a:ln w="19050">
            <a:solidFill>
              <a:srgbClr val="D95C52"/>
            </a:solidFill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6D2420"/>
                </a:solidFill>
              </a:defRPr>
            </a:defPPr>
          </a:lstStyle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SUSPICIOUS MESSAGE</a:t>
            </a:r>
          </a:p>
          <a:p>
            <a:endParaRPr sz="1500" b="0">
              <a:solidFill>
                <a:srgbClr val="6D2420"/>
              </a:solidFill>
            </a:endParaRP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From: support@my-bank-security.com</a:t>
            </a: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Subject: URGENT: Your account will be locked</a:t>
            </a:r>
          </a:p>
          <a:p>
            <a:endParaRPr sz="1500" b="0">
              <a:solidFill>
                <a:srgbClr val="6D2420"/>
              </a:solidFill>
            </a:endParaRP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Open the link and enter your password:</a:t>
            </a: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http://my-bank-secure-login.example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7A83928-1764-4D92-B6BB-2F2D5EB8698A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985930-26AC-4F0C-814A-B742ECAADDB4}"/>
              </a:ext>
            </a:extLst>
          </p:cNvPr>
          <p:cNvSpPr>
            <a:spLocks noGrp="1"/>
          </p:cNvSpPr>
          <p:nvPr/>
        </p:nvSpPr>
        <p:spPr>
          <a:xfrm>
            <a:off x="7543800" y="212407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Suspicious sender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3FCECD-1D03-4F36-AA55-6E1AC2C499EA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The address looks official, but it is not the real one.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1487245-D778-401A-97A4-FA837FC36CAF}"/>
              </a:ext>
            </a:extLst>
          </p:cNvPr>
          <p:cNvSpPr>
            <a:spLocks noGrp="1"/>
          </p:cNvSpPr>
          <p:nvPr/>
        </p:nvSpPr>
        <p:spPr>
          <a:xfrm>
            <a:off x="6953250" y="2933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E2AA24-D4C6-41DE-9AB3-FB6D3E864428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Pressure and urgency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7CED2D-5465-40C6-AEFD-DF7C3F5236E7}"/>
              </a:ext>
            </a:extLst>
          </p:cNvPr>
          <p:cNvSpPr>
            <a:spLocks noGrp="1"/>
          </p:cNvSpPr>
          <p:nvPr/>
        </p:nvSpPr>
        <p:spPr>
          <a:xfrm>
            <a:off x="7543800" y="3190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The message creates fear so that you act quickly.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1E84FE5-65AB-47A9-94EF-F8348FAEB4E8}"/>
              </a:ext>
            </a:extLst>
          </p:cNvPr>
          <p:cNvSpPr>
            <a:spLocks noGrp="1"/>
          </p:cNvSpPr>
          <p:nvPr/>
        </p:nvSpPr>
        <p:spPr>
          <a:xfrm>
            <a:off x="6953250" y="37242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B805998-7D02-493D-93B6-D12D71538E6A}"/>
              </a:ext>
            </a:extLst>
          </p:cNvPr>
          <p:cNvSpPr>
            <a:spLocks noGrp="1"/>
          </p:cNvSpPr>
          <p:nvPr/>
        </p:nvSpPr>
        <p:spPr>
          <a:xfrm>
            <a:off x="7543800" y="370522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Requests sensitive information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DF4D18-775C-4E6D-8B70-C6D138543816}"/>
              </a:ext>
            </a:extLst>
          </p:cNvPr>
          <p:cNvSpPr>
            <a:spLocks noGrp="1"/>
          </p:cNvSpPr>
          <p:nvPr/>
        </p:nvSpPr>
        <p:spPr>
          <a:xfrm>
            <a:off x="7543800" y="39814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A legitimate service does not ask for your password through a link.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E9B2DA5-B177-4474-8748-4DEE52B626B1}"/>
              </a:ext>
            </a:extLst>
          </p:cNvPr>
          <p:cNvSpPr>
            <a:spLocks noGrp="1"/>
          </p:cNvSpPr>
          <p:nvPr/>
        </p:nvSpPr>
        <p:spPr>
          <a:xfrm>
            <a:off x="6953250" y="4514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62254C-CC31-423A-B69D-8D5F3EEE3C6B}"/>
              </a:ext>
            </a:extLst>
          </p:cNvPr>
          <p:cNvSpPr>
            <a:spLocks noGrp="1"/>
          </p:cNvSpPr>
          <p:nvPr/>
        </p:nvSpPr>
        <p:spPr>
          <a:xfrm>
            <a:off x="7543800" y="449580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Strange link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990304-A092-4F52-8509-49E0AF334FB1}"/>
              </a:ext>
            </a:extLst>
          </p:cNvPr>
          <p:cNvSpPr>
            <a:spLocks noGrp="1"/>
          </p:cNvSpPr>
          <p:nvPr/>
        </p:nvSpPr>
        <p:spPr>
          <a:xfrm>
            <a:off x="7543800" y="47720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We check the real domain carefully before clicking.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DAEB006-ED05-4A7B-A568-CFB33E95E7B8}"/>
              </a:ext>
            </a:extLst>
          </p:cNvPr>
          <p:cNvSpPr>
            <a:spLocks noGrp="1"/>
          </p:cNvSpPr>
          <p:nvPr/>
        </p:nvSpPr>
        <p:spPr>
          <a:xfrm>
            <a:off x="781050" y="5495925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6F4EA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6733D"/>
                </a:solidFill>
              </a:defRPr>
            </a:defPPr>
          </a:lstStyle>
          <a:p>
            <a:pPr algn="ctr">
              <a:defRPr sz="1500" b="1">
                <a:solidFill>
                  <a:srgbClr val="26733D"/>
                </a:solidFill>
              </a:defRPr>
            </a:pPr>
            <a:r>
              <a:rPr sz="1500" b="1">
                <a:solidFill>
                  <a:srgbClr val="26733D"/>
                </a:solidFill>
              </a:rPr>
              <a:t>Do not click the link. Open the official app or website yourself.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4FC0CE-B789-5D00-CAF1-F246B7859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40" y="1666672"/>
            <a:ext cx="7510641" cy="4255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40131A-EC19-622F-8436-335EC767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23" y="345632"/>
            <a:ext cx="857250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/>
              <a:t>Phishing (credential theft)</a:t>
            </a:r>
          </a:p>
        </p:txBody>
      </p:sp>
    </p:spTree>
    <p:extLst>
      <p:ext uri="{BB962C8B-B14F-4D97-AF65-F5344CB8AC3E}">
        <p14:creationId xmlns:p14="http://schemas.microsoft.com/office/powerpoint/2010/main" val="424471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8F4F9-6C40-2633-BE63-C30B6C5A7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6FA384B-48AB-E2EB-9157-34E53DFF92C4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7761FA4-A34B-476D-8AC6-DAF4C267AE87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13B13CDA-442C-4F9D-F672-EC63DA652AC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75C1DAD4-BAA7-318D-FE65-ABAD647CC9AC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37BB475-9F8E-223D-529E-A3593CDE3AFC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D98E5E80-0A64-260C-FEF6-7CAA73100FBF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3175BB99-7255-1E49-B7A3-6D0E2940672D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A173B1E0-4936-0BA5-622C-A83896CA8068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FD1099B-3E54-8260-828C-262764312B71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81383BEE-6D44-5BA4-CC38-FC537129C516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775A2-0C13-4306-1424-872EED65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866" y="164049"/>
            <a:ext cx="857250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/>
              <a:t>Phishing (credential theft)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95F9AE-A98B-87DA-7C3B-38149794319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D4E5524-4A2E-7CD6-B85D-4EDD72479CD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62FABC5B-6553-A7A1-3EEC-FECC1BAE6DC3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2BE62E2F-D77C-1E62-D2A3-0C4426DC862B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46BB1C28-E844-E4BD-2D85-C57D81027149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9137D7F5-DADB-2CEE-BF07-6FB6E4951411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0539450F-28EB-9F1B-8E9C-BC94B499A34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B0D85FF8-0AB7-73DA-1BD2-C7056DC557C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4772ABC5-4233-40FC-AFCC-CBADE9F34FC8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AutoShape 2" descr="Signs you've been phished and what to do next.">
            <a:extLst>
              <a:ext uri="{FF2B5EF4-FFF2-40B4-BE49-F238E27FC236}">
                <a16:creationId xmlns:a16="http://schemas.microsoft.com/office/drawing/2014/main" id="{D9C9665C-B8B5-30E5-BB54-41758F7843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Signs you've been phished and what to do next.">
            <a:extLst>
              <a:ext uri="{FF2B5EF4-FFF2-40B4-BE49-F238E27FC236}">
                <a16:creationId xmlns:a16="http://schemas.microsoft.com/office/drawing/2014/main" id="{B7AB5BE8-1BD4-94F8-4820-3D67D18E0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8776" y="1531776"/>
            <a:ext cx="2202024" cy="220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0BD9F-A90F-4058-F924-B1C682A3AC5E}"/>
              </a:ext>
            </a:extLst>
          </p:cNvPr>
          <p:cNvSpPr txBox="1"/>
          <p:nvPr/>
        </p:nvSpPr>
        <p:spPr>
          <a:xfrm>
            <a:off x="730893" y="6397771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https://youtu.be/JlQovysQBn0?si=QMoSt00HCt6g_sKI</a:t>
            </a:r>
          </a:p>
        </p:txBody>
      </p:sp>
      <p:pic>
        <p:nvPicPr>
          <p:cNvPr id="6" name="Online Media 5" title="Recognize and Report Phishing">
            <a:hlinkClick r:id="" action="ppaction://media"/>
            <a:extLst>
              <a:ext uri="{FF2B5EF4-FFF2-40B4-BE49-F238E27FC236}">
                <a16:creationId xmlns:a16="http://schemas.microsoft.com/office/drawing/2014/main" id="{A307BB1C-9770-B2A6-C170-D862C5D5F29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96658" y="1531776"/>
            <a:ext cx="67691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4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Online Risks</a:t>
            </a:r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6E78BE8C-5F99-41ED-862E-E4C88C7E8EC2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305C25D3-432B-48B4-9057-FBEB48CBA26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6AF1B1-4CA5-4F5B-B965-165C79EFC919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Two different risks require immediate help and reporting.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319A00-893B-40D9-AD56-DAE298921640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4857750" cy="2333625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E28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B8E7CC-9C1C-4FBF-986C-298FD52230DE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4857750" cy="590550"/>
          </a:xfrm>
          <a:prstGeom prst="roundRect">
            <a:avLst>
              <a:gd name="adj" fmla="val 16129"/>
            </a:avLst>
          </a:prstGeom>
          <a:solidFill>
            <a:srgbClr val="E28B2D"/>
          </a:solidFill>
          <a:ln w="9525">
            <a:solidFill>
              <a:srgbClr val="E28B2D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Grooming</a:t>
            </a:r>
            <a:r>
              <a:rPr lang="el-GR" sz="1800" b="1" dirty="0">
                <a:solidFill>
                  <a:srgbClr val="FFFFFF"/>
                </a:solidFill>
              </a:rPr>
              <a:t> (</a:t>
            </a:r>
            <a:r>
              <a:rPr lang="el-GR" i="1" dirty="0"/>
              <a:t>manipulation of a minor</a:t>
            </a:r>
            <a:r>
              <a:rPr lang="en-US" i="1" dirty="0"/>
              <a:t>)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31B5EA-89B9-4AB2-95CB-EB25DD00A50B}"/>
              </a:ext>
            </a:extLst>
          </p:cNvPr>
          <p:cNvSpPr>
            <a:spLocks noGrp="1"/>
          </p:cNvSpPr>
          <p:nvPr/>
        </p:nvSpPr>
        <p:spPr>
          <a:xfrm>
            <a:off x="952500" y="3057525"/>
            <a:ext cx="4514850" cy="14763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How it develops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1. Fake identity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2. Gradually gains trust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3. Asks for secrecy, photos or a meeting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Warning: asks to keep the conversation secret.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7D7627-4A09-45BD-808F-7C05A5DEC6BC}"/>
              </a:ext>
            </a:extLst>
          </p:cNvPr>
          <p:cNvSpPr>
            <a:spLocks noGrp="1"/>
          </p:cNvSpPr>
          <p:nvPr/>
        </p:nvSpPr>
        <p:spPr>
          <a:xfrm>
            <a:off x="6000750" y="2333625"/>
            <a:ext cx="4857750" cy="2333625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6C6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1BF7B4-DC94-4169-AFCA-E14146EA6F91}"/>
              </a:ext>
            </a:extLst>
          </p:cNvPr>
          <p:cNvSpPr>
            <a:spLocks noGrp="1"/>
          </p:cNvSpPr>
          <p:nvPr/>
        </p:nvSpPr>
        <p:spPr>
          <a:xfrm>
            <a:off x="6000750" y="2333625"/>
            <a:ext cx="4857750" cy="590550"/>
          </a:xfrm>
          <a:prstGeom prst="roundRect">
            <a:avLst>
              <a:gd name="adj" fmla="val 16129"/>
            </a:avLst>
          </a:prstGeom>
          <a:solidFill>
            <a:srgbClr val="6C6FB3"/>
          </a:solidFill>
          <a:ln w="9525">
            <a:solidFill>
              <a:srgbClr val="6C6FB3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Cyberbullying</a:t>
            </a:r>
            <a:r>
              <a:rPr lang="en-US" sz="1800" b="1" dirty="0">
                <a:solidFill>
                  <a:srgbClr val="FFFFFF"/>
                </a:solidFill>
              </a:rPr>
              <a:t> (</a:t>
            </a:r>
            <a:r>
              <a:rPr lang="el-GR" dirty="0"/>
              <a:t>Online harassment</a:t>
            </a:r>
            <a:r>
              <a:rPr lang="en-US" dirty="0"/>
              <a:t>)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4D926-E1FD-4F17-987E-6DBE52769F1B}"/>
              </a:ext>
            </a:extLst>
          </p:cNvPr>
          <p:cNvSpPr>
            <a:spLocks noGrp="1"/>
          </p:cNvSpPr>
          <p:nvPr/>
        </p:nvSpPr>
        <p:spPr>
          <a:xfrm>
            <a:off x="6172200" y="3057525"/>
            <a:ext cx="4514850" cy="14763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How it appears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1. Repeated insulting messages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2. Threats or humiliating posts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3. Sharing content without permission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Warning: it repeats and causes fear or pressure.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1595BE-3327-4F64-A81A-445F7114B65C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650" b="1">
                <a:solidFill>
                  <a:srgbClr val="18A7CC"/>
                </a:solidFill>
              </a:defRPr>
            </a:defPPr>
          </a:lstStyle>
          <a:p>
            <a:pPr algn="l">
              <a:defRPr sz="1650" b="1">
                <a:solidFill>
                  <a:srgbClr val="18A7CC"/>
                </a:solidFill>
              </a:defRPr>
            </a:pPr>
            <a:r>
              <a:rPr sz="1650" b="1">
                <a:solidFill>
                  <a:srgbClr val="18A7CC"/>
                </a:solidFill>
              </a:rPr>
              <a:t>What I do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C1561F-64A0-4911-BEA6-F83250D9CB82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1. I do not reply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E7141C-8608-4C1A-A492-88008AA67AD0}"/>
              </a:ext>
            </a:extLst>
          </p:cNvPr>
          <p:cNvSpPr>
            <a:spLocks noGrp="1"/>
          </p:cNvSpPr>
          <p:nvPr/>
        </p:nvSpPr>
        <p:spPr>
          <a:xfrm>
            <a:off x="3305175" y="525780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2. I keep evidence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991D87-9F06-47DB-BD96-4B87F9285ACD}"/>
              </a:ext>
            </a:extLst>
          </p:cNvPr>
          <p:cNvSpPr>
            <a:spLocks noGrp="1"/>
          </p:cNvSpPr>
          <p:nvPr/>
        </p:nvSpPr>
        <p:spPr>
          <a:xfrm>
            <a:off x="5829300" y="525780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3. I block and report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5FAE036-2686-495B-B482-E243241D32D4}"/>
              </a:ext>
            </a:extLst>
          </p:cNvPr>
          <p:cNvSpPr>
            <a:spLocks noGrp="1"/>
          </p:cNvSpPr>
          <p:nvPr/>
        </p:nvSpPr>
        <p:spPr>
          <a:xfrm>
            <a:off x="8353425" y="525780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4. I tell a trusted adult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CEE6-9E56-13D3-AB4A-19F0DBAF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73991" cy="727881"/>
          </a:xfrm>
        </p:spPr>
        <p:txBody>
          <a:bodyPr/>
          <a:lstStyle/>
          <a:p>
            <a:r>
              <a:rPr lang="en-US" dirty="0" err="1"/>
              <a:t>Cyberbullying</a:t>
            </a:r>
            <a:r>
              <a:rPr lang="en-US" dirty="0"/>
              <a:t> (</a:t>
            </a:r>
            <a:r>
              <a:rPr lang="el-GR" dirty="0" err="1"/>
              <a:t>Online</a:t>
            </a:r>
            <a:r>
              <a:rPr lang="el-GR" dirty="0"/>
              <a:t> harassment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5" name="Online Media 4" title="Βάλε τέλος στην παρενόχληση!">
            <a:hlinkClick r:id="" action="ppaction://media"/>
            <a:extLst>
              <a:ext uri="{FF2B5EF4-FFF2-40B4-BE49-F238E27FC236}">
                <a16:creationId xmlns:a16="http://schemas.microsoft.com/office/drawing/2014/main" id="{0CCE6C9B-0B41-A71B-DA1D-8932E5BFC60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24525" y="1673314"/>
            <a:ext cx="6910292" cy="518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43AD-2B2D-8B03-F3C4-AB5D0B7A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64AD-6E26-089B-0189-7A02188D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73991" cy="727881"/>
          </a:xfrm>
        </p:spPr>
        <p:txBody>
          <a:bodyPr/>
          <a:lstStyle/>
          <a:p>
            <a:r>
              <a:rPr lang="en-US" dirty="0"/>
              <a:t>Grooming (</a:t>
            </a:r>
            <a:r>
              <a:rPr lang="el-GR" i="1" dirty="0"/>
              <a:t>manipulation of a minor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6" name="Grooming">
            <a:hlinkClick r:id="" action="ppaction://media"/>
            <a:extLst>
              <a:ext uri="{FF2B5EF4-FFF2-40B4-BE49-F238E27FC236}">
                <a16:creationId xmlns:a16="http://schemas.microsoft.com/office/drawing/2014/main" id="{50051419-6438-2C42-631D-FA003B4B25E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1697" y="1781034"/>
            <a:ext cx="8025688" cy="4516926"/>
          </a:xfrm>
        </p:spPr>
      </p:pic>
    </p:spTree>
    <p:extLst>
      <p:ext uri="{BB962C8B-B14F-4D97-AF65-F5344CB8AC3E}">
        <p14:creationId xmlns:p14="http://schemas.microsoft.com/office/powerpoint/2010/main" val="151991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3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Consolidation Activities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015824BD-290E-439E-9488-A157B58B4343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851EDA01-8C89-42B3-BC9E-0CCB8F2EFE33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755ECB8A-7808-49CE-8C12-92591934D5AF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To be completed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E10E900E-B391-4C26-B632-28BB6BB6F4F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3648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Questions 1–17 from Worksheet A.5.M5.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825</Words>
  <Application>Microsoft Office PowerPoint</Application>
  <DocSecurity>0</DocSecurity>
  <PresentationFormat>Widescreen</PresentationFormat>
  <Paragraphs>154</Paragraphs>
  <Slides>12</Slides>
  <Notes>8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Security and Communication</vt:lpstr>
      <vt:lpstr>Security Software</vt:lpstr>
      <vt:lpstr>Firewall</vt:lpstr>
      <vt:lpstr>Social Networks</vt:lpstr>
      <vt:lpstr>Personal Data</vt:lpstr>
      <vt:lpstr>Phishing (credential theft)</vt:lpstr>
      <vt:lpstr>Phishing (credential theft)</vt:lpstr>
      <vt:lpstr>Phishing (credential theft)</vt:lpstr>
      <vt:lpstr>Online Risks</vt:lpstr>
      <vt:lpstr>Cyberbullying (Online harassment)</vt:lpstr>
      <vt:lpstr>Grooming (manipulation of a minor)</vt:lpstr>
      <vt:lpstr>Consolidation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14</cp:revision>
  <dcterms:created xsi:type="dcterms:W3CDTF">2026-10-10T08:08:29Z</dcterms:created>
  <dcterms:modified xsi:type="dcterms:W3CDTF">2026-10-20T12:25:01Z</dcterms:modified>
</cp:coreProperties>
</file>