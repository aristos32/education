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62" r:id="rId10"/>
    <p:sldId id="27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modSld sldOrd">
      <pc:chgData name="Άριστος Αρέστη" userId="813aa191-2d4c-464f-9d05-0a7e494d859f" providerId="ADAL" clId="{49C7B61D-1ACF-4AFF-A04E-A3B433E32474}" dt="2026-09-26T18:57:28.573" v="59" actId="1076"/>
      <pc:docMkLst>
        <pc:docMk/>
      </pc:docMkLst>
      <pc:sldChg chg="addSp modSp mod">
        <pc:chgData name="Άριστος Αρέστη" userId="813aa191-2d4c-464f-9d05-0a7e494d859f" providerId="ADAL" clId="{49C7B61D-1ACF-4AFF-A04E-A3B433E32474}" dt="2026-09-26T18:48:22.891" v="32" actId="1076"/>
        <pc:sldMkLst>
          <pc:docMk/>
          <pc:sldMk cId="2570149264" sldId="259"/>
        </pc:sldMkLst>
        <pc:picChg chg="add mod">
          <ac:chgData name="Άριστος Αρέστη" userId="813aa191-2d4c-464f-9d05-0a7e494d859f" providerId="ADAL" clId="{49C7B61D-1ACF-4AFF-A04E-A3B433E32474}" dt="2026-09-26T18:48:20.786" v="31" actId="14100"/>
          <ac:picMkLst>
            <pc:docMk/>
            <pc:sldMk cId="2570149264" sldId="259"/>
            <ac:picMk id="12" creationId="{832CB929-291A-5F73-B0A8-B9479563ED6C}"/>
          </ac:picMkLst>
        </pc:picChg>
        <pc:picChg chg="add mod">
          <ac:chgData name="Άριστος Αρέστη" userId="813aa191-2d4c-464f-9d05-0a7e494d859f" providerId="ADAL" clId="{49C7B61D-1ACF-4AFF-A04E-A3B433E32474}" dt="2026-09-26T18:48:22.891" v="32" actId="1076"/>
          <ac:picMkLst>
            <pc:docMk/>
            <pc:sldMk cId="2570149264" sldId="259"/>
            <ac:picMk id="14" creationId="{E0179BE2-C5AC-479E-F135-5F57DCB4A7E7}"/>
          </ac:picMkLst>
        </pc:picChg>
        <pc:picChg chg="mod">
          <ac:chgData name="Άριστος Αρέστη" userId="813aa191-2d4c-464f-9d05-0a7e494d859f" providerId="ADAL" clId="{49C7B61D-1ACF-4AFF-A04E-A3B433E32474}" dt="2026-09-26T18:46:04.765" v="22" actId="1076"/>
          <ac:picMkLst>
            <pc:docMk/>
            <pc:sldMk cId="2570149264" sldId="259"/>
            <ac:picMk id="22" creationId="{00000000-0000-0000-0000-000000000000}"/>
          </ac:picMkLst>
        </pc:picChg>
        <pc:picChg chg="mod">
          <ac:chgData name="Άριστος Αρέστη" userId="813aa191-2d4c-464f-9d05-0a7e494d859f" providerId="ADAL" clId="{49C7B61D-1ACF-4AFF-A04E-A3B433E32474}" dt="2026-09-26T18:46:06.876" v="23" actId="1076"/>
          <ac:picMkLst>
            <pc:docMk/>
            <pc:sldMk cId="2570149264" sldId="259"/>
            <ac:picMk id="23" creationId="{00000000-0000-0000-0000-000000000000}"/>
          </ac:picMkLst>
        </pc:picChg>
      </pc:sldChg>
      <pc:sldChg chg="modSp mod">
        <pc:chgData name="Άριστος Αρέστη" userId="813aa191-2d4c-464f-9d05-0a7e494d859f" providerId="ADAL" clId="{49C7B61D-1ACF-4AFF-A04E-A3B433E32474}" dt="2026-09-19T07:23:05.869" v="15" actId="20577"/>
        <pc:sldMkLst>
          <pc:docMk/>
          <pc:sldMk cId="643881412" sldId="260"/>
        </pc:sldMkLst>
        <pc:spChg chg="mod">
          <ac:chgData name="Άριστος Αρέστη" userId="813aa191-2d4c-464f-9d05-0a7e494d859f" providerId="ADAL" clId="{49C7B61D-1ACF-4AFF-A04E-A3B433E32474}" dt="2026-09-19T07:23:05.869" v="15" actId="20577"/>
          <ac:spMkLst>
            <pc:docMk/>
            <pc:sldMk cId="643881412" sldId="260"/>
            <ac:spMk id="7" creationId="{6EB852F5-EF60-4B61-96B2-ADD7E6C8C69F}"/>
          </ac:spMkLst>
        </pc:spChg>
      </pc:sldChg>
      <pc:sldChg chg="addSp delSp modSp mod">
        <pc:chgData name="Άριστος Αρέστη" userId="813aa191-2d4c-464f-9d05-0a7e494d859f" providerId="ADAL" clId="{49C7B61D-1ACF-4AFF-A04E-A3B433E32474}" dt="2026-09-26T18:53:13.103" v="52" actId="1076"/>
        <pc:sldMkLst>
          <pc:docMk/>
          <pc:sldMk cId="1459875993" sldId="261"/>
        </pc:sldMkLst>
        <pc:spChg chg="mod">
          <ac:chgData name="Άριστος Αρέστη" userId="813aa191-2d4c-464f-9d05-0a7e494d859f" providerId="ADAL" clId="{49C7B61D-1ACF-4AFF-A04E-A3B433E32474}" dt="2026-09-26T18:53:07.391" v="50" actId="1076"/>
          <ac:spMkLst>
            <pc:docMk/>
            <pc:sldMk cId="1459875993" sldId="261"/>
            <ac:spMk id="39" creationId="{4CF7BC71-3174-4D73-8BC9-07D3A64CED1D}"/>
          </ac:spMkLst>
        </pc:spChg>
        <pc:spChg chg="mod">
          <ac:chgData name="Άριστος Αρέστη" userId="813aa191-2d4c-464f-9d05-0a7e494d859f" providerId="ADAL" clId="{49C7B61D-1ACF-4AFF-A04E-A3B433E32474}" dt="2026-09-26T18:53:09.504" v="51" actId="1076"/>
          <ac:spMkLst>
            <pc:docMk/>
            <pc:sldMk cId="1459875993" sldId="261"/>
            <ac:spMk id="41" creationId="{72025841-5F3E-4A8B-BBCB-C2D4BF0A45C6}"/>
          </ac:spMkLst>
        </pc:spChg>
        <pc:spChg chg="mod">
          <ac:chgData name="Άριστος Αρέστη" userId="813aa191-2d4c-464f-9d05-0a7e494d859f" providerId="ADAL" clId="{49C7B61D-1ACF-4AFF-A04E-A3B433E32474}" dt="2026-09-26T18:53:13.103" v="52" actId="1076"/>
          <ac:spMkLst>
            <pc:docMk/>
            <pc:sldMk cId="1459875993" sldId="261"/>
            <ac:spMk id="42" creationId="{95554E29-4CB7-4BD9-8947-DCF0A4817FFD}"/>
          </ac:spMkLst>
        </pc:spChg>
        <pc:spChg chg="mod">
          <ac:chgData name="Άριστος Αρέστη" userId="813aa191-2d4c-464f-9d05-0a7e494d859f" providerId="ADAL" clId="{49C7B61D-1ACF-4AFF-A04E-A3B433E32474}" dt="2026-09-26T18:52:57.199" v="47" actId="1076"/>
          <ac:spMkLst>
            <pc:docMk/>
            <pc:sldMk cId="1459875993" sldId="261"/>
            <ac:spMk id="43" creationId="{3442AF39-5E21-47CA-9B8C-2D1B30A96F15}"/>
          </ac:spMkLst>
        </pc:spChg>
        <pc:spChg chg="mod">
          <ac:chgData name="Άριστος Αρέστη" userId="813aa191-2d4c-464f-9d05-0a7e494d859f" providerId="ADAL" clId="{49C7B61D-1ACF-4AFF-A04E-A3B433E32474}" dt="2026-09-26T18:52:49.143" v="45" actId="1076"/>
          <ac:spMkLst>
            <pc:docMk/>
            <pc:sldMk cId="1459875993" sldId="261"/>
            <ac:spMk id="44" creationId="{CA2ED603-8C10-4C79-90C2-688E7BED1F9E}"/>
          </ac:spMkLst>
        </pc:spChg>
        <pc:spChg chg="mod">
          <ac:chgData name="Άριστος Αρέστη" userId="813aa191-2d4c-464f-9d05-0a7e494d859f" providerId="ADAL" clId="{49C7B61D-1ACF-4AFF-A04E-A3B433E32474}" dt="2026-09-26T18:52:10.737" v="41" actId="14100"/>
          <ac:spMkLst>
            <pc:docMk/>
            <pc:sldMk cId="1459875993" sldId="261"/>
            <ac:spMk id="46" creationId="{A622C1E7-BC4C-4293-BB77-F709CD5F78AD}"/>
          </ac:spMkLst>
        </pc:spChg>
        <pc:picChg chg="add mod">
          <ac:chgData name="Άριστος Αρέστη" userId="813aa191-2d4c-464f-9d05-0a7e494d859f" providerId="ADAL" clId="{49C7B61D-1ACF-4AFF-A04E-A3B433E32474}" dt="2026-09-26T18:52:04.703" v="39" actId="14100"/>
          <ac:picMkLst>
            <pc:docMk/>
            <pc:sldMk cId="1459875993" sldId="261"/>
            <ac:picMk id="5" creationId="{04FCB596-988B-621F-2159-2320F1F5C38D}"/>
          </ac:picMkLst>
        </pc:picChg>
        <pc:picChg chg="del">
          <ac:chgData name="Άριστος Αρέστη" userId="813aa191-2d4c-464f-9d05-0a7e494d859f" providerId="ADAL" clId="{49C7B61D-1ACF-4AFF-A04E-A3B433E32474}" dt="2026-09-26T18:51:54.288" v="33" actId="478"/>
          <ac:picMkLst>
            <pc:docMk/>
            <pc:sldMk cId="1459875993" sldId="261"/>
            <ac:picMk id="78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18:51:55.226" v="34" actId="478"/>
          <ac:picMkLst>
            <pc:docMk/>
            <pc:sldMk cId="1459875993" sldId="261"/>
            <ac:picMk id="79" creationId="{00000000-0000-0000-0000-000000000000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09-26T18:57:28.573" v="59" actId="1076"/>
        <pc:sldMkLst>
          <pc:docMk/>
          <pc:sldMk cId="3786659628" sldId="262"/>
        </pc:sldMkLst>
        <pc:spChg chg="mod">
          <ac:chgData name="Άριστος Αρέστη" userId="813aa191-2d4c-464f-9d05-0a7e494d859f" providerId="ADAL" clId="{49C7B61D-1ACF-4AFF-A04E-A3B433E32474}" dt="2026-09-26T18:57:12.404" v="55" actId="14100"/>
          <ac:spMkLst>
            <pc:docMk/>
            <pc:sldMk cId="3786659628" sldId="262"/>
            <ac:spMk id="8" creationId="{50B08CB6-9B4B-41EE-9BC5-BC0FAFE16193}"/>
          </ac:spMkLst>
        </pc:spChg>
        <pc:spChg chg="mod">
          <ac:chgData name="Άριστος Αρέστη" userId="813aa191-2d4c-464f-9d05-0a7e494d859f" providerId="ADAL" clId="{49C7B61D-1ACF-4AFF-A04E-A3B433E32474}" dt="2026-09-26T18:57:17.679" v="56" actId="14100"/>
          <ac:spMkLst>
            <pc:docMk/>
            <pc:sldMk cId="3786659628" sldId="262"/>
            <ac:spMk id="10" creationId="{3F48067B-2A0C-451D-8B4D-0AE03204EB0A}"/>
          </ac:spMkLst>
        </pc:spChg>
        <pc:spChg chg="mod">
          <ac:chgData name="Άριστος Αρέστη" userId="813aa191-2d4c-464f-9d05-0a7e494d859f" providerId="ADAL" clId="{49C7B61D-1ACF-4AFF-A04E-A3B433E32474}" dt="2026-09-26T18:57:21.916" v="57" actId="14100"/>
          <ac:spMkLst>
            <pc:docMk/>
            <pc:sldMk cId="3786659628" sldId="262"/>
            <ac:spMk id="12" creationId="{0242B9D2-4882-4BBE-AEA0-9AF714B6C4CB}"/>
          </ac:spMkLst>
        </pc:spChg>
        <pc:picChg chg="add mod">
          <ac:chgData name="Άριστος Αρέστη" userId="813aa191-2d4c-464f-9d05-0a7e494d859f" providerId="ADAL" clId="{49C7B61D-1ACF-4AFF-A04E-A3B433E32474}" dt="2026-09-26T18:57:28.573" v="59" actId="1076"/>
          <ac:picMkLst>
            <pc:docMk/>
            <pc:sldMk cId="3786659628" sldId="262"/>
            <ac:picMk id="13" creationId="{7479BCDD-F5A3-76F8-AC56-8AC740B12FCB}"/>
          </ac:picMkLst>
        </pc:picChg>
      </pc:sldChg>
      <pc:sldChg chg="add ord">
        <pc:chgData name="Άριστος Αρέστη" userId="813aa191-2d4c-464f-9d05-0a7e494d859f" providerId="ADAL" clId="{49C7B61D-1ACF-4AFF-A04E-A3B433E32474}" dt="2026-09-19T07:26:18.004" v="18"/>
        <pc:sldMkLst>
          <pc:docMk/>
          <pc:sldMk cId="457266055" sldId="272"/>
        </pc:sldMkLst>
      </pc:sldChg>
      <pc:sldChg chg="add ord">
        <pc:chgData name="Άριστος Αρέστη" userId="813aa191-2d4c-464f-9d05-0a7e494d859f" providerId="ADAL" clId="{49C7B61D-1ACF-4AFF-A04E-A3B433E32474}" dt="2026-09-19T07:26:18.004" v="18"/>
        <pc:sldMkLst>
          <pc:docMk/>
          <pc:sldMk cId="3963452469" sldId="273"/>
        </pc:sldMkLst>
      </pc:sldChg>
      <pc:sldChg chg="add">
        <pc:chgData name="Άριστος Αρέστη" userId="813aa191-2d4c-464f-9d05-0a7e494d859f" providerId="ADAL" clId="{49C7B61D-1ACF-4AFF-A04E-A3B433E32474}" dt="2026-09-19T08:28:26.439" v="21"/>
        <pc:sldMkLst>
          <pc:docMk/>
          <pc:sldMk cId="365655639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A.5.M1 Εισαγωγή.pptx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NEWZ-Px-TW8?feature=oemb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Δίκτυα Υπολογιστών</a:t>
            </a:r>
          </a:p>
          <a:p>
            <a:pPr algn="l">
              <a:buNone/>
            </a:pPr>
            <a:r>
              <a:t>Μέρος 1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Τι είναι δίκτυο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45B11AF0-B09E-4EA4-9D57-C420292F86F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45DB81B0-361B-4960-AE31-2C40AC40F1F8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F12E58BC-01F4-408D-809A-D976EE418773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Ορισμός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82C6FD23-E583-45B6-B4A2-556214C7908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Δίκτυο υπολογιστών είναι μια ομάδα από δύο ή περισσότερους υπολογιστές ή άλλες συσκευές που συνδέονται μεταξύ τους.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6165E775-C5CB-468A-814F-EF59D227C7F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Ανταλλαγή δεδομένων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22F656A2-2A38-4618-BA44-9B6A79BB797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συσκευές στέλνουν και λαμβάνουν πληροφορίες μέσω του δικτύου.</a:t>
            </a: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0902FBB0-3C68-4C25-AA2D-1A337094780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Κοινή χρήση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6AED2E86-3B20-4113-B41D-47731ED387CC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 δίκτυο επιτρέπει κοινή χρήση αρχείων, λογισμικού, εκτυπωτών και σύνδεσης στο Διαδίκτυο.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3042595"/>
            <a:ext cx="4905375" cy="1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LAN και WAN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1C2720E8-1069-4CA5-9AB4-89306F81603A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C60D70D7-86BE-4773-9F24-9B5B973E8196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AC6FC001-33F2-4BB4-B82D-46D49C339991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Τοπικό δίκτυο (LAN)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8FF07643-707D-4C55-BF57-9A915C77625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Καλύπτει περιορισμένη γεωγραφική περιοχή, όπως ένα δωμάτιο, ένα κτήριο ή κοντινά κτήρια.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1E87EAC6-673F-46FC-8F5C-B85A942BD7A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Δίκτυο ευρείας περιοχής (WAN)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F54D49C2-A5BF-4CB1-BB07-61C4A1A835A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 πολλά τοπικά δίκτυα και μπορεί να καλύπτει πόλεις ή χώρες.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3D1958B1-26B1-4111-ADEC-0D2AACCF9B2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Διαδίκτυο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7D621D15-AEC2-4569-9BEF-F3221DECA1A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Διαδίκτυο είναι το μεγαλύτερο WAN και συνδέει δίκτυα οργανισμών, σχολείων, εταιρειών και κατοικιών.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Κάρτες δικτύου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A8483864-6391-40FC-A8EA-7468A2CD74D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DFFD1A59-ED30-44E8-8891-AA9C67676E23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974704AF-72C2-41DD-947B-A63BB77F11C3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Κάρτα δικτύου (NIC)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465761EC-FE00-4B43-A353-8EF762022902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 υπολογιστή ή άλλη συσκευή με το δίκτυο.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A604C126-20FF-4C85-8F49-BCB7196A377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Ενσύρματη κάρτα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06AED263-5DF4-49B6-A87B-E5CEE260DF33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 καλώδιο δικτύου και υποδοχή RJ45.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60588685-E77F-44CC-8E0E-2B8D9D4063E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Ασύρματη κάρτα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2935B540-E302-4B51-8D2B-E6069064AA13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 ραδιοκύματα και κεραία για σύνδεση σε δίκτυο Wi-Fi.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79435" y="1857375"/>
            <a:ext cx="1662655" cy="18764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72549" y="3733800"/>
            <a:ext cx="1876425" cy="1876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2CB929-291A-5F73-B0A8-B9479563E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25" y="1914521"/>
            <a:ext cx="2277066" cy="7524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179BE2-C5AC-479E-F135-5F57DCB4A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436" y="2709854"/>
            <a:ext cx="1576400" cy="103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Switch και Access Point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F6C651F2-4D08-4A43-BDC9-B043AB9FC01C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71FFCA11-54AF-42A4-83E2-7C590D83DB5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6EB852F5-EF60-4B61-96B2-ADD7E6C8C69F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Switch</a:t>
            </a:r>
            <a:r>
              <a:rPr lang="en-US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(</a:t>
            </a:r>
            <a:r>
              <a:rPr lang="el-GR"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μεταγωγέας</a:t>
            </a:r>
            <a:r>
              <a:rPr lang="el-GR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)</a:t>
            </a:r>
            <a:endParaRPr sz="1575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5BFA44D8-CF7A-4202-B2BC-AACA48279C4A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Διαθέτει πολλές θύρες και συνδέει ενσύρματες συσκευές στο ίδιο τοπικό δίκτυο.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27363ACC-E8F5-4307-8000-F3919C64F3E8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Access Point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BAD4DF4C-890E-4460-BD86-1461BF466CF8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 ασύρματες συσκευές στο τοπικό δίκτυο.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ACF72B5F-1210-451A-96EE-F783EDAD5A98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Μικτά δίκτυα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891F2858-419C-4D7F-8B98-675739C0C1BB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 δίκτυο μπορεί να περιλαμβάνει switch και access point, ανάλογα με τον τρόπο σύνδεσης κάθε συσκευής.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553451"/>
            <a:ext cx="4905375" cy="25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Router / modem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4CF7BC71-3174-4D73-8BC9-07D3A64CED1D}"/>
              </a:ext>
            </a:extLst>
          </p:cNvPr>
          <p:cNvSpPr>
            <a:spLocks noGrp="1"/>
          </p:cNvSpPr>
          <p:nvPr/>
        </p:nvSpPr>
        <p:spPr>
          <a:xfrm>
            <a:off x="601757" y="1512887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B953E2AF-248F-478A-9E07-597819B8F057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72025841-5F3E-4A8B-BBCB-C2D4BF0A45C6}"/>
              </a:ext>
            </a:extLst>
          </p:cNvPr>
          <p:cNvSpPr>
            <a:spLocks noGrp="1"/>
          </p:cNvSpPr>
          <p:nvPr/>
        </p:nvSpPr>
        <p:spPr>
          <a:xfrm>
            <a:off x="781050" y="3157537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Router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95554E29-4CB7-4BD9-8947-DCF0A4817FFD}"/>
              </a:ext>
            </a:extLst>
          </p:cNvPr>
          <p:cNvSpPr>
            <a:spLocks noGrp="1"/>
          </p:cNvSpPr>
          <p:nvPr/>
        </p:nvSpPr>
        <p:spPr>
          <a:xfrm>
            <a:off x="781050" y="3470804"/>
            <a:ext cx="4016348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αφορετικά δίκτυα και προωθεί τα δεδομένα προς τη σωστή κατεύθυνση.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3442AF39-5E21-47CA-9B8C-2D1B30A96F15}"/>
              </a:ext>
            </a:extLst>
          </p:cNvPr>
          <p:cNvSpPr>
            <a:spLocks noGrp="1"/>
          </p:cNvSpPr>
          <p:nvPr/>
        </p:nvSpPr>
        <p:spPr>
          <a:xfrm>
            <a:off x="792163" y="18954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Modem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CA2ED603-8C10-4C79-90C2-688E7BED1F9E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4506361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ατρέπει το σήμα στη μορφή που χρειάζεται η γραμμή σύνδεσης με τον πάροχο.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D862BCD3-4170-4DD7-B3EE-29DF97AC87BD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Οικιακή συσκευή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A622C1E7-BC4C-4293-BB77-F709CD5F78A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197843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σπ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ίτι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, router, switch, access point και modem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συχνά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συνδυάζοντ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αι στην ίδια συσκευή.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CB596-988B-621F-2159-2320F1F5C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411" y="1631142"/>
            <a:ext cx="5972196" cy="402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Ταχύτητες Μεταφοράς Δεδομένων 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730" y="1850038"/>
            <a:ext cx="8596668" cy="3880773"/>
          </a:xfrm>
        </p:spPr>
        <p:txBody>
          <a:bodyPr>
            <a:normAutofit/>
          </a:bodyPr>
          <a:lstStyle/>
          <a:p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Ο αριθμός δυαδικών ψηφίων (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bits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) που μεταφέρονται από συσκευή σε συσκευή ανά δευτερόλεπτο (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second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) - 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bits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 per 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second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 (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bps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, ή b/s).</a:t>
            </a:r>
          </a:p>
          <a:p>
            <a:endParaRPr lang="el-GR" sz="3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l-GR" sz="2800" b="1" dirty="0">
                <a:solidFill>
                  <a:srgbClr val="FF0000"/>
                </a:solidFill>
              </a:rPr>
              <a:t>Εξαρτάται από τη δυνατότητα της συσκευής και το είδος του μέσου μετάδοσης. </a:t>
            </a:r>
            <a:endParaRPr lang="el-G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6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Ταχύτητες Μεταφοράς Δεδομένων 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3000" dirty="0"/>
              <a:t>Τα πολλαπλάσια του </a:t>
            </a:r>
            <a:r>
              <a:rPr lang="el-GR" sz="3000" dirty="0" err="1"/>
              <a:t>bps</a:t>
            </a:r>
            <a:r>
              <a:rPr lang="el-GR" sz="3000" dirty="0"/>
              <a:t> είναι: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Kbps ≈ 1.000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Mbps ≈ 1.000.000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 err="1"/>
              <a:t>Gbps</a:t>
            </a:r>
            <a:r>
              <a:rPr lang="en-US" sz="2800" dirty="0"/>
              <a:t> ≈ 1.000.000.000 bps </a:t>
            </a:r>
          </a:p>
          <a:p>
            <a:pPr marL="0" indent="0" algn="just">
              <a:buNone/>
            </a:pPr>
            <a:endParaRPr lang="el-GR" sz="4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45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Client–Server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C7FC9694-22EE-4D57-B311-74524FD09F4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1183AB3C-ECC5-44CA-82AD-A551B9805D6A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D6BB66FD-847C-4261-BD16-315C68E5A8FE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Client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50B08CB6-9B4B-41EE-9BC5-BC0FAFE1619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614362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συσκευή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ή η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εφ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αρμογή του χρήστη ζητά πρόσβαση σε μια υπηρεσία.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79D44DC9-AB35-404C-A53F-2EDE8617077F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Server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3F48067B-2A0C-451D-8B4D-0AE03204EB0A}"/>
              </a:ext>
            </a:extLst>
          </p:cNvPr>
          <p:cNvSpPr>
            <a:spLocks noGrp="1"/>
          </p:cNvSpPr>
          <p:nvPr/>
        </p:nvSpPr>
        <p:spPr>
          <a:xfrm>
            <a:off x="781051" y="3505200"/>
            <a:ext cx="581025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ακομιστής παραμένει συνδεδεμένος στο δίκτυο και παρέχει την υπηρεσία σε πολλούς clients.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28C4BD32-B9B0-4ACD-A5D2-C3D04E64CE2F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Παράδειγμα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0242B9D2-4882-4BBE-AEA0-9AF714B6C4CB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561022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φυλλομετρητής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λειτουργεί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ως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client και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ζητά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ιστοσελίδα από τον web server.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79BCDD-F5A3-76F8-AC56-8AC740B1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0" y="2143125"/>
            <a:ext cx="4728107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0C0B-5F94-BE79-5118-80A188CB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21" y="204716"/>
            <a:ext cx="8337698" cy="708926"/>
          </a:xfrm>
        </p:spPr>
        <p:txBody>
          <a:bodyPr/>
          <a:lstStyle/>
          <a:p>
            <a:r>
              <a:rPr lang="el-GR" dirty="0"/>
              <a:t>Πως λειτουργεί το </a:t>
            </a:r>
            <a:r>
              <a:rPr lang="el-GR" dirty="0" err="1"/>
              <a:t>ιντερνετ</a:t>
            </a:r>
            <a:endParaRPr lang="en-GB" dirty="0"/>
          </a:p>
        </p:txBody>
      </p:sp>
      <p:pic>
        <p:nvPicPr>
          <p:cNvPr id="3" name="Online Media 2" title="2. Πως λειτουργεί το Internet: Το διαδίκτυο - Καλώδια και Wi-Fi [code.org]">
            <a:hlinkClick r:id="" action="ppaction://media"/>
            <a:extLst>
              <a:ext uri="{FF2B5EF4-FFF2-40B4-BE49-F238E27FC236}">
                <a16:creationId xmlns:a16="http://schemas.microsoft.com/office/drawing/2014/main" id="{CA3D5479-E6E0-5A2F-F4D1-106307FA265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29221" y="1405719"/>
            <a:ext cx="8850581" cy="500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5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Δραστηριότητες Εμπέδωσης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63C20413-FF96-4AE9-9A28-3A05A72BD139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476A37C6-FE4E-4184-B71B-B7B6EED62EC9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Μέρος 1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50F48D0D-6B77-4406-8F25-A7ED949E6B1B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DCEF91A9-C234-4677-B00E-7F243C65E4C9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Σωστό ή Λάθος για την έννοια του δικτύου, τις κατηγορίες, τον εξοπλισμό, την κοινή χρήση και το Client–Server.</a:t>
            </a:r>
          </a:p>
        </p:txBody>
      </p:sp>
      <p:sp>
        <p:nvSpPr>
          <p:cNvPr id="10" name="Block heading 2">
            <a:extLst>
              <a:ext uri="{FF2B5EF4-FFF2-40B4-BE49-F238E27FC236}">
                <a16:creationId xmlns:a16="http://schemas.microsoft.com/office/drawing/2014/main" id="{8D8DA1AB-70C5-40CD-A99C-018542B5E802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1" name="Block body 2">
            <a:extLst>
              <a:ext uri="{FF2B5EF4-FFF2-40B4-BE49-F238E27FC236}">
                <a16:creationId xmlns:a16="http://schemas.microsoft.com/office/drawing/2014/main" id="{A6EDBF30-2B88-48E9-927E-BD4703B8666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Παραδείγματα συσκευών, εκτός από υπολογιστές, που μπορούν να συνδεθούν σε δίκτυο.</a:t>
            </a:r>
          </a:p>
        </p:txBody>
      </p:sp>
      <p:sp>
        <p:nvSpPr>
          <p:cNvPr id="12" name="Block heading 3">
            <a:extLst>
              <a:ext uri="{FF2B5EF4-FFF2-40B4-BE49-F238E27FC236}">
                <a16:creationId xmlns:a16="http://schemas.microsoft.com/office/drawing/2014/main" id="{8FA2BF11-2D95-4BA9-9115-CA5688ECAB19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3" name="Block body 3">
            <a:extLst>
              <a:ext uri="{FF2B5EF4-FFF2-40B4-BE49-F238E27FC236}">
                <a16:creationId xmlns:a16="http://schemas.microsoft.com/office/drawing/2014/main" id="{9D94A2CF-BBE2-45A7-A0A1-ADAC00ACDCBF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Αναγνώριση των συσκευών δικτύου και των μέσων σύνδεσης στις εικόνες.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811</Words>
  <Application>Microsoft Office PowerPoint</Application>
  <DocSecurity>0</DocSecurity>
  <PresentationFormat>Widescreen</PresentationFormat>
  <Paragraphs>99</Paragraphs>
  <Slides>11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Δίκτυα Υπολογιστών Μέρος 1</vt:lpstr>
      <vt:lpstr>Τι είναι δίκτυο</vt:lpstr>
      <vt:lpstr>LAN και WAN</vt:lpstr>
      <vt:lpstr>Κάρτες δικτύου</vt:lpstr>
      <vt:lpstr>Switch και Access Point</vt:lpstr>
      <vt:lpstr>Router / modem</vt:lpstr>
      <vt:lpstr>Ταχύτητες Μεταφοράς Δεδομένων  (bps, Kbps, Mbps και Gbps) </vt:lpstr>
      <vt:lpstr>Ταχύτητες Μεταφοράς Δεδομένων  (bps, Kbps, Mbps και Gbps) </vt:lpstr>
      <vt:lpstr>Client–Server</vt:lpstr>
      <vt:lpstr>Πως λειτουργεί το ιντερνετ</vt:lpstr>
      <vt:lpstr>Δραστηριότητες Εμπέδωσης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2026-09-19T07:08:49Z</dcterms:created>
  <dcterms:modified xsi:type="dcterms:W3CDTF">2026-09-26T18:57:39Z</dcterms:modified>
</cp:coreProperties>
</file>