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72" r:id="rId4"/>
    <p:sldId id="271" r:id="rId5"/>
    <p:sldId id="260" r:id="rId6"/>
    <p:sldId id="267" r:id="rId7"/>
    <p:sldId id="270" r:id="rId8"/>
    <p:sldId id="268" r:id="rId9"/>
    <p:sldId id="269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906E57-F3CE-4D7E-A3AE-C8DEB14263BE}" v="4" dt="2026-10-14T18:47:55.5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undo custSel addSld delSld modSld sldOrd">
      <pc:chgData name="Άριστος Αρέστη" userId="813aa191-2d4c-464f-9d05-0a7e494d859f" providerId="ADAL" clId="{49C7B61D-1ACF-4AFF-A04E-A3B433E32474}" dt="2026-10-14T18:48:14.338" v="983" actId="1076"/>
      <pc:docMkLst>
        <pc:docMk/>
      </pc:docMkLst>
      <pc:sldChg chg="modSp add del mod">
        <pc:chgData name="Άριστος Αρέστη" userId="813aa191-2d4c-464f-9d05-0a7e494d859f" providerId="ADAL" clId="{49C7B61D-1ACF-4AFF-A04E-A3B433E32474}" dt="2026-10-14T18:47:08.783" v="979" actId="47"/>
        <pc:sldMkLst>
          <pc:docMk/>
          <pc:sldMk cId="643881412" sldId="260"/>
        </pc:sldMkLst>
        <pc:spChg chg="mod">
          <ac:chgData name="Άριστος Αρέστη" userId="813aa191-2d4c-464f-9d05-0a7e494d859f" providerId="ADAL" clId="{49C7B61D-1ACF-4AFF-A04E-A3B433E32474}" dt="2026-10-14T18:41:43.630" v="970" actId="1076"/>
          <ac:spMkLst>
            <pc:docMk/>
            <pc:sldMk cId="643881412" sldId="260"/>
            <ac:spMk id="5" creationId="{1ADE6AB2-31D4-43F8-8CB3-B978A6B51094}"/>
          </ac:spMkLst>
        </pc:spChg>
        <pc:spChg chg="mod">
          <ac:chgData name="Άριστος Αρέστη" userId="813aa191-2d4c-464f-9d05-0a7e494d859f" providerId="ADAL" clId="{49C7B61D-1ACF-4AFF-A04E-A3B433E32474}" dt="2026-10-10T07:29:50.636" v="671" actId="20577"/>
          <ac:spMkLst>
            <pc:docMk/>
            <pc:sldMk cId="643881412" sldId="260"/>
            <ac:spMk id="9" creationId="{56CDC298-5F75-4F10-AEA0-2EE2E608B715}"/>
          </ac:spMkLst>
        </pc:spChg>
        <pc:spChg chg="mod">
          <ac:chgData name="Άριστος Αρέστη" userId="813aa191-2d4c-464f-9d05-0a7e494d859f" providerId="ADAL" clId="{49C7B61D-1ACF-4AFF-A04E-A3B433E32474}" dt="2026-10-10T07:30:46.840" v="784" actId="20577"/>
          <ac:spMkLst>
            <pc:docMk/>
            <pc:sldMk cId="643881412" sldId="260"/>
            <ac:spMk id="10" creationId="{73831D10-FA81-4630-80A2-DF54065724DA}"/>
          </ac:spMkLst>
        </pc:spChg>
        <pc:spChg chg="mod">
          <ac:chgData name="Άριστος Αρέστη" userId="813aa191-2d4c-464f-9d05-0a7e494d859f" providerId="ADAL" clId="{49C7B61D-1ACF-4AFF-A04E-A3B433E32474}" dt="2026-10-14T18:41:49.625" v="971" actId="1076"/>
          <ac:spMkLst>
            <pc:docMk/>
            <pc:sldMk cId="643881412" sldId="260"/>
            <ac:spMk id="11" creationId="{FAD8B63B-9463-4F1E-9E70-0E1A7E576AB6}"/>
          </ac:spMkLst>
        </pc:spChg>
        <pc:spChg chg="mod">
          <ac:chgData name="Άριστος Αρέστη" userId="813aa191-2d4c-464f-9d05-0a7e494d859f" providerId="ADAL" clId="{49C7B61D-1ACF-4AFF-A04E-A3B433E32474}" dt="2026-10-14T18:41:53.086" v="972" actId="1076"/>
          <ac:spMkLst>
            <pc:docMk/>
            <pc:sldMk cId="643881412" sldId="260"/>
            <ac:spMk id="12" creationId="{B97222AA-170A-45DB-8311-5BF958D4B3D9}"/>
          </ac:spMkLst>
        </pc:spChg>
      </pc:sldChg>
      <pc:sldChg chg="modSp mod">
        <pc:chgData name="Άριστος Αρέστη" userId="813aa191-2d4c-464f-9d05-0a7e494d859f" providerId="ADAL" clId="{49C7B61D-1ACF-4AFF-A04E-A3B433E32474}" dt="2026-10-14T06:58:30.736" v="969" actId="20577"/>
        <pc:sldMkLst>
          <pc:docMk/>
          <pc:sldMk cId="3786659628" sldId="262"/>
        </pc:sldMkLst>
        <pc:spChg chg="mod">
          <ac:chgData name="Άριστος Αρέστη" userId="813aa191-2d4c-464f-9d05-0a7e494d859f" providerId="ADAL" clId="{49C7B61D-1ACF-4AFF-A04E-A3B433E32474}" dt="2026-10-14T06:58:30.736" v="969" actId="20577"/>
          <ac:spMkLst>
            <pc:docMk/>
            <pc:sldMk cId="3786659628" sldId="262"/>
            <ac:spMk id="10" creationId="{F247D9E9-005F-4FAD-BF67-666F30485EE6}"/>
          </ac:spMkLst>
        </pc:spChg>
      </pc:sldChg>
      <pc:sldChg chg="modSp mod">
        <pc:chgData name="Άριστος Αρέστη" userId="813aa191-2d4c-464f-9d05-0a7e494d859f" providerId="ADAL" clId="{49C7B61D-1ACF-4AFF-A04E-A3B433E32474}" dt="2026-10-10T07:38:01.448" v="955" actId="6549"/>
        <pc:sldMkLst>
          <pc:docMk/>
          <pc:sldMk cId="2467819896" sldId="263"/>
        </pc:sldMkLst>
        <pc:spChg chg="mod">
          <ac:chgData name="Άριστος Αρέστη" userId="813aa191-2d4c-464f-9d05-0a7e494d859f" providerId="ADAL" clId="{49C7B61D-1ACF-4AFF-A04E-A3B433E32474}" dt="2026-10-10T07:38:01.448" v="955" actId="6549"/>
          <ac:spMkLst>
            <pc:docMk/>
            <pc:sldMk cId="2467819896" sldId="263"/>
            <ac:spMk id="9" creationId="{1D521794-BBE8-4028-AD5D-36201AB06AD3}"/>
          </ac:spMkLst>
        </pc:spChg>
      </pc:sldChg>
      <pc:sldChg chg="modSp add mod ord setBg">
        <pc:chgData name="Άριστος Αρέστη" userId="813aa191-2d4c-464f-9d05-0a7e494d859f" providerId="ADAL" clId="{49C7B61D-1ACF-4AFF-A04E-A3B433E32474}" dt="2026-10-10T06:47:22.090" v="531" actId="14100"/>
        <pc:sldMkLst>
          <pc:docMk/>
          <pc:sldMk cId="2842868052" sldId="266"/>
        </pc:sldMkLst>
        <pc:spChg chg="mod">
          <ac:chgData name="Άριστος Αρέστη" userId="813aa191-2d4c-464f-9d05-0a7e494d859f" providerId="ADAL" clId="{49C7B61D-1ACF-4AFF-A04E-A3B433E32474}" dt="2026-10-10T06:47:15.952" v="529" actId="1076"/>
          <ac:spMkLst>
            <pc:docMk/>
            <pc:sldMk cId="2842868052" sldId="266"/>
            <ac:spMk id="41" creationId="{5DCE5C69-A305-40F9-A980-FACB9EDD9A99}"/>
          </ac:spMkLst>
        </pc:spChg>
        <pc:spChg chg="mod">
          <ac:chgData name="Άριστος Αρέστη" userId="813aa191-2d4c-464f-9d05-0a7e494d859f" providerId="ADAL" clId="{49C7B61D-1ACF-4AFF-A04E-A3B433E32474}" dt="2026-10-10T06:47:22.090" v="531" actId="14100"/>
          <ac:spMkLst>
            <pc:docMk/>
            <pc:sldMk cId="2842868052" sldId="266"/>
            <ac:spMk id="42" creationId="{2F16AD20-5B5D-40C5-854C-B8018814BE88}"/>
          </ac:spMkLst>
        </pc:spChg>
      </pc:sldChg>
      <pc:sldChg chg="addSp delSp modSp add mod">
        <pc:chgData name="Άριστος Αρέστη" userId="813aa191-2d4c-464f-9d05-0a7e494d859f" providerId="ADAL" clId="{49C7B61D-1ACF-4AFF-A04E-A3B433E32474}" dt="2026-10-12T05:47:15.702" v="959" actId="20577"/>
        <pc:sldMkLst>
          <pc:docMk/>
          <pc:sldMk cId="1589394006" sldId="267"/>
        </pc:sldMkLst>
        <pc:spChg chg="mod">
          <ac:chgData name="Άριστος Αρέστη" userId="813aa191-2d4c-464f-9d05-0a7e494d859f" providerId="ADAL" clId="{49C7B61D-1ACF-4AFF-A04E-A3B433E32474}" dt="2026-10-12T05:47:15.702" v="959" actId="20577"/>
          <ac:spMkLst>
            <pc:docMk/>
            <pc:sldMk cId="1589394006" sldId="267"/>
            <ac:spMk id="2" creationId="{32C863D9-1989-4443-A424-8213A05F31BB}"/>
          </ac:spMkLst>
        </pc:spChg>
        <pc:picChg chg="add mod">
          <ac:chgData name="Άριστος Αρέστη" userId="813aa191-2d4c-464f-9d05-0a7e494d859f" providerId="ADAL" clId="{49C7B61D-1ACF-4AFF-A04E-A3B433E32474}" dt="2026-10-10T06:57:06.265" v="556" actId="1076"/>
          <ac:picMkLst>
            <pc:docMk/>
            <pc:sldMk cId="1589394006" sldId="267"/>
            <ac:picMk id="9" creationId="{C36D4E06-CD04-D040-D257-E39147A33AB2}"/>
          </ac:picMkLst>
        </pc:picChg>
      </pc:sldChg>
      <pc:sldChg chg="addSp delSp modSp add mod setBg">
        <pc:chgData name="Άριστος Αρέστη" userId="813aa191-2d4c-464f-9d05-0a7e494d859f" providerId="ADAL" clId="{49C7B61D-1ACF-4AFF-A04E-A3B433E32474}" dt="2026-10-14T18:48:14.338" v="983" actId="1076"/>
        <pc:sldMkLst>
          <pc:docMk/>
          <pc:sldMk cId="3085501264" sldId="268"/>
        </pc:sldMkLst>
        <pc:spChg chg="mod">
          <ac:chgData name="Άριστος Αρέστη" userId="813aa191-2d4c-464f-9d05-0a7e494d859f" providerId="ADAL" clId="{49C7B61D-1ACF-4AFF-A04E-A3B433E32474}" dt="2026-10-10T07:10:14.851" v="633" actId="14100"/>
          <ac:spMkLst>
            <pc:docMk/>
            <pc:sldMk cId="3085501264" sldId="268"/>
            <ac:spMk id="2" creationId="{62A92CD4-88DD-4F68-B449-EA9821C3EFD3}"/>
          </ac:spMkLst>
        </pc:spChg>
        <pc:spChg chg="mod">
          <ac:chgData name="Άριστος Αρέστη" userId="813aa191-2d4c-464f-9d05-0a7e494d859f" providerId="ADAL" clId="{49C7B61D-1ACF-4AFF-A04E-A3B433E32474}" dt="2026-10-14T18:47:55.586" v="981"/>
          <ac:spMkLst>
            <pc:docMk/>
            <pc:sldMk cId="3085501264" sldId="268"/>
            <ac:spMk id="41" creationId="{B3330E2F-CDED-4A34-B64B-E96705ACE567}"/>
          </ac:spMkLst>
        </pc:spChg>
        <pc:spChg chg="mod">
          <ac:chgData name="Άριστος Αρέστη" userId="813aa191-2d4c-464f-9d05-0a7e494d859f" providerId="ADAL" clId="{49C7B61D-1ACF-4AFF-A04E-A3B433E32474}" dt="2026-10-14T18:48:14.338" v="983" actId="1076"/>
          <ac:spMkLst>
            <pc:docMk/>
            <pc:sldMk cId="3085501264" sldId="268"/>
            <ac:spMk id="42" creationId="{987EA34E-D5DF-4859-A266-65AFDBB4C497}"/>
          </ac:spMkLst>
        </pc:spChg>
        <pc:picChg chg="add mod">
          <ac:chgData name="Άριστος Αρέστη" userId="813aa191-2d4c-464f-9d05-0a7e494d859f" providerId="ADAL" clId="{49C7B61D-1ACF-4AFF-A04E-A3B433E32474}" dt="2026-10-14T18:48:04.273" v="982" actId="14100"/>
          <ac:picMkLst>
            <pc:docMk/>
            <pc:sldMk cId="3085501264" sldId="268"/>
            <ac:picMk id="4" creationId="{E2EC52D7-0F6E-E912-3D97-D12DACBE7502}"/>
          </ac:picMkLst>
        </pc:picChg>
      </pc:sldChg>
      <pc:sldChg chg="addSp delSp modSp add mod">
        <pc:chgData name="Άριστος Αρέστη" userId="813aa191-2d4c-464f-9d05-0a7e494d859f" providerId="ADAL" clId="{49C7B61D-1ACF-4AFF-A04E-A3B433E32474}" dt="2026-10-10T07:37:05.547" v="953" actId="1076"/>
        <pc:sldMkLst>
          <pc:docMk/>
          <pc:sldMk cId="3703779373" sldId="269"/>
        </pc:sldMkLst>
        <pc:spChg chg="mod">
          <ac:chgData name="Άριστος Αρέστη" userId="813aa191-2d4c-464f-9d05-0a7e494d859f" providerId="ADAL" clId="{49C7B61D-1ACF-4AFF-A04E-A3B433E32474}" dt="2026-10-10T07:10:23.817" v="638" actId="14100"/>
          <ac:spMkLst>
            <pc:docMk/>
            <pc:sldMk cId="3703779373" sldId="269"/>
            <ac:spMk id="2" creationId="{B66EAA72-EC7F-4ECD-B4EF-D54E871C6881}"/>
          </ac:spMkLst>
        </pc:spChg>
        <pc:spChg chg="mod">
          <ac:chgData name="Άριστος Αρέστη" userId="813aa191-2d4c-464f-9d05-0a7e494d859f" providerId="ADAL" clId="{49C7B61D-1ACF-4AFF-A04E-A3B433E32474}" dt="2026-10-10T07:00:11.803" v="569" actId="1076"/>
          <ac:spMkLst>
            <pc:docMk/>
            <pc:sldMk cId="3703779373" sldId="269"/>
            <ac:spMk id="6" creationId="{CD48E1F3-2B09-4AC2-AD4B-306CA7286834}"/>
          </ac:spMkLst>
        </pc:spChg>
        <pc:spChg chg="mod">
          <ac:chgData name="Άριστος Αρέστη" userId="813aa191-2d4c-464f-9d05-0a7e494d859f" providerId="ADAL" clId="{49C7B61D-1ACF-4AFF-A04E-A3B433E32474}" dt="2026-10-10T07:37:05.547" v="953" actId="1076"/>
          <ac:spMkLst>
            <pc:docMk/>
            <pc:sldMk cId="3703779373" sldId="269"/>
            <ac:spMk id="7" creationId="{58D10C96-8AEC-4960-AB57-7B52199C482B}"/>
          </ac:spMkLst>
        </pc:spChg>
        <pc:picChg chg="add mod">
          <ac:chgData name="Άριστος Αρέστη" userId="813aa191-2d4c-464f-9d05-0a7e494d859f" providerId="ADAL" clId="{49C7B61D-1ACF-4AFF-A04E-A3B433E32474}" dt="2026-10-10T07:02:58.032" v="573" actId="14100"/>
          <ac:picMkLst>
            <pc:docMk/>
            <pc:sldMk cId="3703779373" sldId="269"/>
            <ac:picMk id="4" creationId="{36287844-4DD7-555C-F453-0F57E9E2B7EE}"/>
          </ac:picMkLst>
        </pc:picChg>
      </pc:sldChg>
      <pc:sldChg chg="addSp delSp modSp add mod">
        <pc:chgData name="Άριστος Αρέστη" userId="813aa191-2d4c-464f-9d05-0a7e494d859f" providerId="ADAL" clId="{49C7B61D-1ACF-4AFF-A04E-A3B433E32474}" dt="2026-10-10T07:36:49.887" v="952" actId="20577"/>
        <pc:sldMkLst>
          <pc:docMk/>
          <pc:sldMk cId="3099506725" sldId="270"/>
        </pc:sldMkLst>
        <pc:spChg chg="mod">
          <ac:chgData name="Άριστος Αρέστη" userId="813aa191-2d4c-464f-9d05-0a7e494d859f" providerId="ADAL" clId="{49C7B61D-1ACF-4AFF-A04E-A3B433E32474}" dt="2026-10-10T07:36:49.887" v="952" actId="20577"/>
          <ac:spMkLst>
            <pc:docMk/>
            <pc:sldMk cId="3099506725" sldId="270"/>
            <ac:spMk id="2" creationId="{B86133BA-58A2-8811-3723-2649854FB39A}"/>
          </ac:spMkLst>
        </pc:spChg>
        <pc:spChg chg="mod">
          <ac:chgData name="Άριστος Αρέστη" userId="813aa191-2d4c-464f-9d05-0a7e494d859f" providerId="ADAL" clId="{49C7B61D-1ACF-4AFF-A04E-A3B433E32474}" dt="2026-10-10T07:36:35.417" v="947" actId="20577"/>
          <ac:spMkLst>
            <pc:docMk/>
            <pc:sldMk cId="3099506725" sldId="270"/>
            <ac:spMk id="8" creationId="{6C0F7599-C57A-60C5-2EE3-7CEE5E6BB11C}"/>
          </ac:spMkLst>
        </pc:spChg>
        <pc:picChg chg="add mod">
          <ac:chgData name="Άριστος Αρέστη" userId="813aa191-2d4c-464f-9d05-0a7e494d859f" providerId="ADAL" clId="{49C7B61D-1ACF-4AFF-A04E-A3B433E32474}" dt="2026-10-10T07:36:30.946" v="940" actId="14100"/>
          <ac:picMkLst>
            <pc:docMk/>
            <pc:sldMk cId="3099506725" sldId="270"/>
            <ac:picMk id="7" creationId="{5C83EB7C-0C5D-E2BE-7BC8-6EFD27C574B1}"/>
          </ac:picMkLst>
        </pc:picChg>
      </pc:sldChg>
      <pc:sldChg chg="add">
        <pc:chgData name="Άριστος Αρέστη" userId="813aa191-2d4c-464f-9d05-0a7e494d859f" providerId="ADAL" clId="{49C7B61D-1ACF-4AFF-A04E-A3B433E32474}" dt="2026-10-10T07:56:40.278" v="956"/>
        <pc:sldMkLst>
          <pc:docMk/>
          <pc:sldMk cId="2191906609" sldId="271"/>
        </pc:sldMkLst>
      </pc:sldChg>
      <pc:sldChg chg="addSp modSp new mod modAnim">
        <pc:chgData name="Άριστος Αρέστη" userId="813aa191-2d4c-464f-9d05-0a7e494d859f" providerId="ADAL" clId="{49C7B61D-1ACF-4AFF-A04E-A3B433E32474}" dt="2026-10-14T18:43:33.864" v="977" actId="1076"/>
        <pc:sldMkLst>
          <pc:docMk/>
          <pc:sldMk cId="1831915996" sldId="272"/>
        </pc:sldMkLst>
        <pc:spChg chg="mod">
          <ac:chgData name="Άριστος Αρέστη" userId="813aa191-2d4c-464f-9d05-0a7e494d859f" providerId="ADAL" clId="{49C7B61D-1ACF-4AFF-A04E-A3B433E32474}" dt="2026-10-14T18:43:03.050" v="973" actId="20577"/>
          <ac:spMkLst>
            <pc:docMk/>
            <pc:sldMk cId="1831915996" sldId="272"/>
            <ac:spMk id="2" creationId="{F1C80C27-6CEF-EE3A-991A-0FC47EB87BB6}"/>
          </ac:spMkLst>
        </pc:spChg>
        <pc:graphicFrameChg chg="add mod">
          <ac:chgData name="Άριστος Αρέστη" userId="813aa191-2d4c-464f-9d05-0a7e494d859f" providerId="ADAL" clId="{49C7B61D-1ACF-4AFF-A04E-A3B433E32474}" dt="2026-10-14T18:43:28.073" v="975" actId="1076"/>
          <ac:graphicFrameMkLst>
            <pc:docMk/>
            <pc:sldMk cId="1831915996" sldId="272"/>
            <ac:graphicFrameMk id="4" creationId="{3BFF0AB0-FAC4-7E9F-5452-8E2822BA1360}"/>
          </ac:graphicFrameMkLst>
        </pc:graphicFrameChg>
        <pc:picChg chg="add mod">
          <ac:chgData name="Άριστος Αρέστη" userId="813aa191-2d4c-464f-9d05-0a7e494d859f" providerId="ADAL" clId="{49C7B61D-1ACF-4AFF-A04E-A3B433E32474}" dt="2026-10-14T18:43:33.864" v="977" actId="1076"/>
          <ac:picMkLst>
            <pc:docMk/>
            <pc:sldMk cId="1831915996" sldId="272"/>
            <ac:picMk id="3" creationId="{5E81F412-9C4C-4464-A133-B6659ACA415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A4.M2 Πολυμέσα-Ήχος(2).pptx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9E1E-E9C8-4F53-2425-D2950FA09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B91EF-50BF-B279-BA6E-0B3AEFAA0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C0D3D-2C31-239E-A53E-9A28BF781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3AAAA-C03A-E995-4BB5-F7C910BD79F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2050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Θεωρία και Φύλλο Εργασίας A.5.M2, σχολικά βιβλία Πληροφορικής Α΄ Λυκείου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A.5.M2, Δραστηριότητες Εμπέδωσης, σελ. 87–89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14-Oct-26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video" Target="https://www.youtube.com/embed/5ZCvW1XSX_E?feature=oembed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Έλεγχος δικτύου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619125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dirty="0" err="1"/>
              <a:t>Τι</a:t>
            </a:r>
            <a:r>
              <a:rPr dirty="0"/>
              <a:t> </a:t>
            </a:r>
            <a:r>
              <a:rPr dirty="0" err="1"/>
              <a:t>είν</a:t>
            </a:r>
            <a:r>
              <a:rPr dirty="0"/>
              <a:t>αι το υποδίκτυο;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Clean content 1">
            <a:extLst>
              <a:ext uri="{FF2B5EF4-FFF2-40B4-BE49-F238E27FC236}">
                <a16:creationId xmlns:a16="http://schemas.microsoft.com/office/drawing/2014/main" id="{6FE0B811-E5C7-4C97-BAB9-3623DFC602F6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CE5C69-A305-40F9-A980-FACB9EDD9A99}"/>
              </a:ext>
            </a:extLst>
          </p:cNvPr>
          <p:cNvSpPr>
            <a:spLocks noGrp="1"/>
          </p:cNvSpPr>
          <p:nvPr/>
        </p:nvSpPr>
        <p:spPr>
          <a:xfrm>
            <a:off x="685800" y="1324504"/>
            <a:ext cx="10287000" cy="685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333333"/>
                </a:solidFill>
              </a:defRPr>
            </a:defPPr>
          </a:lstStyle>
          <a:p>
            <a:pPr>
              <a:defRPr sz="1875">
                <a:solidFill>
                  <a:srgbClr val="333333"/>
                </a:solidFill>
              </a:defRPr>
            </a:pPr>
            <a:r>
              <a:rPr sz="1875" dirty="0">
                <a:solidFill>
                  <a:srgbClr val="333333"/>
                </a:solidFill>
              </a:rPr>
              <a:t>Υπ</a:t>
            </a:r>
            <a:r>
              <a:rPr sz="1875" dirty="0" err="1">
                <a:solidFill>
                  <a:srgbClr val="333333"/>
                </a:solidFill>
              </a:rPr>
              <a:t>οδίκτυο</a:t>
            </a:r>
            <a:r>
              <a:rPr sz="1875" dirty="0">
                <a:solidFill>
                  <a:srgbClr val="333333"/>
                </a:solidFill>
              </a:rPr>
              <a:t> (subnet) </a:t>
            </a:r>
            <a:r>
              <a:rPr sz="1875" dirty="0" err="1">
                <a:solidFill>
                  <a:srgbClr val="333333"/>
                </a:solidFill>
              </a:rPr>
              <a:t>είν</a:t>
            </a:r>
            <a:r>
              <a:rPr sz="1875" dirty="0">
                <a:solidFill>
                  <a:srgbClr val="333333"/>
                </a:solidFill>
              </a:rPr>
              <a:t>αι μια ομάδα συσκευών που έχουν το ίδιο τμήμα δικτύου στη διεύθυνση IP τους.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2F16AD20-5B5D-40C5-854C-B8018814BE88}"/>
              </a:ext>
            </a:extLst>
          </p:cNvPr>
          <p:cNvSpPr>
            <a:spLocks noGrp="1"/>
          </p:cNvSpPr>
          <p:nvPr/>
        </p:nvSpPr>
        <p:spPr>
          <a:xfrm>
            <a:off x="781050" y="2066925"/>
            <a:ext cx="10096500" cy="857250"/>
          </a:xfrm>
          <a:prstGeom prst="roundRect">
            <a:avLst>
              <a:gd name="adj" fmla="val 16129"/>
            </a:avLst>
          </a:prstGeom>
          <a:solidFill>
            <a:srgbClr val="E8F7FC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725" b="1">
                <a:solidFill>
                  <a:srgbClr val="23566A"/>
                </a:solidFill>
              </a:defRPr>
            </a:defPPr>
          </a:lstStyle>
          <a:p>
            <a:pPr algn="ctr">
              <a:defRPr sz="1725" b="1">
                <a:solidFill>
                  <a:srgbClr val="23566A"/>
                </a:solidFill>
              </a:defRPr>
            </a:pPr>
            <a:r>
              <a:rPr sz="1725" b="1" dirty="0" err="1">
                <a:solidFill>
                  <a:srgbClr val="23566A"/>
                </a:solidFill>
              </a:rPr>
              <a:t>Μάσκ</a:t>
            </a:r>
            <a:r>
              <a:rPr sz="1725" b="1" dirty="0">
                <a:solidFill>
                  <a:srgbClr val="23566A"/>
                </a:solidFill>
              </a:rPr>
              <a:t>α 255.255.255.0 (/24): τα πρώτα τρία μέρη της IP δείχνουν το δίκτυο.</a:t>
            </a:r>
            <a:endParaRPr lang="en-US" sz="1725" b="1" dirty="0">
              <a:solidFill>
                <a:srgbClr val="23566A"/>
              </a:solidFill>
            </a:endParaRPr>
          </a:p>
          <a:p>
            <a:pPr algn="ctr">
              <a:defRPr sz="1725" b="1">
                <a:solidFill>
                  <a:srgbClr val="23566A"/>
                </a:solidFill>
              </a:defRPr>
            </a:pPr>
            <a:r>
              <a:rPr lang="en-US" sz="1725" b="1" dirty="0">
                <a:solidFill>
                  <a:srgbClr val="23566A"/>
                </a:solidFill>
              </a:rPr>
              <a:t>255 = </a:t>
            </a:r>
            <a:r>
              <a:rPr lang="el-GR" sz="1725" b="1" dirty="0">
                <a:solidFill>
                  <a:srgbClr val="23566A"/>
                </a:solidFill>
              </a:rPr>
              <a:t>κοινό μέρος για όλες τις </a:t>
            </a:r>
            <a:r>
              <a:rPr lang="el-GR" sz="1725" b="1" dirty="0" err="1">
                <a:solidFill>
                  <a:srgbClr val="23566A"/>
                </a:solidFill>
              </a:rPr>
              <a:t>συσκεύες</a:t>
            </a:r>
            <a:endParaRPr lang="el-GR" sz="1725" b="1" dirty="0">
              <a:solidFill>
                <a:srgbClr val="23566A"/>
              </a:solidFill>
            </a:endParaRPr>
          </a:p>
          <a:p>
            <a:pPr algn="ctr">
              <a:defRPr sz="1725" b="1">
                <a:solidFill>
                  <a:srgbClr val="23566A"/>
                </a:solidFill>
              </a:defRPr>
            </a:pPr>
            <a:r>
              <a:rPr lang="el-GR" sz="1725" b="1" dirty="0">
                <a:solidFill>
                  <a:srgbClr val="23566A"/>
                </a:solidFill>
              </a:rPr>
              <a:t>0 = διαφορετικό</a:t>
            </a:r>
            <a:endParaRPr sz="1725" b="1" dirty="0">
              <a:solidFill>
                <a:srgbClr val="23566A"/>
              </a:solidFill>
            </a:endParaRP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49FDCCE0-2C4A-49FF-9930-D9BF58DE2C12}"/>
              </a:ext>
            </a:extLst>
          </p:cNvPr>
          <p:cNvGraphicFramePr/>
          <p:nvPr/>
        </p:nvGraphicFramePr>
        <p:xfrm>
          <a:off x="781050" y="3048000"/>
          <a:ext cx="10096500" cy="22383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Συσκευή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IP Address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Δίκτυο (/24)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Σχέση με Η/Υ Α</a:t>
                      </a:r>
                    </a:p>
                  </a:txBody>
                  <a:tcPr marL="95250" marR="95250" marT="66675" marB="66675" anchor="ctr">
                    <a:solidFill>
                      <a:srgbClr val="2C83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Η/Υ Α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Σημείο αναφοράς</a:t>
                      </a:r>
                    </a:p>
                  </a:txBody>
                  <a:tcPr marL="95250" marR="95250" marT="66675" marB="66675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Η/Υ Β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192.168.1.25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Ίδιο υποδίκτυο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Εκτυπωτής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192.168.1.200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192.168.1.0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6733D"/>
                          </a:solidFill>
                        </a:rPr>
                        <a:t>Ίδιο υποδίκτυο</a:t>
                      </a:r>
                    </a:p>
                  </a:txBody>
                  <a:tcPr marL="95250" marR="95250" marT="66675" marB="66675" anchor="ctr">
                    <a:solidFill>
                      <a:srgbClr val="E6F4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Laptop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192.168.2.10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333333"/>
                          </a:solidFill>
                        </a:rPr>
                        <a:t>192.168.2.0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12B25"/>
                          </a:solidFill>
                        </a:rPr>
                        <a:t>Διαφορετικό υποδίκτυο</a:t>
                      </a:r>
                    </a:p>
                  </a:txBody>
                  <a:tcPr marL="95250" marR="95250" marT="66675" marB="66675" anchor="ctr">
                    <a:solidFill>
                      <a:srgbClr val="FCE8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" name="Rectangle 43">
            <a:extLst>
              <a:ext uri="{FF2B5EF4-FFF2-40B4-BE49-F238E27FC236}">
                <a16:creationId xmlns:a16="http://schemas.microsoft.com/office/drawing/2014/main" id="{3B7D4317-995B-4191-88B1-10CDF29AD167}"/>
              </a:ext>
            </a:extLst>
          </p:cNvPr>
          <p:cNvSpPr>
            <a:spLocks noGrp="1"/>
          </p:cNvSpPr>
          <p:nvPr/>
        </p:nvSpPr>
        <p:spPr>
          <a:xfrm>
            <a:off x="781050" y="5505450"/>
            <a:ext cx="10096500" cy="704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575" b="1">
                <a:solidFill>
                  <a:srgbClr val="333333"/>
                </a:solidFill>
              </a:defRPr>
            </a:defPPr>
          </a:lstStyle>
          <a:p>
            <a:pPr algn="l">
              <a:defRPr sz="1575" b="1">
                <a:solidFill>
                  <a:srgbClr val="333333"/>
                </a:solidFill>
              </a:defRPr>
            </a:pPr>
            <a:r>
              <a:rPr sz="1575" b="1">
                <a:solidFill>
                  <a:srgbClr val="333333"/>
                </a:solidFill>
              </a:rPr>
              <a:t>Οι 192.168.1.10 και 192.168.1.25 επικοινωνούν στο ίδιο υποδίκτυο. Για επικοινωνία με την 192.168.2.10 χρειάζεται router ή Default Gateway.</a:t>
            </a:r>
          </a:p>
        </p:txBody>
      </p:sp>
    </p:spTree>
    <p:extLst>
      <p:ext uri="{BB962C8B-B14F-4D97-AF65-F5344CB8AC3E}">
        <p14:creationId xmlns:p14="http://schemas.microsoft.com/office/powerpoint/2010/main" val="2842868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0C27-6CEF-EE3A-991A-0FC47EB87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DNS Server</a:t>
            </a:r>
            <a:br>
              <a:rPr lang="en-GB" dirty="0"/>
            </a:br>
            <a:endParaRPr lang="en-GB" dirty="0"/>
          </a:p>
        </p:txBody>
      </p:sp>
      <p:pic>
        <p:nvPicPr>
          <p:cNvPr id="3" name="Online Media 2" title="How DNS Works?">
            <a:hlinkClick r:id="" action="ppaction://media"/>
            <a:extLst>
              <a:ext uri="{FF2B5EF4-FFF2-40B4-BE49-F238E27FC236}">
                <a16:creationId xmlns:a16="http://schemas.microsoft.com/office/drawing/2014/main" id="{5E81F412-9C4C-4464-A133-B6659ACA415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184650" y="244475"/>
            <a:ext cx="3822700" cy="636905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BFF0AB0-FAC4-7E9F-5452-8E2822BA1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146450"/>
              </p:ext>
            </p:extLst>
          </p:nvPr>
        </p:nvGraphicFramePr>
        <p:xfrm>
          <a:off x="203200" y="6631305"/>
          <a:ext cx="4152900" cy="1822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52900">
                  <a:extLst>
                    <a:ext uri="{9D8B030D-6E8A-4147-A177-3AD203B41FA5}">
                      <a16:colId xmlns:a16="http://schemas.microsoft.com/office/drawing/2014/main" val="558221169"/>
                    </a:ext>
                  </a:extLst>
                </a:gridCol>
              </a:tblGrid>
              <a:tr h="1822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100" u="none" strike="noStrike" dirty="0">
                          <a:effectLst/>
                        </a:rPr>
                        <a:t>https://www.youtube.com/shorts/5ZCvW1XSX_E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57299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91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5905500" cy="7620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rPr dirty="0"/>
              <a:t>DNS Server</a:t>
            </a:r>
          </a:p>
        </p:txBody>
      </p:sp>
      <p:sp>
        <p:nvSpPr>
          <p:cNvPr id="7" name="Clean content 3">
            <a:extLst>
              <a:ext uri="{FF2B5EF4-FFF2-40B4-BE49-F238E27FC236}">
                <a16:creationId xmlns:a16="http://schemas.microsoft.com/office/drawing/2014/main" id="{67CB5BBD-28F4-4BB4-B66B-2ADB50A53ABD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2089EB-B18F-4A43-846E-6987B5F12BC3}"/>
              </a:ext>
            </a:extLst>
          </p:cNvPr>
          <p:cNvSpPr>
            <a:spLocks noGrp="1"/>
          </p:cNvSpPr>
          <p:nvPr/>
        </p:nvSpPr>
        <p:spPr>
          <a:xfrm>
            <a:off x="781050" y="1485900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800" b="0">
                <a:solidFill>
                  <a:srgbClr val="333333"/>
                </a:solidFill>
              </a:defRPr>
            </a:defPPr>
          </a:lstStyle>
          <a:p>
            <a:pPr algn="l">
              <a:defRPr sz="1800" b="0">
                <a:solidFill>
                  <a:srgbClr val="333333"/>
                </a:solidFill>
              </a:defRPr>
            </a:pPr>
            <a:r>
              <a:rPr sz="1800" b="0">
                <a:solidFill>
                  <a:srgbClr val="333333"/>
                </a:solidFill>
              </a:rPr>
              <a:t>Ο DNS Server αντιστοιχίζει το όνομα μιας ιστοσελίδας με τη διεύθυνση IP του server της.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F338F2D-351D-464A-AF6D-5EC183339EEA}"/>
              </a:ext>
            </a:extLst>
          </p:cNvPr>
          <p:cNvSpPr>
            <a:spLocks noGrp="1"/>
          </p:cNvSpPr>
          <p:nvPr/>
        </p:nvSpPr>
        <p:spPr>
          <a:xfrm>
            <a:off x="781050" y="2524125"/>
            <a:ext cx="2428875" cy="1666875"/>
          </a:xfrm>
          <a:prstGeom prst="roundRect">
            <a:avLst>
              <a:gd name="adj" fmla="val 6857"/>
            </a:avLst>
          </a:prstGeom>
          <a:solidFill>
            <a:srgbClr val="E8F7FC"/>
          </a:solidFill>
          <a:ln w="19050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23566A"/>
                </a:solidFill>
              </a:defRPr>
            </a:defPPr>
          </a:lstStyle>
          <a:p>
            <a:pPr algn="ctr">
              <a:defRPr sz="1800" b="1">
                <a:solidFill>
                  <a:srgbClr val="23566A"/>
                </a:solidFill>
              </a:defRPr>
            </a:pPr>
            <a:r>
              <a:rPr sz="1800" b="1">
                <a:solidFill>
                  <a:srgbClr val="23566A"/>
                </a:solidFill>
              </a:rPr>
              <a:t>Υπολογιστής</a:t>
            </a:r>
          </a:p>
          <a:p>
            <a:endParaRPr sz="1800" b="1">
              <a:solidFill>
                <a:srgbClr val="23566A"/>
              </a:solidFill>
            </a:endParaRPr>
          </a:p>
          <a:p>
            <a:pPr algn="ctr">
              <a:defRPr sz="1800" b="1">
                <a:solidFill>
                  <a:srgbClr val="23566A"/>
                </a:solidFill>
              </a:defRPr>
            </a:pPr>
            <a:r>
              <a:rPr sz="1800" b="1">
                <a:solidFill>
                  <a:srgbClr val="23566A"/>
                </a:solidFill>
              </a:rPr>
              <a:t>www.example.com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17BCEF3-EC97-4B41-A892-3BCA445353F2}"/>
              </a:ext>
            </a:extLst>
          </p:cNvPr>
          <p:cNvSpPr>
            <a:spLocks noGrp="1"/>
          </p:cNvSpPr>
          <p:nvPr/>
        </p:nvSpPr>
        <p:spPr>
          <a:xfrm>
            <a:off x="4572000" y="2238375"/>
            <a:ext cx="3143250" cy="2238375"/>
          </a:xfrm>
          <a:prstGeom prst="roundRect">
            <a:avLst>
              <a:gd name="adj" fmla="val 5106"/>
            </a:avLst>
          </a:prstGeom>
          <a:solidFill>
            <a:srgbClr val="2C83A5"/>
          </a:solidFill>
          <a:ln w="19050">
            <a:solidFill>
              <a:srgbClr val="1F617B"/>
            </a:solidFill>
            <a:prstDash val="solid"/>
          </a:ln>
        </p:spPr>
        <p:txBody>
          <a:bodyPr anchor="ctr"/>
          <a:lstStyle>
            <a:defPPr algn="ctr">
              <a:defRPr sz="1650" b="1">
                <a:solidFill>
                  <a:srgbClr val="FFFFFF"/>
                </a:solidFill>
              </a:defRPr>
            </a:defPPr>
          </a:lstStyle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DNS Server</a:t>
            </a:r>
          </a:p>
          <a:p>
            <a:endParaRPr sz="1650" b="1">
              <a:solidFill>
                <a:srgbClr val="FFFFFF"/>
              </a:solidFill>
            </a:endParaRP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Βρίσκει την αντιστοιχία: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www.example.com</a:t>
            </a:r>
          </a:p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93.184.216.34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B029D57-69A8-4971-B835-37DA3295BD67}"/>
              </a:ext>
            </a:extLst>
          </p:cNvPr>
          <p:cNvSpPr>
            <a:spLocks noGrp="1"/>
          </p:cNvSpPr>
          <p:nvPr/>
        </p:nvSpPr>
        <p:spPr>
          <a:xfrm>
            <a:off x="8810625" y="2524125"/>
            <a:ext cx="2095500" cy="1666875"/>
          </a:xfrm>
          <a:prstGeom prst="roundRect">
            <a:avLst>
              <a:gd name="adj" fmla="val 6857"/>
            </a:avLst>
          </a:prstGeom>
          <a:solidFill>
            <a:srgbClr val="E6F4EA"/>
          </a:solidFill>
          <a:ln w="19050">
            <a:solidFill>
              <a:srgbClr val="4C9B63"/>
            </a:solidFill>
            <a:prstDash val="solid"/>
          </a:ln>
        </p:spPr>
        <p:txBody>
          <a:bodyPr anchor="ctr"/>
          <a:lstStyle>
            <a:defPPr algn="ctr">
              <a:defRPr sz="1725" b="1">
                <a:solidFill>
                  <a:srgbClr val="26733D"/>
                </a:solidFill>
              </a:defRPr>
            </a:defPPr>
          </a:lstStyle>
          <a:p>
            <a:pPr algn="ctr">
              <a:defRPr sz="1725" b="1">
                <a:solidFill>
                  <a:srgbClr val="26733D"/>
                </a:solidFill>
              </a:defRPr>
            </a:pPr>
            <a:r>
              <a:rPr sz="1725" b="1">
                <a:solidFill>
                  <a:srgbClr val="26733D"/>
                </a:solidFill>
              </a:rPr>
              <a:t>Web Server</a:t>
            </a:r>
          </a:p>
          <a:p>
            <a:endParaRPr sz="1725" b="1">
              <a:solidFill>
                <a:srgbClr val="26733D"/>
              </a:solidFill>
            </a:endParaRPr>
          </a:p>
          <a:p>
            <a:pPr algn="ctr">
              <a:defRPr sz="1725" b="1">
                <a:solidFill>
                  <a:srgbClr val="26733D"/>
                </a:solidFill>
              </a:defRPr>
            </a:pPr>
            <a:r>
              <a:rPr sz="1725" b="1">
                <a:solidFill>
                  <a:srgbClr val="26733D"/>
                </a:solidFill>
              </a:rPr>
              <a:t>93.184.216.34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12AA52-8F12-4894-B309-6B12C5318276}"/>
              </a:ext>
            </a:extLst>
          </p:cNvPr>
          <p:cNvSpPr>
            <a:spLocks noGrp="1"/>
          </p:cNvSpPr>
          <p:nvPr/>
        </p:nvSpPr>
        <p:spPr>
          <a:xfrm>
            <a:off x="3209925" y="2571750"/>
            <a:ext cx="1381125" cy="5905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1. Ποια είναι η IP;  →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327259-ED6A-4E90-8B3A-0EB6E9DFFDE7}"/>
              </a:ext>
            </a:extLst>
          </p:cNvPr>
          <p:cNvSpPr>
            <a:spLocks noGrp="1"/>
          </p:cNvSpPr>
          <p:nvPr/>
        </p:nvSpPr>
        <p:spPr>
          <a:xfrm>
            <a:off x="3209925" y="3381375"/>
            <a:ext cx="1381125" cy="7239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1275" b="1">
                <a:solidFill>
                  <a:srgbClr val="23566A"/>
                </a:solidFill>
              </a:defRPr>
            </a:defPPr>
          </a:lstStyle>
          <a:p>
            <a:pPr algn="ctr">
              <a:defRPr sz="1275" b="1">
                <a:solidFill>
                  <a:srgbClr val="23566A"/>
                </a:solidFill>
              </a:defRPr>
            </a:pPr>
            <a:r>
              <a:rPr sz="1275" b="1">
                <a:solidFill>
                  <a:srgbClr val="23566A"/>
                </a:solidFill>
              </a:rPr>
              <a:t>←  2. Η IP είναι</a:t>
            </a:r>
          </a:p>
          <a:p>
            <a:pPr algn="ctr">
              <a:defRPr sz="1275" b="1">
                <a:solidFill>
                  <a:srgbClr val="23566A"/>
                </a:solidFill>
              </a:defRPr>
            </a:pPr>
            <a:r>
              <a:rPr sz="1275" b="1">
                <a:solidFill>
                  <a:srgbClr val="23566A"/>
                </a:solidFill>
              </a:rPr>
              <a:t>93.184.216.34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49FEEA-82BA-478F-BAC7-BBAD6E094570}"/>
              </a:ext>
            </a:extLst>
          </p:cNvPr>
          <p:cNvSpPr>
            <a:spLocks noGrp="1"/>
          </p:cNvSpPr>
          <p:nvPr/>
        </p:nvSpPr>
        <p:spPr>
          <a:xfrm>
            <a:off x="7686675" y="2905125"/>
            <a:ext cx="1143000" cy="8382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1350" b="1">
                <a:solidFill>
                  <a:srgbClr val="26733D"/>
                </a:solidFill>
              </a:defRPr>
            </a:defPPr>
          </a:lstStyle>
          <a:p>
            <a:pPr algn="ctr">
              <a:defRPr sz="1350" b="1">
                <a:solidFill>
                  <a:srgbClr val="26733D"/>
                </a:solidFill>
              </a:defRPr>
            </a:pPr>
            <a:r>
              <a:rPr sz="1350" b="1">
                <a:solidFill>
                  <a:srgbClr val="26733D"/>
                </a:solidFill>
              </a:rPr>
              <a:t>3. Σύνδεση</a:t>
            </a:r>
          </a:p>
          <a:p>
            <a:pPr algn="ctr">
              <a:defRPr sz="1350" b="1">
                <a:solidFill>
                  <a:srgbClr val="26733D"/>
                </a:solidFill>
              </a:defRPr>
            </a:pPr>
            <a:r>
              <a:rPr sz="1350" b="1">
                <a:solidFill>
                  <a:srgbClr val="26733D"/>
                </a:solidFill>
              </a:rPr>
              <a:t>με την IP  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CC7A9D-C4D2-4443-BD81-98D4436B6E60}"/>
              </a:ext>
            </a:extLst>
          </p:cNvPr>
          <p:cNvSpPr>
            <a:spLocks noGrp="1"/>
          </p:cNvSpPr>
          <p:nvPr/>
        </p:nvSpPr>
        <p:spPr>
          <a:xfrm>
            <a:off x="781050" y="4953000"/>
            <a:ext cx="10125075" cy="1000125"/>
          </a:xfrm>
          <a:prstGeom prst="roundRect">
            <a:avLst>
              <a:gd name="adj" fmla="val 9524"/>
            </a:avLst>
          </a:prstGeom>
          <a:solidFill>
            <a:srgbClr val="F3F4F6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650" b="1">
                <a:solidFill>
                  <a:srgbClr val="333333"/>
                </a:solidFill>
              </a:defRPr>
            </a:defPPr>
          </a:lstStyle>
          <a:p>
            <a:pPr algn="ctr">
              <a:defRPr sz="1650" b="1">
                <a:solidFill>
                  <a:srgbClr val="333333"/>
                </a:solidFill>
              </a:defRPr>
            </a:pPr>
            <a:r>
              <a:rPr sz="1650" b="1">
                <a:solidFill>
                  <a:srgbClr val="333333"/>
                </a:solidFill>
              </a:rPr>
              <a:t>Απλοποιημένο παράδειγμα</a:t>
            </a:r>
          </a:p>
          <a:p>
            <a:pPr algn="ctr">
              <a:defRPr sz="1650" b="1">
                <a:solidFill>
                  <a:srgbClr val="333333"/>
                </a:solidFill>
              </a:defRPr>
            </a:pPr>
            <a:r>
              <a:rPr sz="1650" b="1">
                <a:solidFill>
                  <a:srgbClr val="333333"/>
                </a:solidFill>
              </a:rPr>
              <a:t>Χωρίς DNS, ο χρήστης θα έπρεπε να θυμάται την IP Address κάθε ιστοσελίδας.</a:t>
            </a:r>
          </a:p>
        </p:txBody>
      </p:sp>
    </p:spTree>
    <p:extLst>
      <p:ext uri="{BB962C8B-B14F-4D97-AF65-F5344CB8AC3E}">
        <p14:creationId xmlns:p14="http://schemas.microsoft.com/office/powerpoint/2010/main" val="2191906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Εντολές ελέγχου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63757"/>
            <a:ext cx="5952067" cy="4477604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1ADE6AB2-31D4-43F8-8CB3-B978A6B51094}"/>
              </a:ext>
            </a:extLst>
          </p:cNvPr>
          <p:cNvSpPr>
            <a:spLocks noGrp="1"/>
          </p:cNvSpPr>
          <p:nvPr/>
        </p:nvSpPr>
        <p:spPr>
          <a:xfrm>
            <a:off x="571500" y="1247775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4A6DC372-EF3F-4BD2-A334-2CA08BBFF7D0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Θεωρία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7C771E72-8C57-4BD4-A907-9EB09DBD5ECD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ipconfig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F6C81DD3-BB36-4F23-87B3-BA04996FEDA9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Εμφ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ανίζει IP Address, Subnet Mask και Default Gateway.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56CDC298-5F75-4F10-AEA0-2EE2E608B715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lang="en-US" sz="1575" b="1" dirty="0" err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nslookup</a:t>
            </a:r>
            <a:endParaRPr sz="1575" b="1" dirty="0">
              <a:solidFill>
                <a:srgbClr val="18A7CC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73831D10-FA81-4630-80A2-DF54065724DA}"/>
              </a:ext>
            </a:extLst>
          </p:cNvPr>
          <p:cNvSpPr>
            <a:spLocks noGrp="1"/>
          </p:cNvSpPr>
          <p:nvPr/>
        </p:nvSpPr>
        <p:spPr>
          <a:xfrm>
            <a:off x="781050" y="3171825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lang="el-GR" sz="165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Ελέγχει τις ρυθμίσεις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DNS </a:t>
            </a:r>
            <a:r>
              <a:rPr lang="el-GR" sz="165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στον υπολογιστή μας</a:t>
            </a:r>
            <a:endParaRPr sz="1650" b="0" dirty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FAD8B63B-9463-4F1E-9E70-0E1A7E576AB6}"/>
              </a:ext>
            </a:extLst>
          </p:cNvPr>
          <p:cNvSpPr>
            <a:spLocks noGrp="1"/>
          </p:cNvSpPr>
          <p:nvPr/>
        </p:nvSpPr>
        <p:spPr>
          <a:xfrm>
            <a:off x="781050" y="3748087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 dirty="0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ping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B97222AA-170A-45DB-8311-5BF958D4B3D9}"/>
              </a:ext>
            </a:extLst>
          </p:cNvPr>
          <p:cNvSpPr>
            <a:spLocks noGrp="1"/>
          </p:cNvSpPr>
          <p:nvPr/>
        </p:nvSpPr>
        <p:spPr>
          <a:xfrm>
            <a:off x="781050" y="4071937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Ελέγχει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αν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έν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ας προορισμός απαντά μέσω του δικτύου.</a:t>
            </a:r>
          </a:p>
        </p:txBody>
      </p:sp>
      <p:sp>
        <p:nvSpPr>
          <p:cNvPr id="13" name="Block heading 4">
            <a:extLst>
              <a:ext uri="{FF2B5EF4-FFF2-40B4-BE49-F238E27FC236}">
                <a16:creationId xmlns:a16="http://schemas.microsoft.com/office/drawing/2014/main" id="{9B3DBC8C-A3A1-405D-ACE9-6FA8B6D5955A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tracert</a:t>
            </a:r>
          </a:p>
        </p:txBody>
      </p:sp>
      <p:sp>
        <p:nvSpPr>
          <p:cNvPr id="14" name="Block body 4">
            <a:extLst>
              <a:ext uri="{FF2B5EF4-FFF2-40B4-BE49-F238E27FC236}">
                <a16:creationId xmlns:a16="http://schemas.microsoft.com/office/drawing/2014/main" id="{CC22DC93-68B1-49EA-AB54-1E943502D4F4}"/>
              </a:ext>
            </a:extLst>
          </p:cNvPr>
          <p:cNvSpPr>
            <a:spLocks noGrp="1"/>
          </p:cNvSpPr>
          <p:nvPr/>
        </p:nvSpPr>
        <p:spPr>
          <a:xfrm>
            <a:off x="781050" y="5172075"/>
            <a:ext cx="476250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Πα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ρουσιάζει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τους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ενδιάμεσους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routers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μέχρι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τον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π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ροορισμό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.</a:t>
            </a: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2488192"/>
            <a:ext cx="4905375" cy="264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7429500" cy="742950"/>
          </a:xfrm>
        </p:spPr>
        <p:txBody>
          <a:bodyPr vert="horz" lIns="91440" tIns="45720" rIns="91440" bIns="45720" anchor="t">
            <a:normAutofit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lang="en-GB" sz="3450" dirty="0">
                <a:solidFill>
                  <a:srgbClr val="5FCBEF"/>
                </a:solidFill>
              </a:rPr>
              <a:t>i</a:t>
            </a:r>
            <a:r>
              <a:rPr sz="3450" dirty="0" err="1">
                <a:solidFill>
                  <a:srgbClr val="5FCBEF"/>
                </a:solidFill>
              </a:rPr>
              <a:t>pconfig</a:t>
            </a:r>
            <a:r>
              <a:rPr lang="el-GR" sz="3450" dirty="0">
                <a:solidFill>
                  <a:srgbClr val="5FCBEF"/>
                </a:solidFill>
              </a:rPr>
              <a:t>(</a:t>
            </a:r>
            <a:r>
              <a:rPr lang="el-GR" sz="3450" dirty="0" err="1">
                <a:solidFill>
                  <a:srgbClr val="5FCBEF"/>
                </a:solidFill>
              </a:rPr>
              <a:t>διαγνωσή</a:t>
            </a:r>
            <a:r>
              <a:rPr lang="el-GR" sz="3450" dirty="0">
                <a:solidFill>
                  <a:srgbClr val="5FCBEF"/>
                </a:solidFill>
              </a:rPr>
              <a:t> προβλημάτων)</a:t>
            </a:r>
            <a:endParaRPr dirty="0"/>
          </a:p>
        </p:txBody>
      </p:sp>
      <p:sp>
        <p:nvSpPr>
          <p:cNvPr id="4" name="Clean content 2">
            <a:extLst>
              <a:ext uri="{FF2B5EF4-FFF2-40B4-BE49-F238E27FC236}">
                <a16:creationId xmlns:a16="http://schemas.microsoft.com/office/drawing/2014/main" id="{AA5D13AE-7AFA-4820-9A3F-59677945B128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17A68A-33DA-403F-BC2C-FAE3F8FABF24}"/>
              </a:ext>
            </a:extLst>
          </p:cNvPr>
          <p:cNvSpPr>
            <a:spLocks noGrp="1"/>
          </p:cNvSpPr>
          <p:nvPr/>
        </p:nvSpPr>
        <p:spPr>
          <a:xfrm>
            <a:off x="781050" y="1495425"/>
            <a:ext cx="100965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Οι εντολές εμφανίζουν τις ρυθμίσεις δικτύου του υπολογιστή στα Windows. Δεν αλλάζουν καμία ρύθμιση.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6B83BC-0809-4C45-98AA-A9A02A04F0C7}"/>
              </a:ext>
            </a:extLst>
          </p:cNvPr>
          <p:cNvSpPr>
            <a:spLocks noGrp="1"/>
          </p:cNvSpPr>
          <p:nvPr/>
        </p:nvSpPr>
        <p:spPr>
          <a:xfrm>
            <a:off x="781050" y="2105025"/>
            <a:ext cx="10096500" cy="742950"/>
          </a:xfrm>
          <a:prstGeom prst="roundRect">
            <a:avLst>
              <a:gd name="adj" fmla="val 10256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       βασικές πληροφορίες</a:t>
            </a:r>
          </a:p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ipconfig /all   πλήρης ανάλυση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FDF35E-CFC4-42F1-9F35-075532B299D7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Χρήση: έλεγχος αν ο υπολογιστής έχει σωστή IP, μάσκα, gateway και DNS.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6D4E06-CD04-D040-D257-E39147A33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2990852"/>
            <a:ext cx="9257873" cy="228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394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F604-12B9-0039-12EB-777674919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33BA-58A2-8811-3723-2649854FB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7429500" cy="742950"/>
          </a:xfrm>
        </p:spPr>
        <p:txBody>
          <a:bodyPr vert="horz" lIns="91440" tIns="45720" rIns="91440" bIns="45720" anchor="t">
            <a:normAutofit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lang="en-US" sz="3450" dirty="0" err="1">
                <a:solidFill>
                  <a:srgbClr val="5FCBEF"/>
                </a:solidFill>
              </a:rPr>
              <a:t>nslookup</a:t>
            </a:r>
            <a:r>
              <a:rPr lang="en-US" sz="3450" dirty="0">
                <a:solidFill>
                  <a:srgbClr val="5FCBEF"/>
                </a:solidFill>
              </a:rPr>
              <a:t> </a:t>
            </a:r>
            <a:r>
              <a:rPr lang="el-GR" sz="3450" dirty="0">
                <a:solidFill>
                  <a:srgbClr val="5FCBEF"/>
                </a:solidFill>
              </a:rPr>
              <a:t>(διάγνωσή προβλημάτων)</a:t>
            </a:r>
            <a:endParaRPr dirty="0"/>
          </a:p>
        </p:txBody>
      </p:sp>
      <p:sp>
        <p:nvSpPr>
          <p:cNvPr id="4" name="Clean content 2">
            <a:extLst>
              <a:ext uri="{FF2B5EF4-FFF2-40B4-BE49-F238E27FC236}">
                <a16:creationId xmlns:a16="http://schemas.microsoft.com/office/drawing/2014/main" id="{603478F7-C898-C183-15B6-F8F2631325C4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C0F7599-C57A-60C5-2EE3-7CEE5E6BB11C}"/>
              </a:ext>
            </a:extLst>
          </p:cNvPr>
          <p:cNvSpPr>
            <a:spLocks noGrp="1"/>
          </p:cNvSpPr>
          <p:nvPr/>
        </p:nvSpPr>
        <p:spPr>
          <a:xfrm>
            <a:off x="355600" y="142875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lang="el-GR" sz="1500" b="1" dirty="0">
                <a:solidFill>
                  <a:srgbClr val="23566A"/>
                </a:solidFill>
              </a:rPr>
              <a:t>εμφανίζει τη διεύθυνση του </a:t>
            </a:r>
            <a:r>
              <a:rPr sz="1500" b="1" dirty="0">
                <a:solidFill>
                  <a:srgbClr val="23566A"/>
                </a:solidFill>
              </a:rPr>
              <a:t>DNS</a:t>
            </a:r>
            <a:r>
              <a:rPr lang="en-US" sz="1500" b="1" dirty="0">
                <a:solidFill>
                  <a:srgbClr val="23566A"/>
                </a:solidFill>
              </a:rPr>
              <a:t> server </a:t>
            </a:r>
            <a:r>
              <a:rPr lang="el-GR" sz="1500" b="1" dirty="0">
                <a:solidFill>
                  <a:srgbClr val="23566A"/>
                </a:solidFill>
              </a:rPr>
              <a:t>που θα χρησιμοποιήσει ο υπολογιστής μας</a:t>
            </a:r>
            <a:endParaRPr sz="1500" b="1" dirty="0">
              <a:solidFill>
                <a:srgbClr val="23566A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83EB7C-0C5D-E2BE-7BC8-6EFD27C57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2216150"/>
            <a:ext cx="7289800" cy="445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506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2" y="609600"/>
            <a:ext cx="5793327" cy="742950"/>
          </a:xfrm>
        </p:spPr>
        <p:txBody>
          <a:bodyPr vert="horz" lIns="91440" tIns="45720" rIns="91440" bIns="45720" anchor="t">
            <a:normAutofit fontScale="90000"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sz="3450" dirty="0">
                <a:solidFill>
                  <a:srgbClr val="5FCBEF"/>
                </a:solidFill>
              </a:rPr>
              <a:t>ping</a:t>
            </a:r>
            <a:r>
              <a:rPr lang="el-GR" sz="3450" dirty="0">
                <a:solidFill>
                  <a:srgbClr val="5FCBEF"/>
                </a:solidFill>
              </a:rPr>
              <a:t> (</a:t>
            </a:r>
            <a:r>
              <a:rPr lang="el-GR" sz="3450" dirty="0" err="1">
                <a:solidFill>
                  <a:srgbClr val="5FCBEF"/>
                </a:solidFill>
              </a:rPr>
              <a:t>διαγνωσή</a:t>
            </a:r>
            <a:r>
              <a:rPr lang="el-GR" sz="3450" dirty="0">
                <a:solidFill>
                  <a:srgbClr val="5FCBEF"/>
                </a:solidFill>
              </a:rPr>
              <a:t> προβλημάτων)</a:t>
            </a:r>
            <a:endParaRPr sz="3450" dirty="0">
              <a:solidFill>
                <a:srgbClr val="5FCBEF"/>
              </a:solidFill>
            </a:endParaRP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0" name="Clean content 4">
            <a:extLst>
              <a:ext uri="{FF2B5EF4-FFF2-40B4-BE49-F238E27FC236}">
                <a16:creationId xmlns:a16="http://schemas.microsoft.com/office/drawing/2014/main" id="{7F869091-9CC5-48F4-9FEE-C0C4C32EE931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330E2F-CDED-4A34-B64B-E96705ACE567}"/>
              </a:ext>
            </a:extLst>
          </p:cNvPr>
          <p:cNvSpPr>
            <a:spLocks noGrp="1"/>
          </p:cNvSpPr>
          <p:nvPr/>
        </p:nvSpPr>
        <p:spPr>
          <a:xfrm>
            <a:off x="781050" y="1495425"/>
            <a:ext cx="10096500" cy="495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>
              <a:defRPr sz="1725" b="0">
                <a:solidFill>
                  <a:srgbClr val="333333"/>
                </a:solidFill>
              </a:defRPr>
            </a:pPr>
            <a:r>
              <a:rPr sz="1725" b="0" dirty="0" err="1">
                <a:solidFill>
                  <a:srgbClr val="333333"/>
                </a:solidFill>
              </a:rPr>
              <a:t>Το</a:t>
            </a:r>
            <a:r>
              <a:rPr sz="1725" b="0" dirty="0">
                <a:solidFill>
                  <a:srgbClr val="333333"/>
                </a:solidFill>
              </a:rPr>
              <a:t> ping </a:t>
            </a:r>
            <a:r>
              <a:rPr sz="1725" b="0" dirty="0" err="1">
                <a:solidFill>
                  <a:srgbClr val="333333"/>
                </a:solidFill>
              </a:rPr>
              <a:t>στέλνει</a:t>
            </a:r>
            <a:r>
              <a:rPr sz="1725" b="0" dirty="0">
                <a:solidFill>
                  <a:srgbClr val="333333"/>
                </a:solidFill>
              </a:rPr>
              <a:t> </a:t>
            </a:r>
            <a:r>
              <a:rPr sz="1725" b="0" dirty="0" err="1">
                <a:solidFill>
                  <a:srgbClr val="333333"/>
                </a:solidFill>
              </a:rPr>
              <a:t>μικρά</a:t>
            </a:r>
            <a:r>
              <a:rPr sz="1725" b="0" dirty="0">
                <a:solidFill>
                  <a:srgbClr val="333333"/>
                </a:solidFill>
              </a:rPr>
              <a:t> </a:t>
            </a:r>
            <a:r>
              <a:rPr sz="1725" b="0" dirty="0" err="1">
                <a:solidFill>
                  <a:srgbClr val="333333"/>
                </a:solidFill>
              </a:rPr>
              <a:t>δοκιμ</a:t>
            </a:r>
            <a:r>
              <a:rPr sz="1725" b="0" dirty="0">
                <a:solidFill>
                  <a:srgbClr val="333333"/>
                </a:solidFill>
              </a:rPr>
              <a:t>αστικά πακέτα και περιμένει απάντηση από τον προορισμό.</a:t>
            </a:r>
            <a:r>
              <a:rPr lang="en-US" sz="1725" b="0" dirty="0">
                <a:solidFill>
                  <a:srgbClr val="333333"/>
                </a:solidFill>
              </a:rPr>
              <a:t> </a:t>
            </a:r>
            <a:r>
              <a:rPr lang="el-GR" dirty="0">
                <a:solidFill>
                  <a:srgbClr val="333333"/>
                </a:solidFill>
                <a:ea typeface="Trebuchet MS"/>
                <a:cs typeface="Trebuchet MS"/>
              </a:rPr>
              <a:t>Ελέγχει αν ένας προορισμός απαντά μέσω του δικτύου.</a:t>
            </a:r>
          </a:p>
          <a:p>
            <a:pPr algn="l">
              <a:defRPr sz="1725" b="0">
                <a:solidFill>
                  <a:srgbClr val="333333"/>
                </a:solidFill>
              </a:defRPr>
            </a:pPr>
            <a:endParaRPr sz="1725" b="0" dirty="0">
              <a:solidFill>
                <a:srgbClr val="333333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87EA34E-D5DF-4859-A266-65AFDBB4C497}"/>
              </a:ext>
            </a:extLst>
          </p:cNvPr>
          <p:cNvSpPr>
            <a:spLocks noGrp="1"/>
          </p:cNvSpPr>
          <p:nvPr/>
        </p:nvSpPr>
        <p:spPr>
          <a:xfrm>
            <a:off x="868958" y="2142067"/>
            <a:ext cx="10096500" cy="1009650"/>
          </a:xfrm>
          <a:prstGeom prst="roundRect">
            <a:avLst>
              <a:gd name="adj" fmla="val 7547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192.168.1.1      έλεγχος του τοπικού router</a:t>
            </a:r>
          </a:p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8.8.8.8          έλεγχος Internet χωρίς DNS</a:t>
            </a:r>
          </a:p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ping www.google.com   έλεγχος Internet και DNS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EC52D7-0F6E-E912-3D97-D12DACBE7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459" y="3285067"/>
            <a:ext cx="7822789" cy="334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501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2" y="609600"/>
            <a:ext cx="6326727" cy="742950"/>
          </a:xfrm>
        </p:spPr>
        <p:txBody>
          <a:bodyPr vert="horz" lIns="91440" tIns="45720" rIns="91440" bIns="45720" anchor="t">
            <a:normAutofit fontScale="90000"/>
          </a:bodyPr>
          <a:lstStyle>
            <a:defPPr>
              <a:defRPr sz="3450">
                <a:solidFill>
                  <a:srgbClr val="5FCBEF"/>
                </a:solidFill>
              </a:defRPr>
            </a:defPPr>
          </a:lstStyle>
          <a:p>
            <a:pPr>
              <a:defRPr sz="3450">
                <a:solidFill>
                  <a:srgbClr val="5FCBEF"/>
                </a:solidFill>
              </a:defRPr>
            </a:pPr>
            <a:r>
              <a:rPr sz="3450" dirty="0" err="1">
                <a:solidFill>
                  <a:srgbClr val="5FCBEF"/>
                </a:solidFill>
              </a:rPr>
              <a:t>tracert</a:t>
            </a:r>
            <a:r>
              <a:rPr lang="el-GR" sz="3450" dirty="0">
                <a:solidFill>
                  <a:srgbClr val="5FCBEF"/>
                </a:solidFill>
              </a:rPr>
              <a:t> (</a:t>
            </a:r>
            <a:r>
              <a:rPr lang="el-GR" sz="3450" dirty="0" err="1">
                <a:solidFill>
                  <a:srgbClr val="5FCBEF"/>
                </a:solidFill>
              </a:rPr>
              <a:t>διαγνωσή</a:t>
            </a:r>
            <a:r>
              <a:rPr lang="el-GR" sz="3450" dirty="0">
                <a:solidFill>
                  <a:srgbClr val="5FCBEF"/>
                </a:solidFill>
              </a:rPr>
              <a:t> προβλημάτων)</a:t>
            </a:r>
            <a:endParaRPr dirty="0"/>
          </a:p>
        </p:txBody>
      </p:sp>
      <p:sp>
        <p:nvSpPr>
          <p:cNvPr id="5" name="Clean content 5">
            <a:extLst>
              <a:ext uri="{FF2B5EF4-FFF2-40B4-BE49-F238E27FC236}">
                <a16:creationId xmlns:a16="http://schemas.microsoft.com/office/drawing/2014/main" id="{EC97C31E-7703-4F76-AF7D-A634EF2410CF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1001375" cy="495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48E1F3-2B09-4AC2-AD4B-306CA7286834}"/>
              </a:ext>
            </a:extLst>
          </p:cNvPr>
          <p:cNvSpPr>
            <a:spLocks noGrp="1"/>
          </p:cNvSpPr>
          <p:nvPr/>
        </p:nvSpPr>
        <p:spPr>
          <a:xfrm>
            <a:off x="781050" y="1243013"/>
            <a:ext cx="100965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 dirty="0" err="1">
                <a:solidFill>
                  <a:srgbClr val="333333"/>
                </a:solidFill>
              </a:rPr>
              <a:t>Το</a:t>
            </a:r>
            <a:r>
              <a:rPr sz="1725" b="0" dirty="0">
                <a:solidFill>
                  <a:srgbClr val="333333"/>
                </a:solidFill>
              </a:rPr>
              <a:t> </a:t>
            </a:r>
            <a:r>
              <a:rPr sz="1725" b="0" dirty="0" err="1">
                <a:solidFill>
                  <a:srgbClr val="333333"/>
                </a:solidFill>
              </a:rPr>
              <a:t>tracert</a:t>
            </a:r>
            <a:r>
              <a:rPr sz="1725" b="0" dirty="0">
                <a:solidFill>
                  <a:srgbClr val="333333"/>
                </a:solidFill>
              </a:rPr>
              <a:t> </a:t>
            </a:r>
            <a:r>
              <a:rPr sz="1725" b="0" dirty="0" err="1">
                <a:solidFill>
                  <a:srgbClr val="333333"/>
                </a:solidFill>
              </a:rPr>
              <a:t>εμφ</a:t>
            </a:r>
            <a:r>
              <a:rPr sz="1725" b="0" dirty="0">
                <a:solidFill>
                  <a:srgbClr val="333333"/>
                </a:solidFill>
              </a:rPr>
              <a:t>ανίζει διαδοχικά τους routers, δηλαδή τα hops, που περνά η κίνηση μέχρι τον προορισμό.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8D10C96-8AEC-4960-AB57-7B52199C482B}"/>
              </a:ext>
            </a:extLst>
          </p:cNvPr>
          <p:cNvSpPr>
            <a:spLocks noGrp="1"/>
          </p:cNvSpPr>
          <p:nvPr/>
        </p:nvSpPr>
        <p:spPr>
          <a:xfrm>
            <a:off x="781050" y="1986425"/>
            <a:ext cx="10096500" cy="666750"/>
          </a:xfrm>
          <a:prstGeom prst="roundRect">
            <a:avLst>
              <a:gd name="adj" fmla="val 11429"/>
            </a:avLst>
          </a:prstGeom>
          <a:solidFill>
            <a:srgbClr val="163746"/>
          </a:solidFill>
          <a:ln w="14288">
            <a:solidFill>
              <a:srgbClr val="5FCBEF"/>
            </a:solidFill>
            <a:prstDash val="solid"/>
          </a:ln>
        </p:spPr>
        <p:txBody>
          <a:bodyPr anchor="ctr"/>
          <a:lstStyle>
            <a:defPPr algn="l">
              <a:defRPr sz="1650" b="1">
                <a:solidFill>
                  <a:srgbClr val="FFFFFF"/>
                </a:solidFill>
              </a:defRPr>
            </a:defPPr>
          </a:lstStyle>
          <a:p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tracert www.google.com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023D39-8FF8-4B86-B353-8C76D724C654}"/>
              </a:ext>
            </a:extLst>
          </p:cNvPr>
          <p:cNvSpPr>
            <a:spLocks noGrp="1"/>
          </p:cNvSpPr>
          <p:nvPr/>
        </p:nvSpPr>
        <p:spPr>
          <a:xfrm>
            <a:off x="781050" y="556260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Χρήση: όταν το ping αποτυγχάνει ή είναι αργό, ελέγχουμε σε ποιο hop αρχίζει η καθυστέρηση.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287844-4DD7-555C-F453-0F57E9E2B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674" y="2834150"/>
            <a:ext cx="7907625" cy="2743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779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Έλεγχος προβλημάτων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6716071" cy="3880772"/>
          </a:xfrm>
        </p:spPr>
        <p:txBody>
          <a:bodyPr>
            <a:normAutofit/>
          </a:bodyPr>
          <a:lstStyle/>
          <a:p>
            <a:endParaRPr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73383F08-623A-462D-A230-968EFDB9DA69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97D7BDD8-9508-4066-A397-B979ED88C1FF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 | Θεωρία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F1736C36-5F43-4C65-BFB2-FE2C8E1539B0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Φυσική σύνδεση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0160AFBB-5761-4B19-83D2-D7D792715BDC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Ελέγχουμε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κα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λώδι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α, θύρες, φωτεινές ενδείξεις και ασύρματη σύνδεση.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9B4086BE-70E4-4A1F-82CE-DB4DA9B4A135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Ρυθμίσεις</a:t>
            </a: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F247D9E9-005F-4FAD-BF67-666F30485EE6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Ελέγχουμε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την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IP Address,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τη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lang="en-US"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subnet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μάσκ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 και το Default Gateway.</a:t>
            </a: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DF305F1F-5AC1-4283-98E0-31602520785C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Δοκιμές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FF732DCC-CCBB-4D4B-9717-9FF19AD766E4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Δοκιμάζουμε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επ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ικοινωνί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 πρώτα με τον router και έπειτα με απομακρυσμένο προορισμό.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2553451"/>
            <a:ext cx="4905375" cy="251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Δραστηριότητες Εμπέδωσης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5D78D7B6-4857-428E-A2B0-9D0ADFEC4C4F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F1E775E6-98BF-447D-BCB0-D78483465CA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A.5.M2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4CF269E8-E189-4D72-951A-2E3AEF4378BC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Να απαντηθούν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1D521794-BBE8-4028-AD5D-36201AB06AD3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3648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ερωτήσεις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lang="en-US"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5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–12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του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Φύλλου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80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Εργ</a:t>
            </a:r>
            <a:r>
              <a:rPr sz="180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ασίας A.5.M2.</a:t>
            </a:r>
            <a:endParaRPr lang="el-GR" sz="1800" b="0" dirty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  <a:p>
            <a:pPr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endParaRPr lang="el-GR" dirty="0">
              <a:solidFill>
                <a:srgbClr val="333333"/>
              </a:solidFill>
              <a:latin typeface="Trebuchet MS"/>
              <a:ea typeface="Trebuchet MS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749</Words>
  <Application>Microsoft Office PowerPoint</Application>
  <DocSecurity>0</DocSecurity>
  <PresentationFormat>Widescreen</PresentationFormat>
  <Paragraphs>120</Paragraphs>
  <Slides>11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Trebuchet MS</vt:lpstr>
      <vt:lpstr>Wingdings 3</vt:lpstr>
      <vt:lpstr>Facet</vt:lpstr>
      <vt:lpstr>Έλεγχος δικτύου</vt:lpstr>
      <vt:lpstr>Τι είναι το υποδίκτυο;</vt:lpstr>
      <vt:lpstr>DNS Server </vt:lpstr>
      <vt:lpstr>DNS Server</vt:lpstr>
      <vt:lpstr>Εντολές ελέγχου</vt:lpstr>
      <vt:lpstr>ipconfig(διαγνωσή προβλημάτων)</vt:lpstr>
      <vt:lpstr>nslookup (διάγνωσή προβλημάτων)</vt:lpstr>
      <vt:lpstr>ping (διαγνωσή προβλημάτων)</vt:lpstr>
      <vt:lpstr>tracert (διαγνωσή προβλημάτων)</vt:lpstr>
      <vt:lpstr>Έλεγχος προβλημάτων</vt:lpstr>
      <vt:lpstr>Δραστηριότητες Εμπέδωσης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2026-09-17T08:12:12Z</dcterms:created>
  <dcterms:modified xsi:type="dcterms:W3CDTF">2026-10-14T18:48:14Z</dcterms:modified>
</cp:coreProperties>
</file>