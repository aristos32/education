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66" r:id="rId3"/>
    <p:sldId id="271" r:id="rId4"/>
    <p:sldId id="260" r:id="rId5"/>
    <p:sldId id="267" r:id="rId6"/>
    <p:sldId id="270" r:id="rId7"/>
    <p:sldId id="268" r:id="rId8"/>
    <p:sldId id="269" r:id="rId9"/>
    <p:sldId id="262" r:id="rId10"/>
    <p:sldId id="26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Άριστος Αρέστη" userId="813aa191-2d4c-464f-9d05-0a7e494d859f" providerId="ADAL" clId="{49C7B61D-1ACF-4AFF-A04E-A3B433E32474}"/>
    <pc:docChg chg="custSel addSld delSld modSld sldOrd">
      <pc:chgData name="Άριστος Αρέστη" userId="813aa191-2d4c-464f-9d05-0a7e494d859f" providerId="ADAL" clId="{49C7B61D-1ACF-4AFF-A04E-A3B433E32474}" dt="2026-10-12T05:47:15.702" v="959" actId="20577"/>
      <pc:docMkLst>
        <pc:docMk/>
      </pc:docMkLst>
      <pc:sldChg chg="modSp mod">
        <pc:chgData name="Άριστος Αρέστη" userId="813aa191-2d4c-464f-9d05-0a7e494d859f" providerId="ADAL" clId="{49C7B61D-1ACF-4AFF-A04E-A3B433E32474}" dt="2026-10-10T07:30:46.840" v="784" actId="20577"/>
        <pc:sldMkLst>
          <pc:docMk/>
          <pc:sldMk cId="643881412" sldId="260"/>
        </pc:sldMkLst>
        <pc:spChg chg="mod">
          <ac:chgData name="Άριστος Αρέστη" userId="813aa191-2d4c-464f-9d05-0a7e494d859f" providerId="ADAL" clId="{49C7B61D-1ACF-4AFF-A04E-A3B433E32474}" dt="2026-10-10T07:29:50.636" v="671" actId="20577"/>
          <ac:spMkLst>
            <pc:docMk/>
            <pc:sldMk cId="643881412" sldId="260"/>
            <ac:spMk id="9" creationId="{56CDC298-5F75-4F10-AEA0-2EE2E608B715}"/>
          </ac:spMkLst>
        </pc:spChg>
        <pc:spChg chg="mod">
          <ac:chgData name="Άριστος Αρέστη" userId="813aa191-2d4c-464f-9d05-0a7e494d859f" providerId="ADAL" clId="{49C7B61D-1ACF-4AFF-A04E-A3B433E32474}" dt="2026-10-10T07:30:46.840" v="784" actId="20577"/>
          <ac:spMkLst>
            <pc:docMk/>
            <pc:sldMk cId="643881412" sldId="260"/>
            <ac:spMk id="10" creationId="{73831D10-FA81-4630-80A2-DF54065724DA}"/>
          </ac:spMkLst>
        </pc:spChg>
      </pc:sldChg>
      <pc:sldChg chg="modSp mod">
        <pc:chgData name="Άριστος Αρέστη" userId="813aa191-2d4c-464f-9d05-0a7e494d859f" providerId="ADAL" clId="{49C7B61D-1ACF-4AFF-A04E-A3B433E32474}" dt="2026-10-10T07:38:01.448" v="955" actId="6549"/>
        <pc:sldMkLst>
          <pc:docMk/>
          <pc:sldMk cId="2467819896" sldId="263"/>
        </pc:sldMkLst>
        <pc:spChg chg="mod">
          <ac:chgData name="Άριστος Αρέστη" userId="813aa191-2d4c-464f-9d05-0a7e494d859f" providerId="ADAL" clId="{49C7B61D-1ACF-4AFF-A04E-A3B433E32474}" dt="2026-10-10T07:38:01.448" v="955" actId="6549"/>
          <ac:spMkLst>
            <pc:docMk/>
            <pc:sldMk cId="2467819896" sldId="263"/>
            <ac:spMk id="9" creationId="{1D521794-BBE8-4028-AD5D-36201AB06AD3}"/>
          </ac:spMkLst>
        </pc:spChg>
      </pc:sldChg>
      <pc:sldChg chg="modSp add mod ord setBg">
        <pc:chgData name="Άριστος Αρέστη" userId="813aa191-2d4c-464f-9d05-0a7e494d859f" providerId="ADAL" clId="{49C7B61D-1ACF-4AFF-A04E-A3B433E32474}" dt="2026-10-10T06:47:22.090" v="531" actId="14100"/>
        <pc:sldMkLst>
          <pc:docMk/>
          <pc:sldMk cId="2842868052" sldId="266"/>
        </pc:sldMkLst>
        <pc:spChg chg="mod">
          <ac:chgData name="Άριστος Αρέστη" userId="813aa191-2d4c-464f-9d05-0a7e494d859f" providerId="ADAL" clId="{49C7B61D-1ACF-4AFF-A04E-A3B433E32474}" dt="2026-10-10T06:47:15.952" v="529" actId="1076"/>
          <ac:spMkLst>
            <pc:docMk/>
            <pc:sldMk cId="2842868052" sldId="266"/>
            <ac:spMk id="41" creationId="{5DCE5C69-A305-40F9-A980-FACB9EDD9A99}"/>
          </ac:spMkLst>
        </pc:spChg>
        <pc:spChg chg="mod">
          <ac:chgData name="Άριστος Αρέστη" userId="813aa191-2d4c-464f-9d05-0a7e494d859f" providerId="ADAL" clId="{49C7B61D-1ACF-4AFF-A04E-A3B433E32474}" dt="2026-10-10T06:47:22.090" v="531" actId="14100"/>
          <ac:spMkLst>
            <pc:docMk/>
            <pc:sldMk cId="2842868052" sldId="266"/>
            <ac:spMk id="42" creationId="{2F16AD20-5B5D-40C5-854C-B8018814BE88}"/>
          </ac:spMkLst>
        </pc:spChg>
      </pc:sldChg>
      <pc:sldChg chg="addSp delSp modSp add mod">
        <pc:chgData name="Άριστος Αρέστη" userId="813aa191-2d4c-464f-9d05-0a7e494d859f" providerId="ADAL" clId="{49C7B61D-1ACF-4AFF-A04E-A3B433E32474}" dt="2026-10-12T05:47:15.702" v="959" actId="20577"/>
        <pc:sldMkLst>
          <pc:docMk/>
          <pc:sldMk cId="1589394006" sldId="267"/>
        </pc:sldMkLst>
        <pc:spChg chg="mod">
          <ac:chgData name="Άριστος Αρέστη" userId="813aa191-2d4c-464f-9d05-0a7e494d859f" providerId="ADAL" clId="{49C7B61D-1ACF-4AFF-A04E-A3B433E32474}" dt="2026-10-12T05:47:15.702" v="959" actId="20577"/>
          <ac:spMkLst>
            <pc:docMk/>
            <pc:sldMk cId="1589394006" sldId="267"/>
            <ac:spMk id="2" creationId="{32C863D9-1989-4443-A424-8213A05F31BB}"/>
          </ac:spMkLst>
        </pc:spChg>
        <pc:picChg chg="add mod">
          <ac:chgData name="Άριστος Αρέστη" userId="813aa191-2d4c-464f-9d05-0a7e494d859f" providerId="ADAL" clId="{49C7B61D-1ACF-4AFF-A04E-A3B433E32474}" dt="2026-10-10T06:57:06.265" v="556" actId="1076"/>
          <ac:picMkLst>
            <pc:docMk/>
            <pc:sldMk cId="1589394006" sldId="267"/>
            <ac:picMk id="9" creationId="{C36D4E06-CD04-D040-D257-E39147A33AB2}"/>
          </ac:picMkLst>
        </pc:picChg>
      </pc:sldChg>
      <pc:sldChg chg="addSp delSp modSp add mod setBg">
        <pc:chgData name="Άριστος Αρέστη" userId="813aa191-2d4c-464f-9d05-0a7e494d859f" providerId="ADAL" clId="{49C7B61D-1ACF-4AFF-A04E-A3B433E32474}" dt="2026-10-10T07:10:16.134" v="635"/>
        <pc:sldMkLst>
          <pc:docMk/>
          <pc:sldMk cId="3085501264" sldId="268"/>
        </pc:sldMkLst>
        <pc:spChg chg="mod">
          <ac:chgData name="Άριστος Αρέστη" userId="813aa191-2d4c-464f-9d05-0a7e494d859f" providerId="ADAL" clId="{49C7B61D-1ACF-4AFF-A04E-A3B433E32474}" dt="2026-10-10T07:10:14.851" v="633" actId="14100"/>
          <ac:spMkLst>
            <pc:docMk/>
            <pc:sldMk cId="3085501264" sldId="268"/>
            <ac:spMk id="2" creationId="{62A92CD4-88DD-4F68-B449-EA9821C3EFD3}"/>
          </ac:spMkLst>
        </pc:spChg>
        <pc:spChg chg="mod">
          <ac:chgData name="Άριστος Αρέστη" userId="813aa191-2d4c-464f-9d05-0a7e494d859f" providerId="ADAL" clId="{49C7B61D-1ACF-4AFF-A04E-A3B433E32474}" dt="2026-10-10T06:59:57.971" v="567" actId="1076"/>
          <ac:spMkLst>
            <pc:docMk/>
            <pc:sldMk cId="3085501264" sldId="268"/>
            <ac:spMk id="42" creationId="{987EA34E-D5DF-4859-A266-65AFDBB4C497}"/>
          </ac:spMkLst>
        </pc:spChg>
        <pc:picChg chg="add mod">
          <ac:chgData name="Άριστος Αρέστη" userId="813aa191-2d4c-464f-9d05-0a7e494d859f" providerId="ADAL" clId="{49C7B61D-1ACF-4AFF-A04E-A3B433E32474}" dt="2026-10-10T07:00:00.485" v="568" actId="1076"/>
          <ac:picMkLst>
            <pc:docMk/>
            <pc:sldMk cId="3085501264" sldId="268"/>
            <ac:picMk id="4" creationId="{E2EC52D7-0F6E-E912-3D97-D12DACBE7502}"/>
          </ac:picMkLst>
        </pc:picChg>
      </pc:sldChg>
      <pc:sldChg chg="addSp delSp modSp add mod">
        <pc:chgData name="Άριστος Αρέστη" userId="813aa191-2d4c-464f-9d05-0a7e494d859f" providerId="ADAL" clId="{49C7B61D-1ACF-4AFF-A04E-A3B433E32474}" dt="2026-10-10T07:37:05.547" v="953" actId="1076"/>
        <pc:sldMkLst>
          <pc:docMk/>
          <pc:sldMk cId="3703779373" sldId="269"/>
        </pc:sldMkLst>
        <pc:spChg chg="mod">
          <ac:chgData name="Άριστος Αρέστη" userId="813aa191-2d4c-464f-9d05-0a7e494d859f" providerId="ADAL" clId="{49C7B61D-1ACF-4AFF-A04E-A3B433E32474}" dt="2026-10-10T07:10:23.817" v="638" actId="14100"/>
          <ac:spMkLst>
            <pc:docMk/>
            <pc:sldMk cId="3703779373" sldId="269"/>
            <ac:spMk id="2" creationId="{B66EAA72-EC7F-4ECD-B4EF-D54E871C6881}"/>
          </ac:spMkLst>
        </pc:spChg>
        <pc:spChg chg="mod">
          <ac:chgData name="Άριστος Αρέστη" userId="813aa191-2d4c-464f-9d05-0a7e494d859f" providerId="ADAL" clId="{49C7B61D-1ACF-4AFF-A04E-A3B433E32474}" dt="2026-10-10T07:00:11.803" v="569" actId="1076"/>
          <ac:spMkLst>
            <pc:docMk/>
            <pc:sldMk cId="3703779373" sldId="269"/>
            <ac:spMk id="6" creationId="{CD48E1F3-2B09-4AC2-AD4B-306CA7286834}"/>
          </ac:spMkLst>
        </pc:spChg>
        <pc:spChg chg="mod">
          <ac:chgData name="Άριστος Αρέστη" userId="813aa191-2d4c-464f-9d05-0a7e494d859f" providerId="ADAL" clId="{49C7B61D-1ACF-4AFF-A04E-A3B433E32474}" dt="2026-10-10T07:37:05.547" v="953" actId="1076"/>
          <ac:spMkLst>
            <pc:docMk/>
            <pc:sldMk cId="3703779373" sldId="269"/>
            <ac:spMk id="7" creationId="{58D10C96-8AEC-4960-AB57-7B52199C482B}"/>
          </ac:spMkLst>
        </pc:spChg>
        <pc:picChg chg="add mod">
          <ac:chgData name="Άριστος Αρέστη" userId="813aa191-2d4c-464f-9d05-0a7e494d859f" providerId="ADAL" clId="{49C7B61D-1ACF-4AFF-A04E-A3B433E32474}" dt="2026-10-10T07:02:58.032" v="573" actId="14100"/>
          <ac:picMkLst>
            <pc:docMk/>
            <pc:sldMk cId="3703779373" sldId="269"/>
            <ac:picMk id="4" creationId="{36287844-4DD7-555C-F453-0F57E9E2B7EE}"/>
          </ac:picMkLst>
        </pc:picChg>
      </pc:sldChg>
      <pc:sldChg chg="addSp delSp modSp add mod">
        <pc:chgData name="Άριστος Αρέστη" userId="813aa191-2d4c-464f-9d05-0a7e494d859f" providerId="ADAL" clId="{49C7B61D-1ACF-4AFF-A04E-A3B433E32474}" dt="2026-10-10T07:36:49.887" v="952" actId="20577"/>
        <pc:sldMkLst>
          <pc:docMk/>
          <pc:sldMk cId="3099506725" sldId="270"/>
        </pc:sldMkLst>
        <pc:spChg chg="mod">
          <ac:chgData name="Άριστος Αρέστη" userId="813aa191-2d4c-464f-9d05-0a7e494d859f" providerId="ADAL" clId="{49C7B61D-1ACF-4AFF-A04E-A3B433E32474}" dt="2026-10-10T07:36:49.887" v="952" actId="20577"/>
          <ac:spMkLst>
            <pc:docMk/>
            <pc:sldMk cId="3099506725" sldId="270"/>
            <ac:spMk id="2" creationId="{B86133BA-58A2-8811-3723-2649854FB39A}"/>
          </ac:spMkLst>
        </pc:spChg>
        <pc:spChg chg="mod">
          <ac:chgData name="Άριστος Αρέστη" userId="813aa191-2d4c-464f-9d05-0a7e494d859f" providerId="ADAL" clId="{49C7B61D-1ACF-4AFF-A04E-A3B433E32474}" dt="2026-10-10T07:36:35.417" v="947" actId="20577"/>
          <ac:spMkLst>
            <pc:docMk/>
            <pc:sldMk cId="3099506725" sldId="270"/>
            <ac:spMk id="8" creationId="{6C0F7599-C57A-60C5-2EE3-7CEE5E6BB11C}"/>
          </ac:spMkLst>
        </pc:spChg>
        <pc:picChg chg="add mod">
          <ac:chgData name="Άριστος Αρέστη" userId="813aa191-2d4c-464f-9d05-0a7e494d859f" providerId="ADAL" clId="{49C7B61D-1ACF-4AFF-A04E-A3B433E32474}" dt="2026-10-10T07:36:30.946" v="940" actId="14100"/>
          <ac:picMkLst>
            <pc:docMk/>
            <pc:sldMk cId="3099506725" sldId="270"/>
            <ac:picMk id="7" creationId="{5C83EB7C-0C5D-E2BE-7BC8-6EFD27C574B1}"/>
          </ac:picMkLst>
        </pc:picChg>
      </pc:sldChg>
      <pc:sldChg chg="add">
        <pc:chgData name="Άριστος Αρέστη" userId="813aa191-2d4c-464f-9d05-0a7e494d859f" providerId="ADAL" clId="{49C7B61D-1ACF-4AFF-A04E-A3B433E32474}" dt="2026-10-10T07:56:40.278" v="956"/>
        <pc:sldMkLst>
          <pc:docMk/>
          <pc:sldMk cId="2191906609" sldId="27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Πρότυπο: A4.M2 Πολυμέσα-Ήχος(2).pptx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Θεωρία και Φύλλο Εργασίας A.5.M2, σχολικά βιβλία Πληροφορικής Α΄ Λυκείου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Θεωρία και Φύλλο Εργασίας A.5.M2, σχολικά βιβλία Πληροφορικής Α΄ Λυκείου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Τετράδιο Εργασιών Πληροφορικής Α΄ Λυκείου, A.5.M2, Δραστηριότητες Εμπέδωσης, σελ. 87–89</a:t>
            </a:r>
          </a:p>
          <a:p>
            <a:r>
              <a:t>- Σημειώσεις Πληροφορικής Α΄ Λυκείου, ενότητα Α.5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Θεωρία και Φύλλο Εργασίας A.5.M2, σχολικά βιβλία Πληροφορικής Α΄ Λυκείου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479E1E-E9C8-4F53-2425-D2950FA091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DB91EF-50BF-B279-BA6E-0B3AEFAA02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4C0D3D-2C31-239E-A53E-9A28BF781D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Θεωρία και Φύλλο Εργασίας A.5.M2, σχολικά βιβλία Πληροφορικής Α΄ Λυκείου</a:t>
            </a:r>
          </a:p>
          <a:p>
            <a:r>
              <a:t>[/Sources]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43AAAA-C03A-E995-4BB5-F7C910BD79FF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720501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Θεωρία και Φύλλο Εργασίας A.5.M2, σχολικά βιβλία Πληροφορικής Α΄ Λυκείου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Θεωρία και Φύλλο Εργασίας A.5.M2, σχολικά βιβλία Πληροφορικής Α΄ Λυκείου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Τετράδιο Εργασιών Πληροφορικής Α΄ Λυκείου, A.5.M2, Δραστηριότητες Εμπέδωσης, σελ. 87–89</a:t>
            </a:r>
          </a:p>
          <a:p>
            <a:r>
              <a:t>- Σημειώσεις Πληροφορικής Α΄ Λυκείου, ενότητα Α.5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Τετράδιο Εργασιών Πληροφορικής Α΄ Λυκείου, A.5.M2, Δραστηριότητες Εμπέδωσης, σελ. 87–89</a:t>
            </a:r>
          </a:p>
          <a:p>
            <a:r>
              <a:t>- Σημειώσεις Πληροφορικής Α΄ Λυκείου, ενότητα Α.5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4">
            <a:extLst>
              <a:ext uri="{FF2B5EF4-FFF2-40B4-BE49-F238E27FC236}">
                <a16:creationId xmlns:a16="http://schemas.microsoft.com/office/drawing/2014/main" id="{4E918921-2CFD-4CA1-B08F-3BAB503BE518}"/>
              </a:ext>
            </a:extLst>
          </p:cNvPr>
          <p:cNvSpPr>
            <a:spLocks noGrp="1"/>
          </p:cNvSpPr>
          <p:nvPr/>
        </p:nvSpPr>
        <p:spPr>
          <a:xfrm>
            <a:off x="0" y="-7862"/>
            <a:ext cx="863600" cy="5698067"/>
          </a:xfrm>
          <a:custGeom>
            <a:avLst/>
            <a:gdLst/>
            <a:ahLst/>
            <a:cxnLst/>
            <a:rect l="l" t="t" r="r" b="b"/>
            <a:pathLst>
              <a:path w="863600" h="5698067">
                <a:moveTo>
                  <a:pt x="0" y="8467"/>
                </a:moveTo>
                <a:lnTo>
                  <a:pt x="863600" y="0"/>
                </a:lnTo>
                <a:lnTo>
                  <a:pt x="863600" y="16934"/>
                </a:lnTo>
                <a:lnTo>
                  <a:pt x="0" y="5698067"/>
                </a:lnTo>
                <a:lnTo>
                  <a:pt x="0" y="8467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E37B2AF0-F1FD-4B03-B481-A7AEB0D4918E}"/>
              </a:ext>
            </a:extLst>
          </p:cNvPr>
          <p:cNvSpPr>
            <a:spLocks noGrp="1"/>
          </p:cNvSpPr>
          <p:nvPr/>
        </p:nv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GB"/>
          </a:p>
        </p:txBody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655BA76F-F0D3-46DC-8669-115FD57880C2}"/>
              </a:ext>
            </a:extLst>
          </p:cNvPr>
          <p:cNvSpPr>
            <a:spLocks noGrp="1"/>
          </p:cNvSpPr>
          <p:nvPr/>
        </p:nv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GB"/>
          </a:p>
        </p:txBody>
      </p:sp>
      <p:sp>
        <p:nvSpPr>
          <p:cNvPr id="21" name="Rectangle 23">
            <a:extLst>
              <a:ext uri="{FF2B5EF4-FFF2-40B4-BE49-F238E27FC236}">
                <a16:creationId xmlns:a16="http://schemas.microsoft.com/office/drawing/2014/main" id="{DD257EB0-2B30-4FC6-AA24-873A5B4FFEA2}"/>
              </a:ext>
            </a:extLst>
          </p:cNvPr>
          <p:cNvSpPr>
            <a:spLocks noGrp="1"/>
          </p:cNvSpPr>
          <p:nvPr/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2" name="Rectangle 25">
            <a:extLst>
              <a:ext uri="{FF2B5EF4-FFF2-40B4-BE49-F238E27FC236}">
                <a16:creationId xmlns:a16="http://schemas.microsoft.com/office/drawing/2014/main" id="{AF7B4680-A767-4058-AF50-A02AD3F15A73}"/>
              </a:ext>
            </a:extLst>
          </p:cNvPr>
          <p:cNvSpPr>
            <a:spLocks noGrp="1"/>
          </p:cNvSpPr>
          <p:nvPr/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43640B4D-BEFD-4199-A8AA-0ACAD1F35BF8}"/>
              </a:ext>
            </a:extLst>
          </p:cNvPr>
          <p:cNvSpPr>
            <a:spLocks noGrp="1"/>
          </p:cNvSpPr>
          <p:nvPr/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1">
              <a:lumMod val="75000"/>
              <a:alpha val="6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4" name="Rectangle 27">
            <a:extLst>
              <a:ext uri="{FF2B5EF4-FFF2-40B4-BE49-F238E27FC236}">
                <a16:creationId xmlns:a16="http://schemas.microsoft.com/office/drawing/2014/main" id="{C52E025E-B7B6-4C2F-95C3-451B2D04D502}"/>
              </a:ext>
            </a:extLst>
          </p:cNvPr>
          <p:cNvSpPr>
            <a:spLocks noGrp="1"/>
          </p:cNvSpPr>
          <p:nvPr/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  <a:alpha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5" name="Rectangle 28">
            <a:extLst>
              <a:ext uri="{FF2B5EF4-FFF2-40B4-BE49-F238E27FC236}">
                <a16:creationId xmlns:a16="http://schemas.microsoft.com/office/drawing/2014/main" id="{2DD6DD06-FAD9-4434-AAD6-4F5F4054467A}"/>
              </a:ext>
            </a:extLst>
          </p:cNvPr>
          <p:cNvSpPr>
            <a:spLocks noGrp="1"/>
          </p:cNvSpPr>
          <p:nvPr/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2">
              <a:alpha val="7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6" name="Rectangle 29">
            <a:extLst>
              <a:ext uri="{FF2B5EF4-FFF2-40B4-BE49-F238E27FC236}">
                <a16:creationId xmlns:a16="http://schemas.microsoft.com/office/drawing/2014/main" id="{08CE678E-61E0-4B59-9E06-0CCDA51B5F1A}"/>
              </a:ext>
            </a:extLst>
          </p:cNvPr>
          <p:cNvSpPr>
            <a:spLocks noGrp="1"/>
          </p:cNvSpPr>
          <p:nvPr/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7" name="Isosceles Triangle 26">
            <a:extLst>
              <a:ext uri="{FF2B5EF4-FFF2-40B4-BE49-F238E27FC236}">
                <a16:creationId xmlns:a16="http://schemas.microsoft.com/office/drawing/2014/main" id="{6CF5F7A2-53D8-4ABB-B382-AFAFF8453B4D}"/>
              </a:ext>
            </a:extLst>
          </p:cNvPr>
          <p:cNvSpPr>
            <a:spLocks noGrp="1"/>
          </p:cNvSpPr>
          <p:nvPr/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lumMod val="75000"/>
              <a:alpha val="6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7FDF0A-A15E-4E62-941B-5415901439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buNone/>
              <a:defRPr sz="5400">
                <a:solidFill>
                  <a:schemeClr val="accent1"/>
                </a:solidFill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274578-9B32-473A-B0FD-5A428DF4E4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B300C8-64F2-42E4-B5F9-4C502AC14CE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12-Oct-26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EC6B3A-D180-442C-87FB-17957759B4F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711ED2-A058-4592-AFE4-D9FE673F9AF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77581-562F-47E7-8112-9B9297AD1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7120C2-37BA-41A7-88BE-349064B19F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C73FAF-6252-4F7B-8D52-61D4525FAA8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12-Oct-26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0AB332-D473-41FC-8833-2008668A0B4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16F0BE-FA5E-42B7-9F04-6403D88AF5B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34865-9BC9-4F7B-BF47-BAB8288BF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buNone/>
              <a:defRPr sz="4000" b="0" cap="none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A7564D-364D-4098-BF47-59F28828E6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6BC595-E100-4CF2-8F9C-0A9A5B58E4F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12-Oct-26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38BCC5-E90B-4F82-9D04-02D3B854EBA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E48D55-6385-4245-B919-3F3734427AD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40ED1-1734-4A83-A54D-3C3E2024A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881F0C-C285-423E-9B15-CB6DB0999E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E0EEA2-E839-43FB-8853-72CD6C8907C7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26FBE4-7483-4A34-B95C-F1C086D6F26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12-Oct-26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D7005D-403D-4B2D-B4AE-FB49B141D1E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4274DD-73D4-49E4-A7FC-F02DF42A8A9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9B616-EBE7-4DBD-93E3-B48524DC2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EFB809-40AE-487F-8E1A-27605066CA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CE4FF7-CBE0-4679-B6DE-CB30562D4704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E209FA-3B2C-4B90-BB28-4F3BB933049B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54B334-B088-4BD2-8AB9-463A3A7DDC49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6FF7CAB-3E66-49EF-ABC4-6B3CBA5B954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12-Oct-26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DE1B27-2770-440B-8683-B33AB2F8997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75A2C5-0358-4435-9AA6-43968B51961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6C2FF-7108-4081-A2CF-009FBCC1C4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28814B-6E48-48D5-B472-0ACD110B4F7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12-Oct-26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FFA3EA-506D-4E17-B515-424F484D46C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EA18EE-9DBE-4F3E-9523-7AC767EA8D7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42DD94-4BE1-43A9-ACA5-02458C765BA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12-Oct-26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F01500-3CEB-4E6E-AD3B-61C1D210C3C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3B4083-954B-41BD-B609-2D06C7EC3DA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8CC36-F893-42EA-85A9-4908E04B1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buNone/>
              <a:defRPr sz="2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F19624-ADFA-48E6-BD3C-7ED96121EF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8F45B7-7981-4D15-B61B-718D2A3AB8E9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9FBCD0-4CDE-41A3-94CB-65673985F08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12-Oct-26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AB3597-CA70-4297-B68E-36CA3174A99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EA9B7B-47EA-4C7C-93C5-0195B760557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825EE-8171-47C6-9D7E-BA60971B6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buNone/>
              <a:defRPr sz="2400" b="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6AADA7-0CCE-406C-8490-8E3B86C299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A735FF-F666-49B8-836F-25EA123BA339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3A5BD9-4BEB-4CB2-BC4E-263561C08FC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5A0EF9-3902-4E30-9474-29CA9E2B730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B7EBFC-F60A-4B6C-AED7-920643100F9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12-Oct-26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B30-B37C-4942-B0C4-5EB7F0D6D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buNone/>
              <a:defRPr sz="4400" b="0" cap="none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DA3222-9946-4CFA-AFC2-94ECB00F57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95A612-A924-458F-B443-59FD13BB292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12-Oct-26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8939AF-AEBA-4F37-8BDE-8C756BD903D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B5C401-FF14-489A-9B3E-D0ED476A258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59351-7955-4803-A7F8-DF0862306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buNone/>
              <a:defRPr sz="4400" b="0" cap="none"/>
            </a:lvl1pPr>
          </a:lstStyle>
          <a:p>
            <a:r>
              <a:t>Click to edit Master title style</a:t>
            </a:r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54B1FC33-9DF1-4054-B18A-956604D0FF97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138461-AC1B-4274-9162-5045F49EBB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128501-0168-461B-ACB6-54D73113959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12-Oct-26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07A80A-D5B4-4E94-A1B3-F082DFBECD4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386AF-2374-4576-91A8-581D8FD8B58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370E8FC-ED60-43AA-AF41-660A35EDFF7D}"/>
              </a:ext>
            </a:extLst>
          </p:cNvPr>
          <p:cNvSpPr>
            <a:spLocks noGrp="1"/>
          </p:cNvSpPr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anchor="ctr">
            <a:noAutofit/>
          </a:bodyPr>
          <a:lstStyle/>
          <a:p>
            <a:pPr lvl="0">
              <a:buNone/>
            </a:pPr>
            <a:r>
              <a:rPr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“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DA0C394-E2FD-44B8-9735-EBD5F1A44478}"/>
              </a:ext>
            </a:extLst>
          </p:cNvPr>
          <p:cNvSpPr>
            <a:spLocks noGrp="1"/>
          </p:cNvSpPr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anchor="ctr">
            <a:noAutofit/>
          </a:bodyPr>
          <a:lstStyle/>
          <a:p>
            <a:pPr lvl="0">
              <a:buNone/>
            </a:pPr>
            <a:r>
              <a:rPr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B22F0-2F5D-435B-A869-6932D10A3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buNone/>
              <a:defRPr sz="4400" b="0" cap="none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4EE19A-AC66-4CAA-BB73-F9898D79AD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03FCF3-F551-429E-9CC5-EF959DFFEC7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12-Oct-26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5D6C97-86E7-4AB6-89C1-6F3FE06FF78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ACCD4F-188D-44BD-8DA0-19E4020DF0D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44E46-9F27-40A4-A138-C87261AAA8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buNone/>
              <a:defRPr sz="4400" b="0" cap="none"/>
            </a:lvl1pPr>
          </a:lstStyle>
          <a:p>
            <a:r>
              <a:t>Click to edit Master title style</a:t>
            </a:r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67FCD007-0694-45C0-9EBB-82675A840F65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7EAEAD-5F1B-4C05-8600-78540C7055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063699-B292-45EB-8A0D-79D2AF61094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12-Oct-26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7BDE3D-C164-43B4-AAE3-5A8EE76F2FE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C741F5-99D6-4A1D-B754-5D4CD6E2E12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B584E9A-A507-4AE0-BF59-E41954519893}"/>
              </a:ext>
            </a:extLst>
          </p:cNvPr>
          <p:cNvSpPr>
            <a:spLocks noGrp="1"/>
          </p:cNvSpPr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anchor="ctr">
            <a:noAutofit/>
          </a:bodyPr>
          <a:lstStyle/>
          <a:p>
            <a:pPr lvl="0">
              <a:buNone/>
            </a:pPr>
            <a:r>
              <a:rPr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“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CD84491-7D8F-48BA-B9F3-742C7B7F821E}"/>
              </a:ext>
            </a:extLst>
          </p:cNvPr>
          <p:cNvSpPr>
            <a:spLocks noGrp="1"/>
          </p:cNvSpPr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anchor="ctr">
            <a:noAutofit/>
          </a:bodyPr>
          <a:lstStyle/>
          <a:p>
            <a:pPr lvl="0">
              <a:buNone/>
            </a:pPr>
            <a:r>
              <a:rPr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DA0E8-F2EE-454B-96F9-FCF7079E5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buNone/>
              <a:defRPr sz="4400" b="0" cap="none"/>
            </a:lvl1pPr>
          </a:lstStyle>
          <a:p>
            <a:r>
              <a:t>Click to edit Master title style</a:t>
            </a:r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019E2193-1BB2-4A64-90D5-565C5128C2B5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AE9668-4745-44B9-ADC6-C960739713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C75CF1-5C89-4D2F-A7E8-860AFFDDC0E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12-Oct-26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457B51-C79B-4E04-87FA-3DC4C1479DB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70F5CC-48F9-432B-95CE-D0195B579F9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BF31E-9A0C-4161-914A-53AE471C7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369F82-FCEE-4B82-AFF4-B7FC808ADE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15ED90-3B0E-481C-A8CB-EF492CE6924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12-Oct-26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306BA6-4EED-4611-951E-517F4F7B483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65D357-67E7-4B77-985A-491D9E6906C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37C092-BFDD-4559-9181-69DBA05D7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33D11E-BE84-4CB9-AF9A-1AA6E3DB1A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ABD5CC-929C-438F-917D-24115BEF3AB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12-Oct-26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5EB7E8-2C32-4192-8FAD-7055EF28053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BBA38E-0375-4975-B2EB-88BCD2F64F0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E4847988-64DE-4EA1-931A-8E35BF4048DC}"/>
              </a:ext>
            </a:extLst>
          </p:cNvPr>
          <p:cNvSpPr>
            <a:spLocks noGrp="1"/>
          </p:cNvSpPr>
          <p:nvPr/>
        </p:nv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GB"/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A8647E92-895C-4BD4-8405-D49CFEAFA235}"/>
              </a:ext>
            </a:extLst>
          </p:cNvPr>
          <p:cNvSpPr>
            <a:spLocks noGrp="1"/>
          </p:cNvSpPr>
          <p:nvPr/>
        </p:nv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GB"/>
          </a:p>
        </p:txBody>
      </p:sp>
      <p:sp>
        <p:nvSpPr>
          <p:cNvPr id="22" name="Rectangle 23">
            <a:extLst>
              <a:ext uri="{FF2B5EF4-FFF2-40B4-BE49-F238E27FC236}">
                <a16:creationId xmlns:a16="http://schemas.microsoft.com/office/drawing/2014/main" id="{D02C6D03-6DA2-4BFE-A1AB-B3F56E100220}"/>
              </a:ext>
            </a:extLst>
          </p:cNvPr>
          <p:cNvSpPr>
            <a:spLocks noGrp="1"/>
          </p:cNvSpPr>
          <p:nvPr/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3" name="Rectangle 25">
            <a:extLst>
              <a:ext uri="{FF2B5EF4-FFF2-40B4-BE49-F238E27FC236}">
                <a16:creationId xmlns:a16="http://schemas.microsoft.com/office/drawing/2014/main" id="{7CFF94C5-1DFF-468F-81F7-A59CB21768B1}"/>
              </a:ext>
            </a:extLst>
          </p:cNvPr>
          <p:cNvSpPr>
            <a:spLocks noGrp="1"/>
          </p:cNvSpPr>
          <p:nvPr/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AD4886C9-2FB5-4F7F-A31A-3A9D30D397A7}"/>
              </a:ext>
            </a:extLst>
          </p:cNvPr>
          <p:cNvSpPr>
            <a:spLocks noGrp="1"/>
          </p:cNvSpPr>
          <p:nvPr/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1">
              <a:lumMod val="75000"/>
              <a:alpha val="6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5" name="Rectangle 27">
            <a:extLst>
              <a:ext uri="{FF2B5EF4-FFF2-40B4-BE49-F238E27FC236}">
                <a16:creationId xmlns:a16="http://schemas.microsoft.com/office/drawing/2014/main" id="{014E5C00-25C2-4C47-8920-B5D57AD506D5}"/>
              </a:ext>
            </a:extLst>
          </p:cNvPr>
          <p:cNvSpPr>
            <a:spLocks noGrp="1"/>
          </p:cNvSpPr>
          <p:nvPr/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  <a:alpha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6" name="Rectangle 28">
            <a:extLst>
              <a:ext uri="{FF2B5EF4-FFF2-40B4-BE49-F238E27FC236}">
                <a16:creationId xmlns:a16="http://schemas.microsoft.com/office/drawing/2014/main" id="{8CEA40CE-B0C6-494F-AAEC-7C1B19293F9B}"/>
              </a:ext>
            </a:extLst>
          </p:cNvPr>
          <p:cNvSpPr>
            <a:spLocks noGrp="1"/>
          </p:cNvSpPr>
          <p:nvPr/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2">
              <a:alpha val="7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7" name="Rectangle 29">
            <a:extLst>
              <a:ext uri="{FF2B5EF4-FFF2-40B4-BE49-F238E27FC236}">
                <a16:creationId xmlns:a16="http://schemas.microsoft.com/office/drawing/2014/main" id="{67E0546B-4456-4225-A01D-73D316C78E2E}"/>
              </a:ext>
            </a:extLst>
          </p:cNvPr>
          <p:cNvSpPr>
            <a:spLocks noGrp="1"/>
          </p:cNvSpPr>
          <p:nvPr/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8" name="Isosceles Triangle 27">
            <a:extLst>
              <a:ext uri="{FF2B5EF4-FFF2-40B4-BE49-F238E27FC236}">
                <a16:creationId xmlns:a16="http://schemas.microsoft.com/office/drawing/2014/main" id="{60B34E2E-02C5-4A0D-BF27-D0F3CBFCB6FB}"/>
              </a:ext>
            </a:extLst>
          </p:cNvPr>
          <p:cNvSpPr>
            <a:spLocks noGrp="1"/>
          </p:cNvSpPr>
          <p:nvPr/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lumMod val="75000"/>
              <a:alpha val="6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068A91AD-54F9-4831-A261-E1F0DC6F2F0C}"/>
              </a:ext>
            </a:extLst>
          </p:cNvPr>
          <p:cNvSpPr>
            <a:spLocks noGrp="1"/>
          </p:cNvSpPr>
          <p:nvPr/>
        </p:nvSpPr>
        <p:spPr>
          <a:xfrm>
            <a:off x="0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2C832B-F90C-4549-8F7C-D55A0CAAF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anchor="t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F95686-1A05-49EC-8A54-890B192043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9E00E7-0945-4FEB-BCA7-892E1CDD1490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1AB97B-D0C7-4CCB-8568-F47C13D538D5}" type="datetimeFigureOut">
              <a:t>12-Oct-26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9679E8-24C3-4AC5-B0EC-0526D46F752F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8A05C0-8325-4139-B75F-F72C56BD63B0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900">
                <a:solidFill>
                  <a:schemeClr val="accent1"/>
                </a:solidFill>
              </a:defRPr>
            </a:lvl1pPr>
          </a:lstStyle>
          <a:p>
            <a:fld id="{E2239BDF-7A9B-44BA-815E-434EFA41A2DE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457200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lt"/>
          <a:cs typeface="+mj-lt"/>
        </a:defRPr>
      </a:lvl1pPr>
      <a:lvl2pPr>
        <a:buNone/>
        <a:defRPr>
          <a:solidFill>
            <a:schemeClr val="tx2"/>
          </a:solidFill>
        </a:defRPr>
      </a:lvl2pPr>
      <a:lvl3pPr>
        <a:buNone/>
        <a:defRPr>
          <a:solidFill>
            <a:schemeClr val="tx2"/>
          </a:solidFill>
        </a:defRPr>
      </a:lvl3pPr>
      <a:lvl4pPr>
        <a:buNone/>
        <a:defRPr>
          <a:solidFill>
            <a:schemeClr val="tx2"/>
          </a:solidFill>
        </a:defRPr>
      </a:lvl4pPr>
      <a:lvl5pPr>
        <a:buNone/>
        <a:defRPr>
          <a:solidFill>
            <a:schemeClr val="tx2"/>
          </a:solidFill>
        </a:defRPr>
      </a:lvl5pPr>
      <a:lvl6pPr>
        <a:buNone/>
        <a:defRPr>
          <a:solidFill>
            <a:schemeClr val="tx2"/>
          </a:solidFill>
        </a:defRPr>
      </a:lvl6pPr>
      <a:lvl7pPr>
        <a:buNone/>
        <a:defRPr>
          <a:solidFill>
            <a:schemeClr val="tx2"/>
          </a:solidFill>
        </a:defRPr>
      </a:lvl7pPr>
      <a:lvl8pPr>
        <a:buNone/>
        <a:defRPr>
          <a:solidFill>
            <a:schemeClr val="tx2"/>
          </a:solidFill>
        </a:defRPr>
      </a:lvl8pPr>
      <a:lvl9pPr>
        <a:buNone/>
        <a:defRPr>
          <a:solidFill>
            <a:schemeClr val="tx2"/>
          </a:solidFill>
        </a:defRPr>
      </a:lvl9pPr>
    </p:titleStyle>
    <p:bodyStyle>
      <a:lvl1pPr marL="342900" indent="-3429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1pPr>
      <a:lvl2pPr marL="742950" indent="-28575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2pPr>
      <a:lvl3pPr marL="11430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3pPr>
      <a:lvl4pPr marL="16002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4pPr>
      <a:lvl5pPr marL="20574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5pPr>
      <a:lvl6pPr marL="25146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6pPr>
      <a:lvl7pPr marL="29718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7pPr>
      <a:lvl8pPr marL="34290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8pPr>
      <a:lvl9pPr marL="38862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9pPr>
    </p:bodyStyle>
    <p:otherStyle>
      <a:lvl1pPr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2783C067-F8BF-4755-B516-8A0CD74CF60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664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9" name="Isosceles Triangle 48">
            <a:extLst>
              <a:ext uri="{FF2B5EF4-FFF2-40B4-BE49-F238E27FC236}">
                <a16:creationId xmlns:a16="http://schemas.microsoft.com/office/drawing/2014/main" id="{2ED796EC-E7FF-46DB-B912-FB08BF12AA6E}"/>
              </a:ext>
            </a:extLst>
          </p:cNvPr>
          <p:cNvSpPr>
            <a:spLocks noGrp="1"/>
          </p:cNvSpPr>
          <p:nvPr/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51" name="Isosceles Triangle 50">
            <a:extLst>
              <a:ext uri="{FF2B5EF4-FFF2-40B4-BE49-F238E27FC236}">
                <a16:creationId xmlns:a16="http://schemas.microsoft.com/office/drawing/2014/main" id="{549A2DAB-B431-487D-95AD-BB0FECB49E57}"/>
              </a:ext>
            </a:extLst>
          </p:cNvPr>
          <p:cNvSpPr>
            <a:spLocks noGrp="1"/>
          </p:cNvSpPr>
          <p:nvPr/>
        </p:nvSpPr>
        <p:spPr>
          <a:xfrm>
            <a:off x="7738534" y="3818467"/>
            <a:ext cx="4450292" cy="3039533"/>
          </a:xfrm>
          <a:prstGeom prst="triangle">
            <a:avLst>
              <a:gd name="adj" fmla="val 100000"/>
            </a:avLst>
          </a:prstGeom>
          <a:solidFill>
            <a:schemeClr val="accent1">
              <a:lumMod val="75000"/>
              <a:alpha val="8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53" name="Straight Connector 52">
            <a:extLst>
              <a:ext uri="{FF2B5EF4-FFF2-40B4-BE49-F238E27FC236}">
                <a16:creationId xmlns:a16="http://schemas.microsoft.com/office/drawing/2014/main" id="{7EB72ABB-51C2-44BE-92E4-812CE23FDFEB}"/>
              </a:ext>
            </a:extLst>
          </p:cNvPr>
          <p:cNvSpPr>
            <a:spLocks noGrp="1"/>
          </p:cNvSpPr>
          <p:nvPr/>
        </p:nvSpPr>
        <p:spPr>
          <a:xfrm>
            <a:off x="10134600" y="0"/>
            <a:ext cx="1727200" cy="6858000"/>
          </a:xfrm>
          <a:prstGeom prst="line">
            <a:avLst/>
          </a:prstGeom>
          <a:ln w="1587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GB"/>
          </a:p>
        </p:txBody>
      </p:sp>
      <p:sp>
        <p:nvSpPr>
          <p:cNvPr id="55" name="Straight Connector 54">
            <a:extLst>
              <a:ext uri="{FF2B5EF4-FFF2-40B4-BE49-F238E27FC236}">
                <a16:creationId xmlns:a16="http://schemas.microsoft.com/office/drawing/2014/main" id="{3F0E7EA5-53B8-426D-B5D7-06135FCD02DD}"/>
              </a:ext>
            </a:extLst>
          </p:cNvPr>
          <p:cNvSpPr>
            <a:spLocks noGrp="1"/>
          </p:cNvSpPr>
          <p:nvPr/>
        </p:nvSpPr>
        <p:spPr>
          <a:xfrm flipH="1">
            <a:off x="7425267" y="3681413"/>
            <a:ext cx="4763558" cy="3176587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31F404-85BF-4A44-A7B7-33CE2AAB1A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6" y="1397000"/>
            <a:ext cx="8102759" cy="2421467"/>
          </a:xfrm>
        </p:spPr>
        <p:txBody>
          <a:bodyPr>
            <a:normAutofit/>
          </a:bodyPr>
          <a:lstStyle/>
          <a:p>
            <a:pPr algn="l">
              <a:buNone/>
            </a:pPr>
            <a:r>
              <a:t>Έλεγχος δικτύου</a:t>
            </a:r>
          </a:p>
        </p:txBody>
      </p:sp>
      <p:sp>
        <p:nvSpPr>
          <p:cNvPr id="57" name="Rectangle 27">
            <a:extLst>
              <a:ext uri="{FF2B5EF4-FFF2-40B4-BE49-F238E27FC236}">
                <a16:creationId xmlns:a16="http://schemas.microsoft.com/office/drawing/2014/main" id="{0819F787-32B4-46A8-BC57-C6571BCEE243}"/>
              </a:ext>
            </a:extLst>
          </p:cNvPr>
          <p:cNvSpPr>
            <a:spLocks noGrp="1"/>
          </p:cNvSpPr>
          <p:nvPr/>
        </p:nvSpPr>
        <p:spPr>
          <a:xfrm>
            <a:off x="10425641" y="0"/>
            <a:ext cx="1766359" cy="6858000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261968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3DE7BDB4-5B22-4942-A5BF-1BC290BB60C6}"/>
              </a:ext>
            </a:extLst>
          </p:cNvPr>
          <p:cNvSpPr>
            <a:spLocks noGrp="1"/>
          </p:cNvSpPr>
          <p:nvPr/>
        </p:nv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F972E8AA-2DAA-4786-A1DC-793A00EB1F59}"/>
              </a:ext>
            </a:extLst>
          </p:cNvPr>
          <p:cNvSpPr>
            <a:spLocks noGrp="1"/>
          </p:cNvSpPr>
          <p:nvPr/>
        </p:nv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Rectangle 23">
            <a:extLst>
              <a:ext uri="{FF2B5EF4-FFF2-40B4-BE49-F238E27FC236}">
                <a16:creationId xmlns:a16="http://schemas.microsoft.com/office/drawing/2014/main" id="{6778DC79-DE09-4F89-81B1-275C542D7FB4}"/>
              </a:ext>
            </a:extLst>
          </p:cNvPr>
          <p:cNvSpPr>
            <a:spLocks noGrp="1"/>
          </p:cNvSpPr>
          <p:nvPr/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25">
            <a:extLst>
              <a:ext uri="{FF2B5EF4-FFF2-40B4-BE49-F238E27FC236}">
                <a16:creationId xmlns:a16="http://schemas.microsoft.com/office/drawing/2014/main" id="{EAEC370A-1F34-4D8E-B065-81F6F568AA75}"/>
              </a:ext>
            </a:extLst>
          </p:cNvPr>
          <p:cNvSpPr>
            <a:spLocks noGrp="1"/>
          </p:cNvSpPr>
          <p:nvPr/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A816EDF3-D9EE-488C-AFDC-0223815139E3}"/>
              </a:ext>
            </a:extLst>
          </p:cNvPr>
          <p:cNvSpPr>
            <a:spLocks noGrp="1"/>
          </p:cNvSpPr>
          <p:nvPr/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1">
              <a:lumMod val="75000"/>
              <a:alpha val="6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Rectangle 27">
            <a:extLst>
              <a:ext uri="{FF2B5EF4-FFF2-40B4-BE49-F238E27FC236}">
                <a16:creationId xmlns:a16="http://schemas.microsoft.com/office/drawing/2014/main" id="{E8330BD4-97D9-4D24-815A-0E557B04F96A}"/>
              </a:ext>
            </a:extLst>
          </p:cNvPr>
          <p:cNvSpPr>
            <a:spLocks noGrp="1"/>
          </p:cNvSpPr>
          <p:nvPr/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  <a:alpha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Rectangle 28">
            <a:extLst>
              <a:ext uri="{FF2B5EF4-FFF2-40B4-BE49-F238E27FC236}">
                <a16:creationId xmlns:a16="http://schemas.microsoft.com/office/drawing/2014/main" id="{EA8EDE67-BAC0-478C-99D9-BBC5AD532084}"/>
              </a:ext>
            </a:extLst>
          </p:cNvPr>
          <p:cNvSpPr>
            <a:spLocks noGrp="1"/>
          </p:cNvSpPr>
          <p:nvPr/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2">
              <a:alpha val="7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8" name="Rectangle 29">
            <a:extLst>
              <a:ext uri="{FF2B5EF4-FFF2-40B4-BE49-F238E27FC236}">
                <a16:creationId xmlns:a16="http://schemas.microsoft.com/office/drawing/2014/main" id="{33DFB3F3-2523-4F1F-BC2B-B97C172F2C47}"/>
              </a:ext>
            </a:extLst>
          </p:cNvPr>
          <p:cNvSpPr>
            <a:spLocks noGrp="1"/>
          </p:cNvSpPr>
          <p:nvPr/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5E5660E4-7443-4FCC-AD43-9D1AE972B5C4}"/>
              </a:ext>
            </a:extLst>
          </p:cNvPr>
          <p:cNvSpPr>
            <a:spLocks noGrp="1"/>
          </p:cNvSpPr>
          <p:nvPr/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lumMod val="75000"/>
              <a:alpha val="6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4EDF9C36-B365-4426-85B9-82E0DE187A59}"/>
              </a:ext>
            </a:extLst>
          </p:cNvPr>
          <p:cNvSpPr>
            <a:spLocks noGrp="1"/>
          </p:cNvSpPr>
          <p:nvPr/>
        </p:nvSpPr>
        <p:spPr>
          <a:xfrm>
            <a:off x="0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A92CD4-88DD-4F68-B449-EA9821C3E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23" y="609600"/>
            <a:ext cx="6191250" cy="781050"/>
          </a:xfrm>
        </p:spPr>
        <p:txBody>
          <a:bodyPr vert="horz" lIns="91440" tIns="45720" rIns="91440" bIns="45720" anchor="t">
            <a:normAutofit/>
          </a:bodyPr>
          <a:lstStyle/>
          <a:p>
            <a:r>
              <a:rPr dirty="0" err="1"/>
              <a:t>Τι</a:t>
            </a:r>
            <a:r>
              <a:rPr dirty="0"/>
              <a:t> </a:t>
            </a:r>
            <a:r>
              <a:rPr dirty="0" err="1"/>
              <a:t>είν</a:t>
            </a:r>
            <a:r>
              <a:rPr dirty="0"/>
              <a:t>αι το υποδίκτυο;</a:t>
            </a:r>
          </a:p>
        </p:txBody>
      </p:sp>
      <p:sp>
        <p:nvSpPr>
          <p:cNvPr id="22" name="Straight Connector 21">
            <a:extLst>
              <a:ext uri="{FF2B5EF4-FFF2-40B4-BE49-F238E27FC236}">
                <a16:creationId xmlns:a16="http://schemas.microsoft.com/office/drawing/2014/main" id="{58A65593-EBC9-4FFD-A2E3-84A86F9898AA}"/>
              </a:ext>
            </a:extLst>
          </p:cNvPr>
          <p:cNvSpPr>
            <a:spLocks noGrp="1"/>
          </p:cNvSpPr>
          <p:nvPr/>
        </p:nv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24" name="Straight Connector 23">
            <a:extLst>
              <a:ext uri="{FF2B5EF4-FFF2-40B4-BE49-F238E27FC236}">
                <a16:creationId xmlns:a16="http://schemas.microsoft.com/office/drawing/2014/main" id="{46DF67F7-9F42-4763-BDC4-3162061DA391}"/>
              </a:ext>
            </a:extLst>
          </p:cNvPr>
          <p:cNvSpPr>
            <a:spLocks noGrp="1"/>
          </p:cNvSpPr>
          <p:nvPr/>
        </p:nv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26" name="Rectangle 23">
            <a:extLst>
              <a:ext uri="{FF2B5EF4-FFF2-40B4-BE49-F238E27FC236}">
                <a16:creationId xmlns:a16="http://schemas.microsoft.com/office/drawing/2014/main" id="{3F088236-D655-4F88-B238-E16762358025}"/>
              </a:ext>
            </a:extLst>
          </p:cNvPr>
          <p:cNvSpPr>
            <a:spLocks noGrp="1"/>
          </p:cNvSpPr>
          <p:nvPr/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8" name="Rectangle 25">
            <a:extLst>
              <a:ext uri="{FF2B5EF4-FFF2-40B4-BE49-F238E27FC236}">
                <a16:creationId xmlns:a16="http://schemas.microsoft.com/office/drawing/2014/main" id="{3DAC0C92-199E-475C-9390-119A9B027276}"/>
              </a:ext>
            </a:extLst>
          </p:cNvPr>
          <p:cNvSpPr>
            <a:spLocks noGrp="1"/>
          </p:cNvSpPr>
          <p:nvPr/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0" name="Isosceles Triangle 24">
            <a:extLst>
              <a:ext uri="{FF2B5EF4-FFF2-40B4-BE49-F238E27FC236}">
                <a16:creationId xmlns:a16="http://schemas.microsoft.com/office/drawing/2014/main" id="{C4CFB339-0ED8-4FE2-9EF1-6D1375B8499B}"/>
              </a:ext>
            </a:extLst>
          </p:cNvPr>
          <p:cNvSpPr>
            <a:spLocks noGrp="1"/>
          </p:cNvSpPr>
          <p:nvPr/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2" name="Rectangle 27">
            <a:extLst>
              <a:ext uri="{FF2B5EF4-FFF2-40B4-BE49-F238E27FC236}">
                <a16:creationId xmlns:a16="http://schemas.microsoft.com/office/drawing/2014/main" id="{31896C80-2069-4431-9C19-83B913734490}"/>
              </a:ext>
            </a:extLst>
          </p:cNvPr>
          <p:cNvSpPr>
            <a:spLocks noGrp="1"/>
          </p:cNvSpPr>
          <p:nvPr/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4" name="Rectangle 28">
            <a:extLst>
              <a:ext uri="{FF2B5EF4-FFF2-40B4-BE49-F238E27FC236}">
                <a16:creationId xmlns:a16="http://schemas.microsoft.com/office/drawing/2014/main" id="{BF120A21-0841-4823-B0C4-28AEBCEF9B78}"/>
              </a:ext>
            </a:extLst>
          </p:cNvPr>
          <p:cNvSpPr>
            <a:spLocks noGrp="1"/>
          </p:cNvSpPr>
          <p:nvPr/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6" name="Rectangle 29">
            <a:extLst>
              <a:ext uri="{FF2B5EF4-FFF2-40B4-BE49-F238E27FC236}">
                <a16:creationId xmlns:a16="http://schemas.microsoft.com/office/drawing/2014/main" id="{DBB05BAE-BBD3-4289-899F-A6851503C6B0}"/>
              </a:ext>
            </a:extLst>
          </p:cNvPr>
          <p:cNvSpPr>
            <a:spLocks noGrp="1"/>
          </p:cNvSpPr>
          <p:nvPr/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8" name="Isosceles Triangle 29">
            <a:extLst>
              <a:ext uri="{FF2B5EF4-FFF2-40B4-BE49-F238E27FC236}">
                <a16:creationId xmlns:a16="http://schemas.microsoft.com/office/drawing/2014/main" id="{9874D11C-36F5-4BBE-A490-019A54E953B0}"/>
              </a:ext>
            </a:extLst>
          </p:cNvPr>
          <p:cNvSpPr>
            <a:spLocks noGrp="1"/>
          </p:cNvSpPr>
          <p:nvPr/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0" name="Clean content 1">
            <a:extLst>
              <a:ext uri="{FF2B5EF4-FFF2-40B4-BE49-F238E27FC236}">
                <a16:creationId xmlns:a16="http://schemas.microsoft.com/office/drawing/2014/main" id="{6FE0B811-E5C7-4C97-BAB9-3623DFC602F6}"/>
              </a:ext>
            </a:extLst>
          </p:cNvPr>
          <p:cNvSpPr>
            <a:spLocks noGrp="1"/>
          </p:cNvSpPr>
          <p:nvPr/>
        </p:nvSpPr>
        <p:spPr>
          <a:xfrm>
            <a:off x="619125" y="1381125"/>
            <a:ext cx="11001375" cy="4953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DCE5C69-A305-40F9-A980-FACB9EDD9A99}"/>
              </a:ext>
            </a:extLst>
          </p:cNvPr>
          <p:cNvSpPr>
            <a:spLocks noGrp="1"/>
          </p:cNvSpPr>
          <p:nvPr/>
        </p:nvSpPr>
        <p:spPr>
          <a:xfrm>
            <a:off x="685800" y="1324504"/>
            <a:ext cx="10287000" cy="6858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>
                <a:solidFill>
                  <a:srgbClr val="333333"/>
                </a:solidFill>
              </a:defRPr>
            </a:defPPr>
          </a:lstStyle>
          <a:p>
            <a:pPr>
              <a:defRPr sz="1875">
                <a:solidFill>
                  <a:srgbClr val="333333"/>
                </a:solidFill>
              </a:defRPr>
            </a:pPr>
            <a:r>
              <a:rPr sz="1875" dirty="0">
                <a:solidFill>
                  <a:srgbClr val="333333"/>
                </a:solidFill>
              </a:rPr>
              <a:t>Υπ</a:t>
            </a:r>
            <a:r>
              <a:rPr sz="1875" dirty="0" err="1">
                <a:solidFill>
                  <a:srgbClr val="333333"/>
                </a:solidFill>
              </a:rPr>
              <a:t>οδίκτυο</a:t>
            </a:r>
            <a:r>
              <a:rPr sz="1875" dirty="0">
                <a:solidFill>
                  <a:srgbClr val="333333"/>
                </a:solidFill>
              </a:rPr>
              <a:t> (subnet) </a:t>
            </a:r>
            <a:r>
              <a:rPr sz="1875" dirty="0" err="1">
                <a:solidFill>
                  <a:srgbClr val="333333"/>
                </a:solidFill>
              </a:rPr>
              <a:t>είν</a:t>
            </a:r>
            <a:r>
              <a:rPr sz="1875" dirty="0">
                <a:solidFill>
                  <a:srgbClr val="333333"/>
                </a:solidFill>
              </a:rPr>
              <a:t>αι μια ομάδα συσκευών που έχουν το ίδιο τμήμα δικτύου στη διεύθυνση IP τους.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2F16AD20-5B5D-40C5-854C-B8018814BE88}"/>
              </a:ext>
            </a:extLst>
          </p:cNvPr>
          <p:cNvSpPr>
            <a:spLocks noGrp="1"/>
          </p:cNvSpPr>
          <p:nvPr/>
        </p:nvSpPr>
        <p:spPr>
          <a:xfrm>
            <a:off x="781050" y="2066925"/>
            <a:ext cx="10096500" cy="857250"/>
          </a:xfrm>
          <a:prstGeom prst="roundRect">
            <a:avLst>
              <a:gd name="adj" fmla="val 16129"/>
            </a:avLst>
          </a:prstGeom>
          <a:solidFill>
            <a:srgbClr val="E8F7FC"/>
          </a:solidFill>
          <a:ln w="14288">
            <a:solidFill>
              <a:srgbClr val="5FCBEF"/>
            </a:solidFill>
            <a:prstDash val="solid"/>
          </a:ln>
        </p:spPr>
        <p:txBody>
          <a:bodyPr anchor="ctr"/>
          <a:lstStyle>
            <a:defPPr algn="ctr">
              <a:defRPr sz="1725" b="1">
                <a:solidFill>
                  <a:srgbClr val="23566A"/>
                </a:solidFill>
              </a:defRPr>
            </a:defPPr>
          </a:lstStyle>
          <a:p>
            <a:pPr algn="ctr">
              <a:defRPr sz="1725" b="1">
                <a:solidFill>
                  <a:srgbClr val="23566A"/>
                </a:solidFill>
              </a:defRPr>
            </a:pPr>
            <a:r>
              <a:rPr sz="1725" b="1" dirty="0" err="1">
                <a:solidFill>
                  <a:srgbClr val="23566A"/>
                </a:solidFill>
              </a:rPr>
              <a:t>Μάσκ</a:t>
            </a:r>
            <a:r>
              <a:rPr sz="1725" b="1" dirty="0">
                <a:solidFill>
                  <a:srgbClr val="23566A"/>
                </a:solidFill>
              </a:rPr>
              <a:t>α 255.255.255.0 (/24): τα πρώτα τρία μέρη της IP δείχνουν το δίκτυο.</a:t>
            </a:r>
            <a:endParaRPr lang="en-US" sz="1725" b="1" dirty="0">
              <a:solidFill>
                <a:srgbClr val="23566A"/>
              </a:solidFill>
            </a:endParaRPr>
          </a:p>
          <a:p>
            <a:pPr algn="ctr">
              <a:defRPr sz="1725" b="1">
                <a:solidFill>
                  <a:srgbClr val="23566A"/>
                </a:solidFill>
              </a:defRPr>
            </a:pPr>
            <a:r>
              <a:rPr lang="en-US" sz="1725" b="1" dirty="0">
                <a:solidFill>
                  <a:srgbClr val="23566A"/>
                </a:solidFill>
              </a:rPr>
              <a:t>255 = </a:t>
            </a:r>
            <a:r>
              <a:rPr lang="el-GR" sz="1725" b="1" dirty="0">
                <a:solidFill>
                  <a:srgbClr val="23566A"/>
                </a:solidFill>
              </a:rPr>
              <a:t>κοινό μέρος για όλες τις </a:t>
            </a:r>
            <a:r>
              <a:rPr lang="el-GR" sz="1725" b="1" dirty="0" err="1">
                <a:solidFill>
                  <a:srgbClr val="23566A"/>
                </a:solidFill>
              </a:rPr>
              <a:t>συσκεύες</a:t>
            </a:r>
            <a:endParaRPr lang="el-GR" sz="1725" b="1" dirty="0">
              <a:solidFill>
                <a:srgbClr val="23566A"/>
              </a:solidFill>
            </a:endParaRPr>
          </a:p>
          <a:p>
            <a:pPr algn="ctr">
              <a:defRPr sz="1725" b="1">
                <a:solidFill>
                  <a:srgbClr val="23566A"/>
                </a:solidFill>
              </a:defRPr>
            </a:pPr>
            <a:r>
              <a:rPr lang="el-GR" sz="1725" b="1" dirty="0">
                <a:solidFill>
                  <a:srgbClr val="23566A"/>
                </a:solidFill>
              </a:rPr>
              <a:t>0 = διαφορετικό</a:t>
            </a:r>
            <a:endParaRPr sz="1725" b="1" dirty="0">
              <a:solidFill>
                <a:srgbClr val="23566A"/>
              </a:solidFill>
            </a:endParaRPr>
          </a:p>
        </p:txBody>
      </p:sp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49FDCCE0-2C4A-49FF-9930-D9BF58DE2C12}"/>
              </a:ext>
            </a:extLst>
          </p:cNvPr>
          <p:cNvGraphicFramePr/>
          <p:nvPr/>
        </p:nvGraphicFramePr>
        <p:xfrm>
          <a:off x="781050" y="3048000"/>
          <a:ext cx="10096500" cy="2238375"/>
        </p:xfrm>
        <a:graphic>
          <a:graphicData uri="http://schemas.openxmlformats.org/drawingml/2006/table">
            <a:tbl>
              <a:tblPr/>
              <a:tblGrid>
                <a:gridCol w="171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767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Συσκευή</a:t>
                      </a:r>
                    </a:p>
                  </a:txBody>
                  <a:tcPr marL="95250" marR="95250" marT="66675" marB="66675" anchor="ctr">
                    <a:solidFill>
                      <a:srgbClr val="2C83A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IP Address</a:t>
                      </a:r>
                    </a:p>
                  </a:txBody>
                  <a:tcPr marL="95250" marR="95250" marT="66675" marB="66675" anchor="ctr">
                    <a:solidFill>
                      <a:srgbClr val="2C83A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Δίκτυο (/24)</a:t>
                      </a:r>
                    </a:p>
                  </a:txBody>
                  <a:tcPr marL="95250" marR="95250" marT="66675" marB="66675" anchor="ctr">
                    <a:solidFill>
                      <a:srgbClr val="2C83A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Σχέση με Η/Υ Α</a:t>
                      </a:r>
                    </a:p>
                  </a:txBody>
                  <a:tcPr marL="95250" marR="95250" marT="66675" marB="66675" anchor="ctr">
                    <a:solidFill>
                      <a:srgbClr val="2C83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767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3333"/>
                          </a:solidFill>
                        </a:rPr>
                        <a:t>Η/Υ Α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3333"/>
                          </a:solidFill>
                        </a:rPr>
                        <a:t>192.168.1.10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3333"/>
                          </a:solidFill>
                        </a:rPr>
                        <a:t>192.168.1.0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3333"/>
                          </a:solidFill>
                        </a:rPr>
                        <a:t>Σημείο αναφοράς</a:t>
                      </a:r>
                    </a:p>
                  </a:txBody>
                  <a:tcPr marL="95250" marR="95250" marT="66675" marB="66675" anchor="ctr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767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3333"/>
                          </a:solidFill>
                        </a:rPr>
                        <a:t>Η/Υ Β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3333"/>
                          </a:solidFill>
                        </a:rPr>
                        <a:t>192.168.1.25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3333"/>
                          </a:solidFill>
                        </a:rPr>
                        <a:t>192.168.1.0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6733D"/>
                          </a:solidFill>
                        </a:rPr>
                        <a:t>Ίδιο υποδίκτυο</a:t>
                      </a:r>
                    </a:p>
                  </a:txBody>
                  <a:tcPr marL="95250" marR="95250" marT="66675" marB="66675" anchor="ctr">
                    <a:solidFill>
                      <a:srgbClr val="E6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767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3333"/>
                          </a:solidFill>
                        </a:rPr>
                        <a:t>Εκτυπωτής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3333"/>
                          </a:solidFill>
                        </a:rPr>
                        <a:t>192.168.1.200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3333"/>
                          </a:solidFill>
                        </a:rPr>
                        <a:t>192.168.1.0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6733D"/>
                          </a:solidFill>
                        </a:rPr>
                        <a:t>Ίδιο υποδίκτυο</a:t>
                      </a:r>
                    </a:p>
                  </a:txBody>
                  <a:tcPr marL="95250" marR="95250" marT="66675" marB="66675" anchor="ctr">
                    <a:solidFill>
                      <a:srgbClr val="E6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767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3333"/>
                          </a:solidFill>
                        </a:rPr>
                        <a:t>Laptop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3333"/>
                          </a:solidFill>
                        </a:rPr>
                        <a:t>192.168.2.10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3333"/>
                          </a:solidFill>
                        </a:rPr>
                        <a:t>192.168.2.0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A12B25"/>
                          </a:solidFill>
                        </a:rPr>
                        <a:t>Διαφορετικό υποδίκτυο</a:t>
                      </a:r>
                    </a:p>
                  </a:txBody>
                  <a:tcPr marL="95250" marR="95250" marT="66675" marB="66675" anchor="ctr">
                    <a:solidFill>
                      <a:srgbClr val="FCE8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4" name="Rectangle 43">
            <a:extLst>
              <a:ext uri="{FF2B5EF4-FFF2-40B4-BE49-F238E27FC236}">
                <a16:creationId xmlns:a16="http://schemas.microsoft.com/office/drawing/2014/main" id="{3B7D4317-995B-4191-88B1-10CDF29AD167}"/>
              </a:ext>
            </a:extLst>
          </p:cNvPr>
          <p:cNvSpPr>
            <a:spLocks noGrp="1"/>
          </p:cNvSpPr>
          <p:nvPr/>
        </p:nvSpPr>
        <p:spPr>
          <a:xfrm>
            <a:off x="781050" y="5505450"/>
            <a:ext cx="10096500" cy="7048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 algn="l">
              <a:defRPr sz="1575" b="1">
                <a:solidFill>
                  <a:srgbClr val="333333"/>
                </a:solidFill>
              </a:defRPr>
            </a:defPPr>
          </a:lstStyle>
          <a:p>
            <a:pPr algn="l">
              <a:defRPr sz="1575" b="1">
                <a:solidFill>
                  <a:srgbClr val="333333"/>
                </a:solidFill>
              </a:defRPr>
            </a:pPr>
            <a:r>
              <a:rPr sz="1575" b="1">
                <a:solidFill>
                  <a:srgbClr val="333333"/>
                </a:solidFill>
              </a:rPr>
              <a:t>Οι 192.168.1.10 και 192.168.1.25 επικοινωνούν στο ίδιο υποδίκτυο. Για επικοινωνία με την 192.168.2.10 χρειάζεται router ή Default Gateway.</a:t>
            </a:r>
          </a:p>
        </p:txBody>
      </p:sp>
    </p:spTree>
    <p:extLst>
      <p:ext uri="{BB962C8B-B14F-4D97-AF65-F5344CB8AC3E}">
        <p14:creationId xmlns:p14="http://schemas.microsoft.com/office/powerpoint/2010/main" val="28428680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CC5F6-A8B2-464D-A77D-97CB05567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23" y="609600"/>
            <a:ext cx="5905500" cy="762000"/>
          </a:xfrm>
        </p:spPr>
        <p:txBody>
          <a:bodyPr vert="horz" lIns="91440" tIns="45720" rIns="91440" bIns="45720" anchor="t">
            <a:normAutofit/>
          </a:bodyPr>
          <a:lstStyle/>
          <a:p>
            <a:r>
              <a:t>DNS Server</a:t>
            </a:r>
          </a:p>
        </p:txBody>
      </p:sp>
      <p:sp>
        <p:nvSpPr>
          <p:cNvPr id="7" name="Clean content 3">
            <a:extLst>
              <a:ext uri="{FF2B5EF4-FFF2-40B4-BE49-F238E27FC236}">
                <a16:creationId xmlns:a16="http://schemas.microsoft.com/office/drawing/2014/main" id="{67CB5BBD-28F4-4BB4-B66B-2ADB50A53ABD}"/>
              </a:ext>
            </a:extLst>
          </p:cNvPr>
          <p:cNvSpPr>
            <a:spLocks noGrp="1"/>
          </p:cNvSpPr>
          <p:nvPr/>
        </p:nvSpPr>
        <p:spPr>
          <a:xfrm>
            <a:off x="619125" y="1381125"/>
            <a:ext cx="11001375" cy="4953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12089EB-B18F-4A43-846E-6987B5F12BC3}"/>
              </a:ext>
            </a:extLst>
          </p:cNvPr>
          <p:cNvSpPr>
            <a:spLocks noGrp="1"/>
          </p:cNvSpPr>
          <p:nvPr/>
        </p:nvSpPr>
        <p:spPr>
          <a:xfrm>
            <a:off x="781050" y="1485900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 algn="l">
              <a:defRPr sz="1800" b="0">
                <a:solidFill>
                  <a:srgbClr val="333333"/>
                </a:solidFill>
              </a:defRPr>
            </a:defPPr>
          </a:lstStyle>
          <a:p>
            <a:pPr algn="l">
              <a:defRPr sz="1800" b="0">
                <a:solidFill>
                  <a:srgbClr val="333333"/>
                </a:solidFill>
              </a:defRPr>
            </a:pPr>
            <a:r>
              <a:rPr sz="1800" b="0">
                <a:solidFill>
                  <a:srgbClr val="333333"/>
                </a:solidFill>
              </a:rPr>
              <a:t>Ο DNS Server αντιστοιχίζει το όνομα μιας ιστοσελίδας με τη διεύθυνση IP του server της.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F338F2D-351D-464A-AF6D-5EC183339EEA}"/>
              </a:ext>
            </a:extLst>
          </p:cNvPr>
          <p:cNvSpPr>
            <a:spLocks noGrp="1"/>
          </p:cNvSpPr>
          <p:nvPr/>
        </p:nvSpPr>
        <p:spPr>
          <a:xfrm>
            <a:off x="781050" y="2524125"/>
            <a:ext cx="2428875" cy="1666875"/>
          </a:xfrm>
          <a:prstGeom prst="roundRect">
            <a:avLst>
              <a:gd name="adj" fmla="val 6857"/>
            </a:avLst>
          </a:prstGeom>
          <a:solidFill>
            <a:srgbClr val="E8F7FC"/>
          </a:solidFill>
          <a:ln w="19050">
            <a:solidFill>
              <a:srgbClr val="5FCBEF"/>
            </a:solidFill>
            <a:prstDash val="solid"/>
          </a:ln>
        </p:spPr>
        <p:txBody>
          <a:bodyPr anchor="ctr"/>
          <a:lstStyle>
            <a:defPPr algn="ctr">
              <a:defRPr sz="1800" b="1">
                <a:solidFill>
                  <a:srgbClr val="23566A"/>
                </a:solidFill>
              </a:defRPr>
            </a:defPPr>
          </a:lstStyle>
          <a:p>
            <a:pPr algn="ctr">
              <a:defRPr sz="1800" b="1">
                <a:solidFill>
                  <a:srgbClr val="23566A"/>
                </a:solidFill>
              </a:defRPr>
            </a:pPr>
            <a:r>
              <a:rPr sz="1800" b="1">
                <a:solidFill>
                  <a:srgbClr val="23566A"/>
                </a:solidFill>
              </a:rPr>
              <a:t>Υπολογιστής</a:t>
            </a:r>
          </a:p>
          <a:p>
            <a:endParaRPr sz="1800" b="1">
              <a:solidFill>
                <a:srgbClr val="23566A"/>
              </a:solidFill>
            </a:endParaRPr>
          </a:p>
          <a:p>
            <a:pPr algn="ctr">
              <a:defRPr sz="1800" b="1">
                <a:solidFill>
                  <a:srgbClr val="23566A"/>
                </a:solidFill>
              </a:defRPr>
            </a:pPr>
            <a:r>
              <a:rPr sz="1800" b="1">
                <a:solidFill>
                  <a:srgbClr val="23566A"/>
                </a:solidFill>
              </a:rPr>
              <a:t>www.example.com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17BCEF3-EC97-4B41-A892-3BCA445353F2}"/>
              </a:ext>
            </a:extLst>
          </p:cNvPr>
          <p:cNvSpPr>
            <a:spLocks noGrp="1"/>
          </p:cNvSpPr>
          <p:nvPr/>
        </p:nvSpPr>
        <p:spPr>
          <a:xfrm>
            <a:off x="4572000" y="2238375"/>
            <a:ext cx="3143250" cy="2238375"/>
          </a:xfrm>
          <a:prstGeom prst="roundRect">
            <a:avLst>
              <a:gd name="adj" fmla="val 5106"/>
            </a:avLst>
          </a:prstGeom>
          <a:solidFill>
            <a:srgbClr val="2C83A5"/>
          </a:solidFill>
          <a:ln w="19050">
            <a:solidFill>
              <a:srgbClr val="1F617B"/>
            </a:solidFill>
            <a:prstDash val="solid"/>
          </a:ln>
        </p:spPr>
        <p:txBody>
          <a:bodyPr anchor="ctr"/>
          <a:lstStyle>
            <a:defPPr algn="ctr">
              <a:defRPr sz="1650" b="1">
                <a:solidFill>
                  <a:srgbClr val="FFFFFF"/>
                </a:solidFill>
              </a:defRPr>
            </a:defPPr>
          </a:lstStyle>
          <a:p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DNS Server</a:t>
            </a:r>
          </a:p>
          <a:p>
            <a:endParaRPr sz="1650" b="1">
              <a:solidFill>
                <a:srgbClr val="FFFFFF"/>
              </a:solidFill>
            </a:endParaRPr>
          </a:p>
          <a:p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Βρίσκει την αντιστοιχία:</a:t>
            </a:r>
          </a:p>
          <a:p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www.example.com</a:t>
            </a:r>
          </a:p>
          <a:p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93.184.216.34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B029D57-69A8-4971-B835-37DA3295BD67}"/>
              </a:ext>
            </a:extLst>
          </p:cNvPr>
          <p:cNvSpPr>
            <a:spLocks noGrp="1"/>
          </p:cNvSpPr>
          <p:nvPr/>
        </p:nvSpPr>
        <p:spPr>
          <a:xfrm>
            <a:off x="8810625" y="2524125"/>
            <a:ext cx="2095500" cy="1666875"/>
          </a:xfrm>
          <a:prstGeom prst="roundRect">
            <a:avLst>
              <a:gd name="adj" fmla="val 6857"/>
            </a:avLst>
          </a:prstGeom>
          <a:solidFill>
            <a:srgbClr val="E6F4EA"/>
          </a:solidFill>
          <a:ln w="19050">
            <a:solidFill>
              <a:srgbClr val="4C9B63"/>
            </a:solidFill>
            <a:prstDash val="solid"/>
          </a:ln>
        </p:spPr>
        <p:txBody>
          <a:bodyPr anchor="ctr"/>
          <a:lstStyle>
            <a:defPPr algn="ctr">
              <a:defRPr sz="1725" b="1">
                <a:solidFill>
                  <a:srgbClr val="26733D"/>
                </a:solidFill>
              </a:defRPr>
            </a:defPPr>
          </a:lstStyle>
          <a:p>
            <a:pPr algn="ctr">
              <a:defRPr sz="1725" b="1">
                <a:solidFill>
                  <a:srgbClr val="26733D"/>
                </a:solidFill>
              </a:defRPr>
            </a:pPr>
            <a:r>
              <a:rPr sz="1725" b="1">
                <a:solidFill>
                  <a:srgbClr val="26733D"/>
                </a:solidFill>
              </a:rPr>
              <a:t>Web Server</a:t>
            </a:r>
          </a:p>
          <a:p>
            <a:endParaRPr sz="1725" b="1">
              <a:solidFill>
                <a:srgbClr val="26733D"/>
              </a:solidFill>
            </a:endParaRPr>
          </a:p>
          <a:p>
            <a:pPr algn="ctr">
              <a:defRPr sz="1725" b="1">
                <a:solidFill>
                  <a:srgbClr val="26733D"/>
                </a:solidFill>
              </a:defRPr>
            </a:pPr>
            <a:r>
              <a:rPr sz="1725" b="1">
                <a:solidFill>
                  <a:srgbClr val="26733D"/>
                </a:solidFill>
              </a:rPr>
              <a:t>93.184.216.34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912AA52-8F12-4894-B309-6B12C5318276}"/>
              </a:ext>
            </a:extLst>
          </p:cNvPr>
          <p:cNvSpPr>
            <a:spLocks noGrp="1"/>
          </p:cNvSpPr>
          <p:nvPr/>
        </p:nvSpPr>
        <p:spPr>
          <a:xfrm>
            <a:off x="3209925" y="2571750"/>
            <a:ext cx="1381125" cy="5905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 algn="ctr">
              <a:defRPr sz="1350" b="1">
                <a:solidFill>
                  <a:srgbClr val="23566A"/>
                </a:solidFill>
              </a:defRPr>
            </a:defPPr>
          </a:lstStyle>
          <a:p>
            <a:pPr algn="ctr">
              <a:defRPr sz="1350" b="1">
                <a:solidFill>
                  <a:srgbClr val="23566A"/>
                </a:solidFill>
              </a:defRPr>
            </a:pPr>
            <a:r>
              <a:rPr sz="1350" b="1">
                <a:solidFill>
                  <a:srgbClr val="23566A"/>
                </a:solidFill>
              </a:rPr>
              <a:t>1. Ποια είναι η IP;  →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A327259-ED6A-4E90-8B3A-0EB6E9DFFDE7}"/>
              </a:ext>
            </a:extLst>
          </p:cNvPr>
          <p:cNvSpPr>
            <a:spLocks noGrp="1"/>
          </p:cNvSpPr>
          <p:nvPr/>
        </p:nvSpPr>
        <p:spPr>
          <a:xfrm>
            <a:off x="3209925" y="3381375"/>
            <a:ext cx="1381125" cy="7239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 algn="ctr">
              <a:defRPr sz="1275" b="1">
                <a:solidFill>
                  <a:srgbClr val="23566A"/>
                </a:solidFill>
              </a:defRPr>
            </a:defPPr>
          </a:lstStyle>
          <a:p>
            <a:pPr algn="ctr">
              <a:defRPr sz="1275" b="1">
                <a:solidFill>
                  <a:srgbClr val="23566A"/>
                </a:solidFill>
              </a:defRPr>
            </a:pPr>
            <a:r>
              <a:rPr sz="1275" b="1">
                <a:solidFill>
                  <a:srgbClr val="23566A"/>
                </a:solidFill>
              </a:rPr>
              <a:t>←  2. Η IP είναι</a:t>
            </a:r>
          </a:p>
          <a:p>
            <a:pPr algn="ctr">
              <a:defRPr sz="1275" b="1">
                <a:solidFill>
                  <a:srgbClr val="23566A"/>
                </a:solidFill>
              </a:defRPr>
            </a:pPr>
            <a:r>
              <a:rPr sz="1275" b="1">
                <a:solidFill>
                  <a:srgbClr val="23566A"/>
                </a:solidFill>
              </a:rPr>
              <a:t>93.184.216.34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449FEEA-82BA-478F-BAC7-BBAD6E094570}"/>
              </a:ext>
            </a:extLst>
          </p:cNvPr>
          <p:cNvSpPr>
            <a:spLocks noGrp="1"/>
          </p:cNvSpPr>
          <p:nvPr/>
        </p:nvSpPr>
        <p:spPr>
          <a:xfrm>
            <a:off x="7686675" y="2905125"/>
            <a:ext cx="1143000" cy="8382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 algn="ctr">
              <a:defRPr sz="1350" b="1">
                <a:solidFill>
                  <a:srgbClr val="26733D"/>
                </a:solidFill>
              </a:defRPr>
            </a:defPPr>
          </a:lstStyle>
          <a:p>
            <a:pPr algn="ctr">
              <a:defRPr sz="1350" b="1">
                <a:solidFill>
                  <a:srgbClr val="26733D"/>
                </a:solidFill>
              </a:defRPr>
            </a:pPr>
            <a:r>
              <a:rPr sz="1350" b="1">
                <a:solidFill>
                  <a:srgbClr val="26733D"/>
                </a:solidFill>
              </a:rPr>
              <a:t>3. Σύνδεση</a:t>
            </a:r>
          </a:p>
          <a:p>
            <a:pPr algn="ctr">
              <a:defRPr sz="1350" b="1">
                <a:solidFill>
                  <a:srgbClr val="26733D"/>
                </a:solidFill>
              </a:defRPr>
            </a:pPr>
            <a:r>
              <a:rPr sz="1350" b="1">
                <a:solidFill>
                  <a:srgbClr val="26733D"/>
                </a:solidFill>
              </a:rPr>
              <a:t>με την IP  →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3CC7A9D-C4D2-4443-BD81-98D4436B6E60}"/>
              </a:ext>
            </a:extLst>
          </p:cNvPr>
          <p:cNvSpPr>
            <a:spLocks noGrp="1"/>
          </p:cNvSpPr>
          <p:nvPr/>
        </p:nvSpPr>
        <p:spPr>
          <a:xfrm>
            <a:off x="781050" y="4953000"/>
            <a:ext cx="10125075" cy="1000125"/>
          </a:xfrm>
          <a:prstGeom prst="roundRect">
            <a:avLst>
              <a:gd name="adj" fmla="val 9524"/>
            </a:avLst>
          </a:prstGeom>
          <a:solidFill>
            <a:srgbClr val="F3F4F6"/>
          </a:solidFill>
          <a:ln w="11906">
            <a:solidFill>
              <a:srgbClr val="B7DDEB"/>
            </a:solidFill>
            <a:prstDash val="solid"/>
          </a:ln>
        </p:spPr>
        <p:txBody>
          <a:bodyPr anchor="ctr"/>
          <a:lstStyle>
            <a:defPPr algn="ctr">
              <a:defRPr sz="1650" b="1">
                <a:solidFill>
                  <a:srgbClr val="333333"/>
                </a:solidFill>
              </a:defRPr>
            </a:defPPr>
          </a:lstStyle>
          <a:p>
            <a:pPr algn="ctr">
              <a:defRPr sz="1650" b="1">
                <a:solidFill>
                  <a:srgbClr val="333333"/>
                </a:solidFill>
              </a:defRPr>
            </a:pPr>
            <a:r>
              <a:rPr sz="1650" b="1">
                <a:solidFill>
                  <a:srgbClr val="333333"/>
                </a:solidFill>
              </a:rPr>
              <a:t>Απλοποιημένο παράδειγμα</a:t>
            </a:r>
          </a:p>
          <a:p>
            <a:pPr algn="ctr">
              <a:defRPr sz="1650" b="1">
                <a:solidFill>
                  <a:srgbClr val="333333"/>
                </a:solidFill>
              </a:defRPr>
            </a:pPr>
            <a:r>
              <a:rPr sz="1650" b="1">
                <a:solidFill>
                  <a:srgbClr val="333333"/>
                </a:solidFill>
              </a:rPr>
              <a:t>Χωρίς DNS, ο χρήστης θα έπρεπε να θυμάται την IP Address κάθε ιστοσελίδας.</a:t>
            </a:r>
          </a:p>
        </p:txBody>
      </p:sp>
    </p:spTree>
    <p:extLst>
      <p:ext uri="{BB962C8B-B14F-4D97-AF65-F5344CB8AC3E}">
        <p14:creationId xmlns:p14="http://schemas.microsoft.com/office/powerpoint/2010/main" val="21919066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CC5F6-A8B2-464D-A77D-97CB05567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2" y="609600"/>
            <a:ext cx="5825735" cy="1320800"/>
          </a:xfrm>
        </p:spPr>
        <p:txBody>
          <a:bodyPr vert="horz" lIns="91440" tIns="45720" rIns="91440" bIns="45720" anchor="t">
            <a:normAutofit/>
          </a:bodyPr>
          <a:lstStyle/>
          <a:p>
            <a:r>
              <a:t>Εντολές ελέγχου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B3F7303-CEA4-CFC4-5052-5C4AC62740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563757"/>
            <a:ext cx="5952067" cy="4477604"/>
          </a:xfrm>
        </p:spPr>
        <p:txBody>
          <a:bodyPr>
            <a:normAutofit/>
          </a:bodyPr>
          <a:lstStyle/>
          <a:p>
            <a:endParaRPr sz="2800"/>
          </a:p>
        </p:txBody>
      </p:sp>
      <p:sp>
        <p:nvSpPr>
          <p:cNvPr id="5" name="Clean content area">
            <a:extLst>
              <a:ext uri="{FF2B5EF4-FFF2-40B4-BE49-F238E27FC236}">
                <a16:creationId xmlns:a16="http://schemas.microsoft.com/office/drawing/2014/main" id="{1ADE6AB2-31D4-43F8-8CB3-B978A6B51094}"/>
              </a:ext>
            </a:extLst>
          </p:cNvPr>
          <p:cNvSpPr>
            <a:spLocks noGrp="1"/>
          </p:cNvSpPr>
          <p:nvPr/>
        </p:nvSpPr>
        <p:spPr>
          <a:xfrm>
            <a:off x="590550" y="1352550"/>
            <a:ext cx="11049000" cy="50006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n-GB" dirty="0"/>
          </a:p>
        </p:txBody>
      </p:sp>
      <p:sp>
        <p:nvSpPr>
          <p:cNvPr id="6" name="Section reference">
            <a:extLst>
              <a:ext uri="{FF2B5EF4-FFF2-40B4-BE49-F238E27FC236}">
                <a16:creationId xmlns:a16="http://schemas.microsoft.com/office/drawing/2014/main" id="{4A6DC372-EF3F-4BD2-A334-2CA08BBFF7D0}"/>
              </a:ext>
            </a:extLst>
          </p:cNvPr>
          <p:cNvSpPr>
            <a:spLocks noGrp="1"/>
          </p:cNvSpPr>
          <p:nvPr/>
        </p:nvSpPr>
        <p:spPr>
          <a:xfrm>
            <a:off x="781050" y="1466850"/>
            <a:ext cx="4953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68EAD"/>
                </a:solidFill>
                <a:latin typeface="Trebuchet MS"/>
                <a:ea typeface="Trebuchet MS"/>
                <a:cs typeface="Trebuchet MS"/>
              </a:defRPr>
            </a:pPr>
            <a:r>
              <a:rPr sz="1275" b="1">
                <a:solidFill>
                  <a:srgbClr val="168EAD"/>
                </a:solidFill>
                <a:latin typeface="Trebuchet MS"/>
                <a:ea typeface="Trebuchet MS"/>
                <a:cs typeface="Trebuchet MS"/>
              </a:rPr>
              <a:t>A.5.M2 | Θεωρία</a:t>
            </a:r>
          </a:p>
        </p:txBody>
      </p:sp>
      <p:sp>
        <p:nvSpPr>
          <p:cNvPr id="7" name="Block heading 1">
            <a:extLst>
              <a:ext uri="{FF2B5EF4-FFF2-40B4-BE49-F238E27FC236}">
                <a16:creationId xmlns:a16="http://schemas.microsoft.com/office/drawing/2014/main" id="{7C771E72-8C57-4BD4-A907-9EB09DBD5ECD}"/>
              </a:ext>
            </a:extLst>
          </p:cNvPr>
          <p:cNvSpPr>
            <a:spLocks noGrp="1"/>
          </p:cNvSpPr>
          <p:nvPr/>
        </p:nvSpPr>
        <p:spPr>
          <a:xfrm>
            <a:off x="781050" y="1857375"/>
            <a:ext cx="4762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ipconfig</a:t>
            </a:r>
          </a:p>
        </p:txBody>
      </p:sp>
      <p:sp>
        <p:nvSpPr>
          <p:cNvPr id="8" name="Block body 1">
            <a:extLst>
              <a:ext uri="{FF2B5EF4-FFF2-40B4-BE49-F238E27FC236}">
                <a16:creationId xmlns:a16="http://schemas.microsoft.com/office/drawing/2014/main" id="{F6C81DD3-BB36-4F23-87B3-BA04996FEDA9}"/>
              </a:ext>
            </a:extLst>
          </p:cNvPr>
          <p:cNvSpPr>
            <a:spLocks noGrp="1"/>
          </p:cNvSpPr>
          <p:nvPr/>
        </p:nvSpPr>
        <p:spPr>
          <a:xfrm>
            <a:off x="781050" y="2171700"/>
            <a:ext cx="476250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0" dirty="0" err="1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Εμφ</a:t>
            </a:r>
            <a:r>
              <a:rPr sz="1650" b="0" dirty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ανίζει IP Address, Subnet Mask και Default Gateway.</a:t>
            </a:r>
          </a:p>
        </p:txBody>
      </p:sp>
      <p:sp>
        <p:nvSpPr>
          <p:cNvPr id="9" name="Block heading 2">
            <a:extLst>
              <a:ext uri="{FF2B5EF4-FFF2-40B4-BE49-F238E27FC236}">
                <a16:creationId xmlns:a16="http://schemas.microsoft.com/office/drawing/2014/main" id="{56CDC298-5F75-4F10-AEA0-2EE2E608B715}"/>
              </a:ext>
            </a:extLst>
          </p:cNvPr>
          <p:cNvSpPr>
            <a:spLocks noGrp="1"/>
          </p:cNvSpPr>
          <p:nvPr/>
        </p:nvSpPr>
        <p:spPr>
          <a:xfrm>
            <a:off x="781050" y="2857500"/>
            <a:ext cx="4762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defRPr>
            </a:pPr>
            <a:r>
              <a:rPr lang="en-US" sz="1575" b="1" dirty="0" err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nslookup</a:t>
            </a:r>
            <a:endParaRPr sz="1575" b="1" dirty="0">
              <a:solidFill>
                <a:srgbClr val="18A7CC"/>
              </a:solidFill>
              <a:latin typeface="Trebuchet MS"/>
              <a:ea typeface="Trebuchet MS"/>
              <a:cs typeface="Trebuchet MS"/>
            </a:endParaRPr>
          </a:p>
        </p:txBody>
      </p:sp>
      <p:sp>
        <p:nvSpPr>
          <p:cNvPr id="10" name="Block body 2">
            <a:extLst>
              <a:ext uri="{FF2B5EF4-FFF2-40B4-BE49-F238E27FC236}">
                <a16:creationId xmlns:a16="http://schemas.microsoft.com/office/drawing/2014/main" id="{73831D10-FA81-4630-80A2-DF54065724DA}"/>
              </a:ext>
            </a:extLst>
          </p:cNvPr>
          <p:cNvSpPr>
            <a:spLocks noGrp="1"/>
          </p:cNvSpPr>
          <p:nvPr/>
        </p:nvSpPr>
        <p:spPr>
          <a:xfrm>
            <a:off x="781050" y="3171825"/>
            <a:ext cx="476250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lang="el-GR" sz="1650" dirty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Ελέγχει τις ρυθμίσεις</a:t>
            </a:r>
            <a:r>
              <a:rPr sz="1650" b="0" dirty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 DNS </a:t>
            </a:r>
            <a:r>
              <a:rPr lang="el-GR" sz="1650" dirty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στον υπολογιστή μας</a:t>
            </a:r>
            <a:endParaRPr sz="1650" b="0" dirty="0">
              <a:solidFill>
                <a:srgbClr val="333333"/>
              </a:solidFill>
              <a:latin typeface="Trebuchet MS"/>
              <a:ea typeface="Trebuchet MS"/>
              <a:cs typeface="Trebuchet MS"/>
            </a:endParaRPr>
          </a:p>
        </p:txBody>
      </p:sp>
      <p:sp>
        <p:nvSpPr>
          <p:cNvPr id="11" name="Block heading 3">
            <a:extLst>
              <a:ext uri="{FF2B5EF4-FFF2-40B4-BE49-F238E27FC236}">
                <a16:creationId xmlns:a16="http://schemas.microsoft.com/office/drawing/2014/main" id="{FAD8B63B-9463-4F1E-9E70-0E1A7E576AB6}"/>
              </a:ext>
            </a:extLst>
          </p:cNvPr>
          <p:cNvSpPr>
            <a:spLocks noGrp="1"/>
          </p:cNvSpPr>
          <p:nvPr/>
        </p:nvSpPr>
        <p:spPr>
          <a:xfrm>
            <a:off x="781050" y="3857625"/>
            <a:ext cx="4762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ping</a:t>
            </a:r>
          </a:p>
        </p:txBody>
      </p:sp>
      <p:sp>
        <p:nvSpPr>
          <p:cNvPr id="12" name="Block body 3">
            <a:extLst>
              <a:ext uri="{FF2B5EF4-FFF2-40B4-BE49-F238E27FC236}">
                <a16:creationId xmlns:a16="http://schemas.microsoft.com/office/drawing/2014/main" id="{B97222AA-170A-45DB-8311-5BF958D4B3D9}"/>
              </a:ext>
            </a:extLst>
          </p:cNvPr>
          <p:cNvSpPr>
            <a:spLocks noGrp="1"/>
          </p:cNvSpPr>
          <p:nvPr/>
        </p:nvSpPr>
        <p:spPr>
          <a:xfrm>
            <a:off x="781050" y="4171950"/>
            <a:ext cx="476250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Ελέγχει αν ένας προορισμός απαντά μέσω του δικτύου.</a:t>
            </a:r>
          </a:p>
        </p:txBody>
      </p:sp>
      <p:sp>
        <p:nvSpPr>
          <p:cNvPr id="13" name="Block heading 4">
            <a:extLst>
              <a:ext uri="{FF2B5EF4-FFF2-40B4-BE49-F238E27FC236}">
                <a16:creationId xmlns:a16="http://schemas.microsoft.com/office/drawing/2014/main" id="{9B3DBC8C-A3A1-405D-ACE9-6FA8B6D5955A}"/>
              </a:ext>
            </a:extLst>
          </p:cNvPr>
          <p:cNvSpPr>
            <a:spLocks noGrp="1"/>
          </p:cNvSpPr>
          <p:nvPr/>
        </p:nvSpPr>
        <p:spPr>
          <a:xfrm>
            <a:off x="781050" y="4857750"/>
            <a:ext cx="4762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tracert</a:t>
            </a:r>
          </a:p>
        </p:txBody>
      </p:sp>
      <p:sp>
        <p:nvSpPr>
          <p:cNvPr id="14" name="Block body 4">
            <a:extLst>
              <a:ext uri="{FF2B5EF4-FFF2-40B4-BE49-F238E27FC236}">
                <a16:creationId xmlns:a16="http://schemas.microsoft.com/office/drawing/2014/main" id="{CC22DC93-68B1-49EA-AB54-1E943502D4F4}"/>
              </a:ext>
            </a:extLst>
          </p:cNvPr>
          <p:cNvSpPr>
            <a:spLocks noGrp="1"/>
          </p:cNvSpPr>
          <p:nvPr/>
        </p:nvSpPr>
        <p:spPr>
          <a:xfrm>
            <a:off x="781050" y="5172075"/>
            <a:ext cx="476250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Παρουσιάζει τους ενδιάμεσους routers μέχρι τον προορισμό.</a:t>
            </a:r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953125" y="2488192"/>
            <a:ext cx="4905375" cy="2643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8814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863D9-1989-4443-A424-8213A05F3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23" y="609600"/>
            <a:ext cx="7429500" cy="742950"/>
          </a:xfrm>
        </p:spPr>
        <p:txBody>
          <a:bodyPr vert="horz" lIns="91440" tIns="45720" rIns="91440" bIns="45720" anchor="t">
            <a:normAutofit/>
          </a:bodyPr>
          <a:lstStyle>
            <a:defPPr>
              <a:defRPr sz="3450">
                <a:solidFill>
                  <a:srgbClr val="5FCBEF"/>
                </a:solidFill>
              </a:defRPr>
            </a:defPPr>
          </a:lstStyle>
          <a:p>
            <a:pPr>
              <a:defRPr sz="3450">
                <a:solidFill>
                  <a:srgbClr val="5FCBEF"/>
                </a:solidFill>
              </a:defRPr>
            </a:pPr>
            <a:r>
              <a:rPr lang="en-GB" sz="3450" dirty="0">
                <a:solidFill>
                  <a:srgbClr val="5FCBEF"/>
                </a:solidFill>
              </a:rPr>
              <a:t>i</a:t>
            </a:r>
            <a:r>
              <a:rPr sz="3450" dirty="0" err="1">
                <a:solidFill>
                  <a:srgbClr val="5FCBEF"/>
                </a:solidFill>
              </a:rPr>
              <a:t>pconfig</a:t>
            </a:r>
            <a:r>
              <a:rPr lang="el-GR" sz="3450" dirty="0">
                <a:solidFill>
                  <a:srgbClr val="5FCBEF"/>
                </a:solidFill>
              </a:rPr>
              <a:t>(</a:t>
            </a:r>
            <a:r>
              <a:rPr lang="el-GR" sz="3450" dirty="0" err="1">
                <a:solidFill>
                  <a:srgbClr val="5FCBEF"/>
                </a:solidFill>
              </a:rPr>
              <a:t>διαγνωσή</a:t>
            </a:r>
            <a:r>
              <a:rPr lang="el-GR" sz="3450" dirty="0">
                <a:solidFill>
                  <a:srgbClr val="5FCBEF"/>
                </a:solidFill>
              </a:rPr>
              <a:t> προβλημάτων)</a:t>
            </a:r>
            <a:endParaRPr dirty="0"/>
          </a:p>
        </p:txBody>
      </p:sp>
      <p:sp>
        <p:nvSpPr>
          <p:cNvPr id="4" name="Clean content 2">
            <a:extLst>
              <a:ext uri="{FF2B5EF4-FFF2-40B4-BE49-F238E27FC236}">
                <a16:creationId xmlns:a16="http://schemas.microsoft.com/office/drawing/2014/main" id="{AA5D13AE-7AFA-4820-9A3F-59677945B128}"/>
              </a:ext>
            </a:extLst>
          </p:cNvPr>
          <p:cNvSpPr>
            <a:spLocks noGrp="1"/>
          </p:cNvSpPr>
          <p:nvPr/>
        </p:nvSpPr>
        <p:spPr>
          <a:xfrm>
            <a:off x="619125" y="1381125"/>
            <a:ext cx="11001375" cy="4953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817A68A-33DA-403F-BC2C-FAE3F8FABF24}"/>
              </a:ext>
            </a:extLst>
          </p:cNvPr>
          <p:cNvSpPr>
            <a:spLocks noGrp="1"/>
          </p:cNvSpPr>
          <p:nvPr/>
        </p:nvSpPr>
        <p:spPr>
          <a:xfrm>
            <a:off x="781050" y="1495425"/>
            <a:ext cx="100965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 algn="l">
              <a:defRPr sz="1725" b="0">
                <a:solidFill>
                  <a:srgbClr val="333333"/>
                </a:solidFill>
              </a:defRPr>
            </a:defPPr>
          </a:lstStyle>
          <a:p>
            <a:pPr algn="l">
              <a:defRPr sz="1725" b="0">
                <a:solidFill>
                  <a:srgbClr val="333333"/>
                </a:solidFill>
              </a:defRPr>
            </a:pPr>
            <a:r>
              <a:rPr sz="1725" b="0">
                <a:solidFill>
                  <a:srgbClr val="333333"/>
                </a:solidFill>
              </a:rPr>
              <a:t>Οι εντολές εμφανίζουν τις ρυθμίσεις δικτύου του υπολογιστή στα Windows. Δεν αλλάζουν καμία ρύθμιση.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F6B83BC-0809-4C45-98AA-A9A02A04F0C7}"/>
              </a:ext>
            </a:extLst>
          </p:cNvPr>
          <p:cNvSpPr>
            <a:spLocks noGrp="1"/>
          </p:cNvSpPr>
          <p:nvPr/>
        </p:nvSpPr>
        <p:spPr>
          <a:xfrm>
            <a:off x="781050" y="2105025"/>
            <a:ext cx="10096500" cy="742950"/>
          </a:xfrm>
          <a:prstGeom prst="roundRect">
            <a:avLst>
              <a:gd name="adj" fmla="val 10256"/>
            </a:avLst>
          </a:prstGeom>
          <a:solidFill>
            <a:srgbClr val="163746"/>
          </a:solidFill>
          <a:ln w="14288">
            <a:solidFill>
              <a:srgbClr val="5FCBEF"/>
            </a:solidFill>
            <a:prstDash val="solid"/>
          </a:ln>
        </p:spPr>
        <p:txBody>
          <a:bodyPr anchor="ctr"/>
          <a:lstStyle>
            <a:defPPr algn="l">
              <a:defRPr sz="1650" b="1">
                <a:solidFill>
                  <a:srgbClr val="FFFFFF"/>
                </a:solidFill>
              </a:defRPr>
            </a:defPPr>
          </a:lstStyle>
          <a:p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ipconfig        βασικές πληροφορίες</a:t>
            </a:r>
          </a:p>
          <a:p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ipconfig /all   πλήρης ανάλυση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8FDF35E-CFC4-42F1-9F35-075532B299D7}"/>
              </a:ext>
            </a:extLst>
          </p:cNvPr>
          <p:cNvSpPr>
            <a:spLocks noGrp="1"/>
          </p:cNvSpPr>
          <p:nvPr/>
        </p:nvSpPr>
        <p:spPr>
          <a:xfrm>
            <a:off x="781050" y="5562600"/>
            <a:ext cx="10096500" cy="590550"/>
          </a:xfrm>
          <a:prstGeom prst="roundRect">
            <a:avLst>
              <a:gd name="adj" fmla="val 12903"/>
            </a:avLst>
          </a:prstGeom>
          <a:solidFill>
            <a:srgbClr val="E8F7FC"/>
          </a:solidFill>
          <a:ln w="11906">
            <a:solidFill>
              <a:srgbClr val="5FCBEF"/>
            </a:solidFill>
            <a:prstDash val="solid"/>
          </a:ln>
        </p:spPr>
        <p:txBody>
          <a:bodyPr anchor="ctr"/>
          <a:lstStyle>
            <a:defPPr algn="ctr">
              <a:defRPr sz="1500" b="1">
                <a:solidFill>
                  <a:srgbClr val="23566A"/>
                </a:solidFill>
              </a:defRPr>
            </a:defPPr>
          </a:lstStyle>
          <a:p>
            <a:pPr algn="ctr">
              <a:defRPr sz="1500" b="1">
                <a:solidFill>
                  <a:srgbClr val="23566A"/>
                </a:solidFill>
              </a:defRPr>
            </a:pPr>
            <a:r>
              <a:rPr sz="1500" b="1">
                <a:solidFill>
                  <a:srgbClr val="23566A"/>
                </a:solidFill>
              </a:rPr>
              <a:t>Χρήση: έλεγχος αν ο υπολογιστής έχει σωστή IP, μάσκα, gateway και DNS.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36D4E06-CD04-D040-D257-E39147A33A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050" y="2990852"/>
            <a:ext cx="9257873" cy="2289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93940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81F604-12B9-0039-12EB-777674919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133BA-58A2-8811-3723-2649854FB3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23" y="609600"/>
            <a:ext cx="7429500" cy="742950"/>
          </a:xfrm>
        </p:spPr>
        <p:txBody>
          <a:bodyPr vert="horz" lIns="91440" tIns="45720" rIns="91440" bIns="45720" anchor="t">
            <a:normAutofit/>
          </a:bodyPr>
          <a:lstStyle>
            <a:defPPr>
              <a:defRPr sz="3450">
                <a:solidFill>
                  <a:srgbClr val="5FCBEF"/>
                </a:solidFill>
              </a:defRPr>
            </a:defPPr>
          </a:lstStyle>
          <a:p>
            <a:pPr>
              <a:defRPr sz="3450">
                <a:solidFill>
                  <a:srgbClr val="5FCBEF"/>
                </a:solidFill>
              </a:defRPr>
            </a:pPr>
            <a:r>
              <a:rPr lang="en-US" sz="3450" dirty="0" err="1">
                <a:solidFill>
                  <a:srgbClr val="5FCBEF"/>
                </a:solidFill>
              </a:rPr>
              <a:t>nslookup</a:t>
            </a:r>
            <a:r>
              <a:rPr lang="en-US" sz="3450" dirty="0">
                <a:solidFill>
                  <a:srgbClr val="5FCBEF"/>
                </a:solidFill>
              </a:rPr>
              <a:t> </a:t>
            </a:r>
            <a:r>
              <a:rPr lang="el-GR" sz="3450" dirty="0">
                <a:solidFill>
                  <a:srgbClr val="5FCBEF"/>
                </a:solidFill>
              </a:rPr>
              <a:t>(διάγνωσή προβλημάτων)</a:t>
            </a:r>
            <a:endParaRPr dirty="0"/>
          </a:p>
        </p:txBody>
      </p:sp>
      <p:sp>
        <p:nvSpPr>
          <p:cNvPr id="4" name="Clean content 2">
            <a:extLst>
              <a:ext uri="{FF2B5EF4-FFF2-40B4-BE49-F238E27FC236}">
                <a16:creationId xmlns:a16="http://schemas.microsoft.com/office/drawing/2014/main" id="{603478F7-C898-C183-15B6-F8F2631325C4}"/>
              </a:ext>
            </a:extLst>
          </p:cNvPr>
          <p:cNvSpPr>
            <a:spLocks noGrp="1"/>
          </p:cNvSpPr>
          <p:nvPr/>
        </p:nvSpPr>
        <p:spPr>
          <a:xfrm>
            <a:off x="619125" y="1381125"/>
            <a:ext cx="11001375" cy="4953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C0F7599-C57A-60C5-2EE3-7CEE5E6BB11C}"/>
              </a:ext>
            </a:extLst>
          </p:cNvPr>
          <p:cNvSpPr>
            <a:spLocks noGrp="1"/>
          </p:cNvSpPr>
          <p:nvPr/>
        </p:nvSpPr>
        <p:spPr>
          <a:xfrm>
            <a:off x="355600" y="1428750"/>
            <a:ext cx="10096500" cy="590550"/>
          </a:xfrm>
          <a:prstGeom prst="roundRect">
            <a:avLst>
              <a:gd name="adj" fmla="val 12903"/>
            </a:avLst>
          </a:prstGeom>
          <a:solidFill>
            <a:srgbClr val="E8F7FC"/>
          </a:solidFill>
          <a:ln w="11906">
            <a:solidFill>
              <a:srgbClr val="5FCBEF"/>
            </a:solidFill>
            <a:prstDash val="solid"/>
          </a:ln>
        </p:spPr>
        <p:txBody>
          <a:bodyPr anchor="ctr"/>
          <a:lstStyle>
            <a:defPPr algn="ctr">
              <a:defRPr sz="1500" b="1">
                <a:solidFill>
                  <a:srgbClr val="23566A"/>
                </a:solidFill>
              </a:defRPr>
            </a:defPPr>
          </a:lstStyle>
          <a:p>
            <a:pPr algn="ctr">
              <a:defRPr sz="1500" b="1">
                <a:solidFill>
                  <a:srgbClr val="23566A"/>
                </a:solidFill>
              </a:defRPr>
            </a:pPr>
            <a:r>
              <a:rPr lang="el-GR" sz="1500" b="1" dirty="0">
                <a:solidFill>
                  <a:srgbClr val="23566A"/>
                </a:solidFill>
              </a:rPr>
              <a:t>εμφανίζει τη διεύθυνση του </a:t>
            </a:r>
            <a:r>
              <a:rPr sz="1500" b="1" dirty="0">
                <a:solidFill>
                  <a:srgbClr val="23566A"/>
                </a:solidFill>
              </a:rPr>
              <a:t>DNS</a:t>
            </a:r>
            <a:r>
              <a:rPr lang="en-US" sz="1500" b="1" dirty="0">
                <a:solidFill>
                  <a:srgbClr val="23566A"/>
                </a:solidFill>
              </a:rPr>
              <a:t> server </a:t>
            </a:r>
            <a:r>
              <a:rPr lang="el-GR" sz="1500" b="1" dirty="0">
                <a:solidFill>
                  <a:srgbClr val="23566A"/>
                </a:solidFill>
              </a:rPr>
              <a:t>που θα χρησιμοποιήσει ο υπολογιστής μας</a:t>
            </a:r>
            <a:endParaRPr sz="1500" b="1" dirty="0">
              <a:solidFill>
                <a:srgbClr val="23566A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C83EB7C-0C5D-E2BE-7BC8-6EFD27C574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" y="2216150"/>
            <a:ext cx="7289800" cy="4451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5067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3DE7BDB4-5B22-4942-A5BF-1BC290BB60C6}"/>
              </a:ext>
            </a:extLst>
          </p:cNvPr>
          <p:cNvSpPr>
            <a:spLocks noGrp="1"/>
          </p:cNvSpPr>
          <p:nvPr/>
        </p:nv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F972E8AA-2DAA-4786-A1DC-793A00EB1F59}"/>
              </a:ext>
            </a:extLst>
          </p:cNvPr>
          <p:cNvSpPr>
            <a:spLocks noGrp="1"/>
          </p:cNvSpPr>
          <p:nvPr/>
        </p:nv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Rectangle 23">
            <a:extLst>
              <a:ext uri="{FF2B5EF4-FFF2-40B4-BE49-F238E27FC236}">
                <a16:creationId xmlns:a16="http://schemas.microsoft.com/office/drawing/2014/main" id="{6778DC79-DE09-4F89-81B1-275C542D7FB4}"/>
              </a:ext>
            </a:extLst>
          </p:cNvPr>
          <p:cNvSpPr>
            <a:spLocks noGrp="1"/>
          </p:cNvSpPr>
          <p:nvPr/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25">
            <a:extLst>
              <a:ext uri="{FF2B5EF4-FFF2-40B4-BE49-F238E27FC236}">
                <a16:creationId xmlns:a16="http://schemas.microsoft.com/office/drawing/2014/main" id="{EAEC370A-1F34-4D8E-B065-81F6F568AA75}"/>
              </a:ext>
            </a:extLst>
          </p:cNvPr>
          <p:cNvSpPr>
            <a:spLocks noGrp="1"/>
          </p:cNvSpPr>
          <p:nvPr/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A816EDF3-D9EE-488C-AFDC-0223815139E3}"/>
              </a:ext>
            </a:extLst>
          </p:cNvPr>
          <p:cNvSpPr>
            <a:spLocks noGrp="1"/>
          </p:cNvSpPr>
          <p:nvPr/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1">
              <a:lumMod val="75000"/>
              <a:alpha val="6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Rectangle 27">
            <a:extLst>
              <a:ext uri="{FF2B5EF4-FFF2-40B4-BE49-F238E27FC236}">
                <a16:creationId xmlns:a16="http://schemas.microsoft.com/office/drawing/2014/main" id="{E8330BD4-97D9-4D24-815A-0E557B04F96A}"/>
              </a:ext>
            </a:extLst>
          </p:cNvPr>
          <p:cNvSpPr>
            <a:spLocks noGrp="1"/>
          </p:cNvSpPr>
          <p:nvPr/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  <a:alpha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Rectangle 28">
            <a:extLst>
              <a:ext uri="{FF2B5EF4-FFF2-40B4-BE49-F238E27FC236}">
                <a16:creationId xmlns:a16="http://schemas.microsoft.com/office/drawing/2014/main" id="{EA8EDE67-BAC0-478C-99D9-BBC5AD532084}"/>
              </a:ext>
            </a:extLst>
          </p:cNvPr>
          <p:cNvSpPr>
            <a:spLocks noGrp="1"/>
          </p:cNvSpPr>
          <p:nvPr/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2">
              <a:alpha val="7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8" name="Rectangle 29">
            <a:extLst>
              <a:ext uri="{FF2B5EF4-FFF2-40B4-BE49-F238E27FC236}">
                <a16:creationId xmlns:a16="http://schemas.microsoft.com/office/drawing/2014/main" id="{33DFB3F3-2523-4F1F-BC2B-B97C172F2C47}"/>
              </a:ext>
            </a:extLst>
          </p:cNvPr>
          <p:cNvSpPr>
            <a:spLocks noGrp="1"/>
          </p:cNvSpPr>
          <p:nvPr/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5E5660E4-7443-4FCC-AD43-9D1AE972B5C4}"/>
              </a:ext>
            </a:extLst>
          </p:cNvPr>
          <p:cNvSpPr>
            <a:spLocks noGrp="1"/>
          </p:cNvSpPr>
          <p:nvPr/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lumMod val="75000"/>
              <a:alpha val="6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4EDF9C36-B365-4426-85B9-82E0DE187A59}"/>
              </a:ext>
            </a:extLst>
          </p:cNvPr>
          <p:cNvSpPr>
            <a:spLocks noGrp="1"/>
          </p:cNvSpPr>
          <p:nvPr/>
        </p:nvSpPr>
        <p:spPr>
          <a:xfrm>
            <a:off x="0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A92CD4-88DD-4F68-B449-EA9821C3E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22" y="609600"/>
            <a:ext cx="5793327" cy="742950"/>
          </a:xfrm>
        </p:spPr>
        <p:txBody>
          <a:bodyPr vert="horz" lIns="91440" tIns="45720" rIns="91440" bIns="45720" anchor="t">
            <a:normAutofit fontScale="90000"/>
          </a:bodyPr>
          <a:lstStyle>
            <a:defPPr>
              <a:defRPr sz="3450">
                <a:solidFill>
                  <a:srgbClr val="5FCBEF"/>
                </a:solidFill>
              </a:defRPr>
            </a:defPPr>
          </a:lstStyle>
          <a:p>
            <a:pPr>
              <a:defRPr sz="3450">
                <a:solidFill>
                  <a:srgbClr val="5FCBEF"/>
                </a:solidFill>
              </a:defRPr>
            </a:pPr>
            <a:r>
              <a:rPr sz="3450" dirty="0">
                <a:solidFill>
                  <a:srgbClr val="5FCBEF"/>
                </a:solidFill>
              </a:rPr>
              <a:t>ping</a:t>
            </a:r>
            <a:r>
              <a:rPr lang="el-GR" sz="3450" dirty="0">
                <a:solidFill>
                  <a:srgbClr val="5FCBEF"/>
                </a:solidFill>
              </a:rPr>
              <a:t> (</a:t>
            </a:r>
            <a:r>
              <a:rPr lang="el-GR" sz="3450" dirty="0" err="1">
                <a:solidFill>
                  <a:srgbClr val="5FCBEF"/>
                </a:solidFill>
              </a:rPr>
              <a:t>διαγνωσή</a:t>
            </a:r>
            <a:r>
              <a:rPr lang="el-GR" sz="3450" dirty="0">
                <a:solidFill>
                  <a:srgbClr val="5FCBEF"/>
                </a:solidFill>
              </a:rPr>
              <a:t> προβλημάτων)</a:t>
            </a:r>
            <a:endParaRPr sz="3450" dirty="0">
              <a:solidFill>
                <a:srgbClr val="5FCBEF"/>
              </a:solidFill>
            </a:endParaRPr>
          </a:p>
        </p:txBody>
      </p:sp>
      <p:sp>
        <p:nvSpPr>
          <p:cNvPr id="22" name="Straight Connector 21">
            <a:extLst>
              <a:ext uri="{FF2B5EF4-FFF2-40B4-BE49-F238E27FC236}">
                <a16:creationId xmlns:a16="http://schemas.microsoft.com/office/drawing/2014/main" id="{58A65593-EBC9-4FFD-A2E3-84A86F9898AA}"/>
              </a:ext>
            </a:extLst>
          </p:cNvPr>
          <p:cNvSpPr>
            <a:spLocks noGrp="1"/>
          </p:cNvSpPr>
          <p:nvPr/>
        </p:nv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24" name="Straight Connector 23">
            <a:extLst>
              <a:ext uri="{FF2B5EF4-FFF2-40B4-BE49-F238E27FC236}">
                <a16:creationId xmlns:a16="http://schemas.microsoft.com/office/drawing/2014/main" id="{46DF67F7-9F42-4763-BDC4-3162061DA391}"/>
              </a:ext>
            </a:extLst>
          </p:cNvPr>
          <p:cNvSpPr>
            <a:spLocks noGrp="1"/>
          </p:cNvSpPr>
          <p:nvPr/>
        </p:nv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26" name="Rectangle 23">
            <a:extLst>
              <a:ext uri="{FF2B5EF4-FFF2-40B4-BE49-F238E27FC236}">
                <a16:creationId xmlns:a16="http://schemas.microsoft.com/office/drawing/2014/main" id="{3F088236-D655-4F88-B238-E16762358025}"/>
              </a:ext>
            </a:extLst>
          </p:cNvPr>
          <p:cNvSpPr>
            <a:spLocks noGrp="1"/>
          </p:cNvSpPr>
          <p:nvPr/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8" name="Rectangle 25">
            <a:extLst>
              <a:ext uri="{FF2B5EF4-FFF2-40B4-BE49-F238E27FC236}">
                <a16:creationId xmlns:a16="http://schemas.microsoft.com/office/drawing/2014/main" id="{3DAC0C92-199E-475C-9390-119A9B027276}"/>
              </a:ext>
            </a:extLst>
          </p:cNvPr>
          <p:cNvSpPr>
            <a:spLocks noGrp="1"/>
          </p:cNvSpPr>
          <p:nvPr/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0" name="Isosceles Triangle 24">
            <a:extLst>
              <a:ext uri="{FF2B5EF4-FFF2-40B4-BE49-F238E27FC236}">
                <a16:creationId xmlns:a16="http://schemas.microsoft.com/office/drawing/2014/main" id="{C4CFB339-0ED8-4FE2-9EF1-6D1375B8499B}"/>
              </a:ext>
            </a:extLst>
          </p:cNvPr>
          <p:cNvSpPr>
            <a:spLocks noGrp="1"/>
          </p:cNvSpPr>
          <p:nvPr/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2" name="Rectangle 27">
            <a:extLst>
              <a:ext uri="{FF2B5EF4-FFF2-40B4-BE49-F238E27FC236}">
                <a16:creationId xmlns:a16="http://schemas.microsoft.com/office/drawing/2014/main" id="{31896C80-2069-4431-9C19-83B913734490}"/>
              </a:ext>
            </a:extLst>
          </p:cNvPr>
          <p:cNvSpPr>
            <a:spLocks noGrp="1"/>
          </p:cNvSpPr>
          <p:nvPr/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4" name="Rectangle 28">
            <a:extLst>
              <a:ext uri="{FF2B5EF4-FFF2-40B4-BE49-F238E27FC236}">
                <a16:creationId xmlns:a16="http://schemas.microsoft.com/office/drawing/2014/main" id="{BF120A21-0841-4823-B0C4-28AEBCEF9B78}"/>
              </a:ext>
            </a:extLst>
          </p:cNvPr>
          <p:cNvSpPr>
            <a:spLocks noGrp="1"/>
          </p:cNvSpPr>
          <p:nvPr/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6" name="Rectangle 29">
            <a:extLst>
              <a:ext uri="{FF2B5EF4-FFF2-40B4-BE49-F238E27FC236}">
                <a16:creationId xmlns:a16="http://schemas.microsoft.com/office/drawing/2014/main" id="{DBB05BAE-BBD3-4289-899F-A6851503C6B0}"/>
              </a:ext>
            </a:extLst>
          </p:cNvPr>
          <p:cNvSpPr>
            <a:spLocks noGrp="1"/>
          </p:cNvSpPr>
          <p:nvPr/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8" name="Isosceles Triangle 29">
            <a:extLst>
              <a:ext uri="{FF2B5EF4-FFF2-40B4-BE49-F238E27FC236}">
                <a16:creationId xmlns:a16="http://schemas.microsoft.com/office/drawing/2014/main" id="{9874D11C-36F5-4BBE-A490-019A54E953B0}"/>
              </a:ext>
            </a:extLst>
          </p:cNvPr>
          <p:cNvSpPr>
            <a:spLocks noGrp="1"/>
          </p:cNvSpPr>
          <p:nvPr/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0" name="Clean content 4">
            <a:extLst>
              <a:ext uri="{FF2B5EF4-FFF2-40B4-BE49-F238E27FC236}">
                <a16:creationId xmlns:a16="http://schemas.microsoft.com/office/drawing/2014/main" id="{7F869091-9CC5-48F4-9FEE-C0C4C32EE931}"/>
              </a:ext>
            </a:extLst>
          </p:cNvPr>
          <p:cNvSpPr>
            <a:spLocks noGrp="1"/>
          </p:cNvSpPr>
          <p:nvPr/>
        </p:nvSpPr>
        <p:spPr>
          <a:xfrm>
            <a:off x="619125" y="1381125"/>
            <a:ext cx="11001375" cy="4953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3330E2F-CDED-4A34-B64B-E96705ACE567}"/>
              </a:ext>
            </a:extLst>
          </p:cNvPr>
          <p:cNvSpPr>
            <a:spLocks noGrp="1"/>
          </p:cNvSpPr>
          <p:nvPr/>
        </p:nvSpPr>
        <p:spPr>
          <a:xfrm>
            <a:off x="781050" y="1495425"/>
            <a:ext cx="10096500" cy="4953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 algn="l">
              <a:defRPr sz="1725" b="0">
                <a:solidFill>
                  <a:srgbClr val="333333"/>
                </a:solidFill>
              </a:defRPr>
            </a:defPPr>
          </a:lstStyle>
          <a:p>
            <a:pPr algn="l">
              <a:defRPr sz="1725" b="0">
                <a:solidFill>
                  <a:srgbClr val="333333"/>
                </a:solidFill>
              </a:defRPr>
            </a:pPr>
            <a:r>
              <a:rPr sz="1725" b="0">
                <a:solidFill>
                  <a:srgbClr val="333333"/>
                </a:solidFill>
              </a:rPr>
              <a:t>Το ping στέλνει μικρά δοκιμαστικά πακέτα και περιμένει απάντηση από τον προορισμό.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987EA34E-D5DF-4859-A266-65AFDBB4C497}"/>
              </a:ext>
            </a:extLst>
          </p:cNvPr>
          <p:cNvSpPr>
            <a:spLocks noGrp="1"/>
          </p:cNvSpPr>
          <p:nvPr/>
        </p:nvSpPr>
        <p:spPr>
          <a:xfrm>
            <a:off x="799056" y="1885421"/>
            <a:ext cx="10096500" cy="1009650"/>
          </a:xfrm>
          <a:prstGeom prst="roundRect">
            <a:avLst>
              <a:gd name="adj" fmla="val 7547"/>
            </a:avLst>
          </a:prstGeom>
          <a:solidFill>
            <a:srgbClr val="163746"/>
          </a:solidFill>
          <a:ln w="14288">
            <a:solidFill>
              <a:srgbClr val="5FCBEF"/>
            </a:solidFill>
            <a:prstDash val="solid"/>
          </a:ln>
        </p:spPr>
        <p:txBody>
          <a:bodyPr anchor="ctr"/>
          <a:lstStyle>
            <a:defPPr algn="l">
              <a:defRPr sz="1650" b="1">
                <a:solidFill>
                  <a:srgbClr val="FFFFFF"/>
                </a:solidFill>
              </a:defRPr>
            </a:defPPr>
          </a:lstStyle>
          <a:p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ping 192.168.1.1      έλεγχος του τοπικού router</a:t>
            </a:r>
          </a:p>
          <a:p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ping 8.8.8.8          έλεγχος Internet χωρίς DNS</a:t>
            </a:r>
          </a:p>
          <a:p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ping www.google.com   έλεγχος Internet και DNS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EC52D7-0F6E-E912-3D97-D12DACBE75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4459" y="3019425"/>
            <a:ext cx="8443674" cy="3612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5012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EAA72-EC7F-4ECD-B4EF-D54E871C6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22" y="609600"/>
            <a:ext cx="6326727" cy="742950"/>
          </a:xfrm>
        </p:spPr>
        <p:txBody>
          <a:bodyPr vert="horz" lIns="91440" tIns="45720" rIns="91440" bIns="45720" anchor="t">
            <a:normAutofit fontScale="90000"/>
          </a:bodyPr>
          <a:lstStyle>
            <a:defPPr>
              <a:defRPr sz="3450">
                <a:solidFill>
                  <a:srgbClr val="5FCBEF"/>
                </a:solidFill>
              </a:defRPr>
            </a:defPPr>
          </a:lstStyle>
          <a:p>
            <a:pPr>
              <a:defRPr sz="3450">
                <a:solidFill>
                  <a:srgbClr val="5FCBEF"/>
                </a:solidFill>
              </a:defRPr>
            </a:pPr>
            <a:r>
              <a:rPr sz="3450" dirty="0" err="1">
                <a:solidFill>
                  <a:srgbClr val="5FCBEF"/>
                </a:solidFill>
              </a:rPr>
              <a:t>tracert</a:t>
            </a:r>
            <a:r>
              <a:rPr lang="el-GR" sz="3450" dirty="0">
                <a:solidFill>
                  <a:srgbClr val="5FCBEF"/>
                </a:solidFill>
              </a:rPr>
              <a:t> (</a:t>
            </a:r>
            <a:r>
              <a:rPr lang="el-GR" sz="3450" dirty="0" err="1">
                <a:solidFill>
                  <a:srgbClr val="5FCBEF"/>
                </a:solidFill>
              </a:rPr>
              <a:t>διαγνωσή</a:t>
            </a:r>
            <a:r>
              <a:rPr lang="el-GR" sz="3450" dirty="0">
                <a:solidFill>
                  <a:srgbClr val="5FCBEF"/>
                </a:solidFill>
              </a:rPr>
              <a:t> προβλημάτων)</a:t>
            </a:r>
            <a:endParaRPr dirty="0"/>
          </a:p>
        </p:txBody>
      </p:sp>
      <p:sp>
        <p:nvSpPr>
          <p:cNvPr id="5" name="Clean content 5">
            <a:extLst>
              <a:ext uri="{FF2B5EF4-FFF2-40B4-BE49-F238E27FC236}">
                <a16:creationId xmlns:a16="http://schemas.microsoft.com/office/drawing/2014/main" id="{EC97C31E-7703-4F76-AF7D-A634EF2410CF}"/>
              </a:ext>
            </a:extLst>
          </p:cNvPr>
          <p:cNvSpPr>
            <a:spLocks noGrp="1"/>
          </p:cNvSpPr>
          <p:nvPr/>
        </p:nvSpPr>
        <p:spPr>
          <a:xfrm>
            <a:off x="619125" y="1381125"/>
            <a:ext cx="11001375" cy="4953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D48E1F3-2B09-4AC2-AD4B-306CA7286834}"/>
              </a:ext>
            </a:extLst>
          </p:cNvPr>
          <p:cNvSpPr>
            <a:spLocks noGrp="1"/>
          </p:cNvSpPr>
          <p:nvPr/>
        </p:nvSpPr>
        <p:spPr>
          <a:xfrm>
            <a:off x="781050" y="1243013"/>
            <a:ext cx="100965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 algn="l">
              <a:defRPr sz="1725" b="0">
                <a:solidFill>
                  <a:srgbClr val="333333"/>
                </a:solidFill>
              </a:defRPr>
            </a:defPPr>
          </a:lstStyle>
          <a:p>
            <a:pPr algn="l">
              <a:defRPr sz="1725" b="0">
                <a:solidFill>
                  <a:srgbClr val="333333"/>
                </a:solidFill>
              </a:defRPr>
            </a:pPr>
            <a:r>
              <a:rPr sz="1725" b="0" dirty="0" err="1">
                <a:solidFill>
                  <a:srgbClr val="333333"/>
                </a:solidFill>
              </a:rPr>
              <a:t>Το</a:t>
            </a:r>
            <a:r>
              <a:rPr sz="1725" b="0" dirty="0">
                <a:solidFill>
                  <a:srgbClr val="333333"/>
                </a:solidFill>
              </a:rPr>
              <a:t> </a:t>
            </a:r>
            <a:r>
              <a:rPr sz="1725" b="0" dirty="0" err="1">
                <a:solidFill>
                  <a:srgbClr val="333333"/>
                </a:solidFill>
              </a:rPr>
              <a:t>tracert</a:t>
            </a:r>
            <a:r>
              <a:rPr sz="1725" b="0" dirty="0">
                <a:solidFill>
                  <a:srgbClr val="333333"/>
                </a:solidFill>
              </a:rPr>
              <a:t> </a:t>
            </a:r>
            <a:r>
              <a:rPr sz="1725" b="0" dirty="0" err="1">
                <a:solidFill>
                  <a:srgbClr val="333333"/>
                </a:solidFill>
              </a:rPr>
              <a:t>εμφ</a:t>
            </a:r>
            <a:r>
              <a:rPr sz="1725" b="0" dirty="0">
                <a:solidFill>
                  <a:srgbClr val="333333"/>
                </a:solidFill>
              </a:rPr>
              <a:t>ανίζει διαδοχικά τους routers, δηλαδή τα hops, που περνά η κίνηση μέχρι τον προορισμό.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8D10C96-8AEC-4960-AB57-7B52199C482B}"/>
              </a:ext>
            </a:extLst>
          </p:cNvPr>
          <p:cNvSpPr>
            <a:spLocks noGrp="1"/>
          </p:cNvSpPr>
          <p:nvPr/>
        </p:nvSpPr>
        <p:spPr>
          <a:xfrm>
            <a:off x="781050" y="1986425"/>
            <a:ext cx="10096500" cy="666750"/>
          </a:xfrm>
          <a:prstGeom prst="roundRect">
            <a:avLst>
              <a:gd name="adj" fmla="val 11429"/>
            </a:avLst>
          </a:prstGeom>
          <a:solidFill>
            <a:srgbClr val="163746"/>
          </a:solidFill>
          <a:ln w="14288">
            <a:solidFill>
              <a:srgbClr val="5FCBEF"/>
            </a:solidFill>
            <a:prstDash val="solid"/>
          </a:ln>
        </p:spPr>
        <p:txBody>
          <a:bodyPr anchor="ctr"/>
          <a:lstStyle>
            <a:defPPr algn="l">
              <a:defRPr sz="1650" b="1">
                <a:solidFill>
                  <a:srgbClr val="FFFFFF"/>
                </a:solidFill>
              </a:defRPr>
            </a:defPPr>
          </a:lstStyle>
          <a:p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tracert www.google.com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2023D39-8FF8-4B86-B353-8C76D724C654}"/>
              </a:ext>
            </a:extLst>
          </p:cNvPr>
          <p:cNvSpPr>
            <a:spLocks noGrp="1"/>
          </p:cNvSpPr>
          <p:nvPr/>
        </p:nvSpPr>
        <p:spPr>
          <a:xfrm>
            <a:off x="781050" y="5562600"/>
            <a:ext cx="10096500" cy="590550"/>
          </a:xfrm>
          <a:prstGeom prst="roundRect">
            <a:avLst>
              <a:gd name="adj" fmla="val 12903"/>
            </a:avLst>
          </a:prstGeom>
          <a:solidFill>
            <a:srgbClr val="E8F7FC"/>
          </a:solidFill>
          <a:ln w="11906">
            <a:solidFill>
              <a:srgbClr val="5FCBEF"/>
            </a:solidFill>
            <a:prstDash val="solid"/>
          </a:ln>
        </p:spPr>
        <p:txBody>
          <a:bodyPr anchor="ctr"/>
          <a:lstStyle>
            <a:defPPr algn="ctr">
              <a:defRPr sz="1500" b="1">
                <a:solidFill>
                  <a:srgbClr val="23566A"/>
                </a:solidFill>
              </a:defRPr>
            </a:defPPr>
          </a:lstStyle>
          <a:p>
            <a:pPr algn="ctr">
              <a:defRPr sz="1500" b="1">
                <a:solidFill>
                  <a:srgbClr val="23566A"/>
                </a:solidFill>
              </a:defRPr>
            </a:pPr>
            <a:r>
              <a:rPr sz="1500" b="1">
                <a:solidFill>
                  <a:srgbClr val="23566A"/>
                </a:solidFill>
              </a:rPr>
              <a:t>Χρήση: όταν το ping αποτυγχάνει ή είναι αργό, ελέγχουμε σε ποιο hop αρχίζει η καθυστέρηση.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287844-4DD7-555C-F453-0F57E9E2B7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674" y="2834150"/>
            <a:ext cx="7907625" cy="2743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37793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EAA72-EC7F-4ECD-B4EF-D54E871C6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2" y="609600"/>
            <a:ext cx="5825735" cy="1320800"/>
          </a:xfrm>
        </p:spPr>
        <p:txBody>
          <a:bodyPr vert="horz" lIns="91440" tIns="45720" rIns="91440" bIns="45720" anchor="t">
            <a:normAutofit/>
          </a:bodyPr>
          <a:lstStyle/>
          <a:p>
            <a:r>
              <a:t>Έλεγχος προβλημάτων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B3F7303-CEA4-CFC4-5052-5C4AC62740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2160589"/>
            <a:ext cx="6716071" cy="3880772"/>
          </a:xfrm>
        </p:spPr>
        <p:txBody>
          <a:bodyPr>
            <a:normAutofit/>
          </a:bodyPr>
          <a:lstStyle/>
          <a:p>
            <a:endParaRPr/>
          </a:p>
        </p:txBody>
      </p:sp>
      <p:sp>
        <p:nvSpPr>
          <p:cNvPr id="5" name="Clean content area">
            <a:extLst>
              <a:ext uri="{FF2B5EF4-FFF2-40B4-BE49-F238E27FC236}">
                <a16:creationId xmlns:a16="http://schemas.microsoft.com/office/drawing/2014/main" id="{73383F08-623A-462D-A230-968EFDB9DA69}"/>
              </a:ext>
            </a:extLst>
          </p:cNvPr>
          <p:cNvSpPr>
            <a:spLocks noGrp="1"/>
          </p:cNvSpPr>
          <p:nvPr/>
        </p:nvSpPr>
        <p:spPr>
          <a:xfrm>
            <a:off x="590550" y="1352550"/>
            <a:ext cx="11049000" cy="50006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6" name="Section reference">
            <a:extLst>
              <a:ext uri="{FF2B5EF4-FFF2-40B4-BE49-F238E27FC236}">
                <a16:creationId xmlns:a16="http://schemas.microsoft.com/office/drawing/2014/main" id="{97D7BDD8-9508-4066-A397-B979ED88C1FF}"/>
              </a:ext>
            </a:extLst>
          </p:cNvPr>
          <p:cNvSpPr>
            <a:spLocks noGrp="1"/>
          </p:cNvSpPr>
          <p:nvPr/>
        </p:nvSpPr>
        <p:spPr>
          <a:xfrm>
            <a:off x="781050" y="1466850"/>
            <a:ext cx="4953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68EAD"/>
                </a:solidFill>
                <a:latin typeface="Trebuchet MS"/>
                <a:ea typeface="Trebuchet MS"/>
                <a:cs typeface="Trebuchet MS"/>
              </a:defRPr>
            </a:pPr>
            <a:r>
              <a:rPr sz="1275" b="1">
                <a:solidFill>
                  <a:srgbClr val="168EAD"/>
                </a:solidFill>
                <a:latin typeface="Trebuchet MS"/>
                <a:ea typeface="Trebuchet MS"/>
                <a:cs typeface="Trebuchet MS"/>
              </a:rPr>
              <a:t>A.5.M2 | Θεωρία</a:t>
            </a:r>
          </a:p>
        </p:txBody>
      </p:sp>
      <p:sp>
        <p:nvSpPr>
          <p:cNvPr id="7" name="Block heading 1">
            <a:extLst>
              <a:ext uri="{FF2B5EF4-FFF2-40B4-BE49-F238E27FC236}">
                <a16:creationId xmlns:a16="http://schemas.microsoft.com/office/drawing/2014/main" id="{F1736C36-5F43-4C65-BFB2-FE2C8E1539B0}"/>
              </a:ext>
            </a:extLst>
          </p:cNvPr>
          <p:cNvSpPr>
            <a:spLocks noGrp="1"/>
          </p:cNvSpPr>
          <p:nvPr/>
        </p:nvSpPr>
        <p:spPr>
          <a:xfrm>
            <a:off x="781050" y="1857375"/>
            <a:ext cx="4762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Φυσική σύνδεση</a:t>
            </a:r>
          </a:p>
        </p:txBody>
      </p:sp>
      <p:sp>
        <p:nvSpPr>
          <p:cNvPr id="8" name="Block body 1">
            <a:extLst>
              <a:ext uri="{FF2B5EF4-FFF2-40B4-BE49-F238E27FC236}">
                <a16:creationId xmlns:a16="http://schemas.microsoft.com/office/drawing/2014/main" id="{0160AFBB-5761-4B19-83D2-D7D792715BDC}"/>
              </a:ext>
            </a:extLst>
          </p:cNvPr>
          <p:cNvSpPr>
            <a:spLocks noGrp="1"/>
          </p:cNvSpPr>
          <p:nvPr/>
        </p:nvSpPr>
        <p:spPr>
          <a:xfrm>
            <a:off x="781050" y="2171700"/>
            <a:ext cx="4762500" cy="981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Ελέγχουμε καλώδια, θύρες, φωτεινές ενδείξεις και ασύρματη σύνδεση.</a:t>
            </a:r>
          </a:p>
        </p:txBody>
      </p:sp>
      <p:sp>
        <p:nvSpPr>
          <p:cNvPr id="9" name="Block heading 2">
            <a:extLst>
              <a:ext uri="{FF2B5EF4-FFF2-40B4-BE49-F238E27FC236}">
                <a16:creationId xmlns:a16="http://schemas.microsoft.com/office/drawing/2014/main" id="{9B4086BE-70E4-4A1F-82CE-DB4DA9B4A135}"/>
              </a:ext>
            </a:extLst>
          </p:cNvPr>
          <p:cNvSpPr>
            <a:spLocks noGrp="1"/>
          </p:cNvSpPr>
          <p:nvPr/>
        </p:nvSpPr>
        <p:spPr>
          <a:xfrm>
            <a:off x="781050" y="3190875"/>
            <a:ext cx="4762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Ρυθμίσεις</a:t>
            </a:r>
          </a:p>
        </p:txBody>
      </p:sp>
      <p:sp>
        <p:nvSpPr>
          <p:cNvPr id="10" name="Block body 2">
            <a:extLst>
              <a:ext uri="{FF2B5EF4-FFF2-40B4-BE49-F238E27FC236}">
                <a16:creationId xmlns:a16="http://schemas.microsoft.com/office/drawing/2014/main" id="{F247D9E9-005F-4FAD-BF67-666F30485EE6}"/>
              </a:ext>
            </a:extLst>
          </p:cNvPr>
          <p:cNvSpPr>
            <a:spLocks noGrp="1"/>
          </p:cNvSpPr>
          <p:nvPr/>
        </p:nvSpPr>
        <p:spPr>
          <a:xfrm>
            <a:off x="781050" y="3505200"/>
            <a:ext cx="4762500" cy="981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Ελέγχουμε την IP Address, τη μάσκα και το Default Gateway.</a:t>
            </a:r>
          </a:p>
        </p:txBody>
      </p:sp>
      <p:sp>
        <p:nvSpPr>
          <p:cNvPr id="11" name="Block heading 3">
            <a:extLst>
              <a:ext uri="{FF2B5EF4-FFF2-40B4-BE49-F238E27FC236}">
                <a16:creationId xmlns:a16="http://schemas.microsoft.com/office/drawing/2014/main" id="{DF305F1F-5AC1-4283-98E0-31602520785C}"/>
              </a:ext>
            </a:extLst>
          </p:cNvPr>
          <p:cNvSpPr>
            <a:spLocks noGrp="1"/>
          </p:cNvSpPr>
          <p:nvPr/>
        </p:nvSpPr>
        <p:spPr>
          <a:xfrm>
            <a:off x="781050" y="4524375"/>
            <a:ext cx="4762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Δοκιμές</a:t>
            </a:r>
          </a:p>
        </p:txBody>
      </p:sp>
      <p:sp>
        <p:nvSpPr>
          <p:cNvPr id="12" name="Block body 3">
            <a:extLst>
              <a:ext uri="{FF2B5EF4-FFF2-40B4-BE49-F238E27FC236}">
                <a16:creationId xmlns:a16="http://schemas.microsoft.com/office/drawing/2014/main" id="{FF732DCC-CCBB-4D4B-9717-9FF19AD766E4}"/>
              </a:ext>
            </a:extLst>
          </p:cNvPr>
          <p:cNvSpPr>
            <a:spLocks noGrp="1"/>
          </p:cNvSpPr>
          <p:nvPr/>
        </p:nvSpPr>
        <p:spPr>
          <a:xfrm>
            <a:off x="781050" y="4838700"/>
            <a:ext cx="4762500" cy="981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Δοκιμάζουμε επικοινωνία πρώτα με τον router και έπειτα με απομακρυσμένο προορισμό.</a:t>
            </a: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953125" y="2553451"/>
            <a:ext cx="4905375" cy="2513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66596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24EE7-B9BA-0224-B2C0-9853440AA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13001"/>
          </a:xfrm>
        </p:spPr>
        <p:txBody>
          <a:bodyPr/>
          <a:lstStyle/>
          <a:p>
            <a:r>
              <a:t>Δραστηριότητες Εμπέδωσης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7059D2-7234-9A18-8EC3-97389EC073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745" y="1528147"/>
            <a:ext cx="7080326" cy="576262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BF9A9EA-A3CB-AC85-3752-6360C044E602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75745" y="2309955"/>
            <a:ext cx="4185623" cy="3304117"/>
          </a:xfrm>
        </p:spPr>
        <p:txBody>
          <a:bodyPr>
            <a:normAutofit/>
          </a:bodyPr>
          <a:lstStyle/>
          <a:p>
            <a:endParaRPr sz="2400"/>
          </a:p>
        </p:txBody>
      </p:sp>
      <p:sp>
        <p:nvSpPr>
          <p:cNvPr id="6" name="Clean content area">
            <a:extLst>
              <a:ext uri="{FF2B5EF4-FFF2-40B4-BE49-F238E27FC236}">
                <a16:creationId xmlns:a16="http://schemas.microsoft.com/office/drawing/2014/main" id="{5D78D7B6-4857-428E-A2B0-9D0ADFEC4C4F}"/>
              </a:ext>
            </a:extLst>
          </p:cNvPr>
          <p:cNvSpPr>
            <a:spLocks noGrp="1"/>
          </p:cNvSpPr>
          <p:nvPr/>
        </p:nvSpPr>
        <p:spPr>
          <a:xfrm>
            <a:off x="590550" y="1352550"/>
            <a:ext cx="11049000" cy="50006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7" name="Section reference">
            <a:extLst>
              <a:ext uri="{FF2B5EF4-FFF2-40B4-BE49-F238E27FC236}">
                <a16:creationId xmlns:a16="http://schemas.microsoft.com/office/drawing/2014/main" id="{F1E775E6-98BF-447D-BCB0-D78483465CA2}"/>
              </a:ext>
            </a:extLst>
          </p:cNvPr>
          <p:cNvSpPr>
            <a:spLocks noGrp="1"/>
          </p:cNvSpPr>
          <p:nvPr/>
        </p:nvSpPr>
        <p:spPr>
          <a:xfrm>
            <a:off x="781050" y="1466850"/>
            <a:ext cx="4953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68EAD"/>
                </a:solidFill>
                <a:latin typeface="Trebuchet MS"/>
                <a:ea typeface="Trebuchet MS"/>
                <a:cs typeface="Trebuchet MS"/>
              </a:defRPr>
            </a:pPr>
            <a:r>
              <a:rPr sz="1275" b="1">
                <a:solidFill>
                  <a:srgbClr val="168EAD"/>
                </a:solidFill>
                <a:latin typeface="Trebuchet MS"/>
                <a:ea typeface="Trebuchet MS"/>
                <a:cs typeface="Trebuchet MS"/>
              </a:rPr>
              <a:t>A.5.M2</a:t>
            </a:r>
          </a:p>
        </p:txBody>
      </p:sp>
      <p:sp>
        <p:nvSpPr>
          <p:cNvPr id="8" name="Block heading 1">
            <a:extLst>
              <a:ext uri="{FF2B5EF4-FFF2-40B4-BE49-F238E27FC236}">
                <a16:creationId xmlns:a16="http://schemas.microsoft.com/office/drawing/2014/main" id="{4CF269E8-E189-4D72-951A-2E3AEF4378BC}"/>
              </a:ext>
            </a:extLst>
          </p:cNvPr>
          <p:cNvSpPr>
            <a:spLocks noGrp="1"/>
          </p:cNvSpPr>
          <p:nvPr/>
        </p:nvSpPr>
        <p:spPr>
          <a:xfrm>
            <a:off x="781050" y="1857375"/>
            <a:ext cx="100488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Να απαντηθούν</a:t>
            </a:r>
          </a:p>
        </p:txBody>
      </p:sp>
      <p:sp>
        <p:nvSpPr>
          <p:cNvPr id="9" name="Block body 1">
            <a:extLst>
              <a:ext uri="{FF2B5EF4-FFF2-40B4-BE49-F238E27FC236}">
                <a16:creationId xmlns:a16="http://schemas.microsoft.com/office/drawing/2014/main" id="{1D521794-BBE8-4028-AD5D-36201AB06AD3}"/>
              </a:ext>
            </a:extLst>
          </p:cNvPr>
          <p:cNvSpPr>
            <a:spLocks noGrp="1"/>
          </p:cNvSpPr>
          <p:nvPr/>
        </p:nvSpPr>
        <p:spPr>
          <a:xfrm>
            <a:off x="781050" y="2171700"/>
            <a:ext cx="10048875" cy="3648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0" dirty="0" err="1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Οι</a:t>
            </a:r>
            <a:r>
              <a:rPr sz="1800" b="0" dirty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1800" b="0" dirty="0" err="1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ερωτήσεις</a:t>
            </a:r>
            <a:r>
              <a:rPr sz="1800" b="0" dirty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lang="en-US" sz="1800" b="0" dirty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5</a:t>
            </a:r>
            <a:r>
              <a:rPr sz="1800" b="0" dirty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–12 </a:t>
            </a:r>
            <a:r>
              <a:rPr sz="1800" b="0" dirty="0" err="1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του</a:t>
            </a:r>
            <a:r>
              <a:rPr sz="1800" b="0" dirty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1800" b="0" dirty="0" err="1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Φύλλου</a:t>
            </a:r>
            <a:r>
              <a:rPr sz="1800" b="0" dirty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1800" b="0" dirty="0" err="1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Εργ</a:t>
            </a:r>
            <a:r>
              <a:rPr sz="1800" b="0" dirty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ασίας A.5.M2.</a:t>
            </a:r>
            <a:endParaRPr lang="el-GR" sz="1800" b="0" dirty="0">
              <a:solidFill>
                <a:srgbClr val="333333"/>
              </a:solidFill>
              <a:latin typeface="Trebuchet MS"/>
              <a:ea typeface="Trebuchet MS"/>
              <a:cs typeface="Trebuchet MS"/>
            </a:endParaRPr>
          </a:p>
          <a:p>
            <a:pPr>
              <a:def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endParaRPr lang="el-GR" dirty="0">
              <a:solidFill>
                <a:srgbClr val="333333"/>
              </a:solidFill>
              <a:latin typeface="Trebuchet MS"/>
              <a:ea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2467819896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</TotalTime>
  <Words>723</Words>
  <Application>Microsoft Office PowerPoint</Application>
  <DocSecurity>0</DocSecurity>
  <PresentationFormat>Widescreen</PresentationFormat>
  <Paragraphs>118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Trebuchet MS</vt:lpstr>
      <vt:lpstr>Wingdings 3</vt:lpstr>
      <vt:lpstr>Facet</vt:lpstr>
      <vt:lpstr>Έλεγχος δικτύου</vt:lpstr>
      <vt:lpstr>Τι είναι το υποδίκτυο;</vt:lpstr>
      <vt:lpstr>DNS Server</vt:lpstr>
      <vt:lpstr>Εντολές ελέγχου</vt:lpstr>
      <vt:lpstr>ipconfig(διαγνωσή προβλημάτων)</vt:lpstr>
      <vt:lpstr>nslookup (διάγνωσή προβλημάτων)</vt:lpstr>
      <vt:lpstr>ping (διαγνωσή προβλημάτων)</vt:lpstr>
      <vt:lpstr>tracert (διαγνωσή προβλημάτων)</vt:lpstr>
      <vt:lpstr>Έλεγχος προβλημάτων</vt:lpstr>
      <vt:lpstr>Δραστηριότητες Εμπέδωσης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Άριστος Αρέστη</cp:lastModifiedBy>
  <cp:revision>1</cp:revision>
  <dcterms:created xsi:type="dcterms:W3CDTF">2026-09-17T08:12:12Z</dcterms:created>
  <dcterms:modified xsi:type="dcterms:W3CDTF">2026-10-12T05:47:26Z</dcterms:modified>
</cp:coreProperties>
</file>