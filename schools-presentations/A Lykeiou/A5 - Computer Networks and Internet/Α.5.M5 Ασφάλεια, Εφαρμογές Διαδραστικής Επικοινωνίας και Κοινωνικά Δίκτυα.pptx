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2" r:id="rId9"/>
    <p:sldId id="265" r:id="rId10"/>
    <p:sldId id="266" r:id="rId11"/>
    <p:sldId id="263" r:id="rId12"/>
  </p:sldIdLst>
  <p:sldSz cx="12192000" cy="6858000"/>
  <p:notesSz cx="6858000" cy="9144000"/>
  <p:defaultTextStyle>
    <a:defPPr>
      <a:buNone/>
    </a:defPPr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911D93C-67BC-469F-B8A9-BFF428D514BE}" v="2" dt="2026-10-10T08:39:42.16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0" d="100"/>
          <a:sy n="140" d="100"/>
        </p:scale>
        <p:origin x="132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Άριστος Αρέστη" userId="813aa191-2d4c-464f-9d05-0a7e494d859f" providerId="ADAL" clId="{49C7B61D-1ACF-4AFF-A04E-A3B433E32474}"/>
    <pc:docChg chg="custSel addSld modSld">
      <pc:chgData name="Άριστος Αρέστη" userId="813aa191-2d4c-464f-9d05-0a7e494d859f" providerId="ADAL" clId="{49C7B61D-1ACF-4AFF-A04E-A3B433E32474}" dt="2026-10-10T08:39:50.474" v="79" actId="14100"/>
      <pc:docMkLst>
        <pc:docMk/>
      </pc:docMkLst>
      <pc:sldChg chg="addSp delSp modSp add mod delAnim modAnim">
        <pc:chgData name="Άριστος Αρέστη" userId="813aa191-2d4c-464f-9d05-0a7e494d859f" providerId="ADAL" clId="{49C7B61D-1ACF-4AFF-A04E-A3B433E32474}" dt="2026-10-10T08:39:50.474" v="79" actId="14100"/>
        <pc:sldMkLst>
          <pc:docMk/>
          <pc:sldMk cId="1519916523" sldId="266"/>
        </pc:sldMkLst>
        <pc:spChg chg="mod">
          <ac:chgData name="Άριστος Αρέστη" userId="813aa191-2d4c-464f-9d05-0a7e494d859f" providerId="ADAL" clId="{49C7B61D-1ACF-4AFF-A04E-A3B433E32474}" dt="2026-10-10T08:36:15.154" v="73" actId="20577"/>
          <ac:spMkLst>
            <pc:docMk/>
            <pc:sldMk cId="1519916523" sldId="266"/>
            <ac:spMk id="2" creationId="{BDE864AD-6E26-089B-0189-7A02188D22C9}"/>
          </ac:spMkLst>
        </pc:spChg>
        <pc:spChg chg="add del mod">
          <ac:chgData name="Άριστος Αρέστη" userId="813aa191-2d4c-464f-9d05-0a7e494d859f" providerId="ADAL" clId="{49C7B61D-1ACF-4AFF-A04E-A3B433E32474}" dt="2026-10-10T08:39:42.162" v="75"/>
          <ac:spMkLst>
            <pc:docMk/>
            <pc:sldMk cId="1519916523" sldId="266"/>
            <ac:spMk id="4" creationId="{2135E497-2756-A1EB-E3C4-72B5AE1B5CF3}"/>
          </ac:spMkLst>
        </pc:spChg>
        <pc:picChg chg="del">
          <ac:chgData name="Άριστος Αρέστη" userId="813aa191-2d4c-464f-9d05-0a7e494d859f" providerId="ADAL" clId="{49C7B61D-1ACF-4AFF-A04E-A3B433E32474}" dt="2026-10-10T08:36:27.889" v="74" actId="478"/>
          <ac:picMkLst>
            <pc:docMk/>
            <pc:sldMk cId="1519916523" sldId="266"/>
            <ac:picMk id="5" creationId="{91F34204-3A23-2F28-7CCF-B32E476D78C7}"/>
          </ac:picMkLst>
        </pc:picChg>
        <pc:picChg chg="add mod">
          <ac:chgData name="Άριστος Αρέστη" userId="813aa191-2d4c-464f-9d05-0a7e494d859f" providerId="ADAL" clId="{49C7B61D-1ACF-4AFF-A04E-A3B433E32474}" dt="2026-10-10T08:39:50.474" v="79" actId="14100"/>
          <ac:picMkLst>
            <pc:docMk/>
            <pc:sldMk cId="1519916523" sldId="266"/>
            <ac:picMk id="6" creationId="{50051419-6438-2C42-631D-FA003B4B25EB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Πρότυπο: A4.M2 Πολυμέσα-Ήχος(2).pptx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Τετράδιο Εργασιών Πληροφορικής Α΄ Λυκείου, A.5.M5, Δραστηριότητες Εμπέδωσης, σελ. 105–108</a:t>
            </a:r>
          </a:p>
          <a:p>
            <a:r>
              <a:t>- Σημειώσεις Πληροφορικής Α΄ Λυκείου, ενότητα Α.5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Τετράδιο Εργασιών Πληροφορικής Α΄ Λυκείου, A.5.M5, Δραστηριότητες Εμπέδωσης, σελ. 105–108</a:t>
            </a:r>
          </a:p>
          <a:p>
            <a:r>
              <a:t>- Σημειώσεις Πληροφορικής Α΄ Λυκείου, ενότητα Α.5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Τετράδιο Εργασιών Πληροφορικής Α΄ Λυκείου, A.5.M5, Δραστηριότητες Εμπέδωσης, σελ. 105–108</a:t>
            </a:r>
          </a:p>
          <a:p>
            <a:r>
              <a:t>- Σημειώσεις Πληροφορικής Α΄ Λυκείου, ενότητα Α.5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Τετράδιο Εργασιών Πληροφορικής Α΄ Λυκείου, A.5.M5, Δραστηριότητες Εμπέδωσης, σελ. 105–108</a:t>
            </a:r>
          </a:p>
          <a:p>
            <a:r>
              <a:t>- Σημειώσεις Πληροφορικής Α΄ Λυκείου, ενότητα Α.5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Τετράδιο Εργασιών Πληροφορικής Α΄ Λυκείου, A.5.M5, Δραστηριότητες Εμπέδωσης, σελ. 105–108</a:t>
            </a:r>
          </a:p>
          <a:p>
            <a:r>
              <a:t>- Σημειώσεις Πληροφορικής Α΄ Λυκείου, ενότητα Α.5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C9A9E1-8C51-7554-2E2A-248DC75FD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44F14A-4D94-182D-CA55-256606B5F9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168357-3573-EEA9-CAC2-9F1739400E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Τετράδιο Εργασιών Πληροφορικής Α΄ Λυκείου, A.5.M5, Δραστηριότητες Εμπέδωσης, σελ. 105–108</a:t>
            </a:r>
          </a:p>
          <a:p>
            <a:r>
              <a:t>- Σημειώσεις Πληροφορικής Α΄ Λυκείου, ενότητα Α.5</a:t>
            </a:r>
          </a:p>
          <a:p>
            <a:r>
              <a:t>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D4F6EB-A999-CE03-1F50-E44561F6DF62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324670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Τετράδιο Εργασιών Πληροφορικής Α΄ Λυκείου, A.5.M5, Δραστηριότητες Εμπέδωσης, σελ. 105–108</a:t>
            </a:r>
          </a:p>
          <a:p>
            <a:r>
              <a:t>- Σημειώσεις Πληροφορικής Α΄ Λυκείου, ενότητα Α.5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Τετράδιο Εργασιών Πληροφορικής Α΄ Λυκείου, A.5.M5, Δραστηριότητες Εμπέδωσης, σελ. 105–108</a:t>
            </a:r>
          </a:p>
          <a:p>
            <a:r>
              <a:t>- Σημειώσεις Πληροφορικής Α΄ Λυκείου, ενότητα Α.5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4">
            <a:extLst>
              <a:ext uri="{FF2B5EF4-FFF2-40B4-BE49-F238E27FC236}">
                <a16:creationId xmlns:a16="http://schemas.microsoft.com/office/drawing/2014/main" id="{4E918921-2CFD-4CA1-B08F-3BAB503BE518}"/>
              </a:ext>
            </a:extLst>
          </p:cNvPr>
          <p:cNvSpPr>
            <a:spLocks noGrp="1"/>
          </p:cNvSpPr>
          <p:nvPr/>
        </p:nvSpPr>
        <p:spPr>
          <a:xfrm>
            <a:off x="0" y="-7862"/>
            <a:ext cx="863600" cy="5698067"/>
          </a:xfrm>
          <a:custGeom>
            <a:avLst/>
            <a:gdLst/>
            <a:ahLst/>
            <a:cxnLst/>
            <a:rect l="l" t="t" r="r" b="b"/>
            <a:pathLst>
              <a:path w="863600" h="5698067">
                <a:moveTo>
                  <a:pt x="0" y="8467"/>
                </a:moveTo>
                <a:lnTo>
                  <a:pt x="863600" y="0"/>
                </a:lnTo>
                <a:lnTo>
                  <a:pt x="863600" y="16934"/>
                </a:lnTo>
                <a:lnTo>
                  <a:pt x="0" y="5698067"/>
                </a:lnTo>
                <a:lnTo>
                  <a:pt x="0" y="8467"/>
                </a:lnTo>
                <a:close/>
              </a:path>
            </a:pathLst>
          </a:cu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9" name="Straight Connector 18">
            <a:extLst>
              <a:ext uri="{FF2B5EF4-FFF2-40B4-BE49-F238E27FC236}">
                <a16:creationId xmlns:a16="http://schemas.microsoft.com/office/drawing/2014/main" id="{E37B2AF0-F1FD-4B03-B481-A7AEB0D4918E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655BA76F-F0D3-46DC-8669-115FD57880C2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21" name="Rectangle 23">
            <a:extLst>
              <a:ext uri="{FF2B5EF4-FFF2-40B4-BE49-F238E27FC236}">
                <a16:creationId xmlns:a16="http://schemas.microsoft.com/office/drawing/2014/main" id="{DD257EB0-2B30-4FC6-AA24-873A5B4FFEA2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2" name="Rectangle 25">
            <a:extLst>
              <a:ext uri="{FF2B5EF4-FFF2-40B4-BE49-F238E27FC236}">
                <a16:creationId xmlns:a16="http://schemas.microsoft.com/office/drawing/2014/main" id="{AF7B4680-A767-4058-AF50-A02AD3F15A73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43640B4D-BEFD-4199-A8AA-0ACAD1F35BF8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4" name="Rectangle 27">
            <a:extLst>
              <a:ext uri="{FF2B5EF4-FFF2-40B4-BE49-F238E27FC236}">
                <a16:creationId xmlns:a16="http://schemas.microsoft.com/office/drawing/2014/main" id="{C52E025E-B7B6-4C2F-95C3-451B2D04D502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  <a:alpha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5" name="Rectangle 28">
            <a:extLst>
              <a:ext uri="{FF2B5EF4-FFF2-40B4-BE49-F238E27FC236}">
                <a16:creationId xmlns:a16="http://schemas.microsoft.com/office/drawing/2014/main" id="{2DD6DD06-FAD9-4434-AAD6-4F5F4054467A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2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6" name="Rectangle 29">
            <a:extLst>
              <a:ext uri="{FF2B5EF4-FFF2-40B4-BE49-F238E27FC236}">
                <a16:creationId xmlns:a16="http://schemas.microsoft.com/office/drawing/2014/main" id="{08CE678E-61E0-4B59-9E06-0CCDA51B5F1A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6CF5F7A2-53D8-4ABB-B382-AFAFF8453B4D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87FDF0A-A15E-4E62-941B-5415901439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buNone/>
              <a:defRPr sz="5400">
                <a:solidFill>
                  <a:schemeClr val="accent1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2274578-9B32-473A-B0FD-5A428DF4E4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B300C8-64F2-42E4-B5F9-4C502AC14CEB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10-Oct-26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EC6B3A-D180-442C-87FB-17957759B4F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711ED2-A058-4592-AFE4-D9FE673F9AF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77581-562F-47E7-8112-9B9297AD1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7120C2-37BA-41A7-88BE-349064B19F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C73FAF-6252-4F7B-8D52-61D4525FAA8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10-Oct-26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0AB332-D473-41FC-8833-2008668A0B4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16F0BE-FA5E-42B7-9F04-6403D88AF5B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34865-9BC9-4F7B-BF47-BAB8288BFA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buNone/>
              <a:defRPr sz="4000" b="0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A7564D-364D-4098-BF47-59F28828E6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6BC595-E100-4CF2-8F9C-0A9A5B58E4F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10-Oct-26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38BCC5-E90B-4F82-9D04-02D3B854EBA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E48D55-6385-4245-B919-3F3734427AD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40ED1-1734-4A83-A54D-3C3E2024AA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81F0C-C285-423E-9B15-CB6DB0999E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E0EEA2-E839-43FB-8853-72CD6C8907C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26FBE4-7483-4A34-B95C-F1C086D6F26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10-Oct-26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D7005D-403D-4B2D-B4AE-FB49B141D1E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4274DD-73D4-49E4-A7FC-F02DF42A8A9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9B616-EBE7-4DBD-93E3-B48524DC24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buNone/>
              <a:defRPr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EFB809-40AE-487F-8E1A-27605066CA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CE4FF7-CBE0-4679-B6DE-CB30562D4704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8E209FA-3B2C-4B90-BB28-4F3BB933049B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54B334-B088-4BD2-8AB9-463A3A7DDC49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6FF7CAB-3E66-49EF-ABC4-6B3CBA5B954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10-Oct-26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1DE1B27-2770-440B-8683-B33AB2F8997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875A2C5-0358-4435-9AA6-43968B51961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6C2FF-7108-4081-A2CF-009FBCC1C4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28814B-6E48-48D5-B472-0ACD110B4F7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10-Oct-26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FFA3EA-506D-4E17-B515-424F484D46C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EA18EE-9DBE-4F3E-9523-7AC767EA8D7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42DD94-4BE1-43A9-ACA5-02458C765BA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10-Oct-26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CF01500-3CEB-4E6E-AD3B-61C1D210C3C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3B4083-954B-41BD-B609-2D06C7EC3DA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8CC36-F893-42EA-85A9-4908E04B1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buNone/>
              <a:defRPr sz="2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F19624-ADFA-48E6-BD3C-7ED96121EF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8F45B7-7981-4D15-B61B-718D2A3AB8E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9FBCD0-4CDE-41A3-94CB-65673985F08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10-Oct-26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AB3597-CA70-4297-B68E-36CA3174A99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EA9B7B-47EA-4C7C-93C5-0195B760557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1825EE-8171-47C6-9D7E-BA60971B60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buNone/>
              <a:defRPr sz="2400" b="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56AADA7-0CCE-406C-8490-8E3B86C299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A735FF-F666-49B8-836F-25EA123BA339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3A5BD9-4BEB-4CB2-BC4E-263561C08FC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5A0EF9-3902-4E30-9474-29CA9E2B730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B7EBFC-F60A-4B6C-AED7-920643100F9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10-Oct-26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1AB30-B37C-4942-B0C4-5EB7F0D6D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buNone/>
              <a:defRPr sz="4400" b="0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DA3222-9946-4CFA-AFC2-94ECB00F57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95A612-A924-458F-B443-59FD13BB292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10-Oct-26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8939AF-AEBA-4F37-8BDE-8C756BD903D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B5C401-FF14-489A-9B3E-D0ED476A258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59351-7955-4803-A7F8-DF08623060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buNone/>
              <a:defRPr sz="4400" b="0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54B1FC33-9DF1-4054-B18A-956604D0FF97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138461-AC1B-4274-9162-5045F49EBB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128501-0168-461B-ACB6-54D73113959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10-Oct-26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07A80A-D5B4-4E94-A1B3-F082DFBECD4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C386AF-2374-4576-91A8-581D8FD8B58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370E8FC-ED60-43AA-AF41-660A35EDFF7D}"/>
              </a:ext>
            </a:extLst>
          </p:cNvPr>
          <p:cNvSpPr>
            <a:spLocks noGrp="1"/>
          </p:cNvSpPr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/>
          <a:p>
            <a:pPr lvl="0">
              <a:buNone/>
            </a:pPr>
            <a:r>
              <a:rPr sz="800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Arial"/>
                <a:cs typeface="Arial"/>
              </a:rPr>
              <a:t>“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DA0C394-E2FD-44B8-9735-EBD5F1A44478}"/>
              </a:ext>
            </a:extLst>
          </p:cNvPr>
          <p:cNvSpPr>
            <a:spLocks noGrp="1"/>
          </p:cNvSpPr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/>
          <a:p>
            <a:pPr lvl="0">
              <a:buNone/>
            </a:pPr>
            <a:r>
              <a:rPr sz="800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Arial"/>
                <a:cs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B22F0-2F5D-435B-A869-6932D10A30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buNone/>
              <a:defRPr sz="4400" b="0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4EE19A-AC66-4CAA-BB73-F9898D79AD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03FCF3-F551-429E-9CC5-EF959DFFEC7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10-Oct-26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5D6C97-86E7-4AB6-89C1-6F3FE06FF783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ACCD4F-188D-44BD-8DA0-19E4020DF0D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B44E46-9F27-40A4-A138-C87261AAA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buNone/>
              <a:defRPr sz="4400" b="0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67FCD007-0694-45C0-9EBB-82675A840F65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7EAEAD-5F1B-4C05-8600-78540C705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063699-B292-45EB-8A0D-79D2AF610940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10-Oct-26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BDE3D-C164-43B4-AAE3-5A8EE76F2FE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C741F5-99D6-4A1D-B754-5D4CD6E2E12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B584E9A-A507-4AE0-BF59-E41954519893}"/>
              </a:ext>
            </a:extLst>
          </p:cNvPr>
          <p:cNvSpPr>
            <a:spLocks noGrp="1"/>
          </p:cNvSpPr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/>
          <a:p>
            <a:pPr lvl="0">
              <a:buNone/>
            </a:pPr>
            <a:r>
              <a:rPr sz="800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Arial"/>
                <a:cs typeface="Arial"/>
              </a:rPr>
              <a:t>“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D84491-7D8F-48BA-B9F3-742C7B7F821E}"/>
              </a:ext>
            </a:extLst>
          </p:cNvPr>
          <p:cNvSpPr>
            <a:spLocks noGrp="1"/>
          </p:cNvSpPr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anchor="ctr">
            <a:noAutofit/>
          </a:bodyPr>
          <a:lstStyle/>
          <a:p>
            <a:pPr lvl="0">
              <a:buNone/>
            </a:pPr>
            <a:r>
              <a:rPr sz="800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ea typeface="Arial"/>
                <a:cs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DA0E8-F2EE-454B-96F9-FCF7079E5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buNone/>
              <a:defRPr sz="4400" b="0" cap="none"/>
            </a:lvl1pPr>
          </a:lstStyle>
          <a:p>
            <a:r>
              <a:t>Click to edit Master title style</a:t>
            </a:r>
          </a:p>
        </p:txBody>
      </p:sp>
      <p:sp>
        <p:nvSpPr>
          <p:cNvPr id="23" name="Text Placeholder 9">
            <a:extLst>
              <a:ext uri="{FF2B5EF4-FFF2-40B4-BE49-F238E27FC236}">
                <a16:creationId xmlns:a16="http://schemas.microsoft.com/office/drawing/2014/main" id="{019E2193-1BB2-4A64-90D5-565C5128C2B5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AE9668-4745-44B9-ADC6-C960739713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C75CF1-5C89-4D2F-A7E8-860AFFDDC0E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10-Oct-26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457B51-C79B-4E04-87FA-3DC4C1479DB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70F5CC-48F9-432B-95CE-D0195B579F9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5BF31E-9A0C-4161-914A-53AE471C7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369F82-FCEE-4B82-AFF4-B7FC808ADE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15ED90-3B0E-481C-A8CB-EF492CE6924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10-Oct-26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306BA6-4EED-4611-951E-517F4F7B483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65D357-67E7-4B77-985A-491D9E6906C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37C092-BFDD-4559-9181-69DBA05D75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33D11E-BE84-4CB9-AF9A-1AA6E3DB1A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ABD5CC-929C-438F-917D-24115BEF3AB7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0E1AB97B-D0C7-4CCB-8568-F47C13D538D5}" type="datetimeFigureOut">
              <a:t>10-Oct-26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5EB7E8-2C32-4192-8FAD-7055EF2805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BBA38E-0375-4975-B2EB-88BCD2F64F0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2239BDF-7A9B-44BA-815E-434EFA41A2D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traight Connector 19">
            <a:extLst>
              <a:ext uri="{FF2B5EF4-FFF2-40B4-BE49-F238E27FC236}">
                <a16:creationId xmlns:a16="http://schemas.microsoft.com/office/drawing/2014/main" id="{E4847988-64DE-4EA1-931A-8E35BF4048DC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21" name="Straight Connector 20">
            <a:extLst>
              <a:ext uri="{FF2B5EF4-FFF2-40B4-BE49-F238E27FC236}">
                <a16:creationId xmlns:a16="http://schemas.microsoft.com/office/drawing/2014/main" id="{A8647E92-895C-4BD4-8405-D49CFEAFA235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22" name="Rectangle 23">
            <a:extLst>
              <a:ext uri="{FF2B5EF4-FFF2-40B4-BE49-F238E27FC236}">
                <a16:creationId xmlns:a16="http://schemas.microsoft.com/office/drawing/2014/main" id="{D02C6D03-6DA2-4BFE-A1AB-B3F56E100220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3" name="Rectangle 25">
            <a:extLst>
              <a:ext uri="{FF2B5EF4-FFF2-40B4-BE49-F238E27FC236}">
                <a16:creationId xmlns:a16="http://schemas.microsoft.com/office/drawing/2014/main" id="{7CFF94C5-1DFF-468F-81F7-A59CB21768B1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AD4886C9-2FB5-4F7F-A31A-3A9D30D397A7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5" name="Rectangle 27">
            <a:extLst>
              <a:ext uri="{FF2B5EF4-FFF2-40B4-BE49-F238E27FC236}">
                <a16:creationId xmlns:a16="http://schemas.microsoft.com/office/drawing/2014/main" id="{014E5C00-25C2-4C47-8920-B5D57AD506D5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  <a:alpha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6" name="Rectangle 28">
            <a:extLst>
              <a:ext uri="{FF2B5EF4-FFF2-40B4-BE49-F238E27FC236}">
                <a16:creationId xmlns:a16="http://schemas.microsoft.com/office/drawing/2014/main" id="{8CEA40CE-B0C6-494F-AAEC-7C1B19293F9B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2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7" name="Rectangle 29">
            <a:extLst>
              <a:ext uri="{FF2B5EF4-FFF2-40B4-BE49-F238E27FC236}">
                <a16:creationId xmlns:a16="http://schemas.microsoft.com/office/drawing/2014/main" id="{67E0546B-4456-4225-A01D-73D316C78E2E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60B34E2E-02C5-4A0D-BF27-D0F3CBFCB6FB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068A91AD-54F9-4831-A261-E1F0DC6F2F0C}"/>
              </a:ext>
            </a:extLst>
          </p:cNvPr>
          <p:cNvSpPr>
            <a:spLocks noGrp="1"/>
          </p:cNvSpPr>
          <p:nvPr/>
        </p:nvSpPr>
        <p:spPr>
          <a:xfrm>
            <a:off x="0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52C832B-F90C-4549-8F7C-D55A0CAAF0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anchor="t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F95686-1A05-49EC-8A54-890B192043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9E00E7-0945-4FEB-BCA7-892E1CDD1490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1AB97B-D0C7-4CCB-8568-F47C13D538D5}" type="datetimeFigureOut">
              <a:t>10-Oct-26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9679E8-24C3-4AC5-B0EC-0526D46F752F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8A05C0-8325-4139-B75F-F72C56BD63B0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900">
                <a:solidFill>
                  <a:schemeClr val="accent1"/>
                </a:solidFill>
              </a:defRPr>
            </a:lvl1pPr>
          </a:lstStyle>
          <a:p>
            <a:fld id="{E2239BDF-7A9B-44BA-815E-434EFA41A2DE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txStyles>
    <p:titleStyle>
      <a:lvl1pPr algn="l" defTabSz="457200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lt"/>
          <a:cs typeface="+mj-lt"/>
        </a:defRPr>
      </a:lvl1pPr>
      <a:lvl2pPr>
        <a:buNone/>
        <a:defRPr>
          <a:solidFill>
            <a:schemeClr val="tx2"/>
          </a:solidFill>
        </a:defRPr>
      </a:lvl2pPr>
      <a:lvl3pPr>
        <a:buNone/>
        <a:defRPr>
          <a:solidFill>
            <a:schemeClr val="tx2"/>
          </a:solidFill>
        </a:defRPr>
      </a:lvl3pPr>
      <a:lvl4pPr>
        <a:buNone/>
        <a:defRPr>
          <a:solidFill>
            <a:schemeClr val="tx2"/>
          </a:solidFill>
        </a:defRPr>
      </a:lvl4pPr>
      <a:lvl5pPr>
        <a:buNone/>
        <a:defRPr>
          <a:solidFill>
            <a:schemeClr val="tx2"/>
          </a:solidFill>
        </a:defRPr>
      </a:lvl5pPr>
      <a:lvl6pPr>
        <a:buNone/>
        <a:defRPr>
          <a:solidFill>
            <a:schemeClr val="tx2"/>
          </a:solidFill>
        </a:defRPr>
      </a:lvl6pPr>
      <a:lvl7pPr>
        <a:buNone/>
        <a:defRPr>
          <a:solidFill>
            <a:schemeClr val="tx2"/>
          </a:solidFill>
        </a:defRPr>
      </a:lvl7pPr>
      <a:lvl8pPr>
        <a:buNone/>
        <a:defRPr>
          <a:solidFill>
            <a:schemeClr val="tx2"/>
          </a:solidFill>
        </a:defRPr>
      </a:lvl8pPr>
      <a:lvl9pPr>
        <a:buNone/>
        <a:defRPr>
          <a:solidFill>
            <a:schemeClr val="tx2"/>
          </a:solidFill>
        </a:defRPr>
      </a:lvl9pPr>
    </p:titleStyle>
    <p:bodyStyle>
      <a:lvl1pPr marL="342900" indent="-3429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1pPr>
      <a:lvl2pPr marL="742950" indent="-28575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2pPr>
      <a:lvl3pPr marL="11430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3pPr>
      <a:lvl4pPr marL="16002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4pPr>
      <a:lvl5pPr marL="20574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5pPr>
      <a:lvl6pPr marL="25146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6pPr>
      <a:lvl7pPr marL="29718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7pPr>
      <a:lvl8pPr marL="34290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8pPr>
      <a:lvl9pPr marL="3886200" indent="-228600" algn="l" defTabSz="457200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lt"/>
          <a:cs typeface="+mn-lt"/>
        </a:defRPr>
      </a:lvl9pPr>
    </p:bodyStyle>
    <p:otherStyle>
      <a:lvl1pPr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4.xml"/><Relationship Id="rId1" Type="http://schemas.openxmlformats.org/officeDocument/2006/relationships/video" Target="https://www.youtube.com/embed/8aLJe9gsOxs?feature=oembed" TargetMode="External"/><Relationship Id="rId4" Type="http://schemas.openxmlformats.org/officeDocument/2006/relationships/image" Target="../media/image2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slideLayout" Target="../slideLayouts/slideLayout4.xml"/><Relationship Id="rId1" Type="http://schemas.openxmlformats.org/officeDocument/2006/relationships/video" Target="https://www.youtube.com/embed/BCjj1oXQ0KY?feature=oembed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7" name="Rectangle 46">
            <a:extLst>
              <a:ext uri="{FF2B5EF4-FFF2-40B4-BE49-F238E27FC236}">
                <a16:creationId xmlns:a16="http://schemas.microsoft.com/office/drawing/2014/main" id="{2783C067-F8BF-4755-B516-8A0CD74CF60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6646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49" name="Isosceles Triangle 48">
            <a:extLst>
              <a:ext uri="{FF2B5EF4-FFF2-40B4-BE49-F238E27FC236}">
                <a16:creationId xmlns:a16="http://schemas.microsoft.com/office/drawing/2014/main" id="{2ED796EC-E7FF-46DB-B912-FB08BF12AA6E}"/>
              </a:ext>
            </a:extLst>
          </p:cNvPr>
          <p:cNvSpPr>
            <a:spLocks noGrp="1"/>
          </p:cNvSpPr>
          <p:nvPr/>
        </p:nvSpPr>
        <p:spPr>
          <a:xfrm rot="10800000">
            <a:off x="0" y="0"/>
            <a:ext cx="842596" cy="5666154"/>
          </a:xfrm>
          <a:prstGeom prst="triangle">
            <a:avLst>
              <a:gd name="adj" fmla="val 100000"/>
            </a:avLst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549A2DAB-B431-487D-95AD-BB0FECB49E57}"/>
              </a:ext>
            </a:extLst>
          </p:cNvPr>
          <p:cNvSpPr>
            <a:spLocks noGrp="1"/>
          </p:cNvSpPr>
          <p:nvPr/>
        </p:nvSpPr>
        <p:spPr>
          <a:xfrm>
            <a:off x="7738534" y="3818467"/>
            <a:ext cx="4450292" cy="3039533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88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53" name="Straight Connector 52">
            <a:extLst>
              <a:ext uri="{FF2B5EF4-FFF2-40B4-BE49-F238E27FC236}">
                <a16:creationId xmlns:a16="http://schemas.microsoft.com/office/drawing/2014/main" id="{7EB72ABB-51C2-44BE-92E4-812CE23FDFEB}"/>
              </a:ext>
            </a:extLst>
          </p:cNvPr>
          <p:cNvSpPr>
            <a:spLocks noGrp="1"/>
          </p:cNvSpPr>
          <p:nvPr/>
        </p:nvSpPr>
        <p:spPr>
          <a:xfrm>
            <a:off x="10134600" y="0"/>
            <a:ext cx="1727200" cy="6858000"/>
          </a:xfrm>
          <a:prstGeom prst="line">
            <a:avLst/>
          </a:prstGeom>
          <a:ln w="15875"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55" name="Straight Connector 54">
            <a:extLst>
              <a:ext uri="{FF2B5EF4-FFF2-40B4-BE49-F238E27FC236}">
                <a16:creationId xmlns:a16="http://schemas.microsoft.com/office/drawing/2014/main" id="{3F0E7EA5-53B8-426D-B5D7-06135FCD02DD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15875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31F404-85BF-4A44-A7B7-33CE2AAB1A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6" y="1397000"/>
            <a:ext cx="8102759" cy="2421467"/>
          </a:xfrm>
        </p:spPr>
        <p:txBody>
          <a:bodyPr>
            <a:normAutofit/>
          </a:bodyPr>
          <a:lstStyle/>
          <a:p>
            <a:pPr algn="l">
              <a:buNone/>
            </a:pPr>
            <a:r>
              <a:t>Ασφάλεια και Επικοινωνία</a:t>
            </a:r>
          </a:p>
        </p:txBody>
      </p:sp>
      <p:sp>
        <p:nvSpPr>
          <p:cNvPr id="57" name="Rectangle 27">
            <a:extLst>
              <a:ext uri="{FF2B5EF4-FFF2-40B4-BE49-F238E27FC236}">
                <a16:creationId xmlns:a16="http://schemas.microsoft.com/office/drawing/2014/main" id="{0819F787-32B4-46A8-BC57-C6571BCEE243}"/>
              </a:ext>
            </a:extLst>
          </p:cNvPr>
          <p:cNvSpPr>
            <a:spLocks noGrp="1"/>
          </p:cNvSpPr>
          <p:nvPr/>
        </p:nvSpPr>
        <p:spPr>
          <a:xfrm>
            <a:off x="10425641" y="0"/>
            <a:ext cx="1766359" cy="6858000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261968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01542-F65E-4B18-ACCB-69AE53182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Λογισμικό ασφάλειας</a:t>
            </a:r>
          </a:p>
        </p:txBody>
      </p:sp>
      <p:sp>
        <p:nvSpPr>
          <p:cNvPr id="4" name="Clean content area">
            <a:extLst>
              <a:ext uri="{FF2B5EF4-FFF2-40B4-BE49-F238E27FC236}">
                <a16:creationId xmlns:a16="http://schemas.microsoft.com/office/drawing/2014/main" id="{4147D144-A33F-415E-8071-C1081C1B27DB}"/>
              </a:ext>
            </a:extLst>
          </p:cNvPr>
          <p:cNvSpPr>
            <a:spLocks noGrp="1"/>
          </p:cNvSpPr>
          <p:nvPr/>
        </p:nvSpPr>
        <p:spPr>
          <a:xfrm>
            <a:off x="590550" y="1352550"/>
            <a:ext cx="11049000" cy="5000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Section reference">
            <a:extLst>
              <a:ext uri="{FF2B5EF4-FFF2-40B4-BE49-F238E27FC236}">
                <a16:creationId xmlns:a16="http://schemas.microsoft.com/office/drawing/2014/main" id="{1C20513A-7CA2-46AD-B59E-44D86A0777E2}"/>
              </a:ext>
            </a:extLst>
          </p:cNvPr>
          <p:cNvSpPr>
            <a:spLocks noGrp="1"/>
          </p:cNvSpPr>
          <p:nvPr/>
        </p:nvSpPr>
        <p:spPr>
          <a:xfrm>
            <a:off x="781050" y="1466850"/>
            <a:ext cx="49530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defRPr>
            </a:pPr>
            <a:r>
              <a: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A.5.M5 | Θεωρία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5FBB91-C8BA-4B21-BDEC-66AB4D91E1AA}"/>
              </a:ext>
            </a:extLst>
          </p:cNvPr>
          <p:cNvSpPr>
            <a:spLocks noGrp="1"/>
          </p:cNvSpPr>
          <p:nvPr/>
        </p:nvSpPr>
        <p:spPr>
          <a:xfrm>
            <a:off x="781050" y="1809750"/>
            <a:ext cx="10096500" cy="40005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725" b="0">
                <a:solidFill>
                  <a:srgbClr val="333333"/>
                </a:solidFill>
              </a:defRPr>
            </a:defPPr>
          </a:lstStyle>
          <a:p>
            <a:pPr algn="l">
              <a:defRPr sz="1725" b="0">
                <a:solidFill>
                  <a:srgbClr val="333333"/>
                </a:solidFill>
              </a:defRPr>
            </a:pPr>
            <a:r>
              <a:rPr sz="1725" b="0">
                <a:solidFill>
                  <a:srgbClr val="333333"/>
                </a:solidFill>
              </a:rPr>
              <a:t>Κάθε εργαλείο ελέγχει διαφορετικό σημείο του υπολογιστή.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F96A53B-EA62-474D-A940-588B58EC4607}"/>
              </a:ext>
            </a:extLst>
          </p:cNvPr>
          <p:cNvSpPr>
            <a:spLocks noGrp="1"/>
          </p:cNvSpPr>
          <p:nvPr/>
        </p:nvSpPr>
        <p:spPr>
          <a:xfrm>
            <a:off x="781050" y="2333625"/>
            <a:ext cx="3105150" cy="28575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4288">
            <a:solidFill>
              <a:srgbClr val="2C83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9DD0A9F-B3E3-4DDB-8A77-B031C71487ED}"/>
              </a:ext>
            </a:extLst>
          </p:cNvPr>
          <p:cNvSpPr>
            <a:spLocks noGrp="1"/>
          </p:cNvSpPr>
          <p:nvPr/>
        </p:nvSpPr>
        <p:spPr>
          <a:xfrm>
            <a:off x="781050" y="2333625"/>
            <a:ext cx="3105150" cy="590550"/>
          </a:xfrm>
          <a:prstGeom prst="roundRect">
            <a:avLst>
              <a:gd name="adj" fmla="val 16129"/>
            </a:avLst>
          </a:prstGeom>
          <a:solidFill>
            <a:srgbClr val="2C83A5"/>
          </a:solidFill>
          <a:ln w="9525">
            <a:solidFill>
              <a:srgbClr val="2C83A5"/>
            </a:solidFill>
            <a:prstDash val="solid"/>
          </a:ln>
        </p:spPr>
        <p:txBody>
          <a:bodyPr anchor="ctr"/>
          <a:lstStyle>
            <a:defPPr algn="ctr">
              <a:defRPr sz="1800" b="1">
                <a:solidFill>
                  <a:srgbClr val="FFFFFF"/>
                </a:solidFill>
              </a:defRPr>
            </a:defPPr>
          </a:lstStyle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Antivirus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67138B2-1DEF-4382-9AC5-66C302458676}"/>
              </a:ext>
            </a:extLst>
          </p:cNvPr>
          <p:cNvSpPr>
            <a:spLocks noGrp="1"/>
          </p:cNvSpPr>
          <p:nvPr/>
        </p:nvSpPr>
        <p:spPr>
          <a:xfrm>
            <a:off x="952500" y="3057525"/>
            <a:ext cx="2762250" cy="200025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425" b="0">
                <a:solidFill>
                  <a:srgbClr val="333333"/>
                </a:solidFill>
              </a:defRPr>
            </a:defPPr>
          </a:lstStyle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Ελέγχει</a:t>
            </a:r>
          </a:p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Αρχεία και εφαρμογές</a:t>
            </a:r>
          </a:p>
          <a:p>
            <a:endParaRPr sz="1425" b="0">
              <a:solidFill>
                <a:srgbClr val="333333"/>
              </a:solidFill>
            </a:endParaRPr>
          </a:p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Εντοπίζει</a:t>
            </a:r>
          </a:p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Ιούς και άλλο malware</a:t>
            </a:r>
          </a:p>
          <a:p>
            <a:endParaRPr sz="1425" b="0">
              <a:solidFill>
                <a:srgbClr val="333333"/>
              </a:solidFill>
            </a:endParaRPr>
          </a:p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Ενέργεια</a:t>
            </a:r>
          </a:p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Απομόνωση ή διαγραφή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EF05F43-1E32-48FB-A045-952C26A4132A}"/>
              </a:ext>
            </a:extLst>
          </p:cNvPr>
          <p:cNvSpPr>
            <a:spLocks noGrp="1"/>
          </p:cNvSpPr>
          <p:nvPr/>
        </p:nvSpPr>
        <p:spPr>
          <a:xfrm>
            <a:off x="4267200" y="2333625"/>
            <a:ext cx="3105150" cy="28575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4288">
            <a:solidFill>
              <a:srgbClr val="E28B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F6D9DB6-0B25-42E8-B3BE-1F0343991D33}"/>
              </a:ext>
            </a:extLst>
          </p:cNvPr>
          <p:cNvSpPr>
            <a:spLocks noGrp="1"/>
          </p:cNvSpPr>
          <p:nvPr/>
        </p:nvSpPr>
        <p:spPr>
          <a:xfrm>
            <a:off x="4267200" y="2333625"/>
            <a:ext cx="3105150" cy="590550"/>
          </a:xfrm>
          <a:prstGeom prst="roundRect">
            <a:avLst>
              <a:gd name="adj" fmla="val 16129"/>
            </a:avLst>
          </a:prstGeom>
          <a:solidFill>
            <a:srgbClr val="E28B2D"/>
          </a:solidFill>
          <a:ln w="9525">
            <a:solidFill>
              <a:srgbClr val="E28B2D"/>
            </a:solidFill>
            <a:prstDash val="solid"/>
          </a:ln>
        </p:spPr>
        <p:txBody>
          <a:bodyPr anchor="ctr"/>
          <a:lstStyle>
            <a:defPPr algn="ctr">
              <a:defRPr sz="1800" b="1">
                <a:solidFill>
                  <a:srgbClr val="FFFFFF"/>
                </a:solidFill>
              </a:defRPr>
            </a:defPPr>
          </a:lstStyle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Firewall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9E02CB2-8433-49DD-93D5-E7B5133E65C0}"/>
              </a:ext>
            </a:extLst>
          </p:cNvPr>
          <p:cNvSpPr>
            <a:spLocks noGrp="1"/>
          </p:cNvSpPr>
          <p:nvPr/>
        </p:nvSpPr>
        <p:spPr>
          <a:xfrm>
            <a:off x="4438650" y="3057525"/>
            <a:ext cx="2762250" cy="200025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425" b="0">
                <a:solidFill>
                  <a:srgbClr val="333333"/>
                </a:solidFill>
              </a:defRPr>
            </a:defPPr>
          </a:lstStyle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Ελέγχει</a:t>
            </a:r>
          </a:p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Την κίνηση του δικτύου</a:t>
            </a:r>
          </a:p>
          <a:p>
            <a:endParaRPr sz="1425" b="0">
              <a:solidFill>
                <a:srgbClr val="333333"/>
              </a:solidFill>
            </a:endParaRPr>
          </a:p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Εφαρμόζει</a:t>
            </a:r>
          </a:p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Κανόνες πρόσβασης</a:t>
            </a:r>
          </a:p>
          <a:p>
            <a:endParaRPr sz="1425" b="0">
              <a:solidFill>
                <a:srgbClr val="333333"/>
              </a:solidFill>
            </a:endParaRPr>
          </a:p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Μπλοκάρει</a:t>
            </a:r>
          </a:p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Ύποπτες συνδέσεις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9FBA07E-890A-47DE-8419-FF6A439EF0A4}"/>
              </a:ext>
            </a:extLst>
          </p:cNvPr>
          <p:cNvSpPr>
            <a:spLocks noGrp="1"/>
          </p:cNvSpPr>
          <p:nvPr/>
        </p:nvSpPr>
        <p:spPr>
          <a:xfrm>
            <a:off x="7753350" y="2333625"/>
            <a:ext cx="3105150" cy="28575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4288">
            <a:solidFill>
              <a:srgbClr val="6C6FB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E101E73C-25D5-42CA-A27B-C246DE8B2BE5}"/>
              </a:ext>
            </a:extLst>
          </p:cNvPr>
          <p:cNvSpPr>
            <a:spLocks noGrp="1"/>
          </p:cNvSpPr>
          <p:nvPr/>
        </p:nvSpPr>
        <p:spPr>
          <a:xfrm>
            <a:off x="7753350" y="2333625"/>
            <a:ext cx="3105150" cy="590550"/>
          </a:xfrm>
          <a:prstGeom prst="roundRect">
            <a:avLst>
              <a:gd name="adj" fmla="val 16129"/>
            </a:avLst>
          </a:prstGeom>
          <a:solidFill>
            <a:srgbClr val="6C6FB3"/>
          </a:solidFill>
          <a:ln w="9525">
            <a:solidFill>
              <a:srgbClr val="6C6FB3"/>
            </a:solidFill>
            <a:prstDash val="solid"/>
          </a:ln>
        </p:spPr>
        <p:txBody>
          <a:bodyPr anchor="ctr"/>
          <a:lstStyle>
            <a:defPPr algn="ctr">
              <a:defRPr sz="1800" b="1">
                <a:solidFill>
                  <a:srgbClr val="FFFFFF"/>
                </a:solidFill>
              </a:defRPr>
            </a:defPPr>
          </a:lstStyle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Antispyware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A8C36DE-A130-4007-9050-3A8226CF5EBC}"/>
              </a:ext>
            </a:extLst>
          </p:cNvPr>
          <p:cNvSpPr>
            <a:spLocks noGrp="1"/>
          </p:cNvSpPr>
          <p:nvPr/>
        </p:nvSpPr>
        <p:spPr>
          <a:xfrm>
            <a:off x="7924800" y="3057525"/>
            <a:ext cx="2762250" cy="200025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425" b="0">
                <a:solidFill>
                  <a:srgbClr val="333333"/>
                </a:solidFill>
              </a:defRPr>
            </a:defPPr>
          </a:lstStyle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Ελέγχει</a:t>
            </a:r>
          </a:p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Κρυφή παρακολούθηση</a:t>
            </a:r>
          </a:p>
          <a:p>
            <a:endParaRPr sz="1425" b="0">
              <a:solidFill>
                <a:srgbClr val="333333"/>
              </a:solidFill>
            </a:endParaRPr>
          </a:p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Εντοπίζει</a:t>
            </a:r>
          </a:p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Συλλογή προσωπικών δεδομένων</a:t>
            </a:r>
          </a:p>
          <a:p>
            <a:endParaRPr sz="1425" b="0">
              <a:solidFill>
                <a:srgbClr val="333333"/>
              </a:solidFill>
            </a:endParaRPr>
          </a:p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Αφαιρεί</a:t>
            </a:r>
          </a:p>
          <a:p>
            <a:pPr algn="l">
              <a:defRPr sz="1425" b="0">
                <a:solidFill>
                  <a:srgbClr val="333333"/>
                </a:solidFill>
              </a:defRPr>
            </a:pPr>
            <a:r>
              <a:rPr sz="1425" b="0">
                <a:solidFill>
                  <a:srgbClr val="333333"/>
                </a:solidFill>
              </a:rPr>
              <a:t>Spyware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4F5F628-BDED-4475-90B3-371F5CDD2E6B}"/>
              </a:ext>
            </a:extLst>
          </p:cNvPr>
          <p:cNvSpPr>
            <a:spLocks noGrp="1"/>
          </p:cNvSpPr>
          <p:nvPr/>
        </p:nvSpPr>
        <p:spPr>
          <a:xfrm>
            <a:off x="781050" y="5476875"/>
            <a:ext cx="10096500" cy="590550"/>
          </a:xfrm>
          <a:prstGeom prst="roundRect">
            <a:avLst>
              <a:gd name="adj" fmla="val 12903"/>
            </a:avLst>
          </a:prstGeom>
          <a:solidFill>
            <a:srgbClr val="E8F7FC"/>
          </a:solidFill>
          <a:ln w="11906">
            <a:solidFill>
              <a:srgbClr val="B7DDEB"/>
            </a:solidFill>
            <a:prstDash val="solid"/>
          </a:ln>
        </p:spPr>
        <p:txBody>
          <a:bodyPr anchor="ctr"/>
          <a:lstStyle>
            <a:defPPr algn="ctr">
              <a:defRPr sz="1500" b="1">
                <a:solidFill>
                  <a:srgbClr val="23566A"/>
                </a:solidFill>
              </a:defRPr>
            </a:defPPr>
          </a:lstStyle>
          <a:p>
            <a:pPr algn="ctr">
              <a:defRPr sz="1500" b="1">
                <a:solidFill>
                  <a:srgbClr val="23566A"/>
                </a:solidFill>
              </a:defRPr>
            </a:pPr>
            <a:r>
              <a:rPr sz="1500" b="1">
                <a:solidFill>
                  <a:srgbClr val="23566A"/>
                </a:solidFill>
              </a:rPr>
              <a:t>Καλύτερη προστασία: ενημερωμένο λογισμικό και προσεκτικές επιλογές του χρήστη.</a:t>
            </a:r>
          </a:p>
        </p:txBody>
      </p:sp>
    </p:spTree>
    <p:extLst>
      <p:ext uri="{BB962C8B-B14F-4D97-AF65-F5344CB8AC3E}">
        <p14:creationId xmlns:p14="http://schemas.microsoft.com/office/powerpoint/2010/main" val="18587231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3DE7BDB4-5B22-4942-A5BF-1BC290BB60C6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F972E8AA-2DAA-4786-A1DC-793A00EB1F59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13" name="Rectangle 23">
            <a:extLst>
              <a:ext uri="{FF2B5EF4-FFF2-40B4-BE49-F238E27FC236}">
                <a16:creationId xmlns:a16="http://schemas.microsoft.com/office/drawing/2014/main" id="{6778DC79-DE09-4F89-81B1-275C542D7FB4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4" name="Rectangle 25">
            <a:extLst>
              <a:ext uri="{FF2B5EF4-FFF2-40B4-BE49-F238E27FC236}">
                <a16:creationId xmlns:a16="http://schemas.microsoft.com/office/drawing/2014/main" id="{EAEC370A-1F34-4D8E-B065-81F6F568AA75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A816EDF3-D9EE-488C-AFDC-0223815139E3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6" name="Rectangle 27">
            <a:extLst>
              <a:ext uri="{FF2B5EF4-FFF2-40B4-BE49-F238E27FC236}">
                <a16:creationId xmlns:a16="http://schemas.microsoft.com/office/drawing/2014/main" id="{E8330BD4-97D9-4D24-815A-0E557B04F96A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  <a:alpha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7" name="Rectangle 28">
            <a:extLst>
              <a:ext uri="{FF2B5EF4-FFF2-40B4-BE49-F238E27FC236}">
                <a16:creationId xmlns:a16="http://schemas.microsoft.com/office/drawing/2014/main" id="{EA8EDE67-BAC0-478C-99D9-BBC5AD532084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2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8" name="Rectangle 29">
            <a:extLst>
              <a:ext uri="{FF2B5EF4-FFF2-40B4-BE49-F238E27FC236}">
                <a16:creationId xmlns:a16="http://schemas.microsoft.com/office/drawing/2014/main" id="{33DFB3F3-2523-4F1F-BC2B-B97C172F2C47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5E5660E4-7443-4FCC-AD43-9D1AE972B5C4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4EDF9C36-B365-4426-85B9-82E0DE187A59}"/>
              </a:ext>
            </a:extLst>
          </p:cNvPr>
          <p:cNvSpPr>
            <a:spLocks noGrp="1"/>
          </p:cNvSpPr>
          <p:nvPr/>
        </p:nvSpPr>
        <p:spPr>
          <a:xfrm>
            <a:off x="0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A92CD4-88DD-4F68-B449-EA9821C3EF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3851123" cy="1320800"/>
          </a:xfrm>
        </p:spPr>
        <p:txBody>
          <a:bodyPr vert="horz" lIns="91440" tIns="45720" rIns="91440" bIns="45720" anchor="t">
            <a:normAutofit/>
          </a:bodyPr>
          <a:lstStyle/>
          <a:p>
            <a:r>
              <a:t>Επικοινωνία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8A4CE2-B83D-4007-86B1-3CC11CF360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2160589"/>
            <a:ext cx="3851122" cy="3880773"/>
          </a:xfrm>
        </p:spPr>
        <p:txBody>
          <a:bodyPr vert="horz" lIns="91440" tIns="45720" rIns="91440" bIns="45720">
            <a:normAutofit/>
          </a:bodyPr>
          <a:lstStyle/>
          <a:p>
            <a:pPr marL="0" indent="0">
              <a:buNone/>
            </a:pPr>
            <a:endParaRPr/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58A65593-EBC9-4FFD-A2E3-84A86F9898AA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46DF67F7-9F42-4763-BDC4-3162061DA391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26" name="Rectangle 23">
            <a:extLst>
              <a:ext uri="{FF2B5EF4-FFF2-40B4-BE49-F238E27FC236}">
                <a16:creationId xmlns:a16="http://schemas.microsoft.com/office/drawing/2014/main" id="{3F088236-D655-4F88-B238-E16762358025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8" name="Rectangle 25">
            <a:extLst>
              <a:ext uri="{FF2B5EF4-FFF2-40B4-BE49-F238E27FC236}">
                <a16:creationId xmlns:a16="http://schemas.microsoft.com/office/drawing/2014/main" id="{3DAC0C92-199E-475C-9390-119A9B027276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0" name="Isosceles Triangle 24">
            <a:extLst>
              <a:ext uri="{FF2B5EF4-FFF2-40B4-BE49-F238E27FC236}">
                <a16:creationId xmlns:a16="http://schemas.microsoft.com/office/drawing/2014/main" id="{C4CFB339-0ED8-4FE2-9EF1-6D1375B8499B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2" name="Rectangle 27">
            <a:extLst>
              <a:ext uri="{FF2B5EF4-FFF2-40B4-BE49-F238E27FC236}">
                <a16:creationId xmlns:a16="http://schemas.microsoft.com/office/drawing/2014/main" id="{31896C80-2069-4431-9C19-83B913734490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4" name="Rectangle 28">
            <a:extLst>
              <a:ext uri="{FF2B5EF4-FFF2-40B4-BE49-F238E27FC236}">
                <a16:creationId xmlns:a16="http://schemas.microsoft.com/office/drawing/2014/main" id="{BF120A21-0841-4823-B0C4-28AEBCEF9B78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6" name="Rectangle 29">
            <a:extLst>
              <a:ext uri="{FF2B5EF4-FFF2-40B4-BE49-F238E27FC236}">
                <a16:creationId xmlns:a16="http://schemas.microsoft.com/office/drawing/2014/main" id="{DBB05BAE-BBD3-4289-899F-A6851503C6B0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8" name="Isosceles Triangle 29">
            <a:extLst>
              <a:ext uri="{FF2B5EF4-FFF2-40B4-BE49-F238E27FC236}">
                <a16:creationId xmlns:a16="http://schemas.microsoft.com/office/drawing/2014/main" id="{9874D11C-36F5-4BBE-A490-019A54E953B0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9" name="Clean content area">
            <a:extLst>
              <a:ext uri="{FF2B5EF4-FFF2-40B4-BE49-F238E27FC236}">
                <a16:creationId xmlns:a16="http://schemas.microsoft.com/office/drawing/2014/main" id="{CC8AABA4-0499-4062-825F-FA908BD0E229}"/>
              </a:ext>
            </a:extLst>
          </p:cNvPr>
          <p:cNvSpPr>
            <a:spLocks noGrp="1"/>
          </p:cNvSpPr>
          <p:nvPr/>
        </p:nvSpPr>
        <p:spPr>
          <a:xfrm>
            <a:off x="590550" y="1352550"/>
            <a:ext cx="11049000" cy="5000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40" name="Section reference">
            <a:extLst>
              <a:ext uri="{FF2B5EF4-FFF2-40B4-BE49-F238E27FC236}">
                <a16:creationId xmlns:a16="http://schemas.microsoft.com/office/drawing/2014/main" id="{E0DF63A7-2E6F-4DF8-9AF3-FAB67CEE748B}"/>
              </a:ext>
            </a:extLst>
          </p:cNvPr>
          <p:cNvSpPr>
            <a:spLocks noGrp="1"/>
          </p:cNvSpPr>
          <p:nvPr/>
        </p:nvSpPr>
        <p:spPr>
          <a:xfrm>
            <a:off x="781050" y="1466850"/>
            <a:ext cx="49530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defRPr>
            </a:pPr>
            <a:r>
              <a: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A.5.M5 | Θεωρία</a:t>
            </a:r>
          </a:p>
        </p:txBody>
      </p:sp>
      <p:sp>
        <p:nvSpPr>
          <p:cNvPr id="41" name="Block heading 1">
            <a:extLst>
              <a:ext uri="{FF2B5EF4-FFF2-40B4-BE49-F238E27FC236}">
                <a16:creationId xmlns:a16="http://schemas.microsoft.com/office/drawing/2014/main" id="{BAF580B2-5DCF-4B89-B4F1-6B9EBE62F400}"/>
              </a:ext>
            </a:extLst>
          </p:cNvPr>
          <p:cNvSpPr>
            <a:spLocks noGrp="1"/>
          </p:cNvSpPr>
          <p:nvPr/>
        </p:nvSpPr>
        <p:spPr>
          <a:xfrm>
            <a:off x="781050" y="1857375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Μηνύματα</a:t>
            </a:r>
          </a:p>
        </p:txBody>
      </p:sp>
      <p:sp>
        <p:nvSpPr>
          <p:cNvPr id="42" name="Block body 1">
            <a:extLst>
              <a:ext uri="{FF2B5EF4-FFF2-40B4-BE49-F238E27FC236}">
                <a16:creationId xmlns:a16="http://schemas.microsoft.com/office/drawing/2014/main" id="{DAFED0BE-2934-44D4-AD60-9F697DFBCF2A}"/>
              </a:ext>
            </a:extLst>
          </p:cNvPr>
          <p:cNvSpPr>
            <a:spLocks noGrp="1"/>
          </p:cNvSpPr>
          <p:nvPr/>
        </p:nvSpPr>
        <p:spPr>
          <a:xfrm>
            <a:off x="781050" y="2171700"/>
            <a:ext cx="4762500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Οι εφαρμογές επιτρέπουν άμεση ανταλλαγή γραπτών μηνυμάτων.</a:t>
            </a:r>
          </a:p>
        </p:txBody>
      </p:sp>
      <p:sp>
        <p:nvSpPr>
          <p:cNvPr id="43" name="Block heading 2">
            <a:extLst>
              <a:ext uri="{FF2B5EF4-FFF2-40B4-BE49-F238E27FC236}">
                <a16:creationId xmlns:a16="http://schemas.microsoft.com/office/drawing/2014/main" id="{68562191-301B-4D88-A186-3B3757F305A7}"/>
              </a:ext>
            </a:extLst>
          </p:cNvPr>
          <p:cNvSpPr>
            <a:spLocks noGrp="1"/>
          </p:cNvSpPr>
          <p:nvPr/>
        </p:nvSpPr>
        <p:spPr>
          <a:xfrm>
            <a:off x="781050" y="3190875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Φωνή και βίντεο</a:t>
            </a:r>
          </a:p>
        </p:txBody>
      </p:sp>
      <p:sp>
        <p:nvSpPr>
          <p:cNvPr id="44" name="Block body 2">
            <a:extLst>
              <a:ext uri="{FF2B5EF4-FFF2-40B4-BE49-F238E27FC236}">
                <a16:creationId xmlns:a16="http://schemas.microsoft.com/office/drawing/2014/main" id="{445B3479-2F9A-448C-9AAA-0005080820EB}"/>
              </a:ext>
            </a:extLst>
          </p:cNvPr>
          <p:cNvSpPr>
            <a:spLocks noGrp="1"/>
          </p:cNvSpPr>
          <p:nvPr/>
        </p:nvSpPr>
        <p:spPr>
          <a:xfrm>
            <a:off x="781050" y="3505200"/>
            <a:ext cx="4762500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Οι χρήστες μπορούν να πραγματοποιούν κλήσεις και τηλεδιασκέψεις μέσω Διαδικτύου.</a:t>
            </a:r>
          </a:p>
        </p:txBody>
      </p:sp>
      <p:sp>
        <p:nvSpPr>
          <p:cNvPr id="45" name="Block heading 3">
            <a:extLst>
              <a:ext uri="{FF2B5EF4-FFF2-40B4-BE49-F238E27FC236}">
                <a16:creationId xmlns:a16="http://schemas.microsoft.com/office/drawing/2014/main" id="{E277E7E2-4061-494A-AAA2-3132B8F19190}"/>
              </a:ext>
            </a:extLst>
          </p:cNvPr>
          <p:cNvSpPr>
            <a:spLocks noGrp="1"/>
          </p:cNvSpPr>
          <p:nvPr/>
        </p:nvSpPr>
        <p:spPr>
          <a:xfrm>
            <a:off x="781050" y="4524375"/>
            <a:ext cx="476250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Επαφές</a:t>
            </a:r>
          </a:p>
        </p:txBody>
      </p:sp>
      <p:sp>
        <p:nvSpPr>
          <p:cNvPr id="46" name="Block body 3">
            <a:extLst>
              <a:ext uri="{FF2B5EF4-FFF2-40B4-BE49-F238E27FC236}">
                <a16:creationId xmlns:a16="http://schemas.microsoft.com/office/drawing/2014/main" id="{EC6BD366-F127-4F8F-BA09-72A8DF8FF26C}"/>
              </a:ext>
            </a:extLst>
          </p:cNvPr>
          <p:cNvSpPr>
            <a:spLocks noGrp="1"/>
          </p:cNvSpPr>
          <p:nvPr/>
        </p:nvSpPr>
        <p:spPr>
          <a:xfrm>
            <a:off x="781050" y="4838700"/>
            <a:ext cx="4762500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65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Η λίστα επαφών οργανώνει τα άτομα με τα οποία επικοινωνεί ο χρήστης.</a:t>
            </a:r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AABED8F5-31C1-4B67-8F58-B3D2991F15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953125" y="3042595"/>
            <a:ext cx="4905375" cy="1534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8759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863D9-1989-4443-A424-8213A05F3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3851123" cy="1320800"/>
          </a:xfrm>
        </p:spPr>
        <p:txBody>
          <a:bodyPr vert="horz" lIns="91440" tIns="45720" rIns="91440" bIns="45720" anchor="t">
            <a:normAutofit/>
          </a:bodyPr>
          <a:lstStyle/>
          <a:p>
            <a:r>
              <a:t>Κοινωνικά δίκτυα</a:t>
            </a:r>
          </a:p>
        </p:txBody>
      </p:sp>
      <p:sp>
        <p:nvSpPr>
          <p:cNvPr id="3" name="Clean content area">
            <a:extLst>
              <a:ext uri="{FF2B5EF4-FFF2-40B4-BE49-F238E27FC236}">
                <a16:creationId xmlns:a16="http://schemas.microsoft.com/office/drawing/2014/main" id="{527E1629-A509-4441-B996-CF3220FD5068}"/>
              </a:ext>
            </a:extLst>
          </p:cNvPr>
          <p:cNvSpPr>
            <a:spLocks noGrp="1"/>
          </p:cNvSpPr>
          <p:nvPr/>
        </p:nvSpPr>
        <p:spPr>
          <a:xfrm>
            <a:off x="590550" y="1352550"/>
            <a:ext cx="11049000" cy="5000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Section reference">
            <a:extLst>
              <a:ext uri="{FF2B5EF4-FFF2-40B4-BE49-F238E27FC236}">
                <a16:creationId xmlns:a16="http://schemas.microsoft.com/office/drawing/2014/main" id="{19B93FA2-9359-49C5-B1A9-7C604441EA91}"/>
              </a:ext>
            </a:extLst>
          </p:cNvPr>
          <p:cNvSpPr>
            <a:spLocks noGrp="1"/>
          </p:cNvSpPr>
          <p:nvPr/>
        </p:nvSpPr>
        <p:spPr>
          <a:xfrm>
            <a:off x="781050" y="1466850"/>
            <a:ext cx="49530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defRPr>
            </a:pPr>
            <a:r>
              <a: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A.5.M5 | Θεωρία</a:t>
            </a:r>
          </a:p>
        </p:txBody>
      </p:sp>
      <p:sp>
        <p:nvSpPr>
          <p:cNvPr id="5" name="Block heading 1">
            <a:extLst>
              <a:ext uri="{FF2B5EF4-FFF2-40B4-BE49-F238E27FC236}">
                <a16:creationId xmlns:a16="http://schemas.microsoft.com/office/drawing/2014/main" id="{DC0A8D62-9AF9-42C9-B8B8-E81FE7E03258}"/>
              </a:ext>
            </a:extLst>
          </p:cNvPr>
          <p:cNvSpPr>
            <a:spLocks noGrp="1"/>
          </p:cNvSpPr>
          <p:nvPr/>
        </p:nvSpPr>
        <p:spPr>
          <a:xfrm>
            <a:off x="781050" y="1857375"/>
            <a:ext cx="10048875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Προφίλ</a:t>
            </a:r>
          </a:p>
        </p:txBody>
      </p:sp>
      <p:sp>
        <p:nvSpPr>
          <p:cNvPr id="6" name="Block body 1">
            <a:extLst>
              <a:ext uri="{FF2B5EF4-FFF2-40B4-BE49-F238E27FC236}">
                <a16:creationId xmlns:a16="http://schemas.microsoft.com/office/drawing/2014/main" id="{01E76ABD-51E4-4C40-84AE-34189E8D1CFB}"/>
              </a:ext>
            </a:extLst>
          </p:cNvPr>
          <p:cNvSpPr>
            <a:spLocks noGrp="1"/>
          </p:cNvSpPr>
          <p:nvPr/>
        </p:nvSpPr>
        <p:spPr>
          <a:xfrm>
            <a:off x="781050" y="2171700"/>
            <a:ext cx="10048875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Ο χρήστης δημιουργεί ψηφιακό προφίλ με πληροφορίες που επιλέγει να δημοσιεύσει.</a:t>
            </a:r>
          </a:p>
        </p:txBody>
      </p:sp>
      <p:sp>
        <p:nvSpPr>
          <p:cNvPr id="7" name="Block heading 2">
            <a:extLst>
              <a:ext uri="{FF2B5EF4-FFF2-40B4-BE49-F238E27FC236}">
                <a16:creationId xmlns:a16="http://schemas.microsoft.com/office/drawing/2014/main" id="{EB96E0F2-42FE-44BE-B96B-90FC9FFA89F0}"/>
              </a:ext>
            </a:extLst>
          </p:cNvPr>
          <p:cNvSpPr>
            <a:spLocks noGrp="1"/>
          </p:cNvSpPr>
          <p:nvPr/>
        </p:nvSpPr>
        <p:spPr>
          <a:xfrm>
            <a:off x="781050" y="3190875"/>
            <a:ext cx="10048875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Περιεχόμενο</a:t>
            </a:r>
          </a:p>
        </p:txBody>
      </p:sp>
      <p:sp>
        <p:nvSpPr>
          <p:cNvPr id="8" name="Block body 2">
            <a:extLst>
              <a:ext uri="{FF2B5EF4-FFF2-40B4-BE49-F238E27FC236}">
                <a16:creationId xmlns:a16="http://schemas.microsoft.com/office/drawing/2014/main" id="{9FC32465-D766-4DCB-9FA1-58B20576BF65}"/>
              </a:ext>
            </a:extLst>
          </p:cNvPr>
          <p:cNvSpPr>
            <a:spLocks noGrp="1"/>
          </p:cNvSpPr>
          <p:nvPr/>
        </p:nvSpPr>
        <p:spPr>
          <a:xfrm>
            <a:off x="781050" y="3505200"/>
            <a:ext cx="10048875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Οι χρήστες μοιράζονται κείμενο, εικόνες και βίντεο.</a:t>
            </a:r>
          </a:p>
        </p:txBody>
      </p:sp>
      <p:sp>
        <p:nvSpPr>
          <p:cNvPr id="9" name="Block heading 3">
            <a:extLst>
              <a:ext uri="{FF2B5EF4-FFF2-40B4-BE49-F238E27FC236}">
                <a16:creationId xmlns:a16="http://schemas.microsoft.com/office/drawing/2014/main" id="{47E7D417-C104-43A0-8F8B-0481DA18342A}"/>
              </a:ext>
            </a:extLst>
          </p:cNvPr>
          <p:cNvSpPr>
            <a:spLocks noGrp="1"/>
          </p:cNvSpPr>
          <p:nvPr/>
        </p:nvSpPr>
        <p:spPr>
          <a:xfrm>
            <a:off x="781050" y="4524375"/>
            <a:ext cx="10048875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Αλληλεπίδραση</a:t>
            </a:r>
          </a:p>
        </p:txBody>
      </p:sp>
      <p:sp>
        <p:nvSpPr>
          <p:cNvPr id="10" name="Block body 3">
            <a:extLst>
              <a:ext uri="{FF2B5EF4-FFF2-40B4-BE49-F238E27FC236}">
                <a16:creationId xmlns:a16="http://schemas.microsoft.com/office/drawing/2014/main" id="{8AA540DC-54DB-4415-ADD8-351A4809C829}"/>
              </a:ext>
            </a:extLst>
          </p:cNvPr>
          <p:cNvSpPr>
            <a:spLocks noGrp="1"/>
          </p:cNvSpPr>
          <p:nvPr/>
        </p:nvSpPr>
        <p:spPr>
          <a:xfrm>
            <a:off x="781050" y="4838700"/>
            <a:ext cx="10048875" cy="981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Μπορούν να ακολουθούν άλλους χρήστες, να σχολιάζουν και να συμμετέχουν σε ομάδες.</a:t>
            </a:r>
          </a:p>
        </p:txBody>
      </p:sp>
    </p:spTree>
    <p:extLst>
      <p:ext uri="{BB962C8B-B14F-4D97-AF65-F5344CB8AC3E}">
        <p14:creationId xmlns:p14="http://schemas.microsoft.com/office/powerpoint/2010/main" val="25701492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CC5F6-A8B2-464D-A77D-97CB05567F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2" y="609600"/>
            <a:ext cx="5825735" cy="1320800"/>
          </a:xfrm>
        </p:spPr>
        <p:txBody>
          <a:bodyPr vert="horz" lIns="91440" tIns="45720" rIns="91440" bIns="45720" anchor="t">
            <a:normAutofit/>
          </a:bodyPr>
          <a:lstStyle/>
          <a:p>
            <a:r>
              <a:t>Προσωπικά δεδομένα</a:t>
            </a:r>
          </a:p>
        </p:txBody>
      </p:sp>
      <p:sp>
        <p:nvSpPr>
          <p:cNvPr id="5" name="Clean content area">
            <a:extLst>
              <a:ext uri="{FF2B5EF4-FFF2-40B4-BE49-F238E27FC236}">
                <a16:creationId xmlns:a16="http://schemas.microsoft.com/office/drawing/2014/main" id="{257E802C-5A8E-47DD-BB8A-043E85DBF695}"/>
              </a:ext>
            </a:extLst>
          </p:cNvPr>
          <p:cNvSpPr>
            <a:spLocks noGrp="1"/>
          </p:cNvSpPr>
          <p:nvPr/>
        </p:nvSpPr>
        <p:spPr>
          <a:xfrm>
            <a:off x="590550" y="1352550"/>
            <a:ext cx="11049000" cy="5000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Section reference">
            <a:extLst>
              <a:ext uri="{FF2B5EF4-FFF2-40B4-BE49-F238E27FC236}">
                <a16:creationId xmlns:a16="http://schemas.microsoft.com/office/drawing/2014/main" id="{A23652BC-31B0-4C61-9877-5C7152C1711F}"/>
              </a:ext>
            </a:extLst>
          </p:cNvPr>
          <p:cNvSpPr>
            <a:spLocks noGrp="1"/>
          </p:cNvSpPr>
          <p:nvPr/>
        </p:nvSpPr>
        <p:spPr>
          <a:xfrm>
            <a:off x="781050" y="1466850"/>
            <a:ext cx="49530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defRPr>
            </a:pPr>
            <a:r>
              <a: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A.5.M5 | Θεωρία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D5B40B-3D3B-4A16-AEBC-2BE7786D9B85}"/>
              </a:ext>
            </a:extLst>
          </p:cNvPr>
          <p:cNvSpPr>
            <a:spLocks noGrp="1"/>
          </p:cNvSpPr>
          <p:nvPr/>
        </p:nvSpPr>
        <p:spPr>
          <a:xfrm>
            <a:off x="781050" y="1809750"/>
            <a:ext cx="10096500" cy="40005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725" b="0">
                <a:solidFill>
                  <a:srgbClr val="333333"/>
                </a:solidFill>
              </a:defRPr>
            </a:defPPr>
          </a:lstStyle>
          <a:p>
            <a:pPr algn="l">
              <a:defRPr sz="1725" b="0">
                <a:solidFill>
                  <a:srgbClr val="333333"/>
                </a:solidFill>
              </a:defRPr>
            </a:pPr>
            <a:r>
              <a:rPr sz="1725" b="0">
                <a:solidFill>
                  <a:srgbClr val="333333"/>
                </a:solidFill>
              </a:rPr>
              <a:t>Κάθε δημοσίευση περνά από τρεις σημαντικές αποφάσεις.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20A3DD9B-A87F-498D-8F7E-B90C0AB0AD9D}"/>
              </a:ext>
            </a:extLst>
          </p:cNvPr>
          <p:cNvSpPr>
            <a:spLocks noGrp="1"/>
          </p:cNvSpPr>
          <p:nvPr/>
        </p:nvSpPr>
        <p:spPr>
          <a:xfrm>
            <a:off x="781050" y="2381250"/>
            <a:ext cx="2952750" cy="257175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4288">
            <a:solidFill>
              <a:srgbClr val="2C83A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861340B-997F-4AEF-B5C1-67E1E5BEF4CC}"/>
              </a:ext>
            </a:extLst>
          </p:cNvPr>
          <p:cNvSpPr>
            <a:spLocks noGrp="1"/>
          </p:cNvSpPr>
          <p:nvPr/>
        </p:nvSpPr>
        <p:spPr>
          <a:xfrm>
            <a:off x="781050" y="2381250"/>
            <a:ext cx="2952750" cy="590550"/>
          </a:xfrm>
          <a:prstGeom prst="roundRect">
            <a:avLst>
              <a:gd name="adj" fmla="val 16129"/>
            </a:avLst>
          </a:prstGeom>
          <a:solidFill>
            <a:srgbClr val="2C83A5"/>
          </a:solidFill>
          <a:ln w="9525">
            <a:solidFill>
              <a:srgbClr val="2C83A5"/>
            </a:solidFill>
            <a:prstDash val="solid"/>
          </a:ln>
        </p:spPr>
        <p:txBody>
          <a:bodyPr anchor="ctr"/>
          <a:lstStyle>
            <a:defPPr algn="ctr">
              <a:defRPr sz="1800" b="1">
                <a:solidFill>
                  <a:srgbClr val="FFFFFF"/>
                </a:solidFill>
              </a:defRPr>
            </a:defPPr>
          </a:lstStyle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1. Τι μοιράζομαι;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92F750-AE3E-4BDA-BF75-CC8416DC5F0F}"/>
              </a:ext>
            </a:extLst>
          </p:cNvPr>
          <p:cNvSpPr>
            <a:spLocks noGrp="1"/>
          </p:cNvSpPr>
          <p:nvPr/>
        </p:nvSpPr>
        <p:spPr>
          <a:xfrm>
            <a:off x="952500" y="3105150"/>
            <a:ext cx="2609850" cy="171450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275" b="0">
                <a:solidFill>
                  <a:srgbClr val="333333"/>
                </a:solidFill>
              </a:defRPr>
            </a:defPPr>
          </a:lstStyle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Παραδείγματα</a:t>
            </a: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Διεύθυνση και τηλέφωνο</a:t>
            </a: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Φωτογραφίες</a:t>
            </a: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Σχολείο ή τοποθεσία</a:t>
            </a:r>
          </a:p>
          <a:p>
            <a:endParaRPr sz="1275" b="0">
              <a:solidFill>
                <a:srgbClr val="333333"/>
              </a:solidFill>
            </a:endParaRP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Αποφεύγω στοιχεία που δείχνουν ποιος είμαι ή πού βρίσκομαι.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C55E093-A55E-4289-BEEE-92E0764396E2}"/>
              </a:ext>
            </a:extLst>
          </p:cNvPr>
          <p:cNvSpPr>
            <a:spLocks noGrp="1"/>
          </p:cNvSpPr>
          <p:nvPr/>
        </p:nvSpPr>
        <p:spPr>
          <a:xfrm>
            <a:off x="3790950" y="3238500"/>
            <a:ext cx="666750" cy="666750"/>
          </a:xfrm>
          <a:prstGeom prst="rect">
            <a:avLst/>
          </a:prstGeom>
          <a:noFill/>
          <a:ln w="0">
            <a:noFill/>
          </a:ln>
        </p:spPr>
        <p:txBody>
          <a:bodyPr anchor="ctr"/>
          <a:lstStyle>
            <a:defPPr algn="ctr">
              <a:defRPr sz="3000" b="1">
                <a:solidFill>
                  <a:srgbClr val="5FCBEF"/>
                </a:solidFill>
              </a:defRPr>
            </a:defPPr>
          </a:lstStyle>
          <a:p>
            <a:pPr algn="ctr">
              <a:defRPr sz="3000" b="1">
                <a:solidFill>
                  <a:srgbClr val="5FCBEF"/>
                </a:solidFill>
              </a:defRPr>
            </a:pPr>
            <a:r>
              <a:rPr sz="3000" b="1">
                <a:solidFill>
                  <a:srgbClr val="5FCBEF"/>
                </a:solidFill>
              </a:rPr>
              <a:t>→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10B21CC-B0F9-4986-A977-5F7285D2A2CC}"/>
              </a:ext>
            </a:extLst>
          </p:cNvPr>
          <p:cNvSpPr>
            <a:spLocks noGrp="1"/>
          </p:cNvSpPr>
          <p:nvPr/>
        </p:nvSpPr>
        <p:spPr>
          <a:xfrm>
            <a:off x="4438650" y="2381250"/>
            <a:ext cx="2952750" cy="257175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4288">
            <a:solidFill>
              <a:srgbClr val="6C6FB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E360C90-10A9-4523-8A42-7651794C2111}"/>
              </a:ext>
            </a:extLst>
          </p:cNvPr>
          <p:cNvSpPr>
            <a:spLocks noGrp="1"/>
          </p:cNvSpPr>
          <p:nvPr/>
        </p:nvSpPr>
        <p:spPr>
          <a:xfrm>
            <a:off x="4438650" y="2381250"/>
            <a:ext cx="2952750" cy="590550"/>
          </a:xfrm>
          <a:prstGeom prst="roundRect">
            <a:avLst>
              <a:gd name="adj" fmla="val 16129"/>
            </a:avLst>
          </a:prstGeom>
          <a:solidFill>
            <a:srgbClr val="6C6FB3"/>
          </a:solidFill>
          <a:ln w="9525">
            <a:solidFill>
              <a:srgbClr val="6C6FB3"/>
            </a:solidFill>
            <a:prstDash val="solid"/>
          </a:ln>
        </p:spPr>
        <p:txBody>
          <a:bodyPr anchor="ctr"/>
          <a:lstStyle>
            <a:defPPr algn="ctr">
              <a:defRPr sz="1800" b="1">
                <a:solidFill>
                  <a:srgbClr val="FFFFFF"/>
                </a:solidFill>
              </a:defRPr>
            </a:defPPr>
          </a:lstStyle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2. Ποιος το βλέπει;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6A396FC-C521-47CD-A354-9FA984AB45CB}"/>
              </a:ext>
            </a:extLst>
          </p:cNvPr>
          <p:cNvSpPr>
            <a:spLocks noGrp="1"/>
          </p:cNvSpPr>
          <p:nvPr/>
        </p:nvSpPr>
        <p:spPr>
          <a:xfrm>
            <a:off x="4610100" y="3105150"/>
            <a:ext cx="2609850" cy="171450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275" b="0">
                <a:solidFill>
                  <a:srgbClr val="333333"/>
                </a:solidFill>
              </a:defRPr>
            </a:defPPr>
          </a:lstStyle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Ρυθμίσεις ιδιωτικότητας</a:t>
            </a: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Μόνο φίλοι ή συγκεκριμένα άτομα</a:t>
            </a: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Έλεγχος αιτημάτων σύνδεσης</a:t>
            </a:r>
          </a:p>
          <a:p>
            <a:endParaRPr sz="1275" b="0">
              <a:solidFill>
                <a:srgbClr val="333333"/>
              </a:solidFill>
            </a:endParaRP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Περιορίζουν το κοινό, αλλά κάποιος μπορεί να κρατήσει αντίγραφο.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036E6B1-E9A2-45BE-B3F2-0A752716F014}"/>
              </a:ext>
            </a:extLst>
          </p:cNvPr>
          <p:cNvSpPr>
            <a:spLocks noGrp="1"/>
          </p:cNvSpPr>
          <p:nvPr/>
        </p:nvSpPr>
        <p:spPr>
          <a:xfrm>
            <a:off x="7448550" y="3238500"/>
            <a:ext cx="666750" cy="666750"/>
          </a:xfrm>
          <a:prstGeom prst="rect">
            <a:avLst/>
          </a:prstGeom>
          <a:noFill/>
          <a:ln w="0">
            <a:noFill/>
          </a:ln>
        </p:spPr>
        <p:txBody>
          <a:bodyPr anchor="ctr"/>
          <a:lstStyle>
            <a:defPPr algn="ctr">
              <a:defRPr sz="3000" b="1">
                <a:solidFill>
                  <a:srgbClr val="5FCBEF"/>
                </a:solidFill>
              </a:defRPr>
            </a:defPPr>
          </a:lstStyle>
          <a:p>
            <a:pPr algn="ctr">
              <a:defRPr sz="3000" b="1">
                <a:solidFill>
                  <a:srgbClr val="5FCBEF"/>
                </a:solidFill>
              </a:defRPr>
            </a:pPr>
            <a:r>
              <a:rPr sz="3000" b="1">
                <a:solidFill>
                  <a:srgbClr val="5FCBEF"/>
                </a:solidFill>
              </a:rPr>
              <a:t>→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E65C4FF-8744-4F4E-AD1F-34B8E4D4620E}"/>
              </a:ext>
            </a:extLst>
          </p:cNvPr>
          <p:cNvSpPr>
            <a:spLocks noGrp="1"/>
          </p:cNvSpPr>
          <p:nvPr/>
        </p:nvSpPr>
        <p:spPr>
          <a:xfrm>
            <a:off x="8096250" y="2381250"/>
            <a:ext cx="2762250" cy="257175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4288">
            <a:solidFill>
              <a:srgbClr val="E28B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A54A206E-342C-4978-92A0-3A70DC90A776}"/>
              </a:ext>
            </a:extLst>
          </p:cNvPr>
          <p:cNvSpPr>
            <a:spLocks noGrp="1"/>
          </p:cNvSpPr>
          <p:nvPr/>
        </p:nvSpPr>
        <p:spPr>
          <a:xfrm>
            <a:off x="8096250" y="2381250"/>
            <a:ext cx="2762250" cy="590550"/>
          </a:xfrm>
          <a:prstGeom prst="roundRect">
            <a:avLst>
              <a:gd name="adj" fmla="val 16129"/>
            </a:avLst>
          </a:prstGeom>
          <a:solidFill>
            <a:srgbClr val="E28B2D"/>
          </a:solidFill>
          <a:ln w="9525">
            <a:solidFill>
              <a:srgbClr val="E28B2D"/>
            </a:solidFill>
            <a:prstDash val="solid"/>
          </a:ln>
        </p:spPr>
        <p:txBody>
          <a:bodyPr anchor="ctr"/>
          <a:lstStyle>
            <a:defPPr algn="ctr">
              <a:defRPr sz="1800" b="1">
                <a:solidFill>
                  <a:srgbClr val="FFFFFF"/>
                </a:solidFill>
              </a:defRPr>
            </a:defPPr>
          </a:lstStyle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3. Τι παραμένει;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3786BDB-F5F0-475E-BD6C-F95776D0C91D}"/>
              </a:ext>
            </a:extLst>
          </p:cNvPr>
          <p:cNvSpPr>
            <a:spLocks noGrp="1"/>
          </p:cNvSpPr>
          <p:nvPr/>
        </p:nvSpPr>
        <p:spPr>
          <a:xfrm>
            <a:off x="8267700" y="3105150"/>
            <a:ext cx="2419350" cy="171450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275" b="0">
                <a:solidFill>
                  <a:srgbClr val="333333"/>
                </a:solidFill>
              </a:defRPr>
            </a:defPPr>
          </a:lstStyle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Ψηφιακό αποτύπωμα</a:t>
            </a: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Μια ανάρτηση μπορεί να:</a:t>
            </a: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• αντιγραφεί</a:t>
            </a: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• αναδημοσιευτεί</a:t>
            </a: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• παραμείνει διαθέσιμη</a:t>
            </a:r>
          </a:p>
          <a:p>
            <a:endParaRPr sz="1275" b="0">
              <a:solidFill>
                <a:srgbClr val="333333"/>
              </a:solidFill>
            </a:endParaRP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Η διαγραφή δεν εγγυάται ότι χάθηκε.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B18A0AF-361D-46D3-9ADE-D65E17AD63CE}"/>
              </a:ext>
            </a:extLst>
          </p:cNvPr>
          <p:cNvSpPr>
            <a:spLocks noGrp="1"/>
          </p:cNvSpPr>
          <p:nvPr/>
        </p:nvSpPr>
        <p:spPr>
          <a:xfrm>
            <a:off x="781050" y="5314950"/>
            <a:ext cx="10096500" cy="590550"/>
          </a:xfrm>
          <a:prstGeom prst="roundRect">
            <a:avLst>
              <a:gd name="adj" fmla="val 12903"/>
            </a:avLst>
          </a:prstGeom>
          <a:solidFill>
            <a:srgbClr val="FFF3E3"/>
          </a:solidFill>
          <a:ln w="11906">
            <a:solidFill>
              <a:srgbClr val="B7DDEB"/>
            </a:solidFill>
            <a:prstDash val="solid"/>
          </a:ln>
        </p:spPr>
        <p:txBody>
          <a:bodyPr anchor="ctr"/>
          <a:lstStyle>
            <a:defPPr algn="ctr">
              <a:defRPr sz="1500" b="1">
                <a:solidFill>
                  <a:srgbClr val="8A4F0F"/>
                </a:solidFill>
              </a:defRPr>
            </a:defPPr>
          </a:lstStyle>
          <a:p>
            <a:pPr algn="ctr">
              <a:defRPr sz="1500" b="1">
                <a:solidFill>
                  <a:srgbClr val="8A4F0F"/>
                </a:solidFill>
              </a:defRPr>
            </a:pPr>
            <a:r>
              <a:rPr sz="1500" b="1">
                <a:solidFill>
                  <a:srgbClr val="8A4F0F"/>
                </a:solidFill>
              </a:rPr>
              <a:t>Παράδειγμα: μια φωτογραφία με ενεργή τοποθεσία μπορεί να αποκαλύψει πού βρίσκεσαι.</a:t>
            </a:r>
          </a:p>
        </p:txBody>
      </p:sp>
    </p:spTree>
    <p:extLst>
      <p:ext uri="{BB962C8B-B14F-4D97-AF65-F5344CB8AC3E}">
        <p14:creationId xmlns:p14="http://schemas.microsoft.com/office/powerpoint/2010/main" val="6438814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3DE7BDB4-5B22-4942-A5BF-1BC290BB60C6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F972E8AA-2DAA-4786-A1DC-793A00EB1F59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13" name="Rectangle 23">
            <a:extLst>
              <a:ext uri="{FF2B5EF4-FFF2-40B4-BE49-F238E27FC236}">
                <a16:creationId xmlns:a16="http://schemas.microsoft.com/office/drawing/2014/main" id="{6778DC79-DE09-4F89-81B1-275C542D7FB4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4" name="Rectangle 25">
            <a:extLst>
              <a:ext uri="{FF2B5EF4-FFF2-40B4-BE49-F238E27FC236}">
                <a16:creationId xmlns:a16="http://schemas.microsoft.com/office/drawing/2014/main" id="{EAEC370A-1F34-4D8E-B065-81F6F568AA75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A816EDF3-D9EE-488C-AFDC-0223815139E3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6" name="Rectangle 27">
            <a:extLst>
              <a:ext uri="{FF2B5EF4-FFF2-40B4-BE49-F238E27FC236}">
                <a16:creationId xmlns:a16="http://schemas.microsoft.com/office/drawing/2014/main" id="{E8330BD4-97D9-4D24-815A-0E557B04F96A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  <a:alpha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7" name="Rectangle 28">
            <a:extLst>
              <a:ext uri="{FF2B5EF4-FFF2-40B4-BE49-F238E27FC236}">
                <a16:creationId xmlns:a16="http://schemas.microsoft.com/office/drawing/2014/main" id="{EA8EDE67-BAC0-478C-99D9-BBC5AD532084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2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8" name="Rectangle 29">
            <a:extLst>
              <a:ext uri="{FF2B5EF4-FFF2-40B4-BE49-F238E27FC236}">
                <a16:creationId xmlns:a16="http://schemas.microsoft.com/office/drawing/2014/main" id="{33DFB3F3-2523-4F1F-BC2B-B97C172F2C47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5E5660E4-7443-4FCC-AD43-9D1AE972B5C4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4EDF9C36-B365-4426-85B9-82E0DE187A59}"/>
              </a:ext>
            </a:extLst>
          </p:cNvPr>
          <p:cNvSpPr>
            <a:spLocks noGrp="1"/>
          </p:cNvSpPr>
          <p:nvPr/>
        </p:nvSpPr>
        <p:spPr>
          <a:xfrm>
            <a:off x="0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2A92CD4-88DD-4F68-B449-EA9821C3EF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23" y="609600"/>
            <a:ext cx="8572500" cy="781050"/>
          </a:xfrm>
        </p:spPr>
        <p:txBody>
          <a:bodyPr vert="horz" lIns="91440" tIns="45720" rIns="91440" bIns="45720" anchor="t">
            <a:normAutofit/>
          </a:bodyPr>
          <a:lstStyle/>
          <a:p>
            <a:r>
              <a:t>Phishing (υποκλοπή στοιχείων)</a:t>
            </a:r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58A65593-EBC9-4FFD-A2E3-84A86F9898AA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46DF67F7-9F42-4763-BDC4-3162061DA391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26" name="Rectangle 23">
            <a:extLst>
              <a:ext uri="{FF2B5EF4-FFF2-40B4-BE49-F238E27FC236}">
                <a16:creationId xmlns:a16="http://schemas.microsoft.com/office/drawing/2014/main" id="{3F088236-D655-4F88-B238-E16762358025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8" name="Rectangle 25">
            <a:extLst>
              <a:ext uri="{FF2B5EF4-FFF2-40B4-BE49-F238E27FC236}">
                <a16:creationId xmlns:a16="http://schemas.microsoft.com/office/drawing/2014/main" id="{3DAC0C92-199E-475C-9390-119A9B027276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0" name="Isosceles Triangle 24">
            <a:extLst>
              <a:ext uri="{FF2B5EF4-FFF2-40B4-BE49-F238E27FC236}">
                <a16:creationId xmlns:a16="http://schemas.microsoft.com/office/drawing/2014/main" id="{C4CFB339-0ED8-4FE2-9EF1-6D1375B8499B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2" name="Rectangle 27">
            <a:extLst>
              <a:ext uri="{FF2B5EF4-FFF2-40B4-BE49-F238E27FC236}">
                <a16:creationId xmlns:a16="http://schemas.microsoft.com/office/drawing/2014/main" id="{31896C80-2069-4431-9C19-83B913734490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4" name="Rectangle 28">
            <a:extLst>
              <a:ext uri="{FF2B5EF4-FFF2-40B4-BE49-F238E27FC236}">
                <a16:creationId xmlns:a16="http://schemas.microsoft.com/office/drawing/2014/main" id="{BF120A21-0841-4823-B0C4-28AEBCEF9B78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6" name="Rectangle 29">
            <a:extLst>
              <a:ext uri="{FF2B5EF4-FFF2-40B4-BE49-F238E27FC236}">
                <a16:creationId xmlns:a16="http://schemas.microsoft.com/office/drawing/2014/main" id="{DBB05BAE-BBD3-4289-899F-A6851503C6B0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8" name="Isosceles Triangle 29">
            <a:extLst>
              <a:ext uri="{FF2B5EF4-FFF2-40B4-BE49-F238E27FC236}">
                <a16:creationId xmlns:a16="http://schemas.microsoft.com/office/drawing/2014/main" id="{9874D11C-36F5-4BBE-A490-019A54E953B0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9" name="Clean content area">
            <a:extLst>
              <a:ext uri="{FF2B5EF4-FFF2-40B4-BE49-F238E27FC236}">
                <a16:creationId xmlns:a16="http://schemas.microsoft.com/office/drawing/2014/main" id="{C226B8F1-56F9-450F-90F1-3BE4CB4FACBA}"/>
              </a:ext>
            </a:extLst>
          </p:cNvPr>
          <p:cNvSpPr>
            <a:spLocks noGrp="1"/>
          </p:cNvSpPr>
          <p:nvPr/>
        </p:nvSpPr>
        <p:spPr>
          <a:xfrm>
            <a:off x="590550" y="1352550"/>
            <a:ext cx="11049000" cy="5000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81D5CEB-A548-4A6E-AF66-8D9E83EAD345}"/>
              </a:ext>
            </a:extLst>
          </p:cNvPr>
          <p:cNvSpPr>
            <a:spLocks noGrp="1"/>
          </p:cNvSpPr>
          <p:nvPr/>
        </p:nvSpPr>
        <p:spPr>
          <a:xfrm>
            <a:off x="781050" y="1504950"/>
            <a:ext cx="10096500" cy="51435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650" b="0">
                <a:solidFill>
                  <a:srgbClr val="333333"/>
                </a:solidFill>
              </a:defRPr>
            </a:defPPr>
          </a:lstStyle>
          <a:p>
            <a:pPr algn="l">
              <a:defRPr sz="1650" b="0">
                <a:solidFill>
                  <a:srgbClr val="333333"/>
                </a:solidFill>
              </a:defRPr>
            </a:pPr>
            <a:r>
              <a:rPr sz="1650" b="0">
                <a:solidFill>
                  <a:srgbClr val="333333"/>
                </a:solidFill>
              </a:rPr>
              <a:t>Απατηλό μήνυμα που προσπαθεί να κλέψει κωδικούς, τραπεζικά στοιχεία ή άλλες προσωπικές πληροφορίες.</a:t>
            </a: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96402F73-FAA2-4400-A6C4-907F59E3AEC2}"/>
              </a:ext>
            </a:extLst>
          </p:cNvPr>
          <p:cNvSpPr>
            <a:spLocks noGrp="1"/>
          </p:cNvSpPr>
          <p:nvPr/>
        </p:nvSpPr>
        <p:spPr>
          <a:xfrm>
            <a:off x="781050" y="2190750"/>
            <a:ext cx="5810250" cy="3000375"/>
          </a:xfrm>
          <a:prstGeom prst="roundRect">
            <a:avLst>
              <a:gd name="adj" fmla="val 3175"/>
            </a:avLst>
          </a:prstGeom>
          <a:solidFill>
            <a:srgbClr val="FFF5F4"/>
          </a:solidFill>
          <a:ln w="19050">
            <a:solidFill>
              <a:srgbClr val="D95C52"/>
            </a:solidFill>
            <a:prstDash val="solid"/>
          </a:ln>
        </p:spPr>
        <p:txBody>
          <a:bodyPr anchor="ctr"/>
          <a:lstStyle>
            <a:defPPr algn="l">
              <a:defRPr sz="1500" b="0">
                <a:solidFill>
                  <a:srgbClr val="6D2420"/>
                </a:solidFill>
              </a:defRPr>
            </a:defPPr>
          </a:lstStyle>
          <a:p>
            <a:pPr algn="l">
              <a:defRPr sz="1500" b="0">
                <a:solidFill>
                  <a:srgbClr val="6D2420"/>
                </a:solidFill>
              </a:defRPr>
            </a:pPr>
            <a:r>
              <a:rPr sz="1500" b="0">
                <a:solidFill>
                  <a:srgbClr val="6D2420"/>
                </a:solidFill>
              </a:rPr>
              <a:t>ΥΠΟΠΤΟ ΜΗΝΥΜΑ</a:t>
            </a:r>
          </a:p>
          <a:p>
            <a:endParaRPr sz="1500" b="0">
              <a:solidFill>
                <a:srgbClr val="6D2420"/>
              </a:solidFill>
            </a:endParaRPr>
          </a:p>
          <a:p>
            <a:pPr algn="l">
              <a:defRPr sz="1500" b="0">
                <a:solidFill>
                  <a:srgbClr val="6D2420"/>
                </a:solidFill>
              </a:defRPr>
            </a:pPr>
            <a:r>
              <a:rPr sz="1500" b="0">
                <a:solidFill>
                  <a:srgbClr val="6D2420"/>
                </a:solidFill>
              </a:rPr>
              <a:t>Από: support@my-bank-security.com</a:t>
            </a:r>
          </a:p>
          <a:p>
            <a:pPr algn="l">
              <a:defRPr sz="1500" b="0">
                <a:solidFill>
                  <a:srgbClr val="6D2420"/>
                </a:solidFill>
              </a:defRPr>
            </a:pPr>
            <a:r>
              <a:rPr sz="1500" b="0">
                <a:solidFill>
                  <a:srgbClr val="6D2420"/>
                </a:solidFill>
              </a:rPr>
              <a:t>Θέμα: ΕΠΕΙΓΟΝ: Ο λογαριασμός σας θα κλειδωθεί</a:t>
            </a:r>
          </a:p>
          <a:p>
            <a:endParaRPr sz="1500" b="0">
              <a:solidFill>
                <a:srgbClr val="6D2420"/>
              </a:solidFill>
            </a:endParaRPr>
          </a:p>
          <a:p>
            <a:pPr algn="l">
              <a:defRPr sz="1500" b="0">
                <a:solidFill>
                  <a:srgbClr val="6D2420"/>
                </a:solidFill>
              </a:defRPr>
            </a:pPr>
            <a:r>
              <a:rPr sz="1500" b="0">
                <a:solidFill>
                  <a:srgbClr val="6D2420"/>
                </a:solidFill>
              </a:rPr>
              <a:t>Πατήστε στον σύνδεσμο και γράψτε τον κωδικό σας:</a:t>
            </a:r>
          </a:p>
          <a:p>
            <a:pPr algn="l">
              <a:defRPr sz="1500" b="0">
                <a:solidFill>
                  <a:srgbClr val="6D2420"/>
                </a:solidFill>
              </a:defRPr>
            </a:pPr>
            <a:r>
              <a:rPr sz="1500" b="0">
                <a:solidFill>
                  <a:srgbClr val="6D2420"/>
                </a:solidFill>
              </a:rPr>
              <a:t>http://my-bank-secure-login.example</a:t>
            </a: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87A83928-1764-4D92-B6BB-2F2D5EB8698A}"/>
              </a:ext>
            </a:extLst>
          </p:cNvPr>
          <p:cNvSpPr>
            <a:spLocks noGrp="1"/>
          </p:cNvSpPr>
          <p:nvPr/>
        </p:nvSpPr>
        <p:spPr>
          <a:xfrm>
            <a:off x="6953250" y="214312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D95C52"/>
          </a:solidFill>
          <a:ln w="9525">
            <a:solidFill>
              <a:srgbClr val="D95C52"/>
            </a:solidFill>
          </a:ln>
        </p:spPr>
        <p:txBody>
          <a:bodyPr anchor="ctr"/>
          <a:lstStyle>
            <a:defPPr algn="ctr">
              <a:defRPr sz="1725" b="1">
                <a:solidFill>
                  <a:srgbClr val="FFFFFF"/>
                </a:solidFill>
              </a:defRPr>
            </a:defPPr>
          </a:lstStyle>
          <a:p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1985930-26AC-4F0C-814A-B742ECAADDB4}"/>
              </a:ext>
            </a:extLst>
          </p:cNvPr>
          <p:cNvSpPr>
            <a:spLocks noGrp="1"/>
          </p:cNvSpPr>
          <p:nvPr/>
        </p:nvSpPr>
        <p:spPr>
          <a:xfrm>
            <a:off x="7543800" y="2124075"/>
            <a:ext cx="3238500" cy="26670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500" b="1">
                <a:solidFill>
                  <a:srgbClr val="A12B25"/>
                </a:solidFill>
              </a:defRPr>
            </a:defPPr>
          </a:lstStyle>
          <a:p>
            <a:pPr algn="l">
              <a:defRPr sz="1500" b="1">
                <a:solidFill>
                  <a:srgbClr val="A12B25"/>
                </a:solidFill>
              </a:defRPr>
            </a:pPr>
            <a:r>
              <a:rPr sz="1500" b="1">
                <a:solidFill>
                  <a:srgbClr val="A12B25"/>
                </a:solidFill>
              </a:rPr>
              <a:t>Ύποπτος αποστολέας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73FCECD-1D03-4F36-AA55-6E1AC2C499EA}"/>
              </a:ext>
            </a:extLst>
          </p:cNvPr>
          <p:cNvSpPr>
            <a:spLocks noGrp="1"/>
          </p:cNvSpPr>
          <p:nvPr/>
        </p:nvSpPr>
        <p:spPr>
          <a:xfrm>
            <a:off x="7543800" y="2400300"/>
            <a:ext cx="3238500" cy="47625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275" b="0">
                <a:solidFill>
                  <a:srgbClr val="333333"/>
                </a:solidFill>
              </a:defRPr>
            </a:defPPr>
          </a:lstStyle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Η διεύθυνση μοιάζει επίσημη, αλλά δεν είναι η πραγματική.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D1487245-D778-401A-97A4-FA837FC36CAF}"/>
              </a:ext>
            </a:extLst>
          </p:cNvPr>
          <p:cNvSpPr>
            <a:spLocks noGrp="1"/>
          </p:cNvSpPr>
          <p:nvPr/>
        </p:nvSpPr>
        <p:spPr>
          <a:xfrm>
            <a:off x="6953250" y="29337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D95C52"/>
          </a:solidFill>
          <a:ln w="9525">
            <a:solidFill>
              <a:srgbClr val="D95C52"/>
            </a:solidFill>
          </a:ln>
        </p:spPr>
        <p:txBody>
          <a:bodyPr anchor="ctr"/>
          <a:lstStyle>
            <a:defPPr algn="ctr">
              <a:defRPr sz="1725" b="1">
                <a:solidFill>
                  <a:srgbClr val="FFFFFF"/>
                </a:solidFill>
              </a:defRPr>
            </a:defPPr>
          </a:lstStyle>
          <a:p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DE2AA24-D4C6-41DE-9AB3-FB6D3E864428}"/>
              </a:ext>
            </a:extLst>
          </p:cNvPr>
          <p:cNvSpPr>
            <a:spLocks noGrp="1"/>
          </p:cNvSpPr>
          <p:nvPr/>
        </p:nvSpPr>
        <p:spPr>
          <a:xfrm>
            <a:off x="7543800" y="2914650"/>
            <a:ext cx="3238500" cy="26670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500" b="1">
                <a:solidFill>
                  <a:srgbClr val="A12B25"/>
                </a:solidFill>
              </a:defRPr>
            </a:defPPr>
          </a:lstStyle>
          <a:p>
            <a:pPr algn="l">
              <a:defRPr sz="1500" b="1">
                <a:solidFill>
                  <a:srgbClr val="A12B25"/>
                </a:solidFill>
              </a:defRPr>
            </a:pPr>
            <a:r>
              <a:rPr sz="1500" b="1">
                <a:solidFill>
                  <a:srgbClr val="A12B25"/>
                </a:solidFill>
              </a:rPr>
              <a:t>Πίεση και επείγον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27CED2D-5465-40C6-AEFD-DF7C3F5236E7}"/>
              </a:ext>
            </a:extLst>
          </p:cNvPr>
          <p:cNvSpPr>
            <a:spLocks noGrp="1"/>
          </p:cNvSpPr>
          <p:nvPr/>
        </p:nvSpPr>
        <p:spPr>
          <a:xfrm>
            <a:off x="7543800" y="3190875"/>
            <a:ext cx="3238500" cy="47625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275" b="0">
                <a:solidFill>
                  <a:srgbClr val="333333"/>
                </a:solidFill>
              </a:defRPr>
            </a:defPPr>
          </a:lstStyle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Το μήνυμα προκαλεί φόβο για να ενεργήσεις γρήγορα.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11E84FE5-65AB-47A9-94EF-F8348FAEB4E8}"/>
              </a:ext>
            </a:extLst>
          </p:cNvPr>
          <p:cNvSpPr>
            <a:spLocks noGrp="1"/>
          </p:cNvSpPr>
          <p:nvPr/>
        </p:nvSpPr>
        <p:spPr>
          <a:xfrm>
            <a:off x="6953250" y="3724275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D95C52"/>
          </a:solidFill>
          <a:ln w="9525">
            <a:solidFill>
              <a:srgbClr val="D95C52"/>
            </a:solidFill>
          </a:ln>
        </p:spPr>
        <p:txBody>
          <a:bodyPr anchor="ctr"/>
          <a:lstStyle>
            <a:defPPr algn="ctr">
              <a:defRPr sz="1725" b="1">
                <a:solidFill>
                  <a:srgbClr val="FFFFFF"/>
                </a:solidFill>
              </a:defRPr>
            </a:defPPr>
          </a:lstStyle>
          <a:p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B805998-7D02-493D-93B6-D12D71538E6A}"/>
              </a:ext>
            </a:extLst>
          </p:cNvPr>
          <p:cNvSpPr>
            <a:spLocks noGrp="1"/>
          </p:cNvSpPr>
          <p:nvPr/>
        </p:nvSpPr>
        <p:spPr>
          <a:xfrm>
            <a:off x="7543800" y="3705225"/>
            <a:ext cx="3238500" cy="26670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500" b="1">
                <a:solidFill>
                  <a:srgbClr val="A12B25"/>
                </a:solidFill>
              </a:defRPr>
            </a:defPPr>
          </a:lstStyle>
          <a:p>
            <a:pPr algn="l">
              <a:defRPr sz="1500" b="1">
                <a:solidFill>
                  <a:srgbClr val="A12B25"/>
                </a:solidFill>
              </a:defRPr>
            </a:pPr>
            <a:r>
              <a:rPr sz="1500" b="1">
                <a:solidFill>
                  <a:srgbClr val="A12B25"/>
                </a:solidFill>
              </a:rPr>
              <a:t>Ζητά ευαίσθητα στοιχεία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8CDF4D18-775C-4E6D-8B70-C6D138543816}"/>
              </a:ext>
            </a:extLst>
          </p:cNvPr>
          <p:cNvSpPr>
            <a:spLocks noGrp="1"/>
          </p:cNvSpPr>
          <p:nvPr/>
        </p:nvSpPr>
        <p:spPr>
          <a:xfrm>
            <a:off x="7543800" y="3981450"/>
            <a:ext cx="3238500" cy="47625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275" b="0">
                <a:solidFill>
                  <a:srgbClr val="333333"/>
                </a:solidFill>
              </a:defRPr>
            </a:defPPr>
          </a:lstStyle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Μια νόμιμη υπηρεσία δεν ζητά τον κωδικό μέσω συνδέσμου.</a:t>
            </a: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8E9B2DA5-B177-4474-8748-4DEE52B626B1}"/>
              </a:ext>
            </a:extLst>
          </p:cNvPr>
          <p:cNvSpPr>
            <a:spLocks noGrp="1"/>
          </p:cNvSpPr>
          <p:nvPr/>
        </p:nvSpPr>
        <p:spPr>
          <a:xfrm>
            <a:off x="6953250" y="451485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D95C52"/>
          </a:solidFill>
          <a:ln w="9525">
            <a:solidFill>
              <a:srgbClr val="D95C52"/>
            </a:solidFill>
          </a:ln>
        </p:spPr>
        <p:txBody>
          <a:bodyPr anchor="ctr"/>
          <a:lstStyle>
            <a:defPPr algn="ctr">
              <a:defRPr sz="1725" b="1">
                <a:solidFill>
                  <a:srgbClr val="FFFFFF"/>
                </a:solidFill>
              </a:defRPr>
            </a:defPPr>
          </a:lstStyle>
          <a:p>
            <a:pPr algn="ctr">
              <a:defRPr sz="1725" b="1">
                <a:solidFill>
                  <a:srgbClr val="FFFFFF"/>
                </a:solidFill>
              </a:defRPr>
            </a:pPr>
            <a:r>
              <a:rPr sz="17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D62254C-CC31-423A-B69D-8D5F3EEE3C6B}"/>
              </a:ext>
            </a:extLst>
          </p:cNvPr>
          <p:cNvSpPr>
            <a:spLocks noGrp="1"/>
          </p:cNvSpPr>
          <p:nvPr/>
        </p:nvSpPr>
        <p:spPr>
          <a:xfrm>
            <a:off x="7543800" y="4495800"/>
            <a:ext cx="3238500" cy="26670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500" b="1">
                <a:solidFill>
                  <a:srgbClr val="A12B25"/>
                </a:solidFill>
              </a:defRPr>
            </a:defPPr>
          </a:lstStyle>
          <a:p>
            <a:pPr algn="l">
              <a:defRPr sz="1500" b="1">
                <a:solidFill>
                  <a:srgbClr val="A12B25"/>
                </a:solidFill>
              </a:defRPr>
            </a:pPr>
            <a:r>
              <a:rPr sz="1500" b="1">
                <a:solidFill>
                  <a:srgbClr val="A12B25"/>
                </a:solidFill>
              </a:rPr>
              <a:t>Παράξενος σύνδεσμος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5990304-A092-4F52-8509-49E0AF334FB1}"/>
              </a:ext>
            </a:extLst>
          </p:cNvPr>
          <p:cNvSpPr>
            <a:spLocks noGrp="1"/>
          </p:cNvSpPr>
          <p:nvPr/>
        </p:nvSpPr>
        <p:spPr>
          <a:xfrm>
            <a:off x="7543800" y="4772025"/>
            <a:ext cx="3238500" cy="47625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275" b="0">
                <a:solidFill>
                  <a:srgbClr val="333333"/>
                </a:solidFill>
              </a:defRPr>
            </a:defPPr>
          </a:lstStyle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Ελέγχουμε προσεκτικά το πραγματικό domain πριν πατήσουμε.</a:t>
            </a: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BDAEB006-ED05-4A7B-A568-CFB33E95E7B8}"/>
              </a:ext>
            </a:extLst>
          </p:cNvPr>
          <p:cNvSpPr>
            <a:spLocks noGrp="1"/>
          </p:cNvSpPr>
          <p:nvPr/>
        </p:nvSpPr>
        <p:spPr>
          <a:xfrm>
            <a:off x="781050" y="5495925"/>
            <a:ext cx="10096500" cy="590550"/>
          </a:xfrm>
          <a:prstGeom prst="roundRect">
            <a:avLst>
              <a:gd name="adj" fmla="val 12903"/>
            </a:avLst>
          </a:prstGeom>
          <a:solidFill>
            <a:srgbClr val="E6F4EA"/>
          </a:solidFill>
          <a:ln w="11906">
            <a:solidFill>
              <a:srgbClr val="B7DDEB"/>
            </a:solidFill>
            <a:prstDash val="solid"/>
          </a:ln>
        </p:spPr>
        <p:txBody>
          <a:bodyPr anchor="ctr"/>
          <a:lstStyle>
            <a:defPPr algn="ctr">
              <a:defRPr sz="1500" b="1">
                <a:solidFill>
                  <a:srgbClr val="26733D"/>
                </a:solidFill>
              </a:defRPr>
            </a:defPPr>
          </a:lstStyle>
          <a:p>
            <a:pPr algn="ctr">
              <a:defRPr sz="1500" b="1">
                <a:solidFill>
                  <a:srgbClr val="26733D"/>
                </a:solidFill>
              </a:defRPr>
            </a:pPr>
            <a:r>
              <a:rPr sz="1500" b="1">
                <a:solidFill>
                  <a:srgbClr val="26733D"/>
                </a:solidFill>
              </a:rPr>
              <a:t>Δεν πατάμε τον σύνδεσμο. Ανοίγουμε μόνοι μας την επίσημη εφαρμογή ή ιστοσελίδα.</a:t>
            </a:r>
          </a:p>
        </p:txBody>
      </p:sp>
    </p:spTree>
    <p:extLst>
      <p:ext uri="{BB962C8B-B14F-4D97-AF65-F5344CB8AC3E}">
        <p14:creationId xmlns:p14="http://schemas.microsoft.com/office/powerpoint/2010/main" val="14598759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C8F4F9-6C40-2633-BE63-C30B6C5A7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06FA384B-48AB-E2EB-9157-34E53DFF92C4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17761FA4-A34B-476D-8AC6-DAF4C267AE87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accent1">
                <a:alpha val="7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13" name="Rectangle 23">
            <a:extLst>
              <a:ext uri="{FF2B5EF4-FFF2-40B4-BE49-F238E27FC236}">
                <a16:creationId xmlns:a16="http://schemas.microsoft.com/office/drawing/2014/main" id="{13B13CDA-442C-4F9D-F672-EC63DA652AC2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4" name="Rectangle 25">
            <a:extLst>
              <a:ext uri="{FF2B5EF4-FFF2-40B4-BE49-F238E27FC236}">
                <a16:creationId xmlns:a16="http://schemas.microsoft.com/office/drawing/2014/main" id="{75C1DAD4-BAA7-318D-FE65-ABAD647CC9AC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A37BB475-9F8E-223D-529E-A3593CDE3AFC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6" name="Rectangle 27">
            <a:extLst>
              <a:ext uri="{FF2B5EF4-FFF2-40B4-BE49-F238E27FC236}">
                <a16:creationId xmlns:a16="http://schemas.microsoft.com/office/drawing/2014/main" id="{D98E5E80-0A64-260C-FEF6-7CAA73100FBF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75000"/>
              <a:alpha val="5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7" name="Rectangle 28">
            <a:extLst>
              <a:ext uri="{FF2B5EF4-FFF2-40B4-BE49-F238E27FC236}">
                <a16:creationId xmlns:a16="http://schemas.microsoft.com/office/drawing/2014/main" id="{3175BB99-7255-1E49-B7A3-6D0E2940672D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2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8" name="Rectangle 29">
            <a:extLst>
              <a:ext uri="{FF2B5EF4-FFF2-40B4-BE49-F238E27FC236}">
                <a16:creationId xmlns:a16="http://schemas.microsoft.com/office/drawing/2014/main" id="{A173B1E0-4936-0BA5-622C-A83896CA8068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1FD1099B-3E54-8260-828C-262764312B71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lumMod val="75000"/>
              <a:alpha val="66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81383BEE-6D44-5BA4-CC38-FC537129C516}"/>
              </a:ext>
            </a:extLst>
          </p:cNvPr>
          <p:cNvSpPr>
            <a:spLocks noGrp="1"/>
          </p:cNvSpPr>
          <p:nvPr/>
        </p:nvSpPr>
        <p:spPr>
          <a:xfrm>
            <a:off x="0" y="4013200"/>
            <a:ext cx="448733" cy="2844800"/>
          </a:xfrm>
          <a:prstGeom prst="triangle">
            <a:avLst>
              <a:gd name="adj" fmla="val 0"/>
            </a:avLst>
          </a:pr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2775A2-0C13-4306-1424-872EED65A1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23" y="609600"/>
            <a:ext cx="8572500" cy="781050"/>
          </a:xfrm>
        </p:spPr>
        <p:txBody>
          <a:bodyPr vert="horz" lIns="91440" tIns="45720" rIns="91440" bIns="45720" anchor="t">
            <a:normAutofit/>
          </a:bodyPr>
          <a:lstStyle/>
          <a:p>
            <a:r>
              <a:t>Phishing (υποκλοπή στοιχείων)</a:t>
            </a:r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5895F9AE-A98B-87DA-7C3B-38149794319C}"/>
              </a:ext>
            </a:extLst>
          </p:cNvPr>
          <p:cNvSpPr>
            <a:spLocks noGrp="1"/>
          </p:cNvSpPr>
          <p:nvPr/>
        </p:nvSpPr>
        <p:spPr>
          <a:xfrm>
            <a:off x="9371012" y="0"/>
            <a:ext cx="1219200" cy="685800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4D4E5524-4A2E-7CD6-B85D-4EDD72479CD1}"/>
              </a:ext>
            </a:extLst>
          </p:cNvPr>
          <p:cNvSpPr>
            <a:spLocks noGrp="1"/>
          </p:cNvSpPr>
          <p:nvPr/>
        </p:nvSpPr>
        <p:spPr>
          <a:xfrm flipH="1">
            <a:off x="7425267" y="3681413"/>
            <a:ext cx="4763558" cy="3176587"/>
          </a:xfrm>
          <a:prstGeom prst="line">
            <a:avLst/>
          </a:prstGeom>
          <a:ln w="952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/>
          </a:p>
        </p:txBody>
      </p:sp>
      <p:sp>
        <p:nvSpPr>
          <p:cNvPr id="26" name="Rectangle 23">
            <a:extLst>
              <a:ext uri="{FF2B5EF4-FFF2-40B4-BE49-F238E27FC236}">
                <a16:creationId xmlns:a16="http://schemas.microsoft.com/office/drawing/2014/main" id="{62FABC5B-6553-A7A1-3EEC-FECC1BAE6DC3}"/>
              </a:ext>
            </a:extLst>
          </p:cNvPr>
          <p:cNvSpPr>
            <a:spLocks noGrp="1"/>
          </p:cNvSpPr>
          <p:nvPr/>
        </p:nvSpPr>
        <p:spPr>
          <a:xfrm>
            <a:off x="9181476" y="-8467"/>
            <a:ext cx="3007349" cy="6866467"/>
          </a:xfrm>
          <a:custGeom>
            <a:avLst/>
            <a:gdLst/>
            <a:ahLst/>
            <a:cxnLst/>
            <a:rect l="l" t="t" r="r" b="b"/>
            <a:pathLst>
              <a:path w="3007349" h="6866467">
                <a:moveTo>
                  <a:pt x="2045532" y="0"/>
                </a:moveTo>
                <a:lnTo>
                  <a:pt x="3007349" y="0"/>
                </a:lnTo>
                <a:lnTo>
                  <a:pt x="3007349" y="6866467"/>
                </a:lnTo>
                <a:lnTo>
                  <a:pt x="0" y="6866467"/>
                </a:lnTo>
                <a:lnTo>
                  <a:pt x="2045532" y="0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28" name="Rectangle 25">
            <a:extLst>
              <a:ext uri="{FF2B5EF4-FFF2-40B4-BE49-F238E27FC236}">
                <a16:creationId xmlns:a16="http://schemas.microsoft.com/office/drawing/2014/main" id="{2BE62E2F-D77C-1E62-D2A3-0C4426DC862B}"/>
              </a:ext>
            </a:extLst>
          </p:cNvPr>
          <p:cNvSpPr>
            <a:spLocks noGrp="1"/>
          </p:cNvSpPr>
          <p:nvPr/>
        </p:nvSpPr>
        <p:spPr>
          <a:xfrm>
            <a:off x="9603442" y="-8467"/>
            <a:ext cx="2588558" cy="6866467"/>
          </a:xfrm>
          <a:custGeom>
            <a:avLst/>
            <a:gdLst/>
            <a:ahLst/>
            <a:cxnLst/>
            <a:rect l="l" t="t" r="r" b="b"/>
            <a:pathLst>
              <a:path w="2573311" h="6866467">
                <a:moveTo>
                  <a:pt x="0" y="0"/>
                </a:moveTo>
                <a:lnTo>
                  <a:pt x="2573311" y="0"/>
                </a:lnTo>
                <a:lnTo>
                  <a:pt x="2573311" y="6866467"/>
                </a:lnTo>
                <a:lnTo>
                  <a:pt x="1202336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0" name="Isosceles Triangle 24">
            <a:extLst>
              <a:ext uri="{FF2B5EF4-FFF2-40B4-BE49-F238E27FC236}">
                <a16:creationId xmlns:a16="http://schemas.microsoft.com/office/drawing/2014/main" id="{46BB1C28-E844-E4BD-2D85-C57D81027149}"/>
              </a:ext>
            </a:extLst>
          </p:cNvPr>
          <p:cNvSpPr>
            <a:spLocks noGrp="1"/>
          </p:cNvSpPr>
          <p:nvPr/>
        </p:nvSpPr>
        <p:spPr>
          <a:xfrm>
            <a:off x="8932333" y="3048000"/>
            <a:ext cx="3259667" cy="3810000"/>
          </a:xfrm>
          <a:prstGeom prst="triangle">
            <a:avLst>
              <a:gd name="adj" fmla="val 100000"/>
            </a:avLst>
          </a:prstGeom>
          <a:solidFill>
            <a:schemeClr val="accent2">
              <a:alpha val="72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2" name="Rectangle 27">
            <a:extLst>
              <a:ext uri="{FF2B5EF4-FFF2-40B4-BE49-F238E27FC236}">
                <a16:creationId xmlns:a16="http://schemas.microsoft.com/office/drawing/2014/main" id="{9137D7F5-DADB-2CEE-BF07-6FB6E4951411}"/>
              </a:ext>
            </a:extLst>
          </p:cNvPr>
          <p:cNvSpPr>
            <a:spLocks noGrp="1"/>
          </p:cNvSpPr>
          <p:nvPr/>
        </p:nvSpPr>
        <p:spPr>
          <a:xfrm>
            <a:off x="9334500" y="-8467"/>
            <a:ext cx="2854326" cy="6866467"/>
          </a:xfrm>
          <a:custGeom>
            <a:avLst/>
            <a:gdLst/>
            <a:ahLst/>
            <a:cxnLst/>
            <a:rect l="l" t="t" r="r" b="b"/>
            <a:pathLst>
              <a:path w="2858013" h="6866467">
                <a:moveTo>
                  <a:pt x="0" y="0"/>
                </a:moveTo>
                <a:lnTo>
                  <a:pt x="2858013" y="0"/>
                </a:lnTo>
                <a:lnTo>
                  <a:pt x="2858013" y="6866467"/>
                </a:lnTo>
                <a:lnTo>
                  <a:pt x="2473942" y="6866467"/>
                </a:lnTo>
                <a:lnTo>
                  <a:pt x="0" y="0"/>
                </a:lnTo>
                <a:close/>
              </a:path>
            </a:pathLst>
          </a:custGeom>
          <a:solidFill>
            <a:schemeClr val="accent2">
              <a:lumMod val="75000"/>
              <a:alpha val="47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4" name="Rectangle 28">
            <a:extLst>
              <a:ext uri="{FF2B5EF4-FFF2-40B4-BE49-F238E27FC236}">
                <a16:creationId xmlns:a16="http://schemas.microsoft.com/office/drawing/2014/main" id="{0539450F-28EB-9F1B-8E9C-BC94B499A34B}"/>
              </a:ext>
            </a:extLst>
          </p:cNvPr>
          <p:cNvSpPr>
            <a:spLocks noGrp="1"/>
          </p:cNvSpPr>
          <p:nvPr/>
        </p:nvSpPr>
        <p:spPr>
          <a:xfrm>
            <a:off x="10898730" y="-8467"/>
            <a:ext cx="1290094" cy="6866467"/>
          </a:xfrm>
          <a:custGeom>
            <a:avLst/>
            <a:gdLst/>
            <a:ahLst/>
            <a:cxnLst/>
            <a:rect l="l" t="t" r="r" b="b"/>
            <a:pathLst>
              <a:path w="1290094" h="6858000">
                <a:moveTo>
                  <a:pt x="1019735" y="0"/>
                </a:moveTo>
                <a:lnTo>
                  <a:pt x="1290094" y="0"/>
                </a:lnTo>
                <a:lnTo>
                  <a:pt x="1290094" y="6858000"/>
                </a:lnTo>
                <a:lnTo>
                  <a:pt x="0" y="6858000"/>
                </a:lnTo>
                <a:lnTo>
                  <a:pt x="1019735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  <a:alpha val="7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6" name="Rectangle 29">
            <a:extLst>
              <a:ext uri="{FF2B5EF4-FFF2-40B4-BE49-F238E27FC236}">
                <a16:creationId xmlns:a16="http://schemas.microsoft.com/office/drawing/2014/main" id="{B0D85FF8-0AB7-73DA-1BD2-C7056DC557C7}"/>
              </a:ext>
            </a:extLst>
          </p:cNvPr>
          <p:cNvSpPr>
            <a:spLocks noGrp="1"/>
          </p:cNvSpPr>
          <p:nvPr/>
        </p:nvSpPr>
        <p:spPr>
          <a:xfrm>
            <a:off x="10938999" y="-8467"/>
            <a:ext cx="1249825" cy="6866467"/>
          </a:xfrm>
          <a:custGeom>
            <a:avLst/>
            <a:gdLst/>
            <a:ahLst/>
            <a:cxnLst/>
            <a:rect l="l" t="t" r="r" b="b"/>
            <a:pathLst>
              <a:path w="1249825" h="6858000">
                <a:moveTo>
                  <a:pt x="0" y="0"/>
                </a:moveTo>
                <a:lnTo>
                  <a:pt x="1249825" y="0"/>
                </a:lnTo>
                <a:lnTo>
                  <a:pt x="1249825" y="6858000"/>
                </a:lnTo>
                <a:lnTo>
                  <a:pt x="1109382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6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8" name="Isosceles Triangle 29">
            <a:extLst>
              <a:ext uri="{FF2B5EF4-FFF2-40B4-BE49-F238E27FC236}">
                <a16:creationId xmlns:a16="http://schemas.microsoft.com/office/drawing/2014/main" id="{4772ABC5-4233-40FC-AFCC-CBADE9F34FC8}"/>
              </a:ext>
            </a:extLst>
          </p:cNvPr>
          <p:cNvSpPr>
            <a:spLocks noGrp="1"/>
          </p:cNvSpPr>
          <p:nvPr/>
        </p:nvSpPr>
        <p:spPr>
          <a:xfrm>
            <a:off x="10371666" y="3589867"/>
            <a:ext cx="1817159" cy="3268133"/>
          </a:xfrm>
          <a:prstGeom prst="triangle">
            <a:avLst>
              <a:gd name="adj" fmla="val 100000"/>
            </a:avLst>
          </a:pr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3" name="AutoShape 2" descr="Signs you've been phished and what to do next.">
            <a:extLst>
              <a:ext uri="{FF2B5EF4-FFF2-40B4-BE49-F238E27FC236}">
                <a16:creationId xmlns:a16="http://schemas.microsoft.com/office/drawing/2014/main" id="{D9C9665C-B8B5-30E5-BB54-41758F78438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AutoShape 4" descr="Signs you've been phished and what to do next.">
            <a:extLst>
              <a:ext uri="{FF2B5EF4-FFF2-40B4-BE49-F238E27FC236}">
                <a16:creationId xmlns:a16="http://schemas.microsoft.com/office/drawing/2014/main" id="{B7AB5BE8-1BD4-94F8-4820-3D67D18E090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198776" y="1531776"/>
            <a:ext cx="2202024" cy="22020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" name="Online Media 4" title="&quot;Ψάρεμα&quot; προσωπικών στοιχείων">
            <a:hlinkClick r:id="" action="ppaction://media"/>
            <a:extLst>
              <a:ext uri="{FF2B5EF4-FFF2-40B4-BE49-F238E27FC236}">
                <a16:creationId xmlns:a16="http://schemas.microsoft.com/office/drawing/2014/main" id="{C5367215-8AC1-6C2F-DCA1-F4976041DCBE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010921" y="1340644"/>
            <a:ext cx="6964679" cy="5226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6948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6EAA72-EC7F-4ECD-B4EF-D54E871C68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2" y="609600"/>
            <a:ext cx="5825735" cy="1320800"/>
          </a:xfrm>
        </p:spPr>
        <p:txBody>
          <a:bodyPr vert="horz" lIns="91440" tIns="45720" rIns="91440" bIns="45720" anchor="t">
            <a:normAutofit/>
          </a:bodyPr>
          <a:lstStyle/>
          <a:p>
            <a:r>
              <a:t>Κίνδυνοι στο Διαδίκτυο</a:t>
            </a:r>
          </a:p>
        </p:txBody>
      </p:sp>
      <p:sp>
        <p:nvSpPr>
          <p:cNvPr id="5" name="Clean content area">
            <a:extLst>
              <a:ext uri="{FF2B5EF4-FFF2-40B4-BE49-F238E27FC236}">
                <a16:creationId xmlns:a16="http://schemas.microsoft.com/office/drawing/2014/main" id="{6E78BE8C-5F99-41ED-862E-E4C88C7E8EC2}"/>
              </a:ext>
            </a:extLst>
          </p:cNvPr>
          <p:cNvSpPr>
            <a:spLocks noGrp="1"/>
          </p:cNvSpPr>
          <p:nvPr/>
        </p:nvSpPr>
        <p:spPr>
          <a:xfrm>
            <a:off x="590550" y="1352550"/>
            <a:ext cx="11049000" cy="5000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Section reference">
            <a:extLst>
              <a:ext uri="{FF2B5EF4-FFF2-40B4-BE49-F238E27FC236}">
                <a16:creationId xmlns:a16="http://schemas.microsoft.com/office/drawing/2014/main" id="{305C25D3-432B-48B4-9057-FBEB48CBA262}"/>
              </a:ext>
            </a:extLst>
          </p:cNvPr>
          <p:cNvSpPr>
            <a:spLocks noGrp="1"/>
          </p:cNvSpPr>
          <p:nvPr/>
        </p:nvSpPr>
        <p:spPr>
          <a:xfrm>
            <a:off x="781050" y="1466850"/>
            <a:ext cx="49530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defRPr>
            </a:pPr>
            <a:r>
              <a: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A.5.M5 | Θεωρία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A6AF1B1-4CA5-4F5B-B965-165C79EFC919}"/>
              </a:ext>
            </a:extLst>
          </p:cNvPr>
          <p:cNvSpPr>
            <a:spLocks noGrp="1"/>
          </p:cNvSpPr>
          <p:nvPr/>
        </p:nvSpPr>
        <p:spPr>
          <a:xfrm>
            <a:off x="781050" y="1809750"/>
            <a:ext cx="10096500" cy="38100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725" b="0">
                <a:solidFill>
                  <a:srgbClr val="333333"/>
                </a:solidFill>
              </a:defRPr>
            </a:defPPr>
          </a:lstStyle>
          <a:p>
            <a:pPr algn="l">
              <a:defRPr sz="1725" b="0">
                <a:solidFill>
                  <a:srgbClr val="333333"/>
                </a:solidFill>
              </a:defRPr>
            </a:pPr>
            <a:r>
              <a:rPr sz="1725" b="0">
                <a:solidFill>
                  <a:srgbClr val="333333"/>
                </a:solidFill>
              </a:rPr>
              <a:t>Δύο διαφορετικοί κίνδυνοι απαιτούν άμεση βοήθεια και αναφορά.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B319A00-893B-40D9-AD56-DAE298921640}"/>
              </a:ext>
            </a:extLst>
          </p:cNvPr>
          <p:cNvSpPr>
            <a:spLocks noGrp="1"/>
          </p:cNvSpPr>
          <p:nvPr/>
        </p:nvSpPr>
        <p:spPr>
          <a:xfrm>
            <a:off x="781050" y="2333625"/>
            <a:ext cx="4857750" cy="2333625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4288">
            <a:solidFill>
              <a:srgbClr val="E28B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0BB8E7CC-9C1C-4FBF-986C-298FD52230DE}"/>
              </a:ext>
            </a:extLst>
          </p:cNvPr>
          <p:cNvSpPr>
            <a:spLocks noGrp="1"/>
          </p:cNvSpPr>
          <p:nvPr/>
        </p:nvSpPr>
        <p:spPr>
          <a:xfrm>
            <a:off x="781050" y="2333625"/>
            <a:ext cx="4857750" cy="590550"/>
          </a:xfrm>
          <a:prstGeom prst="roundRect">
            <a:avLst>
              <a:gd name="adj" fmla="val 16129"/>
            </a:avLst>
          </a:prstGeom>
          <a:solidFill>
            <a:srgbClr val="E28B2D"/>
          </a:solidFill>
          <a:ln w="9525">
            <a:solidFill>
              <a:srgbClr val="E28B2D"/>
            </a:solidFill>
            <a:prstDash val="solid"/>
          </a:ln>
        </p:spPr>
        <p:txBody>
          <a:bodyPr anchor="ctr"/>
          <a:lstStyle>
            <a:defPPr algn="ctr">
              <a:defRPr sz="1800" b="1">
                <a:solidFill>
                  <a:srgbClr val="FFFFFF"/>
                </a:solidFill>
              </a:defRPr>
            </a:defPPr>
          </a:lstStyle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Grooming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131B5EA-89B9-4AB2-95CB-EB25DD00A50B}"/>
              </a:ext>
            </a:extLst>
          </p:cNvPr>
          <p:cNvSpPr>
            <a:spLocks noGrp="1"/>
          </p:cNvSpPr>
          <p:nvPr/>
        </p:nvSpPr>
        <p:spPr>
          <a:xfrm>
            <a:off x="952500" y="3057525"/>
            <a:ext cx="4514850" cy="1476375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275" b="0">
                <a:solidFill>
                  <a:srgbClr val="333333"/>
                </a:solidFill>
              </a:defRPr>
            </a:defPPr>
          </a:lstStyle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Πώς εξελίσσεται</a:t>
            </a: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1. Ψεύτικη ταυτότητα</a:t>
            </a: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2. Κερδίζει σταδιακά εμπιστοσύνη</a:t>
            </a: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3. Ζητά μυστικότητα, φωτογραφίες ή συνάντηση</a:t>
            </a:r>
          </a:p>
          <a:p>
            <a:endParaRPr sz="1275" b="0">
              <a:solidFill>
                <a:srgbClr val="333333"/>
              </a:solidFill>
            </a:endParaRP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Προειδοποίηση: ζητά να μείνει η συνομιλία κρυφή.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B7D7627-4A09-45BD-808F-7C05A5DEC6BC}"/>
              </a:ext>
            </a:extLst>
          </p:cNvPr>
          <p:cNvSpPr>
            <a:spLocks noGrp="1"/>
          </p:cNvSpPr>
          <p:nvPr/>
        </p:nvSpPr>
        <p:spPr>
          <a:xfrm>
            <a:off x="6000750" y="2333625"/>
            <a:ext cx="4857750" cy="2333625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4288">
            <a:solidFill>
              <a:srgbClr val="6C6FB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5F1BF7B4-DC94-4169-AFCA-E14146EA6F91}"/>
              </a:ext>
            </a:extLst>
          </p:cNvPr>
          <p:cNvSpPr>
            <a:spLocks noGrp="1"/>
          </p:cNvSpPr>
          <p:nvPr/>
        </p:nvSpPr>
        <p:spPr>
          <a:xfrm>
            <a:off x="6000750" y="2333625"/>
            <a:ext cx="4857750" cy="590550"/>
          </a:xfrm>
          <a:prstGeom prst="roundRect">
            <a:avLst>
              <a:gd name="adj" fmla="val 16129"/>
            </a:avLst>
          </a:prstGeom>
          <a:solidFill>
            <a:srgbClr val="6C6FB3"/>
          </a:solidFill>
          <a:ln w="9525">
            <a:solidFill>
              <a:srgbClr val="6C6FB3"/>
            </a:solidFill>
            <a:prstDash val="solid"/>
          </a:ln>
        </p:spPr>
        <p:txBody>
          <a:bodyPr anchor="ctr"/>
          <a:lstStyle>
            <a:defPPr algn="ctr">
              <a:defRPr sz="1800" b="1">
                <a:solidFill>
                  <a:srgbClr val="FFFFFF"/>
                </a:solidFill>
              </a:defRPr>
            </a:defPPr>
          </a:lstStyle>
          <a:p>
            <a:pPr algn="ctr"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Cyberbullying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424D926-E1FD-4F17-987E-6DBE52769F1B}"/>
              </a:ext>
            </a:extLst>
          </p:cNvPr>
          <p:cNvSpPr>
            <a:spLocks noGrp="1"/>
          </p:cNvSpPr>
          <p:nvPr/>
        </p:nvSpPr>
        <p:spPr>
          <a:xfrm>
            <a:off x="6172200" y="3057525"/>
            <a:ext cx="4514850" cy="1476375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275" b="0">
                <a:solidFill>
                  <a:srgbClr val="333333"/>
                </a:solidFill>
              </a:defRPr>
            </a:defPPr>
          </a:lstStyle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Πώς εμφανίζεται</a:t>
            </a: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1. Επαναλαμβανόμενα προσβλητικά μηνύματα</a:t>
            </a: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2. Απειλές ή ταπεινωτικές δημοσιεύσεις</a:t>
            </a: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3. Διάδοση περιεχομένου χωρίς άδεια</a:t>
            </a:r>
          </a:p>
          <a:p>
            <a:endParaRPr sz="1275" b="0">
              <a:solidFill>
                <a:srgbClr val="333333"/>
              </a:solidFill>
            </a:endParaRPr>
          </a:p>
          <a:p>
            <a:pPr algn="l">
              <a:defRPr sz="1275" b="0">
                <a:solidFill>
                  <a:srgbClr val="333333"/>
                </a:solidFill>
              </a:defRPr>
            </a:pPr>
            <a:r>
              <a:rPr sz="1275" b="0">
                <a:solidFill>
                  <a:srgbClr val="333333"/>
                </a:solidFill>
              </a:rPr>
              <a:t>Προειδοποίηση: επαναλαμβάνεται και προκαλεί φόβο ή πίεση.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51595BE-3327-4F64-A81A-445F7114B65C}"/>
              </a:ext>
            </a:extLst>
          </p:cNvPr>
          <p:cNvSpPr>
            <a:spLocks noGrp="1"/>
          </p:cNvSpPr>
          <p:nvPr/>
        </p:nvSpPr>
        <p:spPr>
          <a:xfrm>
            <a:off x="781050" y="4905375"/>
            <a:ext cx="1524000" cy="323850"/>
          </a:xfrm>
          <a:prstGeom prst="rect">
            <a:avLst/>
          </a:prstGeom>
          <a:noFill/>
          <a:ln w="0">
            <a:noFill/>
          </a:ln>
        </p:spPr>
        <p:txBody>
          <a:bodyPr anchor="t"/>
          <a:lstStyle>
            <a:defPPr algn="l">
              <a:defRPr sz="1650" b="1">
                <a:solidFill>
                  <a:srgbClr val="18A7CC"/>
                </a:solidFill>
              </a:defRPr>
            </a:defPPr>
          </a:lstStyle>
          <a:p>
            <a:pPr algn="l">
              <a:defRPr sz="1650" b="1">
                <a:solidFill>
                  <a:srgbClr val="18A7CC"/>
                </a:solidFill>
              </a:defRPr>
            </a:pPr>
            <a:r>
              <a:rPr sz="1650" b="1">
                <a:solidFill>
                  <a:srgbClr val="18A7CC"/>
                </a:solidFill>
              </a:rPr>
              <a:t>Τι κάνω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5C1561F-64A0-4911-BEA6-F83250D9CB82}"/>
              </a:ext>
            </a:extLst>
          </p:cNvPr>
          <p:cNvSpPr>
            <a:spLocks noGrp="1"/>
          </p:cNvSpPr>
          <p:nvPr/>
        </p:nvSpPr>
        <p:spPr>
          <a:xfrm>
            <a:off x="781050" y="5257800"/>
            <a:ext cx="2333625" cy="666750"/>
          </a:xfrm>
          <a:prstGeom prst="roundRect">
            <a:avLst>
              <a:gd name="adj" fmla="val 11429"/>
            </a:avLst>
          </a:prstGeom>
          <a:solidFill>
            <a:srgbClr val="E8F7FC"/>
          </a:solidFill>
          <a:ln w="11906">
            <a:solidFill>
              <a:srgbClr val="5FCBEF"/>
            </a:solidFill>
            <a:prstDash val="solid"/>
          </a:ln>
        </p:spPr>
        <p:txBody>
          <a:bodyPr anchor="ctr"/>
          <a:lstStyle>
            <a:defPPr algn="ctr">
              <a:defRPr sz="1350" b="1">
                <a:solidFill>
                  <a:srgbClr val="23566A"/>
                </a:solidFill>
              </a:defRPr>
            </a:defPPr>
          </a:lstStyle>
          <a:p>
            <a:pPr algn="ctr">
              <a:defRPr sz="1350" b="1">
                <a:solidFill>
                  <a:srgbClr val="23566A"/>
                </a:solidFill>
              </a:defRPr>
            </a:pPr>
            <a:r>
              <a:rPr sz="1350" b="1">
                <a:solidFill>
                  <a:srgbClr val="23566A"/>
                </a:solidFill>
              </a:rPr>
              <a:t>1. Δεν απαντώ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8E7141C-8608-4C1A-A492-88008AA67AD0}"/>
              </a:ext>
            </a:extLst>
          </p:cNvPr>
          <p:cNvSpPr>
            <a:spLocks noGrp="1"/>
          </p:cNvSpPr>
          <p:nvPr/>
        </p:nvSpPr>
        <p:spPr>
          <a:xfrm>
            <a:off x="3305175" y="5257800"/>
            <a:ext cx="2333625" cy="666750"/>
          </a:xfrm>
          <a:prstGeom prst="roundRect">
            <a:avLst>
              <a:gd name="adj" fmla="val 11429"/>
            </a:avLst>
          </a:prstGeom>
          <a:solidFill>
            <a:srgbClr val="E8F7FC"/>
          </a:solidFill>
          <a:ln w="11906">
            <a:solidFill>
              <a:srgbClr val="5FCBEF"/>
            </a:solidFill>
            <a:prstDash val="solid"/>
          </a:ln>
        </p:spPr>
        <p:txBody>
          <a:bodyPr anchor="ctr"/>
          <a:lstStyle>
            <a:defPPr algn="ctr">
              <a:defRPr sz="1350" b="1">
                <a:solidFill>
                  <a:srgbClr val="23566A"/>
                </a:solidFill>
              </a:defRPr>
            </a:defPPr>
          </a:lstStyle>
          <a:p>
            <a:pPr algn="ctr">
              <a:defRPr sz="1350" b="1">
                <a:solidFill>
                  <a:srgbClr val="23566A"/>
                </a:solidFill>
              </a:defRPr>
            </a:pPr>
            <a:r>
              <a:rPr sz="1350" b="1">
                <a:solidFill>
                  <a:srgbClr val="23566A"/>
                </a:solidFill>
              </a:rPr>
              <a:t>2. Κρατώ αποδεικτικά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1991D87-9F06-47DB-BD96-4B87F9285ACD}"/>
              </a:ext>
            </a:extLst>
          </p:cNvPr>
          <p:cNvSpPr>
            <a:spLocks noGrp="1"/>
          </p:cNvSpPr>
          <p:nvPr/>
        </p:nvSpPr>
        <p:spPr>
          <a:xfrm>
            <a:off x="5829300" y="5257800"/>
            <a:ext cx="2333625" cy="666750"/>
          </a:xfrm>
          <a:prstGeom prst="roundRect">
            <a:avLst>
              <a:gd name="adj" fmla="val 11429"/>
            </a:avLst>
          </a:prstGeom>
          <a:solidFill>
            <a:srgbClr val="E8F7FC"/>
          </a:solidFill>
          <a:ln w="11906">
            <a:solidFill>
              <a:srgbClr val="5FCBEF"/>
            </a:solidFill>
            <a:prstDash val="solid"/>
          </a:ln>
        </p:spPr>
        <p:txBody>
          <a:bodyPr anchor="ctr"/>
          <a:lstStyle>
            <a:defPPr algn="ctr">
              <a:defRPr sz="1350" b="1">
                <a:solidFill>
                  <a:srgbClr val="23566A"/>
                </a:solidFill>
              </a:defRPr>
            </a:defPPr>
          </a:lstStyle>
          <a:p>
            <a:pPr algn="ctr">
              <a:defRPr sz="1350" b="1">
                <a:solidFill>
                  <a:srgbClr val="23566A"/>
                </a:solidFill>
              </a:defRPr>
            </a:pPr>
            <a:r>
              <a:rPr sz="1350" b="1">
                <a:solidFill>
                  <a:srgbClr val="23566A"/>
                </a:solidFill>
              </a:rPr>
              <a:t>3. Μπλοκάρω και αναφέρω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5FAE036-2686-495B-B482-E243241D32D4}"/>
              </a:ext>
            </a:extLst>
          </p:cNvPr>
          <p:cNvSpPr>
            <a:spLocks noGrp="1"/>
          </p:cNvSpPr>
          <p:nvPr/>
        </p:nvSpPr>
        <p:spPr>
          <a:xfrm>
            <a:off x="8353425" y="5257800"/>
            <a:ext cx="2333625" cy="666750"/>
          </a:xfrm>
          <a:prstGeom prst="roundRect">
            <a:avLst>
              <a:gd name="adj" fmla="val 11429"/>
            </a:avLst>
          </a:prstGeom>
          <a:solidFill>
            <a:srgbClr val="E8F7FC"/>
          </a:solidFill>
          <a:ln w="11906">
            <a:solidFill>
              <a:srgbClr val="5FCBEF"/>
            </a:solidFill>
            <a:prstDash val="solid"/>
          </a:ln>
        </p:spPr>
        <p:txBody>
          <a:bodyPr anchor="ctr"/>
          <a:lstStyle>
            <a:defPPr algn="ctr">
              <a:defRPr sz="1350" b="1">
                <a:solidFill>
                  <a:srgbClr val="23566A"/>
                </a:solidFill>
              </a:defRPr>
            </a:defPPr>
          </a:lstStyle>
          <a:p>
            <a:pPr algn="ctr">
              <a:defRPr sz="1350" b="1">
                <a:solidFill>
                  <a:srgbClr val="23566A"/>
                </a:solidFill>
              </a:defRPr>
            </a:pPr>
            <a:r>
              <a:rPr sz="1350" b="1">
                <a:solidFill>
                  <a:srgbClr val="23566A"/>
                </a:solidFill>
              </a:rPr>
              <a:t>4. Μιλάω σε έμπιστο ενήλικα</a:t>
            </a:r>
          </a:p>
        </p:txBody>
      </p:sp>
    </p:spTree>
    <p:extLst>
      <p:ext uri="{BB962C8B-B14F-4D97-AF65-F5344CB8AC3E}">
        <p14:creationId xmlns:p14="http://schemas.microsoft.com/office/powerpoint/2010/main" val="37866596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00CEE6-9E56-13D3-AB4A-19F0DBAF9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073991" cy="727881"/>
          </a:xfrm>
        </p:spPr>
        <p:txBody>
          <a:bodyPr/>
          <a:lstStyle/>
          <a:p>
            <a:r>
              <a:rPr lang="en-US" dirty="0" err="1"/>
              <a:t>Cyberbooling</a:t>
            </a:r>
            <a:r>
              <a:rPr lang="en-US" dirty="0"/>
              <a:t>(</a:t>
            </a:r>
            <a:r>
              <a:rPr lang="el-GR" dirty="0" err="1"/>
              <a:t>Ηλεκτρόνικη</a:t>
            </a:r>
            <a:r>
              <a:rPr lang="el-GR" dirty="0"/>
              <a:t> παρενόχληση</a:t>
            </a:r>
            <a:r>
              <a:rPr lang="en-US" dirty="0"/>
              <a:t>)</a:t>
            </a:r>
            <a:endParaRPr lang="en-GB" dirty="0"/>
          </a:p>
        </p:txBody>
      </p:sp>
      <p:pic>
        <p:nvPicPr>
          <p:cNvPr id="5" name="Online Media 4" title="Βάλε τέλος στην παρενόχληση!">
            <a:hlinkClick r:id="" action="ppaction://media"/>
            <a:extLst>
              <a:ext uri="{FF2B5EF4-FFF2-40B4-BE49-F238E27FC236}">
                <a16:creationId xmlns:a16="http://schemas.microsoft.com/office/drawing/2014/main" id="{0CCE6C9B-0B41-A71B-DA1D-8932E5BFC60B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2124525" y="1673314"/>
            <a:ext cx="6910292" cy="5184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662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CC43AD-2B2D-8B03-F3C4-AB5D0B7A91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864AD-6E26-089B-0189-7A02188D22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3" y="609600"/>
            <a:ext cx="9073991" cy="727881"/>
          </a:xfrm>
        </p:spPr>
        <p:txBody>
          <a:bodyPr/>
          <a:lstStyle/>
          <a:p>
            <a:r>
              <a:rPr lang="en-US" dirty="0"/>
              <a:t>grooming(</a:t>
            </a:r>
            <a:r>
              <a:rPr lang="el-GR" dirty="0" err="1"/>
              <a:t>αποπλήνηση</a:t>
            </a:r>
            <a:r>
              <a:rPr lang="el-GR" dirty="0"/>
              <a:t> </a:t>
            </a:r>
            <a:r>
              <a:rPr lang="el-GR" dirty="0" err="1"/>
              <a:t>ανηλίου</a:t>
            </a:r>
            <a:r>
              <a:rPr lang="en-US" dirty="0"/>
              <a:t>)</a:t>
            </a:r>
            <a:endParaRPr lang="en-GB" dirty="0"/>
          </a:p>
        </p:txBody>
      </p:sp>
      <p:pic>
        <p:nvPicPr>
          <p:cNvPr id="6" name="Grooming">
            <a:hlinkClick r:id="" action="ppaction://media"/>
            <a:extLst>
              <a:ext uri="{FF2B5EF4-FFF2-40B4-BE49-F238E27FC236}">
                <a16:creationId xmlns:a16="http://schemas.microsoft.com/office/drawing/2014/main" id="{50051419-6438-2C42-631D-FA003B4B25EB}"/>
              </a:ext>
            </a:extLst>
          </p:cNvPr>
          <p:cNvPicPr>
            <a:picLocks noGrp="1" noChangeAspect="1"/>
          </p:cNvPicPr>
          <p:nvPr>
            <p:ph idx="1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41697" y="1781034"/>
            <a:ext cx="8025688" cy="4516926"/>
          </a:xfrm>
        </p:spPr>
      </p:pic>
    </p:spTree>
    <p:extLst>
      <p:ext uri="{BB962C8B-B14F-4D97-AF65-F5344CB8AC3E}">
        <p14:creationId xmlns:p14="http://schemas.microsoft.com/office/powerpoint/2010/main" val="1519916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832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E24EE7-B9BA-0224-B2C0-9853440AA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713001"/>
          </a:xfrm>
        </p:spPr>
        <p:txBody>
          <a:bodyPr/>
          <a:lstStyle/>
          <a:p>
            <a:r>
              <a:t>Δραστηριότητες Εμπέδωσης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7059D2-7234-9A18-8EC3-97389EC073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745" y="1528147"/>
            <a:ext cx="7080326" cy="576262"/>
          </a:xfrm>
          <a:prstGeom prst="rect">
            <a:avLst/>
          </a:prstGeom>
          <a:solidFill>
            <a:schemeClr val="accent1"/>
          </a:solidFill>
        </p:spPr>
        <p:txBody>
          <a:bodyPr/>
          <a:lstStyle/>
          <a:p>
            <a:endParaRPr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BF9A9EA-A3CB-AC85-3752-6360C044E602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75745" y="2309955"/>
            <a:ext cx="4185623" cy="3304117"/>
          </a:xfrm>
        </p:spPr>
        <p:txBody>
          <a:bodyPr>
            <a:normAutofit/>
          </a:bodyPr>
          <a:lstStyle/>
          <a:p>
            <a:endParaRPr sz="2400"/>
          </a:p>
        </p:txBody>
      </p:sp>
      <p:sp>
        <p:nvSpPr>
          <p:cNvPr id="6" name="Clean content area">
            <a:extLst>
              <a:ext uri="{FF2B5EF4-FFF2-40B4-BE49-F238E27FC236}">
                <a16:creationId xmlns:a16="http://schemas.microsoft.com/office/drawing/2014/main" id="{015824BD-290E-439E-9488-A157B58B4343}"/>
              </a:ext>
            </a:extLst>
          </p:cNvPr>
          <p:cNvSpPr>
            <a:spLocks noGrp="1"/>
          </p:cNvSpPr>
          <p:nvPr/>
        </p:nvSpPr>
        <p:spPr>
          <a:xfrm>
            <a:off x="590550" y="1352550"/>
            <a:ext cx="11049000" cy="5000625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7" name="Section reference">
            <a:extLst>
              <a:ext uri="{FF2B5EF4-FFF2-40B4-BE49-F238E27FC236}">
                <a16:creationId xmlns:a16="http://schemas.microsoft.com/office/drawing/2014/main" id="{851EDA01-8C89-42B3-BC9E-0CCB8F2EFE33}"/>
              </a:ext>
            </a:extLst>
          </p:cNvPr>
          <p:cNvSpPr>
            <a:spLocks noGrp="1"/>
          </p:cNvSpPr>
          <p:nvPr/>
        </p:nvSpPr>
        <p:spPr>
          <a:xfrm>
            <a:off x="781050" y="1466850"/>
            <a:ext cx="49530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defRPr>
            </a:pPr>
            <a:r>
              <a:rPr sz="1275" b="1">
                <a:solidFill>
                  <a:srgbClr val="168EAD"/>
                </a:solidFill>
                <a:latin typeface="Trebuchet MS"/>
                <a:ea typeface="Trebuchet MS"/>
                <a:cs typeface="Trebuchet MS"/>
              </a:rPr>
              <a:t>A.5.M5</a:t>
            </a:r>
          </a:p>
        </p:txBody>
      </p:sp>
      <p:sp>
        <p:nvSpPr>
          <p:cNvPr id="8" name="Block heading 1">
            <a:extLst>
              <a:ext uri="{FF2B5EF4-FFF2-40B4-BE49-F238E27FC236}">
                <a16:creationId xmlns:a16="http://schemas.microsoft.com/office/drawing/2014/main" id="{755ECB8A-7808-49CE-8C12-92591934D5AF}"/>
              </a:ext>
            </a:extLst>
          </p:cNvPr>
          <p:cNvSpPr>
            <a:spLocks noGrp="1"/>
          </p:cNvSpPr>
          <p:nvPr/>
        </p:nvSpPr>
        <p:spPr>
          <a:xfrm>
            <a:off x="781050" y="1857375"/>
            <a:ext cx="10048875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defRPr>
            </a:pPr>
            <a:r>
              <a:rPr sz="1575" b="1">
                <a:solidFill>
                  <a:srgbClr val="18A7CC"/>
                </a:solidFill>
                <a:latin typeface="Trebuchet MS"/>
                <a:ea typeface="Trebuchet MS"/>
                <a:cs typeface="Trebuchet MS"/>
              </a:rPr>
              <a:t>Να απαντηθούν</a:t>
            </a:r>
          </a:p>
        </p:txBody>
      </p:sp>
      <p:sp>
        <p:nvSpPr>
          <p:cNvPr id="9" name="Block body 1">
            <a:extLst>
              <a:ext uri="{FF2B5EF4-FFF2-40B4-BE49-F238E27FC236}">
                <a16:creationId xmlns:a16="http://schemas.microsoft.com/office/drawing/2014/main" id="{E10E900E-B391-4C26-B632-28BB6BB6F4FE}"/>
              </a:ext>
            </a:extLst>
          </p:cNvPr>
          <p:cNvSpPr>
            <a:spLocks noGrp="1"/>
          </p:cNvSpPr>
          <p:nvPr/>
        </p:nvSpPr>
        <p:spPr>
          <a:xfrm>
            <a:off x="781050" y="2171700"/>
            <a:ext cx="10048875" cy="36480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defRPr>
            </a:pPr>
            <a:r>
              <a:rPr sz="1800" b="0">
                <a:solidFill>
                  <a:srgbClr val="333333"/>
                </a:solidFill>
                <a:latin typeface="Trebuchet MS"/>
                <a:ea typeface="Trebuchet MS"/>
                <a:cs typeface="Trebuchet MS"/>
              </a:rPr>
              <a:t>Οι ερωτήσεις 1–17 του Φύλλου Εργασίας A.5.M5.</a:t>
            </a:r>
          </a:p>
        </p:txBody>
      </p:sp>
    </p:spTree>
    <p:extLst>
      <p:ext uri="{BB962C8B-B14F-4D97-AF65-F5344CB8AC3E}">
        <p14:creationId xmlns:p14="http://schemas.microsoft.com/office/powerpoint/2010/main" val="2467819896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832</Words>
  <Application>Microsoft Office PowerPoint</Application>
  <DocSecurity>0</DocSecurity>
  <PresentationFormat>Widescreen</PresentationFormat>
  <Paragraphs>161</Paragraphs>
  <Slides>11</Slides>
  <Notes>9</Notes>
  <HiddenSlides>0</HiddenSlides>
  <MMClips>3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Trebuchet MS</vt:lpstr>
      <vt:lpstr>Wingdings 3</vt:lpstr>
      <vt:lpstr>Facet</vt:lpstr>
      <vt:lpstr>Ασφάλεια και Επικοινωνία</vt:lpstr>
      <vt:lpstr>Λογισμικό ασφάλειας</vt:lpstr>
      <vt:lpstr>Επικοινωνία</vt:lpstr>
      <vt:lpstr>Κοινωνικά δίκτυα</vt:lpstr>
      <vt:lpstr>Προσωπικά δεδομένα</vt:lpstr>
      <vt:lpstr>Phishing (υποκλοπή στοιχείων)</vt:lpstr>
      <vt:lpstr>Phishing (υποκλοπή στοιχείων)</vt:lpstr>
      <vt:lpstr>Κίνδυνοι στο Διαδίκτυο</vt:lpstr>
      <vt:lpstr>Cyberbooling(Ηλεκτρόνικη παρενόχληση)</vt:lpstr>
      <vt:lpstr>grooming(αποπλήνηση ανηλίου)</vt:lpstr>
      <vt:lpstr>Δραστηριότητες Εμπέδωσης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Άριστος Αρέστη</cp:lastModifiedBy>
  <cp:revision>14</cp:revision>
  <dcterms:created xsi:type="dcterms:W3CDTF">2026-10-10T08:08:29Z</dcterms:created>
  <dcterms:modified xsi:type="dcterms:W3CDTF">2026-10-10T08:39:51Z</dcterms:modified>
</cp:coreProperties>
</file>