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984be59116448e" /><Relationship Type="http://schemas.openxmlformats.org/officeDocument/2006/relationships/extended-properties" Target="/docProps/app.xml" Id="R6456e587fb0445cf" /><Relationship Type="http://schemas.openxmlformats.org/officeDocument/2006/relationships/officeDocument" Target="/ppt/presentation.xml" Id="Rb51ed9fa109f40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e254758069434f"/>
  </p:sldMasterIdLst>
  <p:notesMasterIdLst>
    <p:notesMasterId xmlns:r="http://schemas.openxmlformats.org/officeDocument/2006/relationships" r:id="Rd2c015f813024df4"/>
  </p:notesMasterIdLst>
  <p:sldIdLst>
    <p:sldId xmlns:r="http://schemas.openxmlformats.org/officeDocument/2006/relationships" id="256" r:id="R755c3469fb0f43e1"/>
    <p:sldId xmlns:r="http://schemas.openxmlformats.org/officeDocument/2006/relationships" id="257" r:id="R2bef4bf98aa241b5"/>
    <p:sldId xmlns:r="http://schemas.openxmlformats.org/officeDocument/2006/relationships" id="258" r:id="Ra71f11491b9d46a2"/>
    <p:sldId xmlns:r="http://schemas.openxmlformats.org/officeDocument/2006/relationships" id="259" r:id="Rfb3c1b2fe13e4ec7"/>
    <p:sldId xmlns:r="http://schemas.openxmlformats.org/officeDocument/2006/relationships" id="260" r:id="R02d20d90b6d74221"/>
    <p:sldId xmlns:r="http://schemas.openxmlformats.org/officeDocument/2006/relationships" id="261" r:id="Rb42a100d9db7498f"/>
    <p:sldId xmlns:r="http://schemas.openxmlformats.org/officeDocument/2006/relationships" id="262" r:id="Rd9993c3a0f204cdf"/>
    <p:sldId xmlns:r="http://schemas.openxmlformats.org/officeDocument/2006/relationships" id="263" r:id="R2a080f6aa39a42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15e39f1fa44fc8" /><Relationship Type="http://schemas.openxmlformats.org/officeDocument/2006/relationships/slideMaster" Target="/ppt/slideMasters/slideMaster1.xml" Id="Re1e254758069434f" /><Relationship Type="http://schemas.openxmlformats.org/officeDocument/2006/relationships/notesMaster" Target="/ppt/notesMasters/notesMaster1.xml" Id="Rd2c015f813024df4" /><Relationship Type="http://schemas.openxmlformats.org/officeDocument/2006/relationships/presProps" Target="/ppt/presProps.xml" Id="R9243ce97d7874f31" /><Relationship Type="http://schemas.openxmlformats.org/officeDocument/2006/relationships/viewProps" Target="/ppt/viewProps.xml" Id="R78bbe27993eb4c73" /><Relationship Type="http://schemas.openxmlformats.org/officeDocument/2006/relationships/tableStyles" Target="/ppt/tableStyles.xml" Id="R09df3ba374234468" /><Relationship Type="http://schemas.openxmlformats.org/officeDocument/2006/relationships/slide" Target="/ppt/slides/slide1.xml" Id="R755c3469fb0f43e1" /><Relationship Type="http://schemas.openxmlformats.org/officeDocument/2006/relationships/slide" Target="/ppt/slides/slide2.xml" Id="R2bef4bf98aa241b5" /><Relationship Type="http://schemas.openxmlformats.org/officeDocument/2006/relationships/slide" Target="/ppt/slides/slide3.xml" Id="Ra71f11491b9d46a2" /><Relationship Type="http://schemas.openxmlformats.org/officeDocument/2006/relationships/slide" Target="/ppt/slides/slide4.xml" Id="Rfb3c1b2fe13e4ec7" /><Relationship Type="http://schemas.openxmlformats.org/officeDocument/2006/relationships/slide" Target="/ppt/slides/slide5.xml" Id="R02d20d90b6d74221" /><Relationship Type="http://schemas.openxmlformats.org/officeDocument/2006/relationships/slide" Target="/ppt/slides/slide6.xml" Id="Rb42a100d9db7498f" /><Relationship Type="http://schemas.openxmlformats.org/officeDocument/2006/relationships/slide" Target="/ppt/slides/slide7.xml" Id="Rd9993c3a0f204cdf" /><Relationship Type="http://schemas.openxmlformats.org/officeDocument/2006/relationships/slide" Target="/ppt/slides/slide8.xml" Id="R2a080f6aa39a42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10622bfd9e4f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077ea17054492c" /><Relationship Type="http://schemas.openxmlformats.org/officeDocument/2006/relationships/notesMaster" Target="/ppt/notesMasters/notesMaster1.xml" Id="Rad5bee53ac444e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2f11ff7d6647d0" /><Relationship Type="http://schemas.openxmlformats.org/officeDocument/2006/relationships/notesMaster" Target="/ppt/notesMasters/notesMaster1.xml" Id="R30b32072d87241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67b8b8dd134139" /><Relationship Type="http://schemas.openxmlformats.org/officeDocument/2006/relationships/notesMaster" Target="/ppt/notesMasters/notesMaster1.xml" Id="R9d40100ae85349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5146271be4440c" /><Relationship Type="http://schemas.openxmlformats.org/officeDocument/2006/relationships/notesMaster" Target="/ppt/notesMasters/notesMaster1.xml" Id="R301f91d8851e45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9fa238e1f34766" /><Relationship Type="http://schemas.openxmlformats.org/officeDocument/2006/relationships/notesMaster" Target="/ppt/notesMasters/notesMaster1.xml" Id="R3cd000c7164e4a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f657dfbc924c65" /><Relationship Type="http://schemas.openxmlformats.org/officeDocument/2006/relationships/notesMaster" Target="/ppt/notesMasters/notesMaster1.xml" Id="Rb0a524c93feb45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548553ce774570" /><Relationship Type="http://schemas.openxmlformats.org/officeDocument/2006/relationships/notesMaster" Target="/ppt/notesMasters/notesMaster1.xml" Id="R5d3bb68d8c1942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ed521fbe09431c" /><Relationship Type="http://schemas.openxmlformats.org/officeDocument/2006/relationships/notesMaster" Target="/ppt/notesMasters/notesMaster1.xml" Id="Rb49fe66c30ff44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Πρότυπο: A4.M2 Πολυμέσα-Ήχος(2).pptx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Τετράδιο Εργασιών Πληροφορικής Α΄ Λυκείου, A.5.M5, Δραστηριότητες Εμπέδωσης, σελ. 105–108</a:t>
            </a:r>
          </a:p>
          <a:p xmlns:a="http://schemas.openxmlformats.org/drawingml/2006/main">
            <a:r>
              <a:t>- Σημειώσεις Πληροφορικής Α΄ Λυκείου, ενότητα Α.5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3e99cb4eda41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b2c896c90641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728d631af40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d31477439549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39e365055843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2d9c3bfd945a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58aea43e254dc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e62cc07c24b5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019aa6a2f04e4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046d74aac4d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a955fbfa14cb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15544d5499421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a0f51cdea4f6d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9597071234a15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50f45f3b254ed5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8a6d6274d4e17" /></Relationships>
</file>

<file path=ppt/slideLayouts/slideLayout1.xml><?xml version="1.0" encoding="utf-8"?>
<p:sldLayout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reeform 14">
            <a:extLst xmlns:a="http://schemas.openxmlformats.org/drawingml/2006/main"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-7862"/>
            <a:ext cx="863600" cy="5698067"/>
          </a:xfrm>
          <a:custGeom xmlns:a="http://schemas.openxmlformats.org/drawingml/2006/main"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Straight Connector 18">
            <a:extLst xmlns:a="http://schemas.openxmlformats.org/drawingml/2006/main"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2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Isosceles Triangle 22">
            <a:extLst xmlns:a="http://schemas.openxmlformats.org/drawingml/2006/main"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Isosceles Triangle 26">
            <a:extLst xmlns:a="http://schemas.openxmlformats.org/drawingml/2006/main"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7" y="2404534"/>
            <a:ext cx="7766936" cy="164630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07067" y="4050833"/>
            <a:ext cx="7766936" cy="1096899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2700867"/>
            <a:ext cx="8596668" cy="1826581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40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860400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4184035" cy="388077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089970" y="2160589"/>
            <a:ext cx="4184034" cy="388077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2160983"/>
            <a:ext cx="4185623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73724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088383" y="2160983"/>
            <a:ext cx="4185618" cy="57626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088384" y="2737245"/>
            <a:ext cx="4185617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1498604"/>
            <a:ext cx="3854528" cy="1278466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2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0461" y="514924"/>
            <a:ext cx="4513541" cy="552643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2777069"/>
            <a:ext cx="3854528" cy="2584449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4800600"/>
            <a:ext cx="8596667" cy="56673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2400" b="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677334" y="609600"/>
            <a:ext cx="8596668" cy="384571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7334" y="5367338"/>
            <a:ext cx="8596667" cy="67402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609600"/>
            <a:ext cx="8596668" cy="3403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366139" y="3632200"/>
            <a:ext cx="7224524" cy="3810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470400"/>
            <a:ext cx="8596668" cy="15709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5" y="1931988"/>
            <a:ext cx="8596668" cy="2595460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31334" y="609600"/>
            <a:ext cx="8094134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70" y="790378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3011" y="2886556"/>
            <a:ext cx="609600" cy="58477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99" y="609600"/>
            <a:ext cx="8588203" cy="302260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4400" b="0" cap="none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3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7332" y="4013200"/>
            <a:ext cx="8596669" cy="514248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4527448"/>
            <a:ext cx="8596668" cy="151391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967673" y="609599"/>
            <a:ext cx="1304743" cy="5251451"/>
          </a:xfrm>
        </p:spPr>
        <p:txBody>
          <a:bodyPr xmlns:a="http://schemas.openxmlformats.org/drawingml/2006/main" vert="eaVert" anchor="ctr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5" y="609600"/>
            <a:ext cx="7060150" cy="525145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bc60b9a58e4075" /><Relationship Type="http://schemas.openxmlformats.org/officeDocument/2006/relationships/slideLayout" Target="/ppt/slideLayouts/slideLayout1.xml" Id="Re529d3bb42f04d00" /><Relationship Type="http://schemas.openxmlformats.org/officeDocument/2006/relationships/slideLayout" Target="/ppt/slideLayouts/slideLayout2.xml" Id="R7dbd40f1e0244fe4" /><Relationship Type="http://schemas.openxmlformats.org/officeDocument/2006/relationships/slideLayout" Target="/ppt/slideLayouts/slideLayout3.xml" Id="Rb9cd75229b044cd6" /><Relationship Type="http://schemas.openxmlformats.org/officeDocument/2006/relationships/slideLayout" Target="/ppt/slideLayouts/slideLayout4.xml" Id="R86b7da1c07e048ba" /><Relationship Type="http://schemas.openxmlformats.org/officeDocument/2006/relationships/slideLayout" Target="/ppt/slideLayouts/slideLayout5.xml" Id="R99da1a1fd91a422c" /><Relationship Type="http://schemas.openxmlformats.org/officeDocument/2006/relationships/slideLayout" Target="/ppt/slideLayouts/slideLayout6.xml" Id="Rd2e82084321542f2" /><Relationship Type="http://schemas.openxmlformats.org/officeDocument/2006/relationships/slideLayout" Target="/ppt/slideLayouts/slideLayout7.xml" Id="Rf96002533b804f00" /><Relationship Type="http://schemas.openxmlformats.org/officeDocument/2006/relationships/slideLayout" Target="/ppt/slideLayouts/slideLayout8.xml" Id="R981a1ce7d0234098" /><Relationship Type="http://schemas.openxmlformats.org/officeDocument/2006/relationships/slideLayout" Target="/ppt/slideLayouts/slideLayout9.xml" Id="R4e89a2eee9f24179" /><Relationship Type="http://schemas.openxmlformats.org/officeDocument/2006/relationships/slideLayout" Target="/ppt/slideLayouts/slideLayout10.xml" Id="Rfa13a7a38daa4714" /><Relationship Type="http://schemas.openxmlformats.org/officeDocument/2006/relationships/slideLayout" Target="/ppt/slideLayouts/slideLayout11.xml" Id="Rf2d6408f57d14026" /><Relationship Type="http://schemas.openxmlformats.org/officeDocument/2006/relationships/slideLayout" Target="/ppt/slideLayouts/slideLayout12.xml" Id="Rf0f5a5d942734128" /><Relationship Type="http://schemas.openxmlformats.org/officeDocument/2006/relationships/slideLayout" Target="/ppt/slideLayouts/slideLayout13.xml" Id="Ra66ce43113444568" /><Relationship Type="http://schemas.openxmlformats.org/officeDocument/2006/relationships/slideLayout" Target="/ppt/slideLayouts/slideLayout14.xml" Id="R712b48b0c2ec4cd8" /><Relationship Type="http://schemas.openxmlformats.org/officeDocument/2006/relationships/slideLayout" Target="/ppt/slideLayouts/slideLayout15.xml" Id="Rdbf56fdc876243fe" /><Relationship Type="http://schemas.openxmlformats.org/officeDocument/2006/relationships/slideLayout" Target="/ppt/slideLayouts/slideLayout16.xml" Id="Rafed29bf3bd6411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3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4" name="Isosceles Triangle 23">
            <a:extLst xmlns:a="http://schemas.openxmlformats.org/drawingml/2006/main"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5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6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7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Isosceles Triangle 27">
            <a:extLst xmlns:a="http://schemas.openxmlformats.org/drawingml/2006/main"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13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2160589"/>
            <a:ext cx="8596668" cy="388077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205133" y="6041362"/>
            <a:ext cx="9119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E1AB97B-D0C7-4CCB-8568-F47C13D538D5}" type="datetimeFigureOut">
              <a:t>06/09/2026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677334" y="6041362"/>
            <a:ext cx="629761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590663" y="6041362"/>
            <a:ext cx="68333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29d3bb42f04d00"/>
    <p:sldLayoutId xmlns:r="http://schemas.openxmlformats.org/officeDocument/2006/relationships" id="2147483650" r:id="R7dbd40f1e0244fe4"/>
    <p:sldLayoutId xmlns:r="http://schemas.openxmlformats.org/officeDocument/2006/relationships" id="2147483651" r:id="Rb9cd75229b044cd6"/>
    <p:sldLayoutId xmlns:r="http://schemas.openxmlformats.org/officeDocument/2006/relationships" id="2147483652" r:id="R86b7da1c07e048ba"/>
    <p:sldLayoutId xmlns:r="http://schemas.openxmlformats.org/officeDocument/2006/relationships" id="2147483653" r:id="R99da1a1fd91a422c"/>
    <p:sldLayoutId xmlns:r="http://schemas.openxmlformats.org/officeDocument/2006/relationships" id="2147483654" r:id="Rd2e82084321542f2"/>
    <p:sldLayoutId xmlns:r="http://schemas.openxmlformats.org/officeDocument/2006/relationships" id="2147483655" r:id="Rf96002533b804f00"/>
    <p:sldLayoutId xmlns:r="http://schemas.openxmlformats.org/officeDocument/2006/relationships" id="2147483656" r:id="R981a1ce7d0234098"/>
    <p:sldLayoutId xmlns:r="http://schemas.openxmlformats.org/officeDocument/2006/relationships" id="2147483657" r:id="R4e89a2eee9f24179"/>
    <p:sldLayoutId xmlns:r="http://schemas.openxmlformats.org/officeDocument/2006/relationships" id="2147483658" r:id="Rfa13a7a38daa4714"/>
    <p:sldLayoutId xmlns:r="http://schemas.openxmlformats.org/officeDocument/2006/relationships" id="2147483659" r:id="Rf2d6408f57d14026"/>
    <p:sldLayoutId xmlns:r="http://schemas.openxmlformats.org/officeDocument/2006/relationships" id="2147483660" r:id="Rf0f5a5d942734128"/>
    <p:sldLayoutId xmlns:r="http://schemas.openxmlformats.org/officeDocument/2006/relationships" id="2147483661" r:id="Ra66ce43113444568"/>
    <p:sldLayoutId xmlns:r="http://schemas.openxmlformats.org/officeDocument/2006/relationships" id="2147483662" r:id="R712b48b0c2ec4cd8"/>
    <p:sldLayoutId xmlns:r="http://schemas.openxmlformats.org/officeDocument/2006/relationships" id="2147483663" r:id="Rdbf56fdc876243fe"/>
    <p:sldLayoutId xmlns:r="http://schemas.openxmlformats.org/officeDocument/2006/relationships" id="2147483664" r:id="Rafed29bf3bd64115"/>
  </p:sldLayoutIdLst>
  <p:txStyles>
    <p:titleStyle>
      <a:lvl1pPr xmlns:a="http://schemas.openxmlformats.org/drawingml/2006/main"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 xmlns:a="http://schemas.openxmlformats.org/drawingml/2006/main">
        <a:buNone/>
        <a:defRPr>
          <a:solidFill>
            <a:schemeClr val="tx2"/>
          </a:solidFill>
        </a:defRPr>
      </a:lvl2pPr>
      <a:lvl3pPr xmlns:a="http://schemas.openxmlformats.org/drawingml/2006/main">
        <a:buNone/>
        <a:defRPr>
          <a:solidFill>
            <a:schemeClr val="tx2"/>
          </a:solidFill>
        </a:defRPr>
      </a:lvl3pPr>
      <a:lvl4pPr xmlns:a="http://schemas.openxmlformats.org/drawingml/2006/main">
        <a:buNone/>
        <a:defRPr>
          <a:solidFill>
            <a:schemeClr val="tx2"/>
          </a:solidFill>
        </a:defRPr>
      </a:lvl4pPr>
      <a:lvl5pPr xmlns:a="http://schemas.openxmlformats.org/drawingml/2006/main">
        <a:buNone/>
        <a:defRPr>
          <a:solidFill>
            <a:schemeClr val="tx2"/>
          </a:solidFill>
        </a:defRPr>
      </a:lvl5pPr>
      <a:lvl6pPr xmlns:a="http://schemas.openxmlformats.org/drawingml/2006/main">
        <a:buNone/>
        <a:defRPr>
          <a:solidFill>
            <a:schemeClr val="tx2"/>
          </a:solidFill>
        </a:defRPr>
      </a:lvl6pPr>
      <a:lvl7pPr xmlns:a="http://schemas.openxmlformats.org/drawingml/2006/main">
        <a:buNone/>
        <a:defRPr>
          <a:solidFill>
            <a:schemeClr val="tx2"/>
          </a:solidFill>
        </a:defRPr>
      </a:lvl7pPr>
      <a:lvl8pPr xmlns:a="http://schemas.openxmlformats.org/drawingml/2006/main">
        <a:buNone/>
        <a:defRPr>
          <a:solidFill>
            <a:schemeClr val="tx2"/>
          </a:solidFill>
        </a:defRPr>
      </a:lvl8pPr>
      <a:lvl9pPr xmlns:a="http://schemas.openxmlformats.org/drawingml/2006/main">
        <a:buNone/>
        <a:defRPr>
          <a:solidFill>
            <a:schemeClr val="tx2"/>
          </a:solidFill>
        </a:defRPr>
      </a:lvl9pPr>
    </p:titleStyle>
    <p:bodyStyle>
      <a:lvl1pPr xmlns:a="http://schemas.openxmlformats.org/drawingml/2006/main"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14ffbe26a44c1" /><Relationship Type="http://schemas.openxmlformats.org/officeDocument/2006/relationships/notesSlide" Target="/ppt/notesSlides/notesSlide1.xml" Id="Rb0296c4b549249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9d4c6da3ed34718" /><Relationship Type="http://schemas.openxmlformats.org/officeDocument/2006/relationships/image" Target="/ppt/media/image.jpeg" Id="Rf7f9b7b4b05c4480" /><Relationship Type="http://schemas.openxmlformats.org/officeDocument/2006/relationships/notesSlide" Target="/ppt/notesSlides/notesSlide2.xml" Id="Rf1dad4a6cfde43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cfb824808b74151" /><Relationship Type="http://schemas.openxmlformats.org/officeDocument/2006/relationships/image" Target="/ppt/media/image.png" Id="Ra7aae176a6db458e" /><Relationship Type="http://schemas.openxmlformats.org/officeDocument/2006/relationships/notesSlide" Target="/ppt/notesSlides/notesSlide3.xml" Id="R146b5aa9253348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db29b52e9374bd7" /><Relationship Type="http://schemas.openxmlformats.org/officeDocument/2006/relationships/notesSlide" Target="/ppt/notesSlides/notesSlide4.xml" Id="R1b6962d579254b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eaf8d33a8734276" /><Relationship Type="http://schemas.openxmlformats.org/officeDocument/2006/relationships/notesSlide" Target="/ppt/notesSlides/notesSlide5.xml" Id="Rc279eb7e556643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bfeb292d0e64a0e" /><Relationship Type="http://schemas.openxmlformats.org/officeDocument/2006/relationships/notesSlide" Target="/ppt/notesSlides/notesSlide6.xml" Id="Rbabd5536794941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ae76957ad8545ab" /><Relationship Type="http://schemas.openxmlformats.org/officeDocument/2006/relationships/notesSlide" Target="/ppt/notesSlides/notesSlide7.xml" Id="Rc35cf3de31114e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327f2396bef425c" /><Relationship Type="http://schemas.openxmlformats.org/officeDocument/2006/relationships/notesSlide" Target="/ppt/notesSlides/notesSlide8.xml" Id="Rbeb85e9bc42746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664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9" name="Isosceles Triangle 48">
            <a:extLst xmlns:a="http://schemas.openxmlformats.org/drawingml/2006/main"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0"/>
            <a:ext cx="842596" cy="5666154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Isosceles Triangle 50">
            <a:extLst xmlns:a="http://schemas.openxmlformats.org/drawingml/2006/main"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34" y="3818467"/>
            <a:ext cx="4450292" cy="30395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88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traight Connector 52">
            <a:extLst xmlns:a="http://schemas.openxmlformats.org/drawingml/2006/main"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0"/>
            <a:ext cx="1727200" cy="685800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5" name="Straight Connector 54">
            <a:extLst xmlns:a="http://schemas.openxmlformats.org/drawingml/2006/main"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chemeClr val="accent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07066" y="1397000"/>
            <a:ext cx="8102759" cy="2421467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t>Ασφάλεια και Επικοινωνία</a:t>
            </a:r>
            <a:endParaRPr/>
          </a:p>
        </p:txBody>
      </p:sp>
      <p:sp>
        <p:nvSpPr>
          <p:cNvPr id="57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41" y="0"/>
            <a:ext cx="1766359" cy="6858000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/>
              <a:t>Λογισμικό ασφάλειας</a:t>
            </a:r>
            <a:endParaRPr b="1"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5637202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4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4147D144-A33F-415E-8071-C1081C1B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1C20513A-7CA2-46AD-B59E-44D86A07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6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17B5BD2F-84B0-437C-A39C-05B0F0A1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Antivirus</a:t>
            </a:r>
          </a:p>
        </p:txBody>
      </p:sp>
      <p:sp>
        <p:nvSpPr>
          <p:cNvPr id="7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4AB24055-9492-4F5C-9A84-7BE42331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Εντοπίζει και απομακρύνει ιούς και άλλο κακόβουλο λογισμικό.</a:t>
            </a:r>
          </a:p>
        </p:txBody>
      </p:sp>
      <p:sp>
        <p:nvSpPr>
          <p:cNvPr id="8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0B007837-CEC9-4567-AD8A-2FC7ED70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Firewall</a:t>
            </a:r>
          </a:p>
        </p:txBody>
      </p:sp>
      <p:sp>
        <p:nvSpPr>
          <p:cNvPr id="9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468B5916-AE1D-4125-AE9D-1673BCC7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Ελέγχει την κίνηση δεδομένων και εφαρμόζει κανόνες πρόσβασης.</a:t>
            </a:r>
          </a:p>
        </p:txBody>
      </p:sp>
      <p:sp>
        <p:nvSpPr>
          <p:cNvPr id="10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357431E8-D9ED-4E06-A1C9-49BF338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Antispyware</a:t>
            </a:r>
          </a:p>
        </p:txBody>
      </p:sp>
      <p:sp>
        <p:nvSpPr>
          <p:cNvPr id="11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466C8471-729F-4A3E-BB09-FEF3E082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Ανιχνεύει προγράμματα που παρακολουθούν τη δραστηριότητα ή συλλέγουν δεδομένα.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9b7b4b05c4480"/>
          <a:stretch xmlns:a="http://schemas.openxmlformats.org/drawingml/2006/main"/>
        </p:blipFill>
        <p:spPr>
          <a:xfrm xmlns:a="http://schemas.openxmlformats.org/drawingml/2006/main">
            <a:off x="5953125" y="2282966"/>
            <a:ext cx="4905375" cy="30540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Επικοινωνία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CC8AABA4-0499-4062-825F-FA908BD0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E0DF63A7-2E6F-4DF8-9AF3-FAB67CEE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BAF580B2-5DCF-4B89-B4F1-6B9EBE62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Μηνύματα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DAFED0BE-2934-44D4-AD60-9F697DFB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εφαρμογές επιτρέπουν άμεση ανταλλαγή γραπτών μηνυμάτων.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68562191-301B-4D88-A186-3B3757F3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Φωνή και βίντεο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445B3479-2F9A-448C-9AAA-00050808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μπορούν να πραγματοποιούν κλήσεις και τηλεδιασκέψεις μέσω Διαδικτύου.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E277E7E2-4061-494A-AAA2-3132B8F1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Επαφές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EC6BD366-F127-4F8F-BA09-72A8DF8F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4762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λίστα επαφών οργανώνει τα άτομα με τα οποία επικοινωνεί ο χρήστης.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ae176a6db458e"/>
          <a:stretch xmlns:a="http://schemas.openxmlformats.org/drawingml/2006/main"/>
        </p:blipFill>
        <p:spPr>
          <a:xfrm xmlns:a="http://schemas.openxmlformats.org/drawingml/2006/main">
            <a:off x="5953125" y="3042595"/>
            <a:ext cx="4905375" cy="153481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Κοινωνικά δίκτυα</a:t>
            </a:r>
            <a:endParaRPr/>
          </a:p>
        </p:txBody>
      </p:sp>
      <p:sp>
        <p:nvSpPr>
          <p:cNvPr id="3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527E1629-A509-4441-B996-CF3220FD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19B93FA2-9359-49C5-B1A9-7C604441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5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DC0A8D62-9AF9-42C9-B8B8-E81FE7E0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Προφίλ</a:t>
            </a:r>
          </a:p>
        </p:txBody>
      </p:sp>
      <p:sp>
        <p:nvSpPr>
          <p:cNvPr id="6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01E76ABD-51E4-4C40-84AE-34189E8D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 χρήστης δημιουργεί ψηφιακό προφίλ με πληροφορίες που επιλέγει να δημοσιεύσει.</a:t>
            </a:r>
          </a:p>
        </p:txBody>
      </p:sp>
      <p:sp>
        <p:nvSpPr>
          <p:cNvPr id="7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EB96E0F2-42FE-44BE-B96B-90FC9FFA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Περιεχόμενο</a:t>
            </a:r>
          </a:p>
        </p:txBody>
      </p:sp>
      <p:sp>
        <p:nvSpPr>
          <p:cNvPr id="8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9FC32465-D766-4DCB-9FA1-58B20576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μοιράζονται κείμενο, εικόνες και βίντεο.</a:t>
            </a:r>
          </a:p>
        </p:txBody>
      </p:sp>
      <p:sp>
        <p:nvSpPr>
          <p:cNvPr id="9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47E7D417-C104-43A0-8F8B-0481DA18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Αλληλεπίδραση</a:t>
            </a:r>
          </a:p>
        </p:txBody>
      </p:sp>
      <p:sp>
        <p:nvSpPr>
          <p:cNvPr id="10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8AA540DC-54DB-4415-ADD8-351A4809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Μπορούν να ακολουθούν άλλους χρήστες, να σχολιάζουν και να συμμετέχουν σε ομάδες.</a:t>
            </a:r>
          </a:p>
        </p:txBody>
      </p:sp>
    </p:spTree>
    <p:extLst>
      <p:ext uri="{BB962C8B-B14F-4D97-AF65-F5344CB8AC3E}">
        <p14:creationId xmlns:p14="http://schemas.microsoft.com/office/powerpoint/2010/main" val="25701492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Προσωπικά δεδομένα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1563757"/>
            <a:ext cx="5952067" cy="4477604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/>
              <a:t/>
            </a:r>
            <a:endParaRPr sz="2800"/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257E802C-5A8E-47DD-BB8A-043E85DB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A23652BC-31B0-4C61-9877-5C7152C1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C636E534-2930-45B6-9AB8-DAE5BF2F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Ευαίσθητες πληροφορίες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73ABB7C9-3441-41DC-88B8-6B2A5484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Διεύθυνση, τηλέφωνο, φωτογραφίες και τοποθεσία χρειάζονται προσεκτική διαχείριση.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FAC6E641-8A03-44AF-9F26-0D413521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Ρυθμίσεις ιδιωτικότητας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B9A0C111-34FE-42C6-8803-3612A524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Περιορίζουν ποιοι μπορούν να δουν το προφίλ και τις δημοσιεύσεις.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9B28CA58-1642-4524-B2BA-F7D682B6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Ψηφιακό αποτύπωμα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3AA29ADB-BFAA-46BB-B0DE-66170127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Μια δημοσίευση μπορεί να αντιγραφεί και να παραμείνει διαθέσιμη για μεγάλο διάστημα.</a:t>
            </a:r>
          </a:p>
        </p:txBody>
      </p:sp>
    </p:spTree>
    <p:extLst>
      <p:ext uri="{BB962C8B-B14F-4D97-AF65-F5344CB8AC3E}">
        <p14:creationId xmlns:p14="http://schemas.microsoft.com/office/powerpoint/2010/main" val="6438814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traight Connector 10">
            <a:extLst xmlns:a="http://schemas.openxmlformats.org/drawingml/2006/main"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accent1">
                <a:alpha val="7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4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5" name="Isosceles Triangle 14">
            <a:extLst xmlns:a="http://schemas.openxmlformats.org/drawingml/2006/main"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6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75000"/>
              <a:alpha val="5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7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8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19" name="Isosceles Triangle 18">
            <a:extLst xmlns:a="http://schemas.openxmlformats.org/drawingml/2006/main"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lumMod val="75000"/>
              <a:alpha val="66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0" name="Isosceles Triangle 19">
            <a:extLst xmlns:a="http://schemas.openxmlformats.org/drawingml/2006/main"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013200"/>
            <a:ext cx="448733" cy="2844800"/>
          </a:xfrm>
          <a:prstGeom xmlns:a="http://schemas.openxmlformats.org/drawingml/2006/main" prst="triangle">
            <a:avLst>
              <a:gd name="adj" fmla="val 0"/>
            </a:avLst>
          </a:prstGeom>
          <a:solidFill xmlns:a="http://schemas.openxmlformats.org/drawingml/2006/main">
            <a:schemeClr val="accent1"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3" y="609600"/>
            <a:ext cx="3851123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Phishing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4" y="2160589"/>
            <a:ext cx="3851122" cy="3880773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/>
            </a:r>
            <a:endParaRPr/>
          </a:p>
        </p:txBody>
      </p:sp>
      <p:sp>
        <p:nvSpPr>
          <p:cNvPr id="22" name="Straight Connector 21">
            <a:extLst xmlns:a="http://schemas.openxmlformats.org/drawingml/2006/main"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12" y="0"/>
            <a:ext cx="1219200" cy="68580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7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Straight Connector 23">
            <a:extLst xmlns:a="http://schemas.openxmlformats.org/drawingml/2006/main"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425267" y="3681413"/>
            <a:ext cx="4763558" cy="3176587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chemeClr val="bg1">
                <a:lumMod val="85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1476" y="-8467"/>
            <a:ext cx="3007349" cy="6866467"/>
          </a:xfrm>
          <a:custGeom xmlns:a="http://schemas.openxmlformats.org/drawingml/2006/main"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28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442" y="-8467"/>
            <a:ext cx="2588558" cy="6866467"/>
          </a:xfrm>
          <a:custGeom xmlns:a="http://schemas.openxmlformats.org/drawingml/2006/main"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2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0" name="Isosceles Triangle 24">
            <a:extLst xmlns:a="http://schemas.openxmlformats.org/drawingml/2006/main"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333" y="3048000"/>
            <a:ext cx="3259667" cy="3810000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2">
              <a:alpha val="7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2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-8467"/>
            <a:ext cx="2854326" cy="6866467"/>
          </a:xfrm>
          <a:custGeom xmlns:a="http://schemas.openxmlformats.org/drawingml/2006/main"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2">
              <a:lumMod val="75000"/>
              <a:alpha val="47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4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8730" y="-8467"/>
            <a:ext cx="1290094" cy="6866467"/>
          </a:xfrm>
          <a:custGeom xmlns:a="http://schemas.openxmlformats.org/drawingml/2006/main"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  <a:alpha val="7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6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8999" y="-8467"/>
            <a:ext cx="1249825" cy="6866467"/>
          </a:xfrm>
          <a:custGeom xmlns:a="http://schemas.openxmlformats.org/drawingml/2006/main"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6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8" name="Isosceles Triangle 29">
            <a:extLst xmlns:a="http://schemas.openxmlformats.org/drawingml/2006/main"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1666" y="3589867"/>
            <a:ext cx="1817159" cy="3268133"/>
          </a:xfrm>
          <a:prstGeom xmlns:a="http://schemas.openxmlformats.org/drawingml/2006/main" prst="triangle">
            <a:avLst>
              <a:gd name="adj" fmla="val 100000"/>
            </a:avLst>
          </a:prstGeom>
          <a:solidFill xmlns:a="http://schemas.openxmlformats.org/drawingml/2006/main">
            <a:schemeClr val="accent1">
              <a:alpha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</p:sp>
      <p:sp>
        <p:nvSpPr>
          <p:cNvPr id="39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C226B8F1-56F9-450F-90F1-3BE4CB4F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0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6F99355D-7D59-4CCF-9FE0-F876B93C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41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57BF097F-4AF1-464C-B195-BC6EB9CD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Στόχος</a:t>
            </a:r>
          </a:p>
        </p:txBody>
      </p:sp>
      <p:sp>
        <p:nvSpPr>
          <p:cNvPr id="42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653D1FBB-B80A-4656-A6DA-C4CEEB55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 phishing προσπαθεί να αποσπάσει κωδικούς, τραπεζικά στοιχεία ή άλλες προσωπικές πληροφορίες.</a:t>
            </a:r>
          </a:p>
        </p:txBody>
      </p:sp>
      <p:sp>
        <p:nvSpPr>
          <p:cNvPr id="43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BDC7A41C-8461-4A81-9C8D-95D1BCE2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Μέθοδοι</a:t>
            </a:r>
          </a:p>
        </p:txBody>
      </p:sp>
      <p:sp>
        <p:nvSpPr>
          <p:cNvPr id="44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D6C80F23-C364-43F3-BE9A-31758746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Χρησιμοποιεί συχνά πλαστά μηνύματα, ιστοσελίδες και συνδέσμους που μοιάζουν επίσημοι.</a:t>
            </a:r>
          </a:p>
        </p:txBody>
      </p:sp>
      <p:sp>
        <p:nvSpPr>
          <p:cNvPr id="45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3E374F61-8621-4BEC-9E4C-49C68333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Προστασία</a:t>
            </a:r>
          </a:p>
        </p:txBody>
      </p:sp>
      <p:sp>
        <p:nvSpPr>
          <p:cNvPr id="46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E364E2AA-B8B1-40B0-818C-01950450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Ελέγχουμε τον αποστολέα και τη διεύθυνση της σελίδας πριν δώσουμε στοιχεία ή ανοίξουμε σύνδεσμο.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2" y="609600"/>
            <a:ext cx="5825735" cy="1320800"/>
          </a:xfrm>
        </p:spPr>
        <p:txBody>
          <a:bodyPr xmlns:a="http://schemas.openxmlformats.org/drawingml/2006/main" vert="horz" lIns="9144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Κίνδυνοι στο Διαδίκτυο</a:t>
            </a:r>
            <a:endParaRPr/>
          </a:p>
        </p:txBody>
      </p:sp>
      <p:sp>
        <p:nvSpPr>
          <p:cNvPr id="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77333" y="2160589"/>
            <a:ext cx="6716071" cy="38807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800">
                <a:latin typeface="+mj-lt"/>
                <a:ea typeface="+mj-lt"/>
                <a:cs typeface="+mj-lt"/>
              </a:rPr>
              <a:t/>
            </a:r>
          </a:p>
        </p:txBody>
      </p:sp>
      <p:sp>
        <p:nvSpPr>
          <p:cNvPr id="5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6E78BE8C-5F99-41ED-862E-E4C88C7E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305C25D3-432B-48B4-9057-FBEB48CB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EC97CD55-532A-4C83-AAA0-5C37CE3A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Grooming</a:t>
            </a:r>
          </a:p>
        </p:txBody>
      </p:sp>
      <p:sp>
        <p:nvSpPr>
          <p:cNvPr id="8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C498440E-D512-4A4D-8C78-CAABAC8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Ένας ενήλικος μπορεί να χρησιμοποιήσει ψεύτικη ταυτότητα για να κερδίσει την εμπιστοσύνη ανηλίκου.</a:t>
            </a:r>
          </a:p>
        </p:txBody>
      </p:sp>
      <p:sp>
        <p:nvSpPr>
          <p:cNvPr id="9" name="Block heading 2">
            <a:extLst xmlns:a="http://schemas.openxmlformats.org/drawingml/2006/main">
              <a:ext uri="{FF2B5EF4-FFF2-40B4-BE49-F238E27FC236}">
                <a16:creationId xmlns:a16="http://schemas.microsoft.com/office/drawing/2014/main" id="{70E13786-EB68-4867-B147-5DDD2D6A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Cyberbullying</a:t>
            </a:r>
          </a:p>
        </p:txBody>
      </p:sp>
      <p:sp>
        <p:nvSpPr>
          <p:cNvPr id="10" name="Block body 2">
            <a:extLst xmlns:a="http://schemas.openxmlformats.org/drawingml/2006/main">
              <a:ext uri="{FF2B5EF4-FFF2-40B4-BE49-F238E27FC236}">
                <a16:creationId xmlns:a16="http://schemas.microsoft.com/office/drawing/2014/main" id="{C305E2AF-463B-48DA-A8B5-0E0631A0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Περιλαμβάνει επαναλαμβανόμενα προσβλητικά ή απειλητικά μηνύματα και δημοσιεύσεις.</a:t>
            </a:r>
          </a:p>
        </p:txBody>
      </p:sp>
      <p:sp>
        <p:nvSpPr>
          <p:cNvPr id="11" name="Block heading 3">
            <a:extLst xmlns:a="http://schemas.openxmlformats.org/drawingml/2006/main">
              <a:ext uri="{FF2B5EF4-FFF2-40B4-BE49-F238E27FC236}">
                <a16:creationId xmlns:a16="http://schemas.microsoft.com/office/drawing/2014/main" id="{A2799276-4CA8-463D-991B-C8A49983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Αντιμετώπιση</a:t>
            </a:r>
          </a:p>
        </p:txBody>
      </p:sp>
      <p:sp>
        <p:nvSpPr>
          <p:cNvPr id="12" name="Block body 3">
            <a:extLst xmlns:a="http://schemas.openxmlformats.org/drawingml/2006/main">
              <a:ext uri="{FF2B5EF4-FFF2-40B4-BE49-F238E27FC236}">
                <a16:creationId xmlns:a16="http://schemas.microsoft.com/office/drawing/2014/main" id="{629E1E60-9E7C-4CA9-B771-5D6DFB10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004887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Κρατούμε αποδεικτικά, κάνουμε αποκλεισμό και αναφορά και ζητούμε βοήθεια από έμπιστο ενήλικα.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09600"/>
            <a:ext cx="8596668" cy="7130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Δραστηριότητες Εμπέδωσης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5745" y="1528147"/>
            <a:ext cx="7080326" cy="5762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5" name="Content Placeholder 4">
            <a:extLst xmlns:a="http://schemas.openxmlformats.org/drawingml/2006/main"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75745" y="2309955"/>
            <a:ext cx="4185623" cy="330411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2400"/>
              <a:t/>
            </a:r>
            <a:endParaRPr sz="2400"/>
          </a:p>
        </p:txBody>
      </p:sp>
      <p:sp>
        <p:nvSpPr>
          <p:cNvPr id="6" name="Clean content area">
            <a:extLst xmlns:a="http://schemas.openxmlformats.org/drawingml/2006/main">
              <a:ext uri="{FF2B5EF4-FFF2-40B4-BE49-F238E27FC236}">
                <a16:creationId xmlns:a16="http://schemas.microsoft.com/office/drawing/2014/main" id="{015824BD-290E-439E-9488-A157B58B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1049000" cy="500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Section reference">
            <a:extLst xmlns:a="http://schemas.openxmlformats.org/drawingml/2006/main">
              <a:ext uri="{FF2B5EF4-FFF2-40B4-BE49-F238E27FC236}">
                <a16:creationId xmlns:a16="http://schemas.microsoft.com/office/drawing/2014/main" id="{851EDA01-8C89-42B3-BC9E-0CCB8F2E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</a:t>
            </a:r>
          </a:p>
        </p:txBody>
      </p:sp>
      <p:sp>
        <p:nvSpPr>
          <p:cNvPr id="8" name="Block heading 1">
            <a:extLst xmlns:a="http://schemas.openxmlformats.org/drawingml/2006/main">
              <a:ext uri="{FF2B5EF4-FFF2-40B4-BE49-F238E27FC236}">
                <a16:creationId xmlns:a16="http://schemas.microsoft.com/office/drawing/2014/main" id="{755ECB8A-7808-49CE-8C12-92591934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004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 xmlns:a="http://schemas.openxmlformats.org/drawingml/2006/main">
              <a:ext uri="{FF2B5EF4-FFF2-40B4-BE49-F238E27FC236}">
                <a16:creationId xmlns:a16="http://schemas.microsoft.com/office/drawing/2014/main" id="{E10E900E-B391-4C26-B632-28BB6BB6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048875" cy="3648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ερωτήσεις 1–17 του Φύλλου Εργασίας A.5.M5.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2026-09-17T08:12:22.3730000Z</dcterms:created>
  <dcterms:modified xsi:type="dcterms:W3CDTF">2026-09-17T08:12:22.3730000Z</dcterms:modified>
</coreProperties>
</file>