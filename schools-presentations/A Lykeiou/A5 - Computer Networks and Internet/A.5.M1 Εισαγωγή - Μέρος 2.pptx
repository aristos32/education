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72" r:id="rId8"/>
    <p:sldId id="273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6B80C5-57BC-47FF-B3C0-641E5B3449A0}" v="2" dt="2026-09-19T08:20:23.0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7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custSel addSld delSld modSld">
      <pc:chgData name="Άριστος Αρέστη" userId="813aa191-2d4c-464f-9d05-0a7e494d859f" providerId="ADAL" clId="{49C7B61D-1ACF-4AFF-A04E-A3B433E32474}" dt="2026-09-19T08:28:29.305" v="39" actId="47"/>
      <pc:docMkLst>
        <pc:docMk/>
      </pc:docMkLst>
      <pc:sldChg chg="modSp mod">
        <pc:chgData name="Άριστος Αρέστη" userId="813aa191-2d4c-464f-9d05-0a7e494d859f" providerId="ADAL" clId="{49C7B61D-1ACF-4AFF-A04E-A3B433E32474}" dt="2026-09-19T08:06:08.348" v="0" actId="113"/>
        <pc:sldMkLst>
          <pc:docMk/>
          <pc:sldMk cId="1459875993" sldId="258"/>
        </pc:sldMkLst>
        <pc:spChg chg="mod">
          <ac:chgData name="Άριστος Αρέστη" userId="813aa191-2d4c-464f-9d05-0a7e494d859f" providerId="ADAL" clId="{49C7B61D-1ACF-4AFF-A04E-A3B433E32474}" dt="2026-09-19T08:06:08.348" v="0" actId="113"/>
          <ac:spMkLst>
            <pc:docMk/>
            <pc:sldMk cId="1459875993" sldId="258"/>
            <ac:spMk id="46" creationId="{0BC9A0EF-7A12-4A54-8CB9-C0283A5F465D}"/>
          </ac:spMkLst>
        </pc:spChg>
      </pc:sldChg>
      <pc:sldChg chg="add">
        <pc:chgData name="Άριστος Αρέστη" userId="813aa191-2d4c-464f-9d05-0a7e494d859f" providerId="ADAL" clId="{49C7B61D-1ACF-4AFF-A04E-A3B433E32474}" dt="2026-09-19T08:08:33.893" v="1"/>
        <pc:sldMkLst>
          <pc:docMk/>
          <pc:sldMk cId="457266055" sldId="272"/>
        </pc:sldMkLst>
      </pc:sldChg>
      <pc:sldChg chg="add">
        <pc:chgData name="Άριστος Αρέστη" userId="813aa191-2d4c-464f-9d05-0a7e494d859f" providerId="ADAL" clId="{49C7B61D-1ACF-4AFF-A04E-A3B433E32474}" dt="2026-09-19T08:08:33.893" v="1"/>
        <pc:sldMkLst>
          <pc:docMk/>
          <pc:sldMk cId="3963452469" sldId="273"/>
        </pc:sldMkLst>
      </pc:sldChg>
      <pc:sldChg chg="addSp modSp new del mod modAnim">
        <pc:chgData name="Άριστος Αρέστη" userId="813aa191-2d4c-464f-9d05-0a7e494d859f" providerId="ADAL" clId="{49C7B61D-1ACF-4AFF-A04E-A3B433E32474}" dt="2026-09-19T08:28:29.305" v="39" actId="47"/>
        <pc:sldMkLst>
          <pc:docMk/>
          <pc:sldMk cId="3656556390" sldId="274"/>
        </pc:sldMkLst>
        <pc:spChg chg="mod">
          <ac:chgData name="Άριστος Αρέστη" userId="813aa191-2d4c-464f-9d05-0a7e494d859f" providerId="ADAL" clId="{49C7B61D-1ACF-4AFF-A04E-A3B433E32474}" dt="2026-09-19T08:21:45.091" v="38" actId="1076"/>
          <ac:spMkLst>
            <pc:docMk/>
            <pc:sldMk cId="3656556390" sldId="274"/>
            <ac:spMk id="2" creationId="{DC360C0B-5F94-BE79-5118-80A188CB2156}"/>
          </ac:spMkLst>
        </pc:spChg>
        <pc:picChg chg="add mod">
          <ac:chgData name="Άριστος Αρέστη" userId="813aa191-2d4c-464f-9d05-0a7e494d859f" providerId="ADAL" clId="{49C7B61D-1ACF-4AFF-A04E-A3B433E32474}" dt="2026-09-19T08:21:26.943" v="35" actId="14100"/>
          <ac:picMkLst>
            <pc:docMk/>
            <pc:sldMk cId="3656556390" sldId="274"/>
            <ac:picMk id="3" creationId="{CA3D5479-E6E0-5A2F-F4D1-106307FA265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Πρότυπο: A.5.M1 Εισαγωγή.pptx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Σημειώσεις Πληροφορικής Α΄ Λυκείου, Α5.1 Εισαγωγή στα Δίκτυα, σελ. 97–105</a:t>
            </a:r>
          </a:p>
          <a:p>
            <a:r>
              <a:t>- Τετράδιο Εργασιών Πληροφορικής Α΄ Λυκείου, Φύλλο Εργασίας A.5.M1, σελ. 81–83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4E918921-2CFD-4CA1-B08F-3BAB503BE518}"/>
              </a:ext>
            </a:extLst>
          </p:cNvPr>
          <p:cNvSpPr>
            <a:spLocks noGrp="1"/>
          </p:cNvSpPr>
          <p:nvPr/>
        </p:nvSpPr>
        <p:spPr>
          <a:xfrm>
            <a:off x="0" y="-7862"/>
            <a:ext cx="863600" cy="5698067"/>
          </a:xfrm>
          <a:custGeom>
            <a:avLst/>
            <a:gdLst/>
            <a:ahLst/>
            <a:cxnLst/>
            <a:rect l="l" t="t" r="r" b="b"/>
            <a:pathLst>
              <a:path w="863600" h="5698067">
                <a:moveTo>
                  <a:pt x="0" y="8467"/>
                </a:moveTo>
                <a:lnTo>
                  <a:pt x="863600" y="0"/>
                </a:lnTo>
                <a:lnTo>
                  <a:pt x="863600" y="16934"/>
                </a:lnTo>
                <a:lnTo>
                  <a:pt x="0" y="5698067"/>
                </a:lnTo>
                <a:lnTo>
                  <a:pt x="0" y="8467"/>
                </a:lnTo>
                <a:close/>
              </a:path>
            </a:pathLst>
          </a:cu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37B2AF0-F1FD-4B03-B481-A7AEB0D4918E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55BA76F-F0D3-46DC-8669-115FD57880C2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DD257EB0-2B30-4FC6-AA24-873A5B4FFEA2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5">
            <a:extLst>
              <a:ext uri="{FF2B5EF4-FFF2-40B4-BE49-F238E27FC236}">
                <a16:creationId xmlns:a16="http://schemas.microsoft.com/office/drawing/2014/main" id="{AF7B4680-A767-4058-AF50-A02AD3F15A73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3640B4D-BEFD-4199-A8AA-0ACAD1F35BF8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4" name="Rectangle 27">
            <a:extLst>
              <a:ext uri="{FF2B5EF4-FFF2-40B4-BE49-F238E27FC236}">
                <a16:creationId xmlns:a16="http://schemas.microsoft.com/office/drawing/2014/main" id="{C52E025E-B7B6-4C2F-95C3-451B2D04D502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5" name="Rectangle 28">
            <a:extLst>
              <a:ext uri="{FF2B5EF4-FFF2-40B4-BE49-F238E27FC236}">
                <a16:creationId xmlns:a16="http://schemas.microsoft.com/office/drawing/2014/main" id="{2DD6DD06-FAD9-4434-AAD6-4F5F4054467A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6" name="Rectangle 29">
            <a:extLst>
              <a:ext uri="{FF2B5EF4-FFF2-40B4-BE49-F238E27FC236}">
                <a16:creationId xmlns:a16="http://schemas.microsoft.com/office/drawing/2014/main" id="{08CE678E-61E0-4B59-9E06-0CCDA51B5F1A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CF5F7A2-53D8-4ABB-B382-AFAFF8453B4D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7FDF0A-A15E-4E62-941B-541590143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buNone/>
              <a:defRPr sz="5400">
                <a:solidFill>
                  <a:schemeClr val="accent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274578-9B32-473A-B0FD-5A428DF4E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300C8-64F2-42E4-B5F9-4C502AC14CE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C6B3A-D180-442C-87FB-17957759B4F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11ED2-A058-4592-AFE4-D9FE673F9A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7581-562F-47E7-8112-9B9297AD1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120C2-37BA-41A7-88BE-349064B1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73FAF-6252-4F7B-8D52-61D4525FAA8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AB332-D473-41FC-8833-2008668A0B4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6F0BE-FA5E-42B7-9F04-6403D88AF5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4865-9BC9-4F7B-BF47-BAB8288BF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buNone/>
              <a:defRPr sz="40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A7564D-364D-4098-BF47-59F28828E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BC595-E100-4CF2-8F9C-0A9A5B58E4F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8BCC5-E90B-4F82-9D04-02D3B854EB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48D55-6385-4245-B919-3F3734427A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40ED1-1734-4A83-A54D-3C3E2024A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1F0C-C285-423E-9B15-CB6DB0999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E0EEA2-E839-43FB-8853-72CD6C8907C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26FBE4-7483-4A34-B95C-F1C086D6F26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D7005D-403D-4B2D-B4AE-FB49B141D1E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274DD-73D4-49E4-A7FC-F02DF42A8A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9B616-EBE7-4DBD-93E3-B48524DC2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EFB809-40AE-487F-8E1A-27605066C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E4FF7-CBE0-4679-B6DE-CB30562D470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E209FA-3B2C-4B90-BB28-4F3BB933049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54B334-B088-4BD2-8AB9-463A3A7DDC4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FF7CAB-3E66-49EF-ABC4-6B3CBA5B954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E1B27-2770-440B-8683-B33AB2F8997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75A2C5-0358-4435-9AA6-43968B5196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6C2FF-7108-4081-A2CF-009FBCC1C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28814B-6E48-48D5-B472-0ACD110B4F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FFA3EA-506D-4E17-B515-424F484D46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A18EE-9DBE-4F3E-9523-7AC767EA8D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42DD94-4BE1-43A9-ACA5-02458C765BA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F01500-3CEB-4E6E-AD3B-61C1D210C3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B4083-954B-41BD-B609-2D06C7EC3D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8CC36-F893-42EA-85A9-4908E04B1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buNone/>
              <a:defRPr sz="2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19624-ADFA-48E6-BD3C-7ED96121EF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8F45B7-7981-4D15-B61B-718D2A3AB8E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BCD0-4CDE-41A3-94CB-65673985F08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AB3597-CA70-4297-B68E-36CA3174A9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EA9B7B-47EA-4C7C-93C5-0195B76055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25EE-8171-47C6-9D7E-BA60971B6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buNone/>
              <a:defRPr sz="2400" b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6AADA7-0CCE-406C-8490-8E3B86C299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A735FF-F666-49B8-836F-25EA123BA33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3A5BD9-4BEB-4CB2-BC4E-263561C08F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5A0EF9-3902-4E30-9474-29CA9E2B73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7EBFC-F60A-4B6C-AED7-920643100F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B30-B37C-4942-B0C4-5EB7F0D6D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A3222-9946-4CFA-AFC2-94ECB00F5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5A612-A924-458F-B443-59FD13BB29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939AF-AEBA-4F37-8BDE-8C756BD903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5C401-FF14-489A-9B3E-D0ED476A25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59351-7955-4803-A7F8-DF0862306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54B1FC33-9DF1-4054-B18A-956604D0FF97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38461-AC1B-4274-9162-5045F49EB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128501-0168-461B-ACB6-54D7311395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7A80A-D5B4-4E94-A1B3-F082DFBECD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386AF-2374-4576-91A8-581D8FD8B5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70E8FC-ED60-43AA-AF41-660A35EDFF7D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A0C394-E2FD-44B8-9735-EBD5F1A44478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B22F0-2F5D-435B-A869-6932D10A3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4EE19A-AC66-4CAA-BB73-F9898D79AD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3FCF3-F551-429E-9CC5-EF959DFFEC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D6C97-86E7-4AB6-89C1-6F3FE06FF78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CCD4F-188D-44BD-8DA0-19E4020DF0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4E46-9F27-40A4-A138-C87261AAA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67FCD007-0694-45C0-9EBB-82675A840F6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EAEAD-5F1B-4C05-8600-78540C705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63699-B292-45EB-8A0D-79D2AF61094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BDE3D-C164-43B4-AAE3-5A8EE76F2F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741F5-99D6-4A1D-B754-5D4CD6E2E1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584E9A-A507-4AE0-BF59-E41954519893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D84491-7D8F-48BA-B9F3-742C7B7F821E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DA0E8-F2EE-454B-96F9-FCF7079E5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019E2193-1BB2-4A64-90D5-565C5128C2B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E9668-4745-44B9-ADC6-C96073971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75CF1-5C89-4D2F-A7E8-860AFFDDC0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57B51-C79B-4E04-87FA-3DC4C1479DB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0F5CC-48F9-432B-95CE-D0195B579F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BF31E-9A0C-4161-914A-53AE471C7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369F82-FCEE-4B82-AFF4-B7FC808AD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5ED90-3B0E-481C-A8CB-EF492CE6924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06BA6-4EED-4611-951E-517F4F7B48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5D357-67E7-4B77-985A-491D9E6906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37C092-BFDD-4559-9181-69DBA05D7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33D11E-BE84-4CB9-AF9A-1AA6E3DB1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BD5CC-929C-438F-917D-24115BEF3A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EB7E8-2C32-4192-8FAD-7055EF280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BBA38E-0375-4975-B2EB-88BCD2F64F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E4847988-64DE-4EA1-931A-8E35BF4048DC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A8647E92-895C-4BD4-8405-D49CFEAFA235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02C6D03-6DA2-4BFE-A1AB-B3F56E100220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7CFF94C5-1DFF-468F-81F7-A59CB21768B1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4886C9-2FB5-4F7F-A31A-3A9D30D397A7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5" name="Rectangle 27">
            <a:extLst>
              <a:ext uri="{FF2B5EF4-FFF2-40B4-BE49-F238E27FC236}">
                <a16:creationId xmlns:a16="http://schemas.microsoft.com/office/drawing/2014/main" id="{014E5C00-25C2-4C47-8920-B5D57AD506D5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6" name="Rectangle 28">
            <a:extLst>
              <a:ext uri="{FF2B5EF4-FFF2-40B4-BE49-F238E27FC236}">
                <a16:creationId xmlns:a16="http://schemas.microsoft.com/office/drawing/2014/main" id="{8CEA40CE-B0C6-494F-AAEC-7C1B19293F9B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67E0546B-4456-4225-A01D-73D316C78E2E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60B34E2E-02C5-4A0D-BF27-D0F3CBFCB6FB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068A91AD-54F9-4831-A261-E1F0DC6F2F0C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2C832B-F90C-4549-8F7C-D55A0CAAF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95686-1A05-49EC-8A54-890B19204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E00E7-0945-4FEB-BCA7-892E1CDD14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1AB97B-D0C7-4CCB-8568-F47C13D538D5}" type="datetimeFigureOut">
              <a:t>19-Sep-26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679E8-24C3-4AC5-B0EC-0526D46F752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A05C0-8325-4139-B75F-F72C56BD63B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accent1"/>
                </a:solidFill>
              </a:defRPr>
            </a:lvl1pPr>
          </a:lstStyle>
          <a:p>
            <a:fld id="{E2239BDF-7A9B-44BA-815E-434EFA41A2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lt"/>
          <a:cs typeface="+mj-lt"/>
        </a:defRPr>
      </a:lvl1pPr>
      <a:lvl2pPr>
        <a:buNone/>
        <a:defRPr>
          <a:solidFill>
            <a:schemeClr val="tx2"/>
          </a:solidFill>
        </a:defRPr>
      </a:lvl2pPr>
      <a:lvl3pPr>
        <a:buNone/>
        <a:defRPr>
          <a:solidFill>
            <a:schemeClr val="tx2"/>
          </a:solidFill>
        </a:defRPr>
      </a:lvl3pPr>
      <a:lvl4pPr>
        <a:buNone/>
        <a:defRPr>
          <a:solidFill>
            <a:schemeClr val="tx2"/>
          </a:solidFill>
        </a:defRPr>
      </a:lvl4pPr>
      <a:lvl5pPr>
        <a:buNone/>
        <a:defRPr>
          <a:solidFill>
            <a:schemeClr val="tx2"/>
          </a:solidFill>
        </a:defRPr>
      </a:lvl5pPr>
      <a:lvl6pPr>
        <a:buNone/>
        <a:defRPr>
          <a:solidFill>
            <a:schemeClr val="tx2"/>
          </a:solidFill>
        </a:defRPr>
      </a:lvl6pPr>
      <a:lvl7pPr>
        <a:buNone/>
        <a:defRPr>
          <a:solidFill>
            <a:schemeClr val="tx2"/>
          </a:solidFill>
        </a:defRPr>
      </a:lvl7pPr>
      <a:lvl8pPr>
        <a:buNone/>
        <a:defRPr>
          <a:solidFill>
            <a:schemeClr val="tx2"/>
          </a:solidFill>
        </a:defRPr>
      </a:lvl8pPr>
      <a:lvl9pPr>
        <a:buNone/>
        <a:defRPr>
          <a:solidFill>
            <a:schemeClr val="tx2"/>
          </a:solidFill>
        </a:defRPr>
      </a:lvl9pPr>
    </p:titleStyle>
    <p:bodyStyle>
      <a:lvl1pPr marL="342900" indent="-3429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2783C067-F8BF-4755-B516-8A0CD74CF6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664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2ED796EC-E7FF-46DB-B912-FB08BF12AA6E}"/>
              </a:ext>
            </a:extLst>
          </p:cNvPr>
          <p:cNvSpPr>
            <a:spLocks noGrp="1"/>
          </p:cNvSpPr>
          <p:nvPr/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549A2DAB-B431-487D-95AD-BB0FECB49E57}"/>
              </a:ext>
            </a:extLst>
          </p:cNvPr>
          <p:cNvSpPr>
            <a:spLocks noGrp="1"/>
          </p:cNvSpPr>
          <p:nvPr/>
        </p:nvSpPr>
        <p:spPr>
          <a:xfrm>
            <a:off x="7738534" y="3818467"/>
            <a:ext cx="4450292" cy="30395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8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3" name="Straight Connector 52">
            <a:extLst>
              <a:ext uri="{FF2B5EF4-FFF2-40B4-BE49-F238E27FC236}">
                <a16:creationId xmlns:a16="http://schemas.microsoft.com/office/drawing/2014/main" id="{7EB72ABB-51C2-44BE-92E4-812CE23FDFEB}"/>
              </a:ext>
            </a:extLst>
          </p:cNvPr>
          <p:cNvSpPr>
            <a:spLocks noGrp="1"/>
          </p:cNvSpPr>
          <p:nvPr/>
        </p:nvSpPr>
        <p:spPr>
          <a:xfrm>
            <a:off x="10134600" y="0"/>
            <a:ext cx="1727200" cy="6858000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3F0E7EA5-53B8-426D-B5D7-06135FCD02DD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1F404-85BF-4A44-A7B7-33CE2AAB1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6" y="1397000"/>
            <a:ext cx="8102759" cy="2421467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t>Δίκτυα Υπολογιστών</a:t>
            </a:r>
          </a:p>
          <a:p>
            <a:pPr algn="l">
              <a:buNone/>
            </a:pPr>
            <a:r>
              <a:t>Μέρος 2</a:t>
            </a:r>
          </a:p>
        </p:txBody>
      </p:sp>
      <p:sp>
        <p:nvSpPr>
          <p:cNvPr id="57" name="Rectangle 27">
            <a:extLst>
              <a:ext uri="{FF2B5EF4-FFF2-40B4-BE49-F238E27FC236}">
                <a16:creationId xmlns:a16="http://schemas.microsoft.com/office/drawing/2014/main" id="{0819F787-32B4-46A8-BC57-C6571BCEE243}"/>
              </a:ext>
            </a:extLst>
          </p:cNvPr>
          <p:cNvSpPr>
            <a:spLocks noGrp="1"/>
          </p:cNvSpPr>
          <p:nvPr/>
        </p:nvSpPr>
        <p:spPr>
          <a:xfrm>
            <a:off x="10425641" y="0"/>
            <a:ext cx="1766359" cy="6858000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619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01542-F65E-4B18-ACCB-69AE5318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Μέσα σύνδεσης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06E10-B033-4090-8AE6-B8F896655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5637202" cy="3880772"/>
          </a:xfrm>
        </p:spPr>
        <p:txBody>
          <a:bodyPr>
            <a:normAutofit/>
          </a:bodyPr>
          <a:lstStyle/>
          <a:p>
            <a:endParaRPr sz="2800"/>
          </a:p>
        </p:txBody>
      </p:sp>
      <p:sp>
        <p:nvSpPr>
          <p:cNvPr id="4" name="Clean content area">
            <a:extLst>
              <a:ext uri="{FF2B5EF4-FFF2-40B4-BE49-F238E27FC236}">
                <a16:creationId xmlns:a16="http://schemas.microsoft.com/office/drawing/2014/main" id="{CE807267-4568-4FCE-85F7-D3698ECFAA8E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" name="Section reference">
            <a:extLst>
              <a:ext uri="{FF2B5EF4-FFF2-40B4-BE49-F238E27FC236}">
                <a16:creationId xmlns:a16="http://schemas.microsoft.com/office/drawing/2014/main" id="{1D877CD5-2DE9-42B1-97D7-26FDCA80E3D1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Θεωρία | Μέρος 2</a:t>
            </a:r>
          </a:p>
        </p:txBody>
      </p:sp>
      <p:sp>
        <p:nvSpPr>
          <p:cNvPr id="6" name="Block heading 1">
            <a:extLst>
              <a:ext uri="{FF2B5EF4-FFF2-40B4-BE49-F238E27FC236}">
                <a16:creationId xmlns:a16="http://schemas.microsoft.com/office/drawing/2014/main" id="{98FC2AA6-4965-4816-ACC0-76C2F067B8C1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Καλώδια δικτύου</a:t>
            </a:r>
          </a:p>
        </p:txBody>
      </p:sp>
      <p:sp>
        <p:nvSpPr>
          <p:cNvPr id="7" name="Block body 1">
            <a:extLst>
              <a:ext uri="{FF2B5EF4-FFF2-40B4-BE49-F238E27FC236}">
                <a16:creationId xmlns:a16="http://schemas.microsoft.com/office/drawing/2014/main" id="{A0113B09-23E5-49F5-AC48-62711BF16B66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Μεταφέρουν τα δεδομένα με ηλεκτρικούς παλμούς.</a:t>
            </a:r>
          </a:p>
        </p:txBody>
      </p:sp>
      <p:sp>
        <p:nvSpPr>
          <p:cNvPr id="8" name="Block heading 2">
            <a:extLst>
              <a:ext uri="{FF2B5EF4-FFF2-40B4-BE49-F238E27FC236}">
                <a16:creationId xmlns:a16="http://schemas.microsoft.com/office/drawing/2014/main" id="{C6F63A60-2788-45D4-B604-2D57BCDC916D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Οπτικές ίνες</a:t>
            </a:r>
          </a:p>
        </p:txBody>
      </p:sp>
      <p:sp>
        <p:nvSpPr>
          <p:cNvPr id="9" name="Block body 2">
            <a:extLst>
              <a:ext uri="{FF2B5EF4-FFF2-40B4-BE49-F238E27FC236}">
                <a16:creationId xmlns:a16="http://schemas.microsoft.com/office/drawing/2014/main" id="{2F13ECFC-AF4B-4737-B5D7-B145C406C5D1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Μεταφέρουν τα δεδομένα με φωτεινούς παλμούς.</a:t>
            </a:r>
          </a:p>
        </p:txBody>
      </p:sp>
      <p:sp>
        <p:nvSpPr>
          <p:cNvPr id="10" name="Block heading 3">
            <a:extLst>
              <a:ext uri="{FF2B5EF4-FFF2-40B4-BE49-F238E27FC236}">
                <a16:creationId xmlns:a16="http://schemas.microsoft.com/office/drawing/2014/main" id="{6788F802-98B6-4B13-9A5C-E718F5B7D729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Ασύρματη σύνδεση</a:t>
            </a:r>
          </a:p>
        </p:txBody>
      </p:sp>
      <p:sp>
        <p:nvSpPr>
          <p:cNvPr id="11" name="Block body 3">
            <a:extLst>
              <a:ext uri="{FF2B5EF4-FFF2-40B4-BE49-F238E27FC236}">
                <a16:creationId xmlns:a16="http://schemas.microsoft.com/office/drawing/2014/main" id="{997C3C59-4538-41F3-BE25-333A59B12542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Χρησιμοποιεί ηλεκτρομαγνητικά κύματα και δεν απαιτεί καλώδιο προς τη συσκευή.</a:t>
            </a: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53125" y="3042595"/>
            <a:ext cx="4905375" cy="153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723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Καλώδια δικτύου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 vert="horz" lIns="91440" tIns="45720" rIns="91440" bIns="45720">
            <a:norm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9" name="Clean content area">
            <a:extLst>
              <a:ext uri="{FF2B5EF4-FFF2-40B4-BE49-F238E27FC236}">
                <a16:creationId xmlns:a16="http://schemas.microsoft.com/office/drawing/2014/main" id="{854612CA-C517-46CE-B0DB-F02D90E164A5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0" name="Section reference">
            <a:extLst>
              <a:ext uri="{FF2B5EF4-FFF2-40B4-BE49-F238E27FC236}">
                <a16:creationId xmlns:a16="http://schemas.microsoft.com/office/drawing/2014/main" id="{F796AF19-EC14-4CD6-A830-1AF26C2E9696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Θεωρία | Μέρος 2</a:t>
            </a:r>
          </a:p>
        </p:txBody>
      </p:sp>
      <p:sp>
        <p:nvSpPr>
          <p:cNvPr id="41" name="Block heading 1">
            <a:extLst>
              <a:ext uri="{FF2B5EF4-FFF2-40B4-BE49-F238E27FC236}">
                <a16:creationId xmlns:a16="http://schemas.microsoft.com/office/drawing/2014/main" id="{DC3E4429-37B4-49D9-A23D-8B068A728FC2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Cat 5 και Cat 6</a:t>
            </a:r>
          </a:p>
        </p:txBody>
      </p:sp>
      <p:sp>
        <p:nvSpPr>
          <p:cNvPr id="42" name="Block body 1">
            <a:extLst>
              <a:ext uri="{FF2B5EF4-FFF2-40B4-BE49-F238E27FC236}">
                <a16:creationId xmlns:a16="http://schemas.microsoft.com/office/drawing/2014/main" id="{FE084515-FC82-4168-8A3C-AC6B893C15FE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Αποτελούν συνηθισμένα καλώδια για σύνδεση υπολογιστών σε τοπικό δίκτυο.</a:t>
            </a:r>
          </a:p>
        </p:txBody>
      </p:sp>
      <p:sp>
        <p:nvSpPr>
          <p:cNvPr id="43" name="Block heading 2">
            <a:extLst>
              <a:ext uri="{FF2B5EF4-FFF2-40B4-BE49-F238E27FC236}">
                <a16:creationId xmlns:a16="http://schemas.microsoft.com/office/drawing/2014/main" id="{C9A1228C-4E57-4B2E-8D6A-72BFF13D5F58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Υποδοχή RJ45</a:t>
            </a:r>
          </a:p>
        </p:txBody>
      </p:sp>
      <p:sp>
        <p:nvSpPr>
          <p:cNvPr id="44" name="Block body 2">
            <a:extLst>
              <a:ext uri="{FF2B5EF4-FFF2-40B4-BE49-F238E27FC236}">
                <a16:creationId xmlns:a16="http://schemas.microsoft.com/office/drawing/2014/main" id="{516BF146-546B-47CA-937E-79B249E8822C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Το καλώδιο καταλήγει σε ειδικό βύσμα που συνδέεται στην κάρτα δικτύου ή στο switch.</a:t>
            </a:r>
          </a:p>
        </p:txBody>
      </p:sp>
      <p:sp>
        <p:nvSpPr>
          <p:cNvPr id="45" name="Block heading 3">
            <a:extLst>
              <a:ext uri="{FF2B5EF4-FFF2-40B4-BE49-F238E27FC236}">
                <a16:creationId xmlns:a16="http://schemas.microsoft.com/office/drawing/2014/main" id="{553C3E45-3941-4D74-8F8F-9AC820348B41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Απόσταση</a:t>
            </a:r>
          </a:p>
        </p:txBody>
      </p:sp>
      <p:sp>
        <p:nvSpPr>
          <p:cNvPr id="46" name="Block body 3">
            <a:extLst>
              <a:ext uri="{FF2B5EF4-FFF2-40B4-BE49-F238E27FC236}">
                <a16:creationId xmlns:a16="http://schemas.microsoft.com/office/drawing/2014/main" id="{0BC9A0EF-7A12-4A54-8CB9-C0283A5F465D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Η 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συνηθισμένη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</a:t>
            </a:r>
            <a:r>
              <a:rPr sz="1650" b="1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μέγιστη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 απ</a:t>
            </a:r>
            <a:r>
              <a:rPr sz="1650" b="0" dirty="0" err="1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όστ</a:t>
            </a:r>
            <a:r>
              <a:rPr sz="1650" b="0" dirty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αση μιας σύνδεσης με τέτοιο καλώδιο είναι περίπου 100 μέτρα.</a:t>
            </a:r>
          </a:p>
        </p:txBody>
      </p:sp>
      <p:pic>
        <p:nvPicPr>
          <p:cNvPr id="77" name="Picture 7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53125" y="1979371"/>
            <a:ext cx="4905375" cy="3661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8759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63D9-1989-4443-A424-8213A05F3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Οπτικές ίνες</a:t>
            </a:r>
          </a:p>
        </p:txBody>
      </p:sp>
      <p:sp>
        <p:nvSpPr>
          <p:cNvPr id="3" name="Clean content area">
            <a:extLst>
              <a:ext uri="{FF2B5EF4-FFF2-40B4-BE49-F238E27FC236}">
                <a16:creationId xmlns:a16="http://schemas.microsoft.com/office/drawing/2014/main" id="{191C7DC1-F6EF-447C-88C8-793873854644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Section reference">
            <a:extLst>
              <a:ext uri="{FF2B5EF4-FFF2-40B4-BE49-F238E27FC236}">
                <a16:creationId xmlns:a16="http://schemas.microsoft.com/office/drawing/2014/main" id="{D6C02044-8595-439E-9DD3-AB416BB3421C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Θεωρία | Μέρος 2</a:t>
            </a:r>
          </a:p>
        </p:txBody>
      </p:sp>
      <p:sp>
        <p:nvSpPr>
          <p:cNvPr id="5" name="Block heading 1">
            <a:extLst>
              <a:ext uri="{FF2B5EF4-FFF2-40B4-BE49-F238E27FC236}">
                <a16:creationId xmlns:a16="http://schemas.microsoft.com/office/drawing/2014/main" id="{6AFF6A65-D31F-4CF0-80D2-3A911C51E184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Τρόπος λειτουργίας</a:t>
            </a:r>
          </a:p>
        </p:txBody>
      </p:sp>
      <p:sp>
        <p:nvSpPr>
          <p:cNvPr id="6" name="Block body 1">
            <a:extLst>
              <a:ext uri="{FF2B5EF4-FFF2-40B4-BE49-F238E27FC236}">
                <a16:creationId xmlns:a16="http://schemas.microsoft.com/office/drawing/2014/main" id="{41A080D9-006E-4A2B-B6A9-0A013AB445AF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Χρησιμοποιούν φως αντί για ηλεκτρικό ρεύμα για τη μεταφορά δεδομένων.</a:t>
            </a:r>
          </a:p>
        </p:txBody>
      </p:sp>
      <p:sp>
        <p:nvSpPr>
          <p:cNvPr id="7" name="Block heading 2">
            <a:extLst>
              <a:ext uri="{FF2B5EF4-FFF2-40B4-BE49-F238E27FC236}">
                <a16:creationId xmlns:a16="http://schemas.microsoft.com/office/drawing/2014/main" id="{74641074-8C48-4718-8B52-BCECB738A991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Πλεονεκτήματα</a:t>
            </a:r>
          </a:p>
        </p:txBody>
      </p:sp>
      <p:sp>
        <p:nvSpPr>
          <p:cNvPr id="8" name="Block body 2">
            <a:extLst>
              <a:ext uri="{FF2B5EF4-FFF2-40B4-BE49-F238E27FC236}">
                <a16:creationId xmlns:a16="http://schemas.microsoft.com/office/drawing/2014/main" id="{157AD8C4-C3EE-4447-BF30-043C6A40791F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Υποστηρίζουν πολύ υψηλές ταχύτητες και συνδέσεις πολλών χιλιομέτρων.</a:t>
            </a:r>
          </a:p>
        </p:txBody>
      </p:sp>
      <p:sp>
        <p:nvSpPr>
          <p:cNvPr id="9" name="Block heading 3">
            <a:extLst>
              <a:ext uri="{FF2B5EF4-FFF2-40B4-BE49-F238E27FC236}">
                <a16:creationId xmlns:a16="http://schemas.microsoft.com/office/drawing/2014/main" id="{B20CBE78-645C-4BFF-AC1F-3425223EC49C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Περιορισμοί</a:t>
            </a:r>
          </a:p>
        </p:txBody>
      </p:sp>
      <p:sp>
        <p:nvSpPr>
          <p:cNvPr id="10" name="Block body 3">
            <a:extLst>
              <a:ext uri="{FF2B5EF4-FFF2-40B4-BE49-F238E27FC236}">
                <a16:creationId xmlns:a16="http://schemas.microsoft.com/office/drawing/2014/main" id="{AD102521-5F83-4321-9621-73817E3FB9E3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Κοστίζουν περισσότερο και η εγκατάστασή τους είναι δυσκολότερη από την εγκατάσταση χάλκινων καλωδίων.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53125" y="2336057"/>
            <a:ext cx="4905375" cy="2947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149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Ασύρματη σύνδεση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63757"/>
            <a:ext cx="5952067" cy="4477604"/>
          </a:xfrm>
        </p:spPr>
        <p:txBody>
          <a:bodyPr>
            <a:normAutofit/>
          </a:bodyPr>
          <a:lstStyle/>
          <a:p>
            <a:endParaRPr sz="2800"/>
          </a:p>
        </p:txBody>
      </p:sp>
      <p:sp>
        <p:nvSpPr>
          <p:cNvPr id="5" name="Clean content area">
            <a:extLst>
              <a:ext uri="{FF2B5EF4-FFF2-40B4-BE49-F238E27FC236}">
                <a16:creationId xmlns:a16="http://schemas.microsoft.com/office/drawing/2014/main" id="{F8C4F0C0-2A39-4E9A-A186-81A7226AEA1F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AC8C75B5-C37F-4767-8064-A3B7BC8D9977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Θεωρία | Μέρος 2</a:t>
            </a:r>
          </a:p>
        </p:txBody>
      </p:sp>
      <p:sp>
        <p:nvSpPr>
          <p:cNvPr id="7" name="Block heading 1">
            <a:extLst>
              <a:ext uri="{FF2B5EF4-FFF2-40B4-BE49-F238E27FC236}">
                <a16:creationId xmlns:a16="http://schemas.microsoft.com/office/drawing/2014/main" id="{2870043F-D99C-4727-8189-FDB6FF1250A4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Πλεονεκτήματα</a:t>
            </a:r>
          </a:p>
        </p:txBody>
      </p:sp>
      <p:sp>
        <p:nvSpPr>
          <p:cNvPr id="8" name="Block body 1">
            <a:extLst>
              <a:ext uri="{FF2B5EF4-FFF2-40B4-BE49-F238E27FC236}">
                <a16:creationId xmlns:a16="http://schemas.microsoft.com/office/drawing/2014/main" id="{9BD27CAC-5E05-42B4-B1A2-FB76096600C5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Η σύνδεση γίνεται εύκολα και η συσκευή μπορεί να μετακινείται χωρίς καλώδιο.</a:t>
            </a:r>
          </a:p>
        </p:txBody>
      </p:sp>
      <p:sp>
        <p:nvSpPr>
          <p:cNvPr id="9" name="Block heading 2">
            <a:extLst>
              <a:ext uri="{FF2B5EF4-FFF2-40B4-BE49-F238E27FC236}">
                <a16:creationId xmlns:a16="http://schemas.microsoft.com/office/drawing/2014/main" id="{3D17DD30-C596-47D1-94A0-925FCBFCF1E6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Σήμα</a:t>
            </a:r>
          </a:p>
        </p:txBody>
      </p:sp>
      <p:sp>
        <p:nvSpPr>
          <p:cNvPr id="10" name="Block body 2">
            <a:extLst>
              <a:ext uri="{FF2B5EF4-FFF2-40B4-BE49-F238E27FC236}">
                <a16:creationId xmlns:a16="http://schemas.microsoft.com/office/drawing/2014/main" id="{E1FF8EDF-CD67-4050-9AB4-2E45C1FE6EF3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Η απόσταση και τα φυσικά εμπόδια μπορούν να μειώσουν την ποιότητα της σύνδεσης.</a:t>
            </a:r>
          </a:p>
        </p:txBody>
      </p:sp>
      <p:sp>
        <p:nvSpPr>
          <p:cNvPr id="11" name="Block heading 3">
            <a:extLst>
              <a:ext uri="{FF2B5EF4-FFF2-40B4-BE49-F238E27FC236}">
                <a16:creationId xmlns:a16="http://schemas.microsoft.com/office/drawing/2014/main" id="{668701BD-DF1D-4F5C-B193-BB20A13AB5F0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Παρεμβολές και ασφάλεια</a:t>
            </a:r>
          </a:p>
        </p:txBody>
      </p:sp>
      <p:sp>
        <p:nvSpPr>
          <p:cNvPr id="12" name="Block body 3">
            <a:extLst>
              <a:ext uri="{FF2B5EF4-FFF2-40B4-BE49-F238E27FC236}">
                <a16:creationId xmlns:a16="http://schemas.microsoft.com/office/drawing/2014/main" id="{45B4B7F5-0880-4DC5-834A-2960DF836EB9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Άλλες ασύρματες συσκευές μπορεί να προκαλέσουν παρεμβολές. Το δίκτυο χρειάζεται κατάλληλη προστασία.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453188" y="1857375"/>
            <a:ext cx="39052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881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Ταχύτητα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 vert="horz" lIns="91440" tIns="45720" rIns="91440" bIns="45720">
            <a:norm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9" name="Clean content area">
            <a:extLst>
              <a:ext uri="{FF2B5EF4-FFF2-40B4-BE49-F238E27FC236}">
                <a16:creationId xmlns:a16="http://schemas.microsoft.com/office/drawing/2014/main" id="{5AC6E51A-2553-4EAC-84B5-CC8A0E54FFC0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0" name="Section reference">
            <a:extLst>
              <a:ext uri="{FF2B5EF4-FFF2-40B4-BE49-F238E27FC236}">
                <a16:creationId xmlns:a16="http://schemas.microsoft.com/office/drawing/2014/main" id="{7EC71942-C115-4154-8688-97C8FC3B8B2B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Θεωρία | Μέρος 2</a:t>
            </a:r>
          </a:p>
        </p:txBody>
      </p:sp>
      <p:sp>
        <p:nvSpPr>
          <p:cNvPr id="41" name="Block heading 1">
            <a:extLst>
              <a:ext uri="{FF2B5EF4-FFF2-40B4-BE49-F238E27FC236}">
                <a16:creationId xmlns:a16="http://schemas.microsoft.com/office/drawing/2014/main" id="{BD2F4B4B-DB2B-4CD9-BDC4-390A30E57A92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bps</a:t>
            </a:r>
          </a:p>
        </p:txBody>
      </p:sp>
      <p:sp>
        <p:nvSpPr>
          <p:cNvPr id="42" name="Block body 1">
            <a:extLst>
              <a:ext uri="{FF2B5EF4-FFF2-40B4-BE49-F238E27FC236}">
                <a16:creationId xmlns:a16="http://schemas.microsoft.com/office/drawing/2014/main" id="{55E9E526-A8D8-49A3-8C7D-BCD6034D159A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Η ταχύτητα δείχνει πόσα bits μεταφέρονται ανά δευτερόλεπτο.</a:t>
            </a:r>
          </a:p>
        </p:txBody>
      </p:sp>
      <p:sp>
        <p:nvSpPr>
          <p:cNvPr id="43" name="Block heading 2">
            <a:extLst>
              <a:ext uri="{FF2B5EF4-FFF2-40B4-BE49-F238E27FC236}">
                <a16:creationId xmlns:a16="http://schemas.microsoft.com/office/drawing/2014/main" id="{DF67FA99-2A3D-4100-BD08-9937E9976E36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Μονάδες</a:t>
            </a:r>
          </a:p>
        </p:txBody>
      </p:sp>
      <p:sp>
        <p:nvSpPr>
          <p:cNvPr id="44" name="Block body 2">
            <a:extLst>
              <a:ext uri="{FF2B5EF4-FFF2-40B4-BE49-F238E27FC236}">
                <a16:creationId xmlns:a16="http://schemas.microsoft.com/office/drawing/2014/main" id="{6FF537DB-5C30-41AF-8D84-44216D166F24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συνηθισμένες μονάδες είναι Kbps, Mbps και Gbps.</a:t>
            </a:r>
          </a:p>
        </p:txBody>
      </p:sp>
      <p:sp>
        <p:nvSpPr>
          <p:cNvPr id="45" name="Block heading 3">
            <a:extLst>
              <a:ext uri="{FF2B5EF4-FFF2-40B4-BE49-F238E27FC236}">
                <a16:creationId xmlns:a16="http://schemas.microsoft.com/office/drawing/2014/main" id="{6F498E4C-8543-4F4D-A939-FB29A4F5F48E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Παράγοντες</a:t>
            </a:r>
          </a:p>
        </p:txBody>
      </p:sp>
      <p:sp>
        <p:nvSpPr>
          <p:cNvPr id="46" name="Block body 3">
            <a:extLst>
              <a:ext uri="{FF2B5EF4-FFF2-40B4-BE49-F238E27FC236}">
                <a16:creationId xmlns:a16="http://schemas.microsoft.com/office/drawing/2014/main" id="{A3CE1A48-CEF0-4B05-AE13-BD17F3B30844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Η πραγματική ταχύτητα εξαρτάται από το μέσο σύνδεσης και τις δυνατότητες των συσκευών.</a:t>
            </a:r>
          </a:p>
        </p:txBody>
      </p:sp>
    </p:spTree>
    <p:extLst>
      <p:ext uri="{BB962C8B-B14F-4D97-AF65-F5344CB8AC3E}">
        <p14:creationId xmlns:p14="http://schemas.microsoft.com/office/powerpoint/2010/main" val="1459875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Ταχύτητες Μεταφοράς Δεδομένων </a:t>
            </a:r>
            <a:br>
              <a:rPr lang="el-GR" dirty="0"/>
            </a:br>
            <a:r>
              <a:rPr lang="el-GR" dirty="0">
                <a:solidFill>
                  <a:srgbClr val="FF0000"/>
                </a:solidFill>
              </a:rPr>
              <a:t>(</a:t>
            </a:r>
            <a:r>
              <a:rPr lang="el-GR" dirty="0" err="1">
                <a:solidFill>
                  <a:srgbClr val="FF0000"/>
                </a:solidFill>
              </a:rPr>
              <a:t>bps</a:t>
            </a:r>
            <a:r>
              <a:rPr lang="el-GR" dirty="0">
                <a:solidFill>
                  <a:srgbClr val="FF0000"/>
                </a:solidFill>
              </a:rPr>
              <a:t>, </a:t>
            </a:r>
            <a:r>
              <a:rPr lang="el-GR" dirty="0" err="1">
                <a:solidFill>
                  <a:srgbClr val="FF0000"/>
                </a:solidFill>
              </a:rPr>
              <a:t>Kbps</a:t>
            </a:r>
            <a:r>
              <a:rPr lang="el-GR" dirty="0">
                <a:solidFill>
                  <a:srgbClr val="FF0000"/>
                </a:solidFill>
              </a:rPr>
              <a:t>, </a:t>
            </a:r>
            <a:r>
              <a:rPr lang="el-GR" dirty="0" err="1">
                <a:solidFill>
                  <a:srgbClr val="FF0000"/>
                </a:solidFill>
              </a:rPr>
              <a:t>Mbps</a:t>
            </a:r>
            <a:r>
              <a:rPr lang="el-GR" dirty="0">
                <a:solidFill>
                  <a:srgbClr val="FF0000"/>
                </a:solidFill>
              </a:rPr>
              <a:t> και </a:t>
            </a:r>
            <a:r>
              <a:rPr lang="el-GR" dirty="0" err="1">
                <a:solidFill>
                  <a:srgbClr val="FF0000"/>
                </a:solidFill>
              </a:rPr>
              <a:t>Gbps</a:t>
            </a:r>
            <a:r>
              <a:rPr lang="el-GR" dirty="0">
                <a:solidFill>
                  <a:srgbClr val="FF0000"/>
                </a:solidFill>
              </a:rPr>
              <a:t>)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6730" y="1850038"/>
            <a:ext cx="8596668" cy="3880773"/>
          </a:xfrm>
        </p:spPr>
        <p:txBody>
          <a:bodyPr>
            <a:normAutofit/>
          </a:bodyPr>
          <a:lstStyle/>
          <a:p>
            <a:r>
              <a:rPr lang="el-GR" sz="3200" dirty="0">
                <a:solidFill>
                  <a:schemeClr val="accent2">
                    <a:lumMod val="50000"/>
                  </a:schemeClr>
                </a:solidFill>
              </a:rPr>
              <a:t>Ο αριθμός δυαδικών ψηφίων (</a:t>
            </a:r>
            <a:r>
              <a:rPr lang="el-GR" sz="3200" dirty="0" err="1">
                <a:solidFill>
                  <a:schemeClr val="accent2">
                    <a:lumMod val="50000"/>
                  </a:schemeClr>
                </a:solidFill>
              </a:rPr>
              <a:t>bits</a:t>
            </a:r>
            <a:r>
              <a:rPr lang="el-GR" sz="3200" dirty="0">
                <a:solidFill>
                  <a:schemeClr val="accent2">
                    <a:lumMod val="50000"/>
                  </a:schemeClr>
                </a:solidFill>
              </a:rPr>
              <a:t>) που μεταφέρονται από συσκευή σε συσκευή ανά δευτερόλεπτο (</a:t>
            </a:r>
            <a:r>
              <a:rPr lang="el-GR" sz="3200" dirty="0" err="1">
                <a:solidFill>
                  <a:schemeClr val="accent2">
                    <a:lumMod val="50000"/>
                  </a:schemeClr>
                </a:solidFill>
              </a:rPr>
              <a:t>second</a:t>
            </a:r>
            <a:r>
              <a:rPr lang="el-GR" sz="3200" dirty="0">
                <a:solidFill>
                  <a:schemeClr val="accent2">
                    <a:lumMod val="50000"/>
                  </a:schemeClr>
                </a:solidFill>
              </a:rPr>
              <a:t>) - </a:t>
            </a:r>
            <a:r>
              <a:rPr lang="el-GR" sz="3200" dirty="0" err="1">
                <a:solidFill>
                  <a:schemeClr val="accent2">
                    <a:lumMod val="50000"/>
                  </a:schemeClr>
                </a:solidFill>
              </a:rPr>
              <a:t>bits</a:t>
            </a:r>
            <a:r>
              <a:rPr lang="el-GR" sz="3200" dirty="0">
                <a:solidFill>
                  <a:schemeClr val="accent2">
                    <a:lumMod val="50000"/>
                  </a:schemeClr>
                </a:solidFill>
              </a:rPr>
              <a:t> per </a:t>
            </a:r>
            <a:r>
              <a:rPr lang="el-GR" sz="3200" dirty="0" err="1">
                <a:solidFill>
                  <a:schemeClr val="accent2">
                    <a:lumMod val="50000"/>
                  </a:schemeClr>
                </a:solidFill>
              </a:rPr>
              <a:t>second</a:t>
            </a:r>
            <a:r>
              <a:rPr lang="el-GR" sz="3200" dirty="0">
                <a:solidFill>
                  <a:schemeClr val="accent2">
                    <a:lumMod val="50000"/>
                  </a:schemeClr>
                </a:solidFill>
              </a:rPr>
              <a:t> (</a:t>
            </a:r>
            <a:r>
              <a:rPr lang="el-GR" sz="3200" dirty="0" err="1">
                <a:solidFill>
                  <a:schemeClr val="accent2">
                    <a:lumMod val="50000"/>
                  </a:schemeClr>
                </a:solidFill>
              </a:rPr>
              <a:t>bps</a:t>
            </a:r>
            <a:r>
              <a:rPr lang="el-GR" sz="3200" dirty="0">
                <a:solidFill>
                  <a:schemeClr val="accent2">
                    <a:lumMod val="50000"/>
                  </a:schemeClr>
                </a:solidFill>
              </a:rPr>
              <a:t>, ή b/s).</a:t>
            </a:r>
          </a:p>
          <a:p>
            <a:endParaRPr lang="el-GR" sz="3200" dirty="0">
              <a:solidFill>
                <a:schemeClr val="accent2">
                  <a:lumMod val="50000"/>
                </a:schemeClr>
              </a:solidFill>
            </a:endParaRPr>
          </a:p>
          <a:p>
            <a:r>
              <a:rPr lang="el-GR" sz="2800" b="1" dirty="0">
                <a:solidFill>
                  <a:srgbClr val="FF0000"/>
                </a:solidFill>
              </a:rPr>
              <a:t>Εξαρτάται από τη δυνατότητα της συσκευής και το είδος του μέσου μετάδοσης. </a:t>
            </a:r>
            <a:endParaRPr lang="el-GR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7266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Ταχύτητες Μεταφοράς Δεδομένων </a:t>
            </a:r>
            <a:br>
              <a:rPr lang="el-GR" dirty="0"/>
            </a:br>
            <a:r>
              <a:rPr lang="el-GR" dirty="0">
                <a:solidFill>
                  <a:srgbClr val="FF0000"/>
                </a:solidFill>
              </a:rPr>
              <a:t>(</a:t>
            </a:r>
            <a:r>
              <a:rPr lang="el-GR" dirty="0" err="1">
                <a:solidFill>
                  <a:srgbClr val="FF0000"/>
                </a:solidFill>
              </a:rPr>
              <a:t>bps</a:t>
            </a:r>
            <a:r>
              <a:rPr lang="el-GR" dirty="0">
                <a:solidFill>
                  <a:srgbClr val="FF0000"/>
                </a:solidFill>
              </a:rPr>
              <a:t>, </a:t>
            </a:r>
            <a:r>
              <a:rPr lang="el-GR" dirty="0" err="1">
                <a:solidFill>
                  <a:srgbClr val="FF0000"/>
                </a:solidFill>
              </a:rPr>
              <a:t>Kbps</a:t>
            </a:r>
            <a:r>
              <a:rPr lang="el-GR" dirty="0">
                <a:solidFill>
                  <a:srgbClr val="FF0000"/>
                </a:solidFill>
              </a:rPr>
              <a:t>, </a:t>
            </a:r>
            <a:r>
              <a:rPr lang="el-GR" dirty="0" err="1">
                <a:solidFill>
                  <a:srgbClr val="FF0000"/>
                </a:solidFill>
              </a:rPr>
              <a:t>Mbps</a:t>
            </a:r>
            <a:r>
              <a:rPr lang="el-GR" dirty="0">
                <a:solidFill>
                  <a:srgbClr val="FF0000"/>
                </a:solidFill>
              </a:rPr>
              <a:t> και </a:t>
            </a:r>
            <a:r>
              <a:rPr lang="el-GR" dirty="0" err="1">
                <a:solidFill>
                  <a:srgbClr val="FF0000"/>
                </a:solidFill>
              </a:rPr>
              <a:t>Gbps</a:t>
            </a:r>
            <a:r>
              <a:rPr lang="el-GR" dirty="0">
                <a:solidFill>
                  <a:srgbClr val="FF0000"/>
                </a:solidFill>
              </a:rPr>
              <a:t>)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l-GR" sz="3000" dirty="0"/>
              <a:t>Τα πολλαπλάσια του </a:t>
            </a:r>
            <a:r>
              <a:rPr lang="el-GR" sz="3000" dirty="0" err="1"/>
              <a:t>bps</a:t>
            </a:r>
            <a:r>
              <a:rPr lang="el-GR" sz="3000" dirty="0"/>
              <a:t> είναι:</a:t>
            </a:r>
          </a:p>
          <a:p>
            <a:pPr marL="914400" lvl="1" indent="-514350">
              <a:buFont typeface="+mj-lt"/>
              <a:buAutoNum type="arabicPeriod"/>
            </a:pPr>
            <a:r>
              <a:rPr lang="el-GR" sz="2800" dirty="0"/>
              <a:t>1 </a:t>
            </a:r>
            <a:r>
              <a:rPr lang="en-US" sz="2800" dirty="0"/>
              <a:t>Kbps ≈ 1.000 bps </a:t>
            </a:r>
          </a:p>
          <a:p>
            <a:pPr marL="914400" lvl="1" indent="-514350">
              <a:buFont typeface="+mj-lt"/>
              <a:buAutoNum type="arabicPeriod"/>
            </a:pPr>
            <a:r>
              <a:rPr lang="el-GR" sz="2800" dirty="0"/>
              <a:t>1 </a:t>
            </a:r>
            <a:r>
              <a:rPr lang="en-US" sz="2800" dirty="0"/>
              <a:t>Mbps ≈ 1.000.000 bps </a:t>
            </a:r>
          </a:p>
          <a:p>
            <a:pPr marL="914400" lvl="1" indent="-514350">
              <a:buFont typeface="+mj-lt"/>
              <a:buAutoNum type="arabicPeriod"/>
            </a:pPr>
            <a:r>
              <a:rPr lang="el-GR" sz="2800" dirty="0"/>
              <a:t>1 </a:t>
            </a:r>
            <a:r>
              <a:rPr lang="en-US" sz="2800" dirty="0" err="1"/>
              <a:t>Gbps</a:t>
            </a:r>
            <a:r>
              <a:rPr lang="en-US" sz="2800" dirty="0"/>
              <a:t> ≈ 1.000.000.000 bps </a:t>
            </a:r>
          </a:p>
          <a:p>
            <a:pPr marL="0" indent="0" algn="just">
              <a:buNone/>
            </a:pPr>
            <a:endParaRPr lang="el-GR" sz="40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3452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Υπηρεσίες δικτύου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B3F7303-CEA4-CFC4-5052-5C4AC6274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6716071" cy="3880772"/>
          </a:xfrm>
        </p:spPr>
        <p:txBody>
          <a:bodyPr>
            <a:normAutofit/>
          </a:bodyPr>
          <a:lstStyle/>
          <a:p>
            <a:endParaRPr/>
          </a:p>
        </p:txBody>
      </p:sp>
      <p:sp>
        <p:nvSpPr>
          <p:cNvPr id="5" name="Clean content area">
            <a:extLst>
              <a:ext uri="{FF2B5EF4-FFF2-40B4-BE49-F238E27FC236}">
                <a16:creationId xmlns:a16="http://schemas.microsoft.com/office/drawing/2014/main" id="{2665A598-14EA-47CE-8D97-710DB5118506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B912E555-D9EC-422C-B2C8-039D3FA6DE11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Θεωρία | Μέρος 2</a:t>
            </a:r>
          </a:p>
        </p:txBody>
      </p:sp>
      <p:sp>
        <p:nvSpPr>
          <p:cNvPr id="7" name="Block heading 1">
            <a:extLst>
              <a:ext uri="{FF2B5EF4-FFF2-40B4-BE49-F238E27FC236}">
                <a16:creationId xmlns:a16="http://schemas.microsoft.com/office/drawing/2014/main" id="{EC0A44CB-5D23-4C66-B72B-0E57B2B3C902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Τοπικό δίκτυο</a:t>
            </a:r>
          </a:p>
        </p:txBody>
      </p:sp>
      <p:sp>
        <p:nvSpPr>
          <p:cNvPr id="8" name="Block body 1">
            <a:extLst>
              <a:ext uri="{FF2B5EF4-FFF2-40B4-BE49-F238E27FC236}">
                <a16:creationId xmlns:a16="http://schemas.microsoft.com/office/drawing/2014/main" id="{DA9AE494-1D41-4B99-9FA2-68B4C6F0629D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Μπορεί να παρέχει κοινόχρηστα αρχεία, λογισμικό και εκτυπωτές.</a:t>
            </a:r>
          </a:p>
        </p:txBody>
      </p:sp>
      <p:sp>
        <p:nvSpPr>
          <p:cNvPr id="9" name="Block heading 2">
            <a:extLst>
              <a:ext uri="{FF2B5EF4-FFF2-40B4-BE49-F238E27FC236}">
                <a16:creationId xmlns:a16="http://schemas.microsoft.com/office/drawing/2014/main" id="{4339F8F6-22FD-4B7B-A618-B6AF147C937C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Παγκόσμιος Ιστός</a:t>
            </a:r>
          </a:p>
        </p:txBody>
      </p:sp>
      <p:sp>
        <p:nvSpPr>
          <p:cNvPr id="10" name="Block body 2">
            <a:extLst>
              <a:ext uri="{FF2B5EF4-FFF2-40B4-BE49-F238E27FC236}">
                <a16:creationId xmlns:a16="http://schemas.microsoft.com/office/drawing/2014/main" id="{69D5182C-071A-4BC3-B17B-4FD64AD7CA8C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Μεταφέρει ιστοσελίδες και άλλα αρχεία ανάμεσα σε web servers και φυλλομετρητές.</a:t>
            </a:r>
          </a:p>
        </p:txBody>
      </p:sp>
      <p:sp>
        <p:nvSpPr>
          <p:cNvPr id="11" name="Block heading 3">
            <a:extLst>
              <a:ext uri="{FF2B5EF4-FFF2-40B4-BE49-F238E27FC236}">
                <a16:creationId xmlns:a16="http://schemas.microsoft.com/office/drawing/2014/main" id="{027FD00B-01FA-462B-9F5B-C94B8F9E4FBE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Άλλες υπηρεσίες</a:t>
            </a:r>
          </a:p>
        </p:txBody>
      </p:sp>
      <p:sp>
        <p:nvSpPr>
          <p:cNvPr id="12" name="Block body 3">
            <a:extLst>
              <a:ext uri="{FF2B5EF4-FFF2-40B4-BE49-F238E27FC236}">
                <a16:creationId xmlns:a16="http://schemas.microsoft.com/office/drawing/2014/main" id="{3326F68E-53BC-46F3-A6A2-D071D9D188E2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Το ηλεκτρονικό ταχυδρομείο, η μεταφορά αρχείων και η διαδραστική επικοινωνία λειτουργούν μέσω δικτύων.</a:t>
            </a:r>
          </a:p>
        </p:txBody>
      </p:sp>
    </p:spTree>
    <p:extLst>
      <p:ext uri="{BB962C8B-B14F-4D97-AF65-F5344CB8AC3E}">
        <p14:creationId xmlns:p14="http://schemas.microsoft.com/office/powerpoint/2010/main" val="3786659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24EE7-B9BA-0224-B2C0-9853440AA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3001"/>
          </a:xfrm>
        </p:spPr>
        <p:txBody>
          <a:bodyPr/>
          <a:lstStyle/>
          <a:p>
            <a:r>
              <a:t>Δραστηριότητες Εμπέδωσης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059D2-7234-9A18-8EC3-97389EC07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1528147"/>
            <a:ext cx="7080326" cy="576262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F9A9EA-A3CB-AC85-3752-6360C044E60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309955"/>
            <a:ext cx="4185623" cy="3304117"/>
          </a:xfrm>
        </p:spPr>
        <p:txBody>
          <a:bodyPr>
            <a:normAutofit/>
          </a:bodyPr>
          <a:lstStyle/>
          <a:p>
            <a:endParaRPr sz="2400"/>
          </a:p>
        </p:txBody>
      </p:sp>
      <p:sp>
        <p:nvSpPr>
          <p:cNvPr id="6" name="Clean content area">
            <a:extLst>
              <a:ext uri="{FF2B5EF4-FFF2-40B4-BE49-F238E27FC236}">
                <a16:creationId xmlns:a16="http://schemas.microsoft.com/office/drawing/2014/main" id="{1385200B-5A3C-4855-A173-8DF2E9CCB76F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7" name="Section reference">
            <a:extLst>
              <a:ext uri="{FF2B5EF4-FFF2-40B4-BE49-F238E27FC236}">
                <a16:creationId xmlns:a16="http://schemas.microsoft.com/office/drawing/2014/main" id="{89EFA94F-8322-4052-9DD0-EB8F102923AA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A.5.M1 | Μέρος 2</a:t>
            </a:r>
          </a:p>
        </p:txBody>
      </p:sp>
      <p:sp>
        <p:nvSpPr>
          <p:cNvPr id="8" name="Block heading 1">
            <a:extLst>
              <a:ext uri="{FF2B5EF4-FFF2-40B4-BE49-F238E27FC236}">
                <a16:creationId xmlns:a16="http://schemas.microsoft.com/office/drawing/2014/main" id="{83997FA5-1DE0-4658-B52E-9AC082B37F3A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4</a:t>
            </a:r>
          </a:p>
        </p:txBody>
      </p:sp>
      <p:sp>
        <p:nvSpPr>
          <p:cNvPr id="9" name="Block body 1">
            <a:extLst>
              <a:ext uri="{FF2B5EF4-FFF2-40B4-BE49-F238E27FC236}">
                <a16:creationId xmlns:a16="http://schemas.microsoft.com/office/drawing/2014/main" id="{285999A5-150B-44D2-BF15-92DD95CB076E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725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Επιλογή του κατάλληλου μέσου σύνδεσης για κάθε περίπτωση.</a:t>
            </a:r>
          </a:p>
        </p:txBody>
      </p:sp>
      <p:sp>
        <p:nvSpPr>
          <p:cNvPr id="10" name="Block heading 2">
            <a:extLst>
              <a:ext uri="{FF2B5EF4-FFF2-40B4-BE49-F238E27FC236}">
                <a16:creationId xmlns:a16="http://schemas.microsoft.com/office/drawing/2014/main" id="{6C94165B-160A-4D73-8B1A-856215A18936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5</a:t>
            </a:r>
          </a:p>
        </p:txBody>
      </p:sp>
      <p:sp>
        <p:nvSpPr>
          <p:cNvPr id="11" name="Block body 2">
            <a:extLst>
              <a:ext uri="{FF2B5EF4-FFF2-40B4-BE49-F238E27FC236}">
                <a16:creationId xmlns:a16="http://schemas.microsoft.com/office/drawing/2014/main" id="{A5F9D648-81F9-4956-8EFC-E711AE7164C4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725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Δύο πλεονεκτήματα και δύο μειονεκτήματα των ασύρματων δικτύων.</a:t>
            </a:r>
          </a:p>
        </p:txBody>
      </p:sp>
      <p:sp>
        <p:nvSpPr>
          <p:cNvPr id="12" name="Block heading 3">
            <a:extLst>
              <a:ext uri="{FF2B5EF4-FFF2-40B4-BE49-F238E27FC236}">
                <a16:creationId xmlns:a16="http://schemas.microsoft.com/office/drawing/2014/main" id="{AE655A56-D8EC-4757-9C79-6C99C56BCAA4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6</a:t>
            </a:r>
          </a:p>
        </p:txBody>
      </p:sp>
      <p:sp>
        <p:nvSpPr>
          <p:cNvPr id="13" name="Block body 3">
            <a:extLst>
              <a:ext uri="{FF2B5EF4-FFF2-40B4-BE49-F238E27FC236}">
                <a16:creationId xmlns:a16="http://schemas.microsoft.com/office/drawing/2014/main" id="{B4DC63C6-0C8E-43C9-B123-0A03F72B47BA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725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Δύο υπηρεσίες του Διαδικτύου.</a:t>
            </a:r>
          </a:p>
        </p:txBody>
      </p:sp>
    </p:spTree>
    <p:extLst>
      <p:ext uri="{BB962C8B-B14F-4D97-AF65-F5344CB8AC3E}">
        <p14:creationId xmlns:p14="http://schemas.microsoft.com/office/powerpoint/2010/main" val="246781989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739</Words>
  <Application>Microsoft Office PowerPoint</Application>
  <DocSecurity>0</DocSecurity>
  <PresentationFormat>Widescreen</PresentationFormat>
  <Paragraphs>98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Trebuchet MS</vt:lpstr>
      <vt:lpstr>Wingdings 3</vt:lpstr>
      <vt:lpstr>Facet</vt:lpstr>
      <vt:lpstr>Δίκτυα Υπολογιστών Μέρος 2</vt:lpstr>
      <vt:lpstr>Μέσα σύνδεσης</vt:lpstr>
      <vt:lpstr>Καλώδια δικτύου</vt:lpstr>
      <vt:lpstr>Οπτικές ίνες</vt:lpstr>
      <vt:lpstr>Ασύρματη σύνδεση</vt:lpstr>
      <vt:lpstr>Ταχύτητα</vt:lpstr>
      <vt:lpstr>Ταχύτητες Μεταφοράς Δεδομένων  (bps, Kbps, Mbps και Gbps) </vt:lpstr>
      <vt:lpstr>Ταχύτητες Μεταφοράς Δεδομένων  (bps, Kbps, Mbps και Gbps) </vt:lpstr>
      <vt:lpstr>Υπηρεσίες δικτύου</vt:lpstr>
      <vt:lpstr>Δραστηριότητες Εμπέδωσης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2026-09-19T07:08:53Z</dcterms:created>
  <dcterms:modified xsi:type="dcterms:W3CDTF">2026-09-19T08:28:39Z</dcterms:modified>
</cp:coreProperties>
</file>