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73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B80C5-57BC-47FF-B3C0-641E5B3449A0}" v="4" dt="2026-10-07T06:57:53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">
      <pc:chgData name="Άριστος Αρέστη" userId="813aa191-2d4c-464f-9d05-0a7e494d859f" providerId="ADAL" clId="{49C7B61D-1ACF-4AFF-A04E-A3B433E32474}" dt="2026-10-07T19:33:04.501" v="57" actId="47"/>
      <pc:docMkLst>
        <pc:docMk/>
      </pc:docMkLst>
      <pc:sldChg chg="modSp mod">
        <pc:chgData name="Άριστος Αρέστη" userId="813aa191-2d4c-464f-9d05-0a7e494d859f" providerId="ADAL" clId="{49C7B61D-1ACF-4AFF-A04E-A3B433E32474}" dt="2026-10-07T06:57:36.382" v="41"/>
        <pc:sldMkLst>
          <pc:docMk/>
          <pc:sldMk cId="1459875993" sldId="258"/>
        </pc:sldMkLst>
        <pc:spChg chg="mod">
          <ac:chgData name="Άριστος Αρέστη" userId="813aa191-2d4c-464f-9d05-0a7e494d859f" providerId="ADAL" clId="{49C7B61D-1ACF-4AFF-A04E-A3B433E32474}" dt="2026-10-07T06:57:36.382" v="41"/>
          <ac:spMkLst>
            <pc:docMk/>
            <pc:sldMk cId="1459875993" sldId="258"/>
            <ac:spMk id="42" creationId="{FE084515-FC82-4168-8A3C-AC6B893C15FE}"/>
          </ac:spMkLst>
        </pc:spChg>
        <pc:spChg chg="mod">
          <ac:chgData name="Άριστος Αρέστη" userId="813aa191-2d4c-464f-9d05-0a7e494d859f" providerId="ADAL" clId="{49C7B61D-1ACF-4AFF-A04E-A3B433E32474}" dt="2026-09-19T08:06:08.348" v="0" actId="113"/>
          <ac:spMkLst>
            <pc:docMk/>
            <pc:sldMk cId="1459875993" sldId="258"/>
            <ac:spMk id="46" creationId="{0BC9A0EF-7A12-4A54-8CB9-C0283A5F465D}"/>
          </ac:spMkLst>
        </pc:spChg>
      </pc:sldChg>
      <pc:sldChg chg="modSp mod">
        <pc:chgData name="Άριστος Αρέστη" userId="813aa191-2d4c-464f-9d05-0a7e494d859f" providerId="ADAL" clId="{49C7B61D-1ACF-4AFF-A04E-A3B433E32474}" dt="2026-10-07T19:31:20.954" v="55" actId="20577"/>
        <pc:sldMkLst>
          <pc:docMk/>
          <pc:sldMk cId="643881412" sldId="260"/>
        </pc:sldMkLst>
        <pc:spChg chg="mod">
          <ac:chgData name="Άριστος Αρέστη" userId="813aa191-2d4c-464f-9d05-0a7e494d859f" providerId="ADAL" clId="{49C7B61D-1ACF-4AFF-A04E-A3B433E32474}" dt="2026-10-07T19:31:20.954" v="55" actId="20577"/>
          <ac:spMkLst>
            <pc:docMk/>
            <pc:sldMk cId="643881412" sldId="260"/>
            <ac:spMk id="12" creationId="{45B4B7F5-0880-4DC5-834A-2960DF836EB9}"/>
          </ac:spMkLst>
        </pc:spChg>
      </pc:sldChg>
      <pc:sldChg chg="del">
        <pc:chgData name="Άριστος Αρέστη" userId="813aa191-2d4c-464f-9d05-0a7e494d859f" providerId="ADAL" clId="{49C7B61D-1ACF-4AFF-A04E-A3B433E32474}" dt="2026-10-07T19:32:49.584" v="56" actId="47"/>
        <pc:sldMkLst>
          <pc:docMk/>
          <pc:sldMk cId="1459875993" sldId="261"/>
        </pc:sldMkLst>
      </pc:sldChg>
      <pc:sldChg chg="add del">
        <pc:chgData name="Άριστος Αρέστη" userId="813aa191-2d4c-464f-9d05-0a7e494d859f" providerId="ADAL" clId="{49C7B61D-1ACF-4AFF-A04E-A3B433E32474}" dt="2026-10-07T19:33:04.501" v="57" actId="47"/>
        <pc:sldMkLst>
          <pc:docMk/>
          <pc:sldMk cId="457266055" sldId="272"/>
        </pc:sldMkLst>
      </pc:sldChg>
      <pc:sldChg chg="add">
        <pc:chgData name="Άριστος Αρέστη" userId="813aa191-2d4c-464f-9d05-0a7e494d859f" providerId="ADAL" clId="{49C7B61D-1ACF-4AFF-A04E-A3B433E32474}" dt="2026-09-19T08:08:33.893" v="1"/>
        <pc:sldMkLst>
          <pc:docMk/>
          <pc:sldMk cId="3963452469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A.5.M1 Εισαγωγή.pptx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07-Oct-26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Δίκτυα Υπολογιστών</a:t>
            </a:r>
          </a:p>
          <a:p>
            <a:pPr algn="l">
              <a:buNone/>
            </a:pPr>
            <a:r>
              <a:t>Μέρος 2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Μέσα σύνδεσης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CE807267-4568-4FCE-85F7-D3698ECFAA8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1D877CD5-2DE9-42B1-97D7-26FDCA80E3D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2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98FC2AA6-4965-4816-ACC0-76C2F067B8C1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Καλώδια δικτύου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A0113B09-23E5-49F5-AC48-62711BF16B66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Μεταφέρουν τα δεδομένα με ηλεκτρικούς παλμούς.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C6F63A60-2788-45D4-B604-2D57BCDC916D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Οπτικές ίνες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2F13ECFC-AF4B-4737-B5D7-B145C406C5D1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Μεταφέρουν τα δεδομένα με φωτεινούς παλμούς.</a:t>
            </a:r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6788F802-98B6-4B13-9A5C-E718F5B7D729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Ασύρματη σύνδεση</a:t>
            </a: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997C3C59-4538-41F3-BE25-333A59B12542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Χρησιμοποιεί ηλεκτρομαγνητικά κύματα και δεν απαιτεί καλώδιο προς τη συσκευή.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3042595"/>
            <a:ext cx="4905375" cy="15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Καλώδια δικτύου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854612CA-C517-46CE-B0DB-F02D90E164A5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F796AF19-EC14-4CD6-A830-1AF26C2E9696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2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DC3E4429-37B4-49D9-A23D-8B068A728FC2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Cat 5 και Cat 6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FE084515-FC82-4168-8A3C-AC6B893C15F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Απ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οτελούν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συνηθισμέν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 καλώδια για σύνδεση υπολογιστών σε τοπικό δίκτυο.</a:t>
            </a:r>
            <a:r>
              <a:rPr lang="en-US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C9A1228C-4E57-4B2E-8D6A-72BFF13D5F58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Υπ</a:t>
            </a:r>
            <a:r>
              <a:rPr sz="1575" b="1" dirty="0" err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οδοχή</a:t>
            </a: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 RJ45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516BF146-546B-47CA-937E-79B249E8822C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κα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λώδιο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κατα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λήγει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σε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ειδικό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β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ύσμ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 που συνδέεται στην κάρτα δικτύου ή στο switch.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553C3E45-3941-4D74-8F8F-9AC820348B41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Απόσταση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0BC9A0EF-7A12-4A54-8CB9-C0283A5F465D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συνηθισμένη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1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μέγιστη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απ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όστ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αση μιας σύνδεσης με τέτοιο καλώδιο είναι περίπου 100 μέτρα.</a:t>
            </a: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1979371"/>
            <a:ext cx="4905375" cy="366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Οπτικές ίνες</a:t>
            </a:r>
          </a:p>
        </p:txBody>
      </p:sp>
      <p:sp>
        <p:nvSpPr>
          <p:cNvPr id="3" name="Clean content area">
            <a:extLst>
              <a:ext uri="{FF2B5EF4-FFF2-40B4-BE49-F238E27FC236}">
                <a16:creationId xmlns:a16="http://schemas.microsoft.com/office/drawing/2014/main" id="{191C7DC1-F6EF-447C-88C8-793873854644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ection reference">
            <a:extLst>
              <a:ext uri="{FF2B5EF4-FFF2-40B4-BE49-F238E27FC236}">
                <a16:creationId xmlns:a16="http://schemas.microsoft.com/office/drawing/2014/main" id="{D6C02044-8595-439E-9DD3-AB416BB3421C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2</a:t>
            </a:r>
          </a:p>
        </p:txBody>
      </p:sp>
      <p:sp>
        <p:nvSpPr>
          <p:cNvPr id="5" name="Block heading 1">
            <a:extLst>
              <a:ext uri="{FF2B5EF4-FFF2-40B4-BE49-F238E27FC236}">
                <a16:creationId xmlns:a16="http://schemas.microsoft.com/office/drawing/2014/main" id="{6AFF6A65-D31F-4CF0-80D2-3A911C51E184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Τρόπος λειτουργίας</a:t>
            </a:r>
          </a:p>
        </p:txBody>
      </p:sp>
      <p:sp>
        <p:nvSpPr>
          <p:cNvPr id="6" name="Block body 1">
            <a:extLst>
              <a:ext uri="{FF2B5EF4-FFF2-40B4-BE49-F238E27FC236}">
                <a16:creationId xmlns:a16="http://schemas.microsoft.com/office/drawing/2014/main" id="{41A080D9-006E-4A2B-B6A9-0A013AB445AF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Χρησιμοποιούν φως αντί για ηλεκτρικό ρεύμα για τη μεταφορά δεδομένων.</a:t>
            </a:r>
          </a:p>
        </p:txBody>
      </p:sp>
      <p:sp>
        <p:nvSpPr>
          <p:cNvPr id="7" name="Block heading 2">
            <a:extLst>
              <a:ext uri="{FF2B5EF4-FFF2-40B4-BE49-F238E27FC236}">
                <a16:creationId xmlns:a16="http://schemas.microsoft.com/office/drawing/2014/main" id="{74641074-8C48-4718-8B52-BCECB738A991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Πλεονεκτήματα</a:t>
            </a:r>
          </a:p>
        </p:txBody>
      </p:sp>
      <p:sp>
        <p:nvSpPr>
          <p:cNvPr id="8" name="Block body 2">
            <a:extLst>
              <a:ext uri="{FF2B5EF4-FFF2-40B4-BE49-F238E27FC236}">
                <a16:creationId xmlns:a16="http://schemas.microsoft.com/office/drawing/2014/main" id="{157AD8C4-C3EE-4447-BF30-043C6A40791F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Υποστηρίζουν πολύ υψηλές ταχύτητες και συνδέσεις πολλών χιλιομέτρων.</a:t>
            </a:r>
          </a:p>
        </p:txBody>
      </p:sp>
      <p:sp>
        <p:nvSpPr>
          <p:cNvPr id="9" name="Block heading 3">
            <a:extLst>
              <a:ext uri="{FF2B5EF4-FFF2-40B4-BE49-F238E27FC236}">
                <a16:creationId xmlns:a16="http://schemas.microsoft.com/office/drawing/2014/main" id="{B20CBE78-645C-4BFF-AC1F-3425223EC49C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Περιορισμοί</a:t>
            </a:r>
          </a:p>
        </p:txBody>
      </p:sp>
      <p:sp>
        <p:nvSpPr>
          <p:cNvPr id="10" name="Block body 3">
            <a:extLst>
              <a:ext uri="{FF2B5EF4-FFF2-40B4-BE49-F238E27FC236}">
                <a16:creationId xmlns:a16="http://schemas.microsoft.com/office/drawing/2014/main" id="{AD102521-5F83-4321-9621-73817E3FB9E3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Κοστίζουν περισσότερο και η εγκατάστασή τους είναι δυσκολότερη από την εγκατάσταση χάλκινων καλωδίων.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336057"/>
            <a:ext cx="4905375" cy="294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Ασύρματη σύνδεση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F8C4F0C0-2A39-4E9A-A186-81A7226AEA1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AC8C75B5-C37F-4767-8064-A3B7BC8D9977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2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2870043F-D99C-4727-8189-FDB6FF1250A4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Πλεονεκτήματα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9BD27CAC-5E05-42B4-B1A2-FB76096600C5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σύνδεση γίνεται εύκολα και η συσκευή μπορεί να μετακινείται χωρίς καλώδιο.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3D17DD30-C596-47D1-94A0-925FCBFCF1E6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Σήμα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E1FF8EDF-CD67-4050-9AB4-2E45C1FE6EF3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απόσταση και τα φυσικά εμπόδια μπορούν να μειώσουν την ποιότητα της σύνδεσης.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668701BD-DF1D-4F5C-B193-BB20A13AB5F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Παρεμβολές και ασφάλεια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45B4B7F5-0880-4DC5-834A-2960DF836EB9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Άλλες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α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σύρμ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ατες συσκευές μπορεί να προκαλέσουν παρεμβολές.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δίκτυο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χρειάζετ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αι κατάλληλη προστασία</a:t>
            </a:r>
            <a:r>
              <a:rPr lang="en-US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lang="el-GR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από υποκλοπές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53188" y="1857375"/>
            <a:ext cx="39052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Ταχύτητες Μεταφοράς Δεδομένων </a:t>
            </a:r>
            <a:br>
              <a:rPr lang="el-GR" dirty="0"/>
            </a:br>
            <a:r>
              <a:rPr lang="el-GR" dirty="0">
                <a:solidFill>
                  <a:srgbClr val="FF0000"/>
                </a:solidFill>
              </a:rPr>
              <a:t>(</a:t>
            </a:r>
            <a:r>
              <a:rPr lang="el-GR" dirty="0" err="1">
                <a:solidFill>
                  <a:srgbClr val="FF0000"/>
                </a:solidFill>
              </a:rPr>
              <a:t>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Kbps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Mbps</a:t>
            </a:r>
            <a:r>
              <a:rPr lang="el-GR" dirty="0">
                <a:solidFill>
                  <a:srgbClr val="FF0000"/>
                </a:solidFill>
              </a:rPr>
              <a:t> και </a:t>
            </a:r>
            <a:r>
              <a:rPr lang="el-GR" dirty="0" err="1">
                <a:solidFill>
                  <a:srgbClr val="FF0000"/>
                </a:solidFill>
              </a:rPr>
              <a:t>Gbps</a:t>
            </a:r>
            <a:r>
              <a:rPr lang="el-GR" dirty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3000" dirty="0"/>
              <a:t>Τα πολλαπλάσια του </a:t>
            </a:r>
            <a:r>
              <a:rPr lang="el-GR" sz="3000" dirty="0" err="1"/>
              <a:t>bps</a:t>
            </a:r>
            <a:r>
              <a:rPr lang="el-GR" sz="3000" dirty="0"/>
              <a:t> είναι: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Kbps ≈ 1.000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Mbps ≈ 1.000.000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 err="1"/>
              <a:t>Gbps</a:t>
            </a:r>
            <a:r>
              <a:rPr lang="en-US" sz="2800" dirty="0"/>
              <a:t> ≈ 1.000.000.000 bps </a:t>
            </a:r>
          </a:p>
          <a:p>
            <a:pPr marL="0" indent="0" algn="just">
              <a:buNone/>
            </a:pPr>
            <a:endParaRPr lang="el-GR" sz="4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45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Υπηρεσίες δικτύου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2665A598-14EA-47CE-8D97-710DB5118506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B912E555-D9EC-422C-B2C8-039D3FA6DE1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2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EC0A44CB-5D23-4C66-B72B-0E57B2B3C902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Τοπικό δίκτυο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DA9AE494-1D41-4B99-9FA2-68B4C6F0629D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Μπορεί να παρέχει κοινόχρηστα αρχεία, λογισμικό και εκτυπωτές.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4339F8F6-22FD-4B7B-A618-B6AF147C937C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Παγκόσμιος Ιστός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69D5182C-071A-4BC3-B17B-4FD64AD7CA8C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Μεταφέρει ιστοσελίδες και άλλα αρχεία ανάμεσα σε web servers και φυλλομετρητές.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027FD00B-01FA-462B-9F5B-C94B8F9E4FBE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Άλλες υπηρεσίες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3326F68E-53BC-46F3-A6A2-D071D9D188E2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ηλεκτρονικό ταχυδρομείο, η μεταφορά αρχείων και η διαδραστική επικοινωνία λειτουργούν μέσω δικτύων.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Δραστηριότητες Εμπέδωσης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1385200B-5A3C-4855-A173-8DF2E9CCB76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89EFA94F-8322-4052-9DD0-EB8F102923AA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Μέρος 2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83997FA5-1DE0-4658-B52E-9AC082B37F3A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285999A5-150B-44D2-BF15-92DD95CB076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Επιλογή του κατάλληλου μέσου σύνδεσης για κάθε περίπτωση.</a:t>
            </a:r>
          </a:p>
        </p:txBody>
      </p:sp>
      <p:sp>
        <p:nvSpPr>
          <p:cNvPr id="10" name="Block heading 2">
            <a:extLst>
              <a:ext uri="{FF2B5EF4-FFF2-40B4-BE49-F238E27FC236}">
                <a16:creationId xmlns:a16="http://schemas.microsoft.com/office/drawing/2014/main" id="{6C94165B-160A-4D73-8B1A-856215A18936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11" name="Block body 2">
            <a:extLst>
              <a:ext uri="{FF2B5EF4-FFF2-40B4-BE49-F238E27FC236}">
                <a16:creationId xmlns:a16="http://schemas.microsoft.com/office/drawing/2014/main" id="{A5F9D648-81F9-4956-8EFC-E711AE7164C4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Δύο πλεονεκτήματα και δύο μειονεκτήματα των ασύρματων δικτύων.</a:t>
            </a:r>
          </a:p>
        </p:txBody>
      </p:sp>
      <p:sp>
        <p:nvSpPr>
          <p:cNvPr id="12" name="Block heading 3">
            <a:extLst>
              <a:ext uri="{FF2B5EF4-FFF2-40B4-BE49-F238E27FC236}">
                <a16:creationId xmlns:a16="http://schemas.microsoft.com/office/drawing/2014/main" id="{AE655A56-D8EC-4757-9C79-6C99C56BCAA4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13" name="Block body 3">
            <a:extLst>
              <a:ext uri="{FF2B5EF4-FFF2-40B4-BE49-F238E27FC236}">
                <a16:creationId xmlns:a16="http://schemas.microsoft.com/office/drawing/2014/main" id="{B4DC63C6-0C8E-43C9-B123-0A03F72B47BA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Δύο υπηρεσίες του Διαδικτύου.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598</Words>
  <Application>Microsoft Office PowerPoint</Application>
  <DocSecurity>0</DocSecurity>
  <PresentationFormat>Widescreen</PresentationFormat>
  <Paragraphs>82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Δίκτυα Υπολογιστών Μέρος 2</vt:lpstr>
      <vt:lpstr>Μέσα σύνδεσης</vt:lpstr>
      <vt:lpstr>Καλώδια δικτύου</vt:lpstr>
      <vt:lpstr>Οπτικές ίνες</vt:lpstr>
      <vt:lpstr>Ασύρματη σύνδεση</vt:lpstr>
      <vt:lpstr>Ταχύτητες Μεταφοράς Δεδομένων  (bps, Kbps, Mbps και Gbps) </vt:lpstr>
      <vt:lpstr>Υπηρεσίες δικτύου</vt:lpstr>
      <vt:lpstr>Δραστηριότητες Εμπέδωσης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2026-09-19T07:08:53Z</dcterms:created>
  <dcterms:modified xsi:type="dcterms:W3CDTF">2026-10-07T19:33:10Z</dcterms:modified>
</cp:coreProperties>
</file>