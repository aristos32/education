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90cec11a1b4b9d" /><Relationship Type="http://schemas.openxmlformats.org/officeDocument/2006/relationships/extended-properties" Target="/docProps/app.xml" Id="Rec85b55f1fa14a96" /><Relationship Type="http://schemas.openxmlformats.org/officeDocument/2006/relationships/officeDocument" Target="/ppt/presentation.xml" Id="R5370300cb1c74c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b8390c44614c69"/>
  </p:sldMasterIdLst>
  <p:notesMasterIdLst>
    <p:notesMasterId xmlns:r="http://schemas.openxmlformats.org/officeDocument/2006/relationships" r:id="Rbf61ae9284394006"/>
  </p:notesMasterIdLst>
  <p:sldIdLst>
    <p:sldId xmlns:r="http://schemas.openxmlformats.org/officeDocument/2006/relationships" id="256" r:id="R2091123501a94795"/>
    <p:sldId xmlns:r="http://schemas.openxmlformats.org/officeDocument/2006/relationships" id="257" r:id="R73383edd6c474161"/>
    <p:sldId xmlns:r="http://schemas.openxmlformats.org/officeDocument/2006/relationships" id="258" r:id="R47bace9d1ec84f65"/>
    <p:sldId xmlns:r="http://schemas.openxmlformats.org/officeDocument/2006/relationships" id="259" r:id="Re96ea65e46d04072"/>
    <p:sldId xmlns:r="http://schemas.openxmlformats.org/officeDocument/2006/relationships" id="260" r:id="Rd7976d903d2e4f5e"/>
    <p:sldId xmlns:r="http://schemas.openxmlformats.org/officeDocument/2006/relationships" id="261" r:id="Rbcf1f5ce34944d70"/>
    <p:sldId xmlns:r="http://schemas.openxmlformats.org/officeDocument/2006/relationships" id="262" r:id="R6dfe6362aaba4ea3"/>
    <p:sldId xmlns:r="http://schemas.openxmlformats.org/officeDocument/2006/relationships" id="263" r:id="R78d694de7e9d4e5c"/>
    <p:sldId xmlns:r="http://schemas.openxmlformats.org/officeDocument/2006/relationships" id="264" r:id="R39562ffe986242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71926519014532" /><Relationship Type="http://schemas.openxmlformats.org/officeDocument/2006/relationships/slideMaster" Target="/ppt/slideMasters/slideMaster1.xml" Id="R54b8390c44614c69" /><Relationship Type="http://schemas.openxmlformats.org/officeDocument/2006/relationships/notesMaster" Target="/ppt/notesMasters/notesMaster1.xml" Id="Rbf61ae9284394006" /><Relationship Type="http://schemas.openxmlformats.org/officeDocument/2006/relationships/presProps" Target="/ppt/presProps.xml" Id="Rd8145b0d261242bc" /><Relationship Type="http://schemas.openxmlformats.org/officeDocument/2006/relationships/viewProps" Target="/ppt/viewProps.xml" Id="R4cad1daa575149ca" /><Relationship Type="http://schemas.openxmlformats.org/officeDocument/2006/relationships/tableStyles" Target="/ppt/tableStyles.xml" Id="R7dfebb481008405f" /><Relationship Type="http://schemas.openxmlformats.org/officeDocument/2006/relationships/slide" Target="/ppt/slides/slide1.xml" Id="R2091123501a94795" /><Relationship Type="http://schemas.openxmlformats.org/officeDocument/2006/relationships/slide" Target="/ppt/slides/slide2.xml" Id="R73383edd6c474161" /><Relationship Type="http://schemas.openxmlformats.org/officeDocument/2006/relationships/slide" Target="/ppt/slides/slide3.xml" Id="R47bace9d1ec84f65" /><Relationship Type="http://schemas.openxmlformats.org/officeDocument/2006/relationships/slide" Target="/ppt/slides/slide4.xml" Id="Re96ea65e46d04072" /><Relationship Type="http://schemas.openxmlformats.org/officeDocument/2006/relationships/slide" Target="/ppt/slides/slide5.xml" Id="Rd7976d903d2e4f5e" /><Relationship Type="http://schemas.openxmlformats.org/officeDocument/2006/relationships/slide" Target="/ppt/slides/slide6.xml" Id="Rbcf1f5ce34944d70" /><Relationship Type="http://schemas.openxmlformats.org/officeDocument/2006/relationships/slide" Target="/ppt/slides/slide7.xml" Id="R6dfe6362aaba4ea3" /><Relationship Type="http://schemas.openxmlformats.org/officeDocument/2006/relationships/slide" Target="/ppt/slides/slide8.xml" Id="R78d694de7e9d4e5c" /><Relationship Type="http://schemas.openxmlformats.org/officeDocument/2006/relationships/slide" Target="/ppt/slides/slide9.xml" Id="R39562ffe986242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2d61147fd04c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0e8a2c2b244820" /><Relationship Type="http://schemas.openxmlformats.org/officeDocument/2006/relationships/notesMaster" Target="/ppt/notesMasters/notesMaster1.xml" Id="Ree81d07d859240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478b8fff994097" /><Relationship Type="http://schemas.openxmlformats.org/officeDocument/2006/relationships/notesMaster" Target="/ppt/notesMasters/notesMaster1.xml" Id="R014cd3464a6c47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d344c06bf04d2f" /><Relationship Type="http://schemas.openxmlformats.org/officeDocument/2006/relationships/notesMaster" Target="/ppt/notesMasters/notesMaster1.xml" Id="Rda81b43963674b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65c0a08c654991" /><Relationship Type="http://schemas.openxmlformats.org/officeDocument/2006/relationships/notesMaster" Target="/ppt/notesMasters/notesMaster1.xml" Id="Ra0f54c95fe6a4f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fbe062e4b742d9" /><Relationship Type="http://schemas.openxmlformats.org/officeDocument/2006/relationships/notesMaster" Target="/ppt/notesMasters/notesMaster1.xml" Id="Rc2c934a5128144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e9f14668934f02" /><Relationship Type="http://schemas.openxmlformats.org/officeDocument/2006/relationships/notesMaster" Target="/ppt/notesMasters/notesMaster1.xml" Id="R7fddea82862947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bfcfdac01e43d3" /><Relationship Type="http://schemas.openxmlformats.org/officeDocument/2006/relationships/notesMaster" Target="/ppt/notesMasters/notesMaster1.xml" Id="R4d3376ce1cc342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37edc7683a4668" /><Relationship Type="http://schemas.openxmlformats.org/officeDocument/2006/relationships/notesMaster" Target="/ppt/notesMasters/notesMaster1.xml" Id="Ra52a7d73304b48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6ca34702dd4fac" /><Relationship Type="http://schemas.openxmlformats.org/officeDocument/2006/relationships/notesMaster" Target="/ppt/notesMasters/notesMaster1.xml" Id="Rbcb38ae42c0f45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Πρότυπο παρουσίασης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A.7.M13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A.7.M13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d75e33562f41b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d43f9ee07d4c3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b5fe542a1e401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eb69d9921a420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31554cc1e24cd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8d974e739849c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4a9731bf9f4fd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017340eb1e483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b2781997b24d9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63c0bfedf64d9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9e97a482e74a5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82441b5bf24a7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ad984d883b4c3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9d4f589c444f6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9b63a0590a4f3e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46c32628e2411c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7862"/>
            <a:ext cx="863600" cy="5698067"/>
          </a:xfrm>
          <a:custGeom xmlns:a="http://schemas.openxmlformats.org/drawingml/2006/main"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2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Isosceles Triangle 22">
            <a:extLst xmlns:a="http://schemas.openxmlformats.org/drawingml/2006/main"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Isosceles Triangle 26">
            <a:extLst xmlns:a="http://schemas.openxmlformats.org/drawingml/2006/main"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7" y="2404534"/>
            <a:ext cx="7766936" cy="164630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7067" y="4050833"/>
            <a:ext cx="7766936" cy="1096899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2700867"/>
            <a:ext cx="8596668" cy="1826581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0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86040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4184035" cy="38807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89970" y="2160589"/>
            <a:ext cx="4184034" cy="38807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2160983"/>
            <a:ext cx="418562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73724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88383" y="2160983"/>
            <a:ext cx="4185618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88384" y="2737245"/>
            <a:ext cx="4185617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1498604"/>
            <a:ext cx="3854528" cy="1278466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0461" y="514924"/>
            <a:ext cx="4513541" cy="552643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2777069"/>
            <a:ext cx="3854528" cy="25844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4800600"/>
            <a:ext cx="8596667" cy="566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77334" y="609600"/>
            <a:ext cx="8596668" cy="384571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5367338"/>
            <a:ext cx="8596667" cy="674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609600"/>
            <a:ext cx="8596668" cy="3403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366139" y="3632200"/>
            <a:ext cx="7224524" cy="381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1931988"/>
            <a:ext cx="8596668" cy="259546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799" y="609600"/>
            <a:ext cx="8588203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67673" y="609599"/>
            <a:ext cx="1304743" cy="5251451"/>
          </a:xfrm>
        </p:spPr>
        <p:txBody>
          <a:bodyPr xmlns:a="http://schemas.openxmlformats.org/drawingml/2006/main" vert="eaVert" anchor="ctr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609600"/>
            <a:ext cx="7060150" cy="525145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692d6983c7414c" /><Relationship Type="http://schemas.openxmlformats.org/officeDocument/2006/relationships/slideLayout" Target="/ppt/slideLayouts/slideLayout1.xml" Id="R87a3e914a5984245" /><Relationship Type="http://schemas.openxmlformats.org/officeDocument/2006/relationships/slideLayout" Target="/ppt/slideLayouts/slideLayout2.xml" Id="R59ee0d1ea4554448" /><Relationship Type="http://schemas.openxmlformats.org/officeDocument/2006/relationships/slideLayout" Target="/ppt/slideLayouts/slideLayout3.xml" Id="Rae6cc970f864423a" /><Relationship Type="http://schemas.openxmlformats.org/officeDocument/2006/relationships/slideLayout" Target="/ppt/slideLayouts/slideLayout4.xml" Id="R6db10d6fb4864d2c" /><Relationship Type="http://schemas.openxmlformats.org/officeDocument/2006/relationships/slideLayout" Target="/ppt/slideLayouts/slideLayout5.xml" Id="R0e4545998ee046d2" /><Relationship Type="http://schemas.openxmlformats.org/officeDocument/2006/relationships/slideLayout" Target="/ppt/slideLayouts/slideLayout6.xml" Id="R776236143ee54458" /><Relationship Type="http://schemas.openxmlformats.org/officeDocument/2006/relationships/slideLayout" Target="/ppt/slideLayouts/slideLayout7.xml" Id="R3fb1a1ae17db42b6" /><Relationship Type="http://schemas.openxmlformats.org/officeDocument/2006/relationships/slideLayout" Target="/ppt/slideLayouts/slideLayout8.xml" Id="R019e0543c8c94ef7" /><Relationship Type="http://schemas.openxmlformats.org/officeDocument/2006/relationships/slideLayout" Target="/ppt/slideLayouts/slideLayout9.xml" Id="R56e0303322da4f3f" /><Relationship Type="http://schemas.openxmlformats.org/officeDocument/2006/relationships/slideLayout" Target="/ppt/slideLayouts/slideLayout10.xml" Id="Rc3725e61f2484182" /><Relationship Type="http://schemas.openxmlformats.org/officeDocument/2006/relationships/slideLayout" Target="/ppt/slideLayouts/slideLayout11.xml" Id="R3262f76aa4374c6e" /><Relationship Type="http://schemas.openxmlformats.org/officeDocument/2006/relationships/slideLayout" Target="/ppt/slideLayouts/slideLayout12.xml" Id="R04c32ccbfd73433d" /><Relationship Type="http://schemas.openxmlformats.org/officeDocument/2006/relationships/slideLayout" Target="/ppt/slideLayouts/slideLayout13.xml" Id="Rf8e07b0dbf7d4783" /><Relationship Type="http://schemas.openxmlformats.org/officeDocument/2006/relationships/slideLayout" Target="/ppt/slideLayouts/slideLayout14.xml" Id="R7f958b36e5c84713" /><Relationship Type="http://schemas.openxmlformats.org/officeDocument/2006/relationships/slideLayout" Target="/ppt/slideLayouts/slideLayout15.xml" Id="R4cf7813c6e8d4fdb" /><Relationship Type="http://schemas.openxmlformats.org/officeDocument/2006/relationships/slideLayout" Target="/ppt/slideLayouts/slideLayout16.xml" Id="R073ed578c0d94a6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Isosceles Triangle 23">
            <a:extLst xmlns:a="http://schemas.openxmlformats.org/drawingml/2006/main"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Isosceles Triangle 27">
            <a:extLst xmlns:a="http://schemas.openxmlformats.org/drawingml/2006/main"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2160589"/>
            <a:ext cx="8596668" cy="38807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205133" y="6041362"/>
            <a:ext cx="9119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77334" y="6041362"/>
            <a:ext cx="629761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590663" y="6041362"/>
            <a:ext cx="6833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a3e914a5984245"/>
    <p:sldLayoutId xmlns:r="http://schemas.openxmlformats.org/officeDocument/2006/relationships" id="2147483650" r:id="R59ee0d1ea4554448"/>
    <p:sldLayoutId xmlns:r="http://schemas.openxmlformats.org/officeDocument/2006/relationships" id="2147483651" r:id="Rae6cc970f864423a"/>
    <p:sldLayoutId xmlns:r="http://schemas.openxmlformats.org/officeDocument/2006/relationships" id="2147483652" r:id="R6db10d6fb4864d2c"/>
    <p:sldLayoutId xmlns:r="http://schemas.openxmlformats.org/officeDocument/2006/relationships" id="2147483653" r:id="R0e4545998ee046d2"/>
    <p:sldLayoutId xmlns:r="http://schemas.openxmlformats.org/officeDocument/2006/relationships" id="2147483654" r:id="R776236143ee54458"/>
    <p:sldLayoutId xmlns:r="http://schemas.openxmlformats.org/officeDocument/2006/relationships" id="2147483655" r:id="R3fb1a1ae17db42b6"/>
    <p:sldLayoutId xmlns:r="http://schemas.openxmlformats.org/officeDocument/2006/relationships" id="2147483656" r:id="R019e0543c8c94ef7"/>
    <p:sldLayoutId xmlns:r="http://schemas.openxmlformats.org/officeDocument/2006/relationships" id="2147483657" r:id="R56e0303322da4f3f"/>
    <p:sldLayoutId xmlns:r="http://schemas.openxmlformats.org/officeDocument/2006/relationships" id="2147483658" r:id="Rc3725e61f2484182"/>
    <p:sldLayoutId xmlns:r="http://schemas.openxmlformats.org/officeDocument/2006/relationships" id="2147483659" r:id="R3262f76aa4374c6e"/>
    <p:sldLayoutId xmlns:r="http://schemas.openxmlformats.org/officeDocument/2006/relationships" id="2147483660" r:id="R04c32ccbfd73433d"/>
    <p:sldLayoutId xmlns:r="http://schemas.openxmlformats.org/officeDocument/2006/relationships" id="2147483661" r:id="Rf8e07b0dbf7d4783"/>
    <p:sldLayoutId xmlns:r="http://schemas.openxmlformats.org/officeDocument/2006/relationships" id="2147483662" r:id="R7f958b36e5c84713"/>
    <p:sldLayoutId xmlns:r="http://schemas.openxmlformats.org/officeDocument/2006/relationships" id="2147483663" r:id="R4cf7813c6e8d4fdb"/>
    <p:sldLayoutId xmlns:r="http://schemas.openxmlformats.org/officeDocument/2006/relationships" id="2147483664" r:id="R073ed578c0d94a6c"/>
  </p:sldLayoutIdLst>
  <p:txStyles>
    <p:titleStyle>
      <a:lvl1pPr xmlns:a="http://schemas.openxmlformats.org/drawingml/2006/main"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a8aa4cdb7456d" /><Relationship Type="http://schemas.openxmlformats.org/officeDocument/2006/relationships/notesSlide" Target="/ppt/notesSlides/notesSlide1.xml" Id="R76be0314a25b44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a662fd58c824d58" /><Relationship Type="http://schemas.openxmlformats.org/officeDocument/2006/relationships/image" Target="/ppt/media/image.png" Id="Rce9e468efa9b438d" /><Relationship Type="http://schemas.openxmlformats.org/officeDocument/2006/relationships/image" Target="/ppt/media/image2.png" Id="Rd7f650118f8e45b5" /><Relationship Type="http://schemas.openxmlformats.org/officeDocument/2006/relationships/notesSlide" Target="/ppt/notesSlides/notesSlide2.xml" Id="R7f9094e9c39f4e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77a6f11b86b4bb2" /><Relationship Type="http://schemas.openxmlformats.org/officeDocument/2006/relationships/image" Target="/ppt/media/image3.png" Id="R3fc5bacf71d24130" /><Relationship Type="http://schemas.openxmlformats.org/officeDocument/2006/relationships/image" Target="/ppt/media/image4.png" Id="Re030bfd464e84c77" /><Relationship Type="http://schemas.openxmlformats.org/officeDocument/2006/relationships/notesSlide" Target="/ppt/notesSlides/notesSlide3.xml" Id="R1a05cb15a8fd43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9c571a9a9244664" /><Relationship Type="http://schemas.openxmlformats.org/officeDocument/2006/relationships/image" Target="/ppt/media/image5.png" Id="Rb4e33c96e486426b" /><Relationship Type="http://schemas.openxmlformats.org/officeDocument/2006/relationships/notesSlide" Target="/ppt/notesSlides/notesSlide4.xml" Id="Rf50d64a5346242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f49077261674469" /><Relationship Type="http://schemas.openxmlformats.org/officeDocument/2006/relationships/image" Target="/ppt/media/image6.png" Id="R8b4d1cf220854b12" /><Relationship Type="http://schemas.openxmlformats.org/officeDocument/2006/relationships/image" Target="/ppt/media/image7.png" Id="R95b94586894f46ce" /><Relationship Type="http://schemas.openxmlformats.org/officeDocument/2006/relationships/notesSlide" Target="/ppt/notesSlides/notesSlide5.xml" Id="Rd1a1e5089df44b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2cff5352d1846d4" /><Relationship Type="http://schemas.openxmlformats.org/officeDocument/2006/relationships/image" Target="/ppt/media/image3.png" Id="R522b28b97bf64bf1" /><Relationship Type="http://schemas.openxmlformats.org/officeDocument/2006/relationships/image" Target="/ppt/media/image8.png" Id="Rad7bb772e01b4790" /><Relationship Type="http://schemas.openxmlformats.org/officeDocument/2006/relationships/notesSlide" Target="/ppt/notesSlides/notesSlide6.xml" Id="R908f18ff2c0a4c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530a7706b144ea2" /><Relationship Type="http://schemas.openxmlformats.org/officeDocument/2006/relationships/notesSlide" Target="/ppt/notesSlides/notesSlide7.xml" Id="R605fb04ae40d43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abdd1cae1f84b6d" /><Relationship Type="http://schemas.openxmlformats.org/officeDocument/2006/relationships/image" Target="/ppt/media/image9.png" Id="Ra9e17a67249a4d66" /><Relationship Type="http://schemas.openxmlformats.org/officeDocument/2006/relationships/notesSlide" Target="/ppt/notesSlides/notesSlide8.xml" Id="R1126f68bc4d64a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ce5fb8917d84d05" /><Relationship Type="http://schemas.openxmlformats.org/officeDocument/2006/relationships/image" Target="/ppt/media/image9.png" Id="Ra12f9c65c9f643a9" /><Relationship Type="http://schemas.openxmlformats.org/officeDocument/2006/relationships/notesSlide" Target="/ppt/notesSlides/notesSlide9.xml" Id="R6e81870349cb44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664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Isosceles Triangle 48">
            <a:extLst xmlns:a="http://schemas.openxmlformats.org/drawingml/2006/main"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0"/>
            <a:ext cx="842596" cy="5666154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Isosceles Triangle 50">
            <a:extLst xmlns:a="http://schemas.openxmlformats.org/drawingml/2006/main"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534" y="3818467"/>
            <a:ext cx="4450292" cy="30395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88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1727200" cy="685800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6" y="1397000"/>
            <a:ext cx="8102759" cy="242146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Δομή Διακλάδωσης - if, elif, else</a:t>
            </a:r>
            <a:endParaRPr/>
          </a:p>
        </p:txBody>
      </p:sp>
      <p:sp>
        <p:nvSpPr>
          <p:cNvPr id="57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41" y="0"/>
            <a:ext cx="1766359" cy="6858000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Lesson code">
            <a:extLst xmlns:a="http://schemas.openxmlformats.org/drawingml/2006/main">
              <a:ext uri="{FF2B5EF4-FFF2-40B4-BE49-F238E27FC236}">
                <a16:creationId xmlns:a16="http://schemas.microsoft.com/office/drawing/2014/main" id="{F8BDC443-5E5B-4A97-B9B8-E3EA89CB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rPr>
              <a:t>ΦΥΛΛΟ ΕΡΓΑΣΙΑΣ A.7.M13</a:t>
            </a:r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Στόχοι σημερινού μαθήματος</a:t>
            </a:r>
            <a:endParaRPr b="1"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5637202" cy="3880772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Να εισάγουμε στο Audacity ένα αρχείο ήχου που βρίσκεται αποθηκευμένο στον υπολογιστή</a:t>
            </a:r>
            <a:endParaRPr sz="2800"/>
          </a:p>
          <a:p xmlns:a="http://schemas.openxmlformats.org/drawingml/2006/main">
            <a:r>
              <a:rPr sz="2800"/>
              <a:t>Να επιλέγουμε, να αντιγράφουμε, να επικολλούμε και να διαγράφουμε ένα κομμάτι από τον ήχο</a:t>
            </a:r>
            <a:endParaRPr sz="2800"/>
          </a:p>
          <a:p xmlns:a="http://schemas.openxmlformats.org/drawingml/2006/main">
            <a:r>
              <a:rPr sz="2800"/>
              <a:t>Να εξάγουμε (export) τον ήχο σε mp3.</a:t>
            </a:r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endParaRPr sz="3000">
              <a:latin typeface="+mj-lt"/>
              <a:ea typeface="+mj-lt"/>
              <a:cs typeface="+mj-lt"/>
            </a:endParaRPr>
          </a:p>
        </p:txBody>
      </p:sp>
      <p:pic>
        <p:nvPicPr>
          <p:cNvPr id="11" name="Content Placeholder 4"/>
          <p:cNvPicPr>
            <a:picLocks xmlns:a="http://schemas.openxmlformats.org/drawingml/2006/main" noChangeAspect="1"/>
          </p:cNvPicPr>
          <p:nvPr>
            <p:ph idx="2"/>
          </p:nvPr>
        </p:nvPicPr>
        <p:blipFill>
          <a:blip xmlns:r="http://schemas.openxmlformats.org/officeDocument/2006/relationships" xmlns:a="http://schemas.openxmlformats.org/drawingml/2006/main" r:embed="Rce9e468efa9b43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5049" y="1916219"/>
            <a:ext cx="3810000" cy="3609975"/>
          </a:xfrm>
        </p:spPr>
      </p:pic>
      <p:sp>
        <p:nvSpPr>
          <p:cNvPr id="5" name="Objectives cover">
            <a:extLst xmlns:a="http://schemas.openxmlformats.org/drawingml/2006/main">
              <a:ext uri="{FF2B5EF4-FFF2-40B4-BE49-F238E27FC236}">
                <a16:creationId xmlns:a16="http://schemas.microsoft.com/office/drawing/2014/main" id="{E30B8D08-EE98-4B61-8067-E04F7651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s">
            <a:extLst xmlns:a="http://schemas.openxmlformats.org/drawingml/2006/main">
              <a:ext uri="{FF2B5EF4-FFF2-40B4-BE49-F238E27FC236}">
                <a16:creationId xmlns:a16="http://schemas.microsoft.com/office/drawing/2014/main" id="{2C5B1993-FB57-446A-B1F0-3F5D2F79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6191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χρησιμοποιούμε αλυσιδωτή διακλάδωση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ταξινομούμε μια τιμή σε μία κατηγορία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τοποθετούμε τις συνθήκες στη σωστή σειρά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ελέγχουμε οριακές τιμές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650118f8e45b5"/>
          <a:stretch xmlns:a="http://schemas.openxmlformats.org/drawingml/2006/main"/>
        </p:blipFill>
        <p:spPr>
          <a:xfrm xmlns:a="http://schemas.openxmlformats.org/drawingml/2006/main">
            <a:off x="7899122" y="1952625"/>
            <a:ext cx="2585006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-caption">
            <a:extLst xmlns:a="http://schemas.openxmlformats.org/drawingml/2006/main">
              <a:ext uri="{FF2B5EF4-FFF2-40B4-BE49-F238E27FC236}">
                <a16:creationId xmlns:a16="http://schemas.microsoft.com/office/drawing/2014/main" id="{EADD2DD7-C9F5-42C5-826E-4F936CF1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482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Λογικό διάγραμμα πολλαπλής επιλογής</a:t>
            </a:r>
          </a:p>
        </p:txBody>
      </p:sp>
    </p:spTree>
    <p:extLst>
      <p:ext uri="{BB962C8B-B14F-4D97-AF65-F5344CB8AC3E}">
        <p14:creationId xmlns:p14="http://schemas.microsoft.com/office/powerpoint/2010/main" val="1858723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Αλυσιδωτή διακλάδωση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5bacf71d241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2">
            <a:extLst xmlns:a="http://schemas.openxmlformats.org/drawingml/2006/main">
              <a:ext uri="{FF2B5EF4-FFF2-40B4-BE49-F238E27FC236}">
                <a16:creationId xmlns:a16="http://schemas.microsoft.com/office/drawing/2014/main" id="{30D25227-D7C4-4216-BD0D-D861E346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2">
            <a:extLst xmlns:a="http://schemas.openxmlformats.org/drawingml/2006/main">
              <a:ext uri="{FF2B5EF4-FFF2-40B4-BE49-F238E27FC236}">
                <a16:creationId xmlns:a16="http://schemas.microsoft.com/office/drawing/2014/main" id="{58731515-8AAC-4AB6-8A91-275BEAA3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δομή if-elif-else εξετάζει τις συνθήκες από πάνω προς τα κάτω.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Εκτελεί τον πρώτο αληθή κλάδο και παραλείπει τους υπόλοιπους.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0bfd464e84c77"/>
          <a:stretch xmlns:a="http://schemas.openxmlformats.org/drawingml/2006/main"/>
        </p:blipFill>
        <p:spPr>
          <a:xfrm xmlns:a="http://schemas.openxmlformats.org/drawingml/2006/main">
            <a:off x="6937600" y="1695450"/>
            <a:ext cx="3317425" cy="3667125"/>
          </a:xfrm>
          <a:prstGeom xmlns:a="http://schemas.openxmlformats.org/drawingml/2006/main" prst="rect">
            <a:avLst/>
          </a:prstGeom>
        </p:spPr>
      </p:pic>
      <p:sp>
        <p:nvSpPr>
          <p:cNvPr id="43" name="-caption">
            <a:extLst xmlns:a="http://schemas.openxmlformats.org/drawingml/2006/main">
              <a:ext uri="{FF2B5EF4-FFF2-40B4-BE49-F238E27FC236}">
                <a16:creationId xmlns:a16="http://schemas.microsoft.com/office/drawing/2014/main" id="{A56FB0C3-E488-48EA-B26D-98161745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Λογικό διάγραμμα πολλαπλής επιλογής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Σύνταξη</a:t>
            </a:r>
            <a:endParaRPr/>
          </a:p>
        </p:txBody>
      </p:sp>
      <p:pic>
        <p:nvPicPr>
          <p:cNvPr id="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33c96e48642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48678" y="1809334"/>
            <a:ext cx="6930887" cy="4183138"/>
          </a:xfrm>
          <a:prstGeom xmlns:a="http://schemas.openxmlformats.org/drawingml/2006/main" prst="rect">
            <a:avLst/>
          </a:prstGeom>
        </p:spPr>
      </p:pic>
      <p:sp>
        <p:nvSpPr>
          <p:cNvPr id="4" name="Content cover 3">
            <a:extLst xmlns:a="http://schemas.openxmlformats.org/drawingml/2006/main">
              <a:ext uri="{FF2B5EF4-FFF2-40B4-BE49-F238E27FC236}">
                <a16:creationId xmlns:a16="http://schemas.microsoft.com/office/drawing/2014/main" id="{01179A84-63E9-43E1-9CEA-7011FF34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Theory text 3">
            <a:extLst xmlns:a="http://schemas.openxmlformats.org/drawingml/2006/main">
              <a:ext uri="{FF2B5EF4-FFF2-40B4-BE49-F238E27FC236}">
                <a16:creationId xmlns:a16="http://schemas.microsoft.com/office/drawing/2014/main" id="{C93B809A-439E-43D7-AADB-E784D700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Το if ξεκινά την αλυσίδα. Κάθε elif προσθέτει μία περίπτωση. Το else καλύπτει ό,τι δεν ικανοποίησε τις προηγούμενες συνθήκες.</a:t>
            </a:r>
          </a:p>
        </p:txBody>
      </p:sp>
      <p:sp>
        <p:nvSpPr>
          <p:cNvPr id="6" name="Code background 3">
            <a:extLst xmlns:a="http://schemas.openxmlformats.org/drawingml/2006/main">
              <a:ext uri="{FF2B5EF4-FFF2-40B4-BE49-F238E27FC236}">
                <a16:creationId xmlns:a16="http://schemas.microsoft.com/office/drawing/2014/main" id="{1413A59A-D46E-4A8E-9206-BEA250AC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7" name="Code 4">
            <a:extLst xmlns:a="http://schemas.openxmlformats.org/drawingml/2006/main">
              <a:ext uri="{FF2B5EF4-FFF2-40B4-BE49-F238E27FC236}">
                <a16:creationId xmlns:a16="http://schemas.microsoft.com/office/drawing/2014/main" id="{B4E8ADA2-E3E7-4FBE-86C9-486DF8FF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if condition1: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   ...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elif condition2: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   ...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else: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   ...</a:t>
            </a:r>
          </a:p>
        </p:txBody>
      </p:sp>
    </p:spTree>
    <p:extLst>
      <p:ext uri="{BB962C8B-B14F-4D97-AF65-F5344CB8AC3E}">
        <p14:creationId xmlns:p14="http://schemas.microsoft.com/office/powerpoint/2010/main" val="25701492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Σειρά συνθηκών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1563757"/>
            <a:ext cx="5952067" cy="4477604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Σιγή</a:t>
            </a:r>
            <a:r>
              <a:rPr sz="2800"/>
              <a:t>: </a:t>
            </a:r>
            <a:r>
              <a:rPr sz="2800"/>
              <a:t>σιγούμε ένα μέρος του ήχου, χωρίς όμως να αφαιρέσουμε τον χρόνο της διάρκειάς του.</a:t>
            </a:r>
            <a:endParaRPr sz="2800"/>
          </a:p>
          <a:p xmlns:a="http://schemas.openxmlformats.org/drawingml/2006/main">
            <a:r>
              <a:rPr sz="2800"/>
              <a:t>Περικοπή</a:t>
            </a:r>
            <a:r>
              <a:rPr sz="2800"/>
              <a:t>: </a:t>
            </a:r>
            <a:r>
              <a:rPr sz="2800"/>
              <a:t>κρατούμε μόνο ένα μέρος του ήχου, αφαιρώντας (περικόπτωντας) όλο το υπόλοιπο κανάλι, χωρίς όμως να αφαιρέσουμε τον χρόνο της διάρκειάς του</a:t>
            </a:r>
            <a:endParaRPr sz="2800">
              <a:latin typeface="+mj-lt"/>
              <a:ea typeface="+mj-lt"/>
              <a:cs typeface="+mj-lt"/>
            </a:endParaRPr>
          </a:p>
        </p:txBody>
      </p:sp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4d1cf220854b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4105" y="1437862"/>
            <a:ext cx="4602393" cy="1914938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94586894f46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399" y="3698877"/>
            <a:ext cx="4747099" cy="2274196"/>
          </a:xfrm>
          <a:prstGeom xmlns:a="http://schemas.openxmlformats.org/drawingml/2006/main" prst="rect">
            <a:avLst/>
          </a:prstGeom>
        </p:spPr>
      </p:pic>
      <p:sp>
        <p:nvSpPr>
          <p:cNvPr id="7" name="Content cover 4">
            <a:extLst xmlns:a="http://schemas.openxmlformats.org/drawingml/2006/main">
              <a:ext uri="{FF2B5EF4-FFF2-40B4-BE49-F238E27FC236}">
                <a16:creationId xmlns:a16="http://schemas.microsoft.com/office/drawing/2014/main" id="{1429395C-08C7-41D0-82DE-040AA2C8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Theory text 4">
            <a:extLst xmlns:a="http://schemas.openxmlformats.org/drawingml/2006/main">
              <a:ext uri="{FF2B5EF4-FFF2-40B4-BE49-F238E27FC236}">
                <a16:creationId xmlns:a16="http://schemas.microsoft.com/office/drawing/2014/main" id="{FF26DE8B-119E-492B-9526-819423AB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συνθήκες πρέπει να καλύπτουν όλες τις περιπτώσεις χωρίς κενά.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Όταν χρησιμοποιούμε ανώτερα όρια, ξεκινούμε συνήθως από το μικρότερο όριο.</a:t>
            </a:r>
          </a:p>
        </p:txBody>
      </p:sp>
      <p:sp>
        <p:nvSpPr>
          <p:cNvPr id="9" name="Code background 4">
            <a:extLst xmlns:a="http://schemas.openxmlformats.org/drawingml/2006/main">
              <a:ext uri="{FF2B5EF4-FFF2-40B4-BE49-F238E27FC236}">
                <a16:creationId xmlns:a16="http://schemas.microsoft.com/office/drawing/2014/main" id="{B5B4423C-CDE6-4923-9E7D-672A19DD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10" name="Code 5">
            <a:extLst xmlns:a="http://schemas.openxmlformats.org/drawingml/2006/main">
              <a:ext uri="{FF2B5EF4-FFF2-40B4-BE49-F238E27FC236}">
                <a16:creationId xmlns:a16="http://schemas.microsoft.com/office/drawing/2014/main" id="{CED637FF-DE0B-423C-907F-2CEFA1F2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if n &lt; 10: μονοψήφιος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elif n &lt; 100: διψήφιος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elif n &lt; 1000: τριψήφιος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else: τετραψήφιος</a:t>
            </a:r>
          </a:p>
        </p:txBody>
      </p:sp>
    </p:spTree>
    <p:extLst>
      <p:ext uri="{BB962C8B-B14F-4D97-AF65-F5344CB8AC3E}">
        <p14:creationId xmlns:p14="http://schemas.microsoft.com/office/powerpoint/2010/main" val="643881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Μία μόνο κατηγορία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2b28b97bf64b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5">
            <a:extLst xmlns:a="http://schemas.openxmlformats.org/drawingml/2006/main">
              <a:ext uri="{FF2B5EF4-FFF2-40B4-BE49-F238E27FC236}">
                <a16:creationId xmlns:a16="http://schemas.microsoft.com/office/drawing/2014/main" id="{A0A67B1B-792F-4AD6-BC3C-1E7B34E6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5">
            <a:extLst xmlns:a="http://schemas.openxmlformats.org/drawingml/2006/main">
              <a:ext uri="{FF2B5EF4-FFF2-40B4-BE49-F238E27FC236}">
                <a16:creationId xmlns:a16="http://schemas.microsoft.com/office/drawing/2014/main" id="{590ADBF7-59EF-4C18-81CC-6A040E7F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αλυσίδα ταιριάζει σε ταξινομήσεις όπου κάθε τιμή πρέπει να πάρει έναν μόνο χαρακτηρισμό.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σειρά εμποδίζει την εκτέλεση περισσότερων κατηγοριών.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bb772e01b4790"/>
          <a:stretch xmlns:a="http://schemas.openxmlformats.org/drawingml/2006/main"/>
        </p:blipFill>
        <p:spPr>
          <a:xfrm xmlns:a="http://schemas.openxmlformats.org/drawingml/2006/main">
            <a:off x="6545877" y="1695450"/>
            <a:ext cx="4100871" cy="3667125"/>
          </a:xfrm>
          <a:prstGeom xmlns:a="http://schemas.openxmlformats.org/drawingml/2006/main" prst="rect">
            <a:avLst/>
          </a:prstGeom>
        </p:spPr>
      </p:pic>
      <p:sp>
        <p:nvSpPr>
          <p:cNvPr id="43" name="-caption">
            <a:extLst xmlns:a="http://schemas.openxmlformats.org/drawingml/2006/main">
              <a:ext uri="{FF2B5EF4-FFF2-40B4-BE49-F238E27FC236}">
                <a16:creationId xmlns:a16="http://schemas.microsoft.com/office/drawing/2014/main" id="{9D1C4C96-BE90-43CA-8C8C-21241E40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Πολλαπλές αλληλοαποκλειόμενες επιλογές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Οριακές δοκιμές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2160589"/>
            <a:ext cx="6716071" cy="3880772"/>
          </a:xfrm>
        </p:spPr>
        <p:txBody>
          <a:bodyPr xmlns:a="http://schemas.openxmlformats.org/drawingml/2006/main">
            <a:normAutofit fontScale="77500" lnSpcReduction="20000"/>
          </a:bodyPr>
          <a:lstStyle xmlns:a="http://schemas.openxmlformats.org/drawingml/2006/main"/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Άνοιγμα 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Νεό Έργο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Εισαγωγή -&gt; Ήχος (</a:t>
            </a:r>
            <a:r>
              <a:rPr sz="2800"/>
              <a:t>συνδυάσουμε σε ένα έργο πολλά αρχεία ήχου</a:t>
            </a:r>
            <a:r>
              <a:rPr sz="2800">
                <a:latin typeface="+mj-lt"/>
                <a:ea typeface="+mj-lt"/>
                <a:cs typeface="+mj-lt"/>
              </a:rPr>
              <a:t>)</a:t>
            </a:r>
          </a:p>
          <a:p xmlns:a="http://schemas.openxmlformats.org/drawingml/2006/main">
            <a:r>
              <a:rPr sz="2800"/>
              <a:t>Αρχείο -&gt; Αποθήκευση Εργασίας</a:t>
            </a:r>
          </a:p>
          <a:p xmlns:a="http://schemas.openxmlformats.org/drawingml/2006/main">
            <a:r>
              <a:rPr sz="2800"/>
              <a:t>Αρχείο -&gt; Εξαγωγή</a:t>
            </a:r>
          </a:p>
          <a:p xmlns:a="http://schemas.openxmlformats.org/drawingml/2006/main"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 sz="2800"/>
              <a:t>Συνήθως, αποθηκεύουμε το αρχείο σε μορφή MP3 ή Ogg Vorbis, τα οποία αναπαράγονται από τις περισσότερες συσκευές αναπαραγωγής ήχου.</a:t>
            </a:r>
            <a:endParaRPr sz="2800">
              <a:latin typeface="+mj-lt"/>
              <a:ea typeface="+mj-lt"/>
              <a:cs typeface="+mj-lt"/>
            </a:endParaRPr>
          </a:p>
        </p:txBody>
      </p:sp>
      <p:sp>
        <p:nvSpPr>
          <p:cNvPr id="5" name="Content cover 6">
            <a:extLst xmlns:a="http://schemas.openxmlformats.org/drawingml/2006/main">
              <a:ext uri="{FF2B5EF4-FFF2-40B4-BE49-F238E27FC236}">
                <a16:creationId xmlns:a16="http://schemas.microsoft.com/office/drawing/2014/main" id="{37121EE6-B5B5-497E-85F2-4E1B9C05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Theory text 6">
            <a:extLst xmlns:a="http://schemas.openxmlformats.org/drawingml/2006/main">
              <a:ext uri="{FF2B5EF4-FFF2-40B4-BE49-F238E27FC236}">
                <a16:creationId xmlns:a16="http://schemas.microsoft.com/office/drawing/2014/main" id="{9DB4ABB6-FE11-4172-A03D-2CE3D419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Για τις κατηγορίες ψηφίων ελέγχουμε 9, 10, 99, 100, 999 και 1000.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τιμές ακριβώς στα όρια αποκαλύπτουν λάθη στους τελεστές &lt; και &lt;=.</a:t>
            </a:r>
          </a:p>
        </p:txBody>
      </p:sp>
      <p:sp>
        <p:nvSpPr>
          <p:cNvPr id="7" name="Code background 4">
            <a:extLst xmlns:a="http://schemas.openxmlformats.org/drawingml/2006/main">
              <a:ext uri="{FF2B5EF4-FFF2-40B4-BE49-F238E27FC236}">
                <a16:creationId xmlns:a16="http://schemas.microsoft.com/office/drawing/2014/main" id="{E488B1E5-ED85-4C29-8B10-CDD52041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8" name="Code 5">
            <a:extLst xmlns:a="http://schemas.openxmlformats.org/drawingml/2006/main">
              <a:ext uri="{FF2B5EF4-FFF2-40B4-BE49-F238E27FC236}">
                <a16:creationId xmlns:a16="http://schemas.microsoft.com/office/drawing/2014/main" id="{BBBDF920-4043-4E73-9E70-6F99A721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9 | 10 | 99 | 100 | 999 | 1000</a:t>
            </a: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e17a67249a4d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Δραστηριότητες Εμπέδωσης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A.7.M13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7">
            <a:extLst xmlns:a="http://schemas.openxmlformats.org/drawingml/2006/main">
              <a:ext uri="{FF2B5EF4-FFF2-40B4-BE49-F238E27FC236}">
                <a16:creationId xmlns:a16="http://schemas.microsoft.com/office/drawing/2014/main" id="{AD99577B-B0BF-48A2-86C0-D40656D4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7">
            <a:extLst xmlns:a="http://schemas.openxmlformats.org/drawingml/2006/main">
              <a:ext uri="{FF2B5EF4-FFF2-40B4-BE49-F238E27FC236}">
                <a16:creationId xmlns:a16="http://schemas.microsoft.com/office/drawing/2014/main" id="{55E63A18-3931-47FB-9377-911EC4BC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Δραστηριότητες 1–3: συμπλήρωση διαγράμματος, προκαταρκτική εκτέλεση και πρόγραμμα κατηγοριοποίησης αριθμού.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2f9c65c9f643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Πρόσθετες δραστηριότητες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A.7.M13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8">
            <a:extLst xmlns:a="http://schemas.openxmlformats.org/drawingml/2006/main">
              <a:ext uri="{FF2B5EF4-FFF2-40B4-BE49-F238E27FC236}">
                <a16:creationId xmlns:a16="http://schemas.microsoft.com/office/drawing/2014/main" id="{7252819A-C925-4C04-A214-A5C79834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8">
            <a:extLst xmlns:a="http://schemas.openxmlformats.org/drawingml/2006/main">
              <a:ext uri="{FF2B5EF4-FFF2-40B4-BE49-F238E27FC236}">
                <a16:creationId xmlns:a16="http://schemas.microsoft.com/office/drawing/2014/main" id="{39BAE039-15A7-46E8-AE83-6BED1E5A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Δεν υπάρχουν επιπρόσθετες δραστηριότητες.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Για το σπίτι: 6–7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2026-09-26T08:30:44.0860000Z</dcterms:created>
  <dcterms:modified xsi:type="dcterms:W3CDTF">2026-09-26T08:30:44.0860000Z</dcterms:modified>
</coreProperties>
</file>