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custSel modSld">
      <pc:chgData name="Άριστος Αρέστη" userId="813aa191-2d4c-464f-9d05-0a7e494d859f" providerId="ADAL" clId="{49C7B61D-1ACF-4AFF-A04E-A3B433E32474}" dt="2026-09-26T06:34:44.981" v="2" actId="478"/>
      <pc:docMkLst>
        <pc:docMk/>
      </pc:docMkLst>
      <pc:sldChg chg="delSp mod">
        <pc:chgData name="Άριστος Αρέστη" userId="813aa191-2d4c-464f-9d05-0a7e494d859f" providerId="ADAL" clId="{49C7B61D-1ACF-4AFF-A04E-A3B433E32474}" dt="2026-09-26T06:34:44.981" v="2" actId="478"/>
        <pc:sldMkLst>
          <pc:docMk/>
          <pc:sldMk cId="1863739521" sldId="260"/>
        </pc:sldMkLst>
        <pc:picChg chg="del">
          <ac:chgData name="Άριστος Αρέστη" userId="813aa191-2d4c-464f-9d05-0a7e494d859f" providerId="ADAL" clId="{49C7B61D-1ACF-4AFF-A04E-A3B433E32474}" dt="2026-09-26T06:34:43.415" v="0" actId="478"/>
          <ac:picMkLst>
            <pc:docMk/>
            <pc:sldMk cId="1863739521" sldId="260"/>
            <ac:picMk id="14" creationId="{00000000-0000-0000-0000-000000000000}"/>
          </ac:picMkLst>
        </pc:picChg>
        <pc:picChg chg="del">
          <ac:chgData name="Άριστος Αρέστη" userId="813aa191-2d4c-464f-9d05-0a7e494d859f" providerId="ADAL" clId="{49C7B61D-1ACF-4AFF-A04E-A3B433E32474}" dt="2026-09-26T06:34:44.281" v="1" actId="478"/>
          <ac:picMkLst>
            <pc:docMk/>
            <pc:sldMk cId="1863739521" sldId="260"/>
            <ac:picMk id="15" creationId="{00000000-0000-0000-0000-000000000000}"/>
          </ac:picMkLst>
        </pc:picChg>
        <pc:picChg chg="del">
          <ac:chgData name="Άριστος Αρέστη" userId="813aa191-2d4c-464f-9d05-0a7e494d859f" providerId="ADAL" clId="{49C7B61D-1ACF-4AFF-A04E-A3B433E32474}" dt="2026-09-26T06:34:44.981" v="2" actId="478"/>
          <ac:picMkLst>
            <pc:docMk/>
            <pc:sldMk cId="1863739521" sldId="260"/>
            <ac:picMk id="16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Πηγή: Σημειώσεις και Τετράδιο Εργασιών Πληροφορικής Α΄ Γυμνασίου, ενότητα Α.5.2.Μ3.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Πηγή: Σημειώσεις και Τετράδιο Εργασιών Πληροφορικής Α΄ Γυμνασίου, ενότητα Α.5.2.Μ3.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Πηγή: Σημειώσεις και Τετράδιο Εργασιών Πληροφορικής Α΄ Γυμνασίου, ενότητα Α.5.2.Μ3.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Πηγή: Σημειώσεις και Τετράδιο Εργασιών Πληροφορικής Α΄ Γυμνασίου, ενότητα Α.5.2.Μ3.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Πηγή: Σημειώσεις και Τετράδιο Εργασιών Πληροφορικής Α΄ Γυμνασίου, ενότητα Α.5.2.Μ3.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C665E8E-1AA6-493B-8AEC-2ACCE954E7CD}"/>
              </a:ext>
            </a:extLst>
          </p:cNvPr>
          <p:cNvSpPr>
            <a:spLocks noGrp="1"/>
          </p:cNvSpPr>
          <p:nvPr/>
        </p:nvSpPr>
        <p:spPr>
          <a:xfrm>
            <a:off x="533400" y="704850"/>
            <a:ext cx="552450" cy="76200"/>
          </a:xfrm>
          <a:prstGeom prst="rect">
            <a:avLst/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755021-AF10-466B-BDDB-5C1D1E299D03}"/>
              </a:ext>
            </a:extLst>
          </p:cNvPr>
          <p:cNvSpPr>
            <a:spLocks noGrp="1"/>
          </p:cNvSpPr>
          <p:nvPr/>
        </p:nvSpPr>
        <p:spPr>
          <a:xfrm>
            <a:off x="590550" y="1028700"/>
            <a:ext cx="3905250" cy="3810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92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92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Α5.2 Μ3</a:t>
            </a:r>
          </a:p>
          <a:p>
            <a:pPr algn="l">
              <a:defRPr sz="292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92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Διαχείριση</a:t>
            </a:r>
          </a:p>
          <a:p>
            <a:pPr algn="l">
              <a:defRPr sz="292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92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Ηλεκτρονικού</a:t>
            </a:r>
          </a:p>
          <a:p>
            <a:pPr algn="l">
              <a:defRPr sz="292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92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Ταχυδρομείου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 l="16667" r="16667"/>
          <a:stretch>
            <a:fillRect/>
          </a:stretch>
        </p:blipFill>
        <p:spPr>
          <a:xfrm>
            <a:off x="4762500" y="0"/>
            <a:ext cx="7429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853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A9B9568-5E18-4335-93FF-0F7C6D34E3FD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110871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5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Επισυναπτόμενα αρχεία (Attachments)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1428750"/>
            <a:ext cx="2762250" cy="27622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3E88CFE-D1BD-497F-97EA-CA81D475AFF9}"/>
              </a:ext>
            </a:extLst>
          </p:cNvPr>
          <p:cNvSpPr>
            <a:spLocks noGrp="1"/>
          </p:cNvSpPr>
          <p:nvPr/>
        </p:nvSpPr>
        <p:spPr>
          <a:xfrm>
            <a:off x="4095750" y="1428750"/>
            <a:ext cx="6858000" cy="952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02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Σε ένα μήνυμα μπορούμε να επισυνάψουμε ένα ή περισσότερα αρχεία διαφορετικού τύπου.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5D44BEA-A24E-45C9-8DD9-2D9E115779A0}"/>
              </a:ext>
            </a:extLst>
          </p:cNvPr>
          <p:cNvSpPr>
            <a:spLocks noGrp="1"/>
          </p:cNvSpPr>
          <p:nvPr/>
        </p:nvSpPr>
        <p:spPr>
          <a:xfrm>
            <a:off x="4095750" y="2857500"/>
            <a:ext cx="2047875" cy="1285875"/>
          </a:xfrm>
          <a:prstGeom prst="roundRect">
            <a:avLst>
              <a:gd name="adj" fmla="val 5926"/>
            </a:avLst>
          </a:prstGeom>
          <a:solidFill>
            <a:srgbClr val="F3F6F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594D24-BA8E-4D9D-8B9C-555D27FDC175}"/>
              </a:ext>
            </a:extLst>
          </p:cNvPr>
          <p:cNvSpPr>
            <a:spLocks noGrp="1"/>
          </p:cNvSpPr>
          <p:nvPr/>
        </p:nvSpPr>
        <p:spPr>
          <a:xfrm>
            <a:off x="4238625" y="3067050"/>
            <a:ext cx="1762125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650" b="1">
                <a:solidFill>
                  <a:srgbClr val="F57C24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F57C24"/>
                </a:solidFill>
                <a:latin typeface="Tahoma"/>
                <a:ea typeface="Tahoma"/>
                <a:cs typeface="Tahoma"/>
              </a:rPr>
              <a:t>Κείμενο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313862-F7C9-4E18-A38C-ABA0C5152C33}"/>
              </a:ext>
            </a:extLst>
          </p:cNvPr>
          <p:cNvSpPr>
            <a:spLocks noGrp="1"/>
          </p:cNvSpPr>
          <p:nvPr/>
        </p:nvSpPr>
        <p:spPr>
          <a:xfrm>
            <a:off x="4238625" y="3571875"/>
            <a:ext cx="1762125" cy="3333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425" b="0">
                <a:solidFill>
                  <a:srgbClr val="444444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444444"/>
                </a:solidFill>
                <a:latin typeface="Tahoma"/>
                <a:ea typeface="Tahoma"/>
                <a:cs typeface="Tahoma"/>
              </a:rPr>
              <a:t>Έγγραφα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C666E21-3B81-48FE-8BBA-F596E9AE1214}"/>
              </a:ext>
            </a:extLst>
          </p:cNvPr>
          <p:cNvSpPr>
            <a:spLocks noGrp="1"/>
          </p:cNvSpPr>
          <p:nvPr/>
        </p:nvSpPr>
        <p:spPr>
          <a:xfrm>
            <a:off x="6429375" y="2857500"/>
            <a:ext cx="2047875" cy="1285875"/>
          </a:xfrm>
          <a:prstGeom prst="roundRect">
            <a:avLst>
              <a:gd name="adj" fmla="val 5926"/>
            </a:avLst>
          </a:prstGeom>
          <a:solidFill>
            <a:srgbClr val="F3F6F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6D2A5D-2144-42F4-A4EB-52D3A9B16D4F}"/>
              </a:ext>
            </a:extLst>
          </p:cNvPr>
          <p:cNvSpPr>
            <a:spLocks noGrp="1"/>
          </p:cNvSpPr>
          <p:nvPr/>
        </p:nvSpPr>
        <p:spPr>
          <a:xfrm>
            <a:off x="6572250" y="3067050"/>
            <a:ext cx="1762125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650" b="1">
                <a:solidFill>
                  <a:srgbClr val="5599D8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5599D8"/>
                </a:solidFill>
                <a:latin typeface="Tahoma"/>
                <a:ea typeface="Tahoma"/>
                <a:cs typeface="Tahoma"/>
              </a:rPr>
              <a:t>Εικόνα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EA2D96-F8AC-45B9-87B7-19394340500A}"/>
              </a:ext>
            </a:extLst>
          </p:cNvPr>
          <p:cNvSpPr>
            <a:spLocks noGrp="1"/>
          </p:cNvSpPr>
          <p:nvPr/>
        </p:nvSpPr>
        <p:spPr>
          <a:xfrm>
            <a:off x="6572250" y="3571875"/>
            <a:ext cx="1762125" cy="3333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425" b="0">
                <a:solidFill>
                  <a:srgbClr val="444444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444444"/>
                </a:solidFill>
                <a:latin typeface="Tahoma"/>
                <a:ea typeface="Tahoma"/>
                <a:cs typeface="Tahoma"/>
              </a:rPr>
              <a:t>Φωτογραφίες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90B8828-D32E-4A3D-BE33-A1E6ECA52A6F}"/>
              </a:ext>
            </a:extLst>
          </p:cNvPr>
          <p:cNvSpPr>
            <a:spLocks noGrp="1"/>
          </p:cNvSpPr>
          <p:nvPr/>
        </p:nvSpPr>
        <p:spPr>
          <a:xfrm>
            <a:off x="8763000" y="2857500"/>
            <a:ext cx="2047875" cy="1285875"/>
          </a:xfrm>
          <a:prstGeom prst="roundRect">
            <a:avLst>
              <a:gd name="adj" fmla="val 5926"/>
            </a:avLst>
          </a:prstGeom>
          <a:solidFill>
            <a:srgbClr val="F3F6F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E23D55-421D-4242-8218-2C74BA9D8EF4}"/>
              </a:ext>
            </a:extLst>
          </p:cNvPr>
          <p:cNvSpPr>
            <a:spLocks noGrp="1"/>
          </p:cNvSpPr>
          <p:nvPr/>
        </p:nvSpPr>
        <p:spPr>
          <a:xfrm>
            <a:off x="8905875" y="3067050"/>
            <a:ext cx="1762125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650" b="1">
                <a:solidFill>
                  <a:srgbClr val="6CAB4F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6CAB4F"/>
                </a:solidFill>
                <a:latin typeface="Tahoma"/>
                <a:ea typeface="Tahoma"/>
                <a:cs typeface="Tahoma"/>
              </a:rPr>
              <a:t>Ήχος / Βίντεο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BCA25D-99E4-4858-ABB6-9F62E90164AA}"/>
              </a:ext>
            </a:extLst>
          </p:cNvPr>
          <p:cNvSpPr>
            <a:spLocks noGrp="1"/>
          </p:cNvSpPr>
          <p:nvPr/>
        </p:nvSpPr>
        <p:spPr>
          <a:xfrm>
            <a:off x="8905875" y="3571875"/>
            <a:ext cx="1762125" cy="3333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425" b="0">
                <a:solidFill>
                  <a:srgbClr val="444444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444444"/>
                </a:solidFill>
                <a:latin typeface="Tahoma"/>
                <a:ea typeface="Tahoma"/>
                <a:cs typeface="Tahoma"/>
              </a:rPr>
              <a:t>Πολυμέσα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03AC18-366E-4AF2-B5E0-3059322AD21A}"/>
              </a:ext>
            </a:extLst>
          </p:cNvPr>
          <p:cNvSpPr>
            <a:spLocks noGrp="1"/>
          </p:cNvSpPr>
          <p:nvPr/>
        </p:nvSpPr>
        <p:spPr>
          <a:xfrm>
            <a:off x="4095750" y="4810125"/>
            <a:ext cx="68580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650" b="0">
                <a:solidFill>
                  <a:srgbClr val="444444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444444"/>
                </a:solidFill>
                <a:latin typeface="Tahoma"/>
                <a:ea typeface="Tahoma"/>
                <a:cs typeface="Tahoma"/>
              </a:rPr>
              <a:t>Ελέγχουμε πάντα ότι το σωστό αρχείο εμφανίζεται στο μήνυμα πριν την αποστολή.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EBBC61-BA63-4EC0-914F-7BFBF6842933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1087100" cy="47625"/>
          </a:xfrm>
          <a:prstGeom prst="rect">
            <a:avLst/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78A829-824D-401A-AE27-CAC310681A9E}"/>
              </a:ext>
            </a:extLst>
          </p:cNvPr>
          <p:cNvSpPr>
            <a:spLocks noGrp="1"/>
          </p:cNvSpPr>
          <p:nvPr/>
        </p:nvSpPr>
        <p:spPr>
          <a:xfrm>
            <a:off x="4286250" y="6429375"/>
            <a:ext cx="7353300" cy="47625"/>
          </a:xfrm>
          <a:prstGeom prst="rect">
            <a:avLst/>
          </a:prstGeom>
          <a:solidFill>
            <a:srgbClr val="77A9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6194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666744-8F35-40B5-9E4D-379BFB579709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110871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5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Επισύναψη αρχείου σε μήνυμα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E5DAB29-8E2E-46DA-A64B-C3D8759C6390}"/>
              </a:ext>
            </a:extLst>
          </p:cNvPr>
          <p:cNvSpPr>
            <a:spLocks noGrp="1"/>
          </p:cNvSpPr>
          <p:nvPr/>
        </p:nvSpPr>
        <p:spPr>
          <a:xfrm>
            <a:off x="590550" y="1190625"/>
            <a:ext cx="514350" cy="514350"/>
          </a:xfrm>
          <a:prstGeom prst="roundRect">
            <a:avLst>
              <a:gd name="adj" fmla="val 14815"/>
            </a:avLst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B65486-6F82-4F2B-AC4F-2A719ED00064}"/>
              </a:ext>
            </a:extLst>
          </p:cNvPr>
          <p:cNvSpPr>
            <a:spLocks noGrp="1"/>
          </p:cNvSpPr>
          <p:nvPr/>
        </p:nvSpPr>
        <p:spPr>
          <a:xfrm>
            <a:off x="638175" y="123825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260B27-D5E8-4AB9-A87A-4C574AFF2094}"/>
              </a:ext>
            </a:extLst>
          </p:cNvPr>
          <p:cNvSpPr>
            <a:spLocks noGrp="1"/>
          </p:cNvSpPr>
          <p:nvPr/>
        </p:nvSpPr>
        <p:spPr>
          <a:xfrm>
            <a:off x="1257300" y="1171575"/>
            <a:ext cx="43815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Επισύναψη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CDA91A-CC40-4C90-B073-918EACE8355A}"/>
              </a:ext>
            </a:extLst>
          </p:cNvPr>
          <p:cNvSpPr>
            <a:spLocks noGrp="1"/>
          </p:cNvSpPr>
          <p:nvPr/>
        </p:nvSpPr>
        <p:spPr>
          <a:xfrm>
            <a:off x="1257300" y="1552575"/>
            <a:ext cx="4429125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Πατάμε Attach ή το εικονίδιο συνδετήρα.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D29E4AE-C331-4C8E-B684-85997B83F417}"/>
              </a:ext>
            </a:extLst>
          </p:cNvPr>
          <p:cNvSpPr>
            <a:spLocks noGrp="1"/>
          </p:cNvSpPr>
          <p:nvPr/>
        </p:nvSpPr>
        <p:spPr>
          <a:xfrm>
            <a:off x="590550" y="2428875"/>
            <a:ext cx="514350" cy="514350"/>
          </a:xfrm>
          <a:prstGeom prst="roundRect">
            <a:avLst>
              <a:gd name="adj" fmla="val 14815"/>
            </a:avLst>
          </a:prstGeom>
          <a:solidFill>
            <a:srgbClr val="5599D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49C013-D2E9-4D69-8072-E282034C515B}"/>
              </a:ext>
            </a:extLst>
          </p:cNvPr>
          <p:cNvSpPr>
            <a:spLocks noGrp="1"/>
          </p:cNvSpPr>
          <p:nvPr/>
        </p:nvSpPr>
        <p:spPr>
          <a:xfrm>
            <a:off x="638175" y="247650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5C6880-CA27-42C4-91BA-348A8B7F28A2}"/>
              </a:ext>
            </a:extLst>
          </p:cNvPr>
          <p:cNvSpPr>
            <a:spLocks noGrp="1"/>
          </p:cNvSpPr>
          <p:nvPr/>
        </p:nvSpPr>
        <p:spPr>
          <a:xfrm>
            <a:off x="1257300" y="2409825"/>
            <a:ext cx="43815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Επιλογή αρχείου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94CB41-730B-466A-897F-5949A1EC49B9}"/>
              </a:ext>
            </a:extLst>
          </p:cNvPr>
          <p:cNvSpPr>
            <a:spLocks noGrp="1"/>
          </p:cNvSpPr>
          <p:nvPr/>
        </p:nvSpPr>
        <p:spPr>
          <a:xfrm>
            <a:off x="1257300" y="2790825"/>
            <a:ext cx="4429125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Εντοπίζουμε τον σωστό φάκελο και επιλέγουμε το αρχείο.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C0CF8AB-9F5E-4A76-90C4-4C66AA2957A6}"/>
              </a:ext>
            </a:extLst>
          </p:cNvPr>
          <p:cNvSpPr>
            <a:spLocks noGrp="1"/>
          </p:cNvSpPr>
          <p:nvPr/>
        </p:nvSpPr>
        <p:spPr>
          <a:xfrm>
            <a:off x="590550" y="3667125"/>
            <a:ext cx="514350" cy="514350"/>
          </a:xfrm>
          <a:prstGeom prst="roundRect">
            <a:avLst>
              <a:gd name="adj" fmla="val 14815"/>
            </a:avLst>
          </a:prstGeom>
          <a:solidFill>
            <a:srgbClr val="6CAB4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38206E-4039-43C5-AEC4-160EFE814788}"/>
              </a:ext>
            </a:extLst>
          </p:cNvPr>
          <p:cNvSpPr>
            <a:spLocks noGrp="1"/>
          </p:cNvSpPr>
          <p:nvPr/>
        </p:nvSpPr>
        <p:spPr>
          <a:xfrm>
            <a:off x="638175" y="371475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23B1A8-2287-4B27-9B9E-8491E9FC9DC1}"/>
              </a:ext>
            </a:extLst>
          </p:cNvPr>
          <p:cNvSpPr>
            <a:spLocks noGrp="1"/>
          </p:cNvSpPr>
          <p:nvPr/>
        </p:nvSpPr>
        <p:spPr>
          <a:xfrm>
            <a:off x="1257300" y="3648075"/>
            <a:ext cx="43815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Άνοιγμα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68A7C9-8D05-4675-808D-6105E433D45B}"/>
              </a:ext>
            </a:extLst>
          </p:cNvPr>
          <p:cNvSpPr>
            <a:spLocks noGrp="1"/>
          </p:cNvSpPr>
          <p:nvPr/>
        </p:nvSpPr>
        <p:spPr>
          <a:xfrm>
            <a:off x="1257300" y="4029075"/>
            <a:ext cx="4429125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Πατάμε Open και περιμένουμε να ολοκληρωθεί η επισύναψη.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58642D0-1BB8-4E7D-9580-500A5216DE5A}"/>
              </a:ext>
            </a:extLst>
          </p:cNvPr>
          <p:cNvSpPr>
            <a:spLocks noGrp="1"/>
          </p:cNvSpPr>
          <p:nvPr/>
        </p:nvSpPr>
        <p:spPr>
          <a:xfrm>
            <a:off x="590550" y="4905375"/>
            <a:ext cx="514350" cy="514350"/>
          </a:xfrm>
          <a:prstGeom prst="roundRect">
            <a:avLst>
              <a:gd name="adj" fmla="val 14815"/>
            </a:avLst>
          </a:prstGeom>
          <a:solidFill>
            <a:srgbClr val="7B4AAC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AAA448-3943-47B8-8435-A066C6D1A5DC}"/>
              </a:ext>
            </a:extLst>
          </p:cNvPr>
          <p:cNvSpPr>
            <a:spLocks noGrp="1"/>
          </p:cNvSpPr>
          <p:nvPr/>
        </p:nvSpPr>
        <p:spPr>
          <a:xfrm>
            <a:off x="638175" y="495300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38FCCC-9365-44AE-857B-B87495F510E0}"/>
              </a:ext>
            </a:extLst>
          </p:cNvPr>
          <p:cNvSpPr>
            <a:spLocks noGrp="1"/>
          </p:cNvSpPr>
          <p:nvPr/>
        </p:nvSpPr>
        <p:spPr>
          <a:xfrm>
            <a:off x="1257300" y="4886325"/>
            <a:ext cx="43815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Αποστολή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45C611-992C-4AE9-83A2-09281F5591E3}"/>
              </a:ext>
            </a:extLst>
          </p:cNvPr>
          <p:cNvSpPr>
            <a:spLocks noGrp="1"/>
          </p:cNvSpPr>
          <p:nvPr/>
        </p:nvSpPr>
        <p:spPr>
          <a:xfrm>
            <a:off x="1257300" y="5267325"/>
            <a:ext cx="4429125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Ελέγχουμε το συνημμένο και πατάμε Send.</a:t>
            </a: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334250" y="1476375"/>
            <a:ext cx="2857500" cy="28575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5971AC7-6FFE-4114-9C91-8FBC61B2C6D4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1087100" cy="47625"/>
          </a:xfrm>
          <a:prstGeom prst="rect">
            <a:avLst/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BC7E019-2A54-432E-B90E-5FAE6B47D8A7}"/>
              </a:ext>
            </a:extLst>
          </p:cNvPr>
          <p:cNvSpPr>
            <a:spLocks noGrp="1"/>
          </p:cNvSpPr>
          <p:nvPr/>
        </p:nvSpPr>
        <p:spPr>
          <a:xfrm>
            <a:off x="4286250" y="6429375"/>
            <a:ext cx="7353300" cy="47625"/>
          </a:xfrm>
          <a:prstGeom prst="rect">
            <a:avLst/>
          </a:prstGeom>
          <a:solidFill>
            <a:srgbClr val="77A9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6178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9EBF2BD-69CA-42C4-8808-EF01064663C2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110871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5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Άνοιγμα και αποθήκευση συνημμένου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5CC51F1-C956-44D9-9840-C68BA5692CDC}"/>
              </a:ext>
            </a:extLst>
          </p:cNvPr>
          <p:cNvSpPr>
            <a:spLocks noGrp="1"/>
          </p:cNvSpPr>
          <p:nvPr/>
        </p:nvSpPr>
        <p:spPr>
          <a:xfrm>
            <a:off x="590550" y="1333500"/>
            <a:ext cx="5095875" cy="3333750"/>
          </a:xfrm>
          <a:prstGeom prst="roundRect">
            <a:avLst>
              <a:gd name="adj" fmla="val 2286"/>
            </a:avLst>
          </a:prstGeom>
          <a:solidFill>
            <a:srgbClr val="F5F8FB"/>
          </a:solidFill>
          <a:ln w="9525">
            <a:solidFill>
              <a:srgbClr val="DCE2E6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D94EFD-5A43-4AB1-82DD-BAA938DB26D6}"/>
              </a:ext>
            </a:extLst>
          </p:cNvPr>
          <p:cNvSpPr>
            <a:spLocks noGrp="1"/>
          </p:cNvSpPr>
          <p:nvPr/>
        </p:nvSpPr>
        <p:spPr>
          <a:xfrm>
            <a:off x="876300" y="1619250"/>
            <a:ext cx="4524375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2025" b="1">
                <a:solidFill>
                  <a:srgbClr val="5599D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5599D8"/>
                </a:solidFill>
                <a:latin typeface="Tahoma"/>
                <a:ea typeface="Tahoma"/>
                <a:cs typeface="Tahoma"/>
              </a:rPr>
              <a:t>Άνοιγμα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D7D54E-AA23-45F1-9FC2-DF8863AFB486}"/>
              </a:ext>
            </a:extLst>
          </p:cNvPr>
          <p:cNvSpPr>
            <a:spLocks noGrp="1"/>
          </p:cNvSpPr>
          <p:nvPr/>
        </p:nvSpPr>
        <p:spPr>
          <a:xfrm>
            <a:off x="952500" y="2333625"/>
            <a:ext cx="4191000" cy="1809750"/>
          </a:xfrm>
          <a:prstGeom prst="rect">
            <a:avLst/>
          </a:prstGeom>
          <a:noFill/>
          <a:ln w="0">
            <a:noFill/>
          </a:ln>
        </p:spPr>
        <p:txBody>
          <a:bodyPr lIns="28575" tIns="19050" rIns="28575" bIns="19050" anchor="t">
            <a:normAutofit/>
          </a:bodyPr>
          <a:lstStyle/>
          <a:p>
            <a:pPr marL="254000" indent="-152400" algn="l">
              <a:spcAft>
                <a:spcPts val="520"/>
              </a:spcAft>
              <a:buChar char="•"/>
              <a:defRPr sz="150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Ανοίγουμε το μήνυμα.</a:t>
            </a:r>
          </a:p>
          <a:p>
            <a:pPr marL="254000" indent="-152400" algn="l">
              <a:spcAft>
                <a:spcPts val="520"/>
              </a:spcAft>
              <a:buChar char="•"/>
              <a:defRPr sz="150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Επιλέγουμε το συνημμένο.</a:t>
            </a:r>
          </a:p>
          <a:p>
            <a:pPr marL="254000" indent="-152400" algn="l">
              <a:spcAft>
                <a:spcPts val="520"/>
              </a:spcAft>
              <a:buChar char="•"/>
              <a:defRPr sz="150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Πατάμε Άνοιγμα (Open).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031FE0E-2189-4F4D-A03D-93F34F6DEE94}"/>
              </a:ext>
            </a:extLst>
          </p:cNvPr>
          <p:cNvSpPr>
            <a:spLocks noGrp="1"/>
          </p:cNvSpPr>
          <p:nvPr/>
        </p:nvSpPr>
        <p:spPr>
          <a:xfrm>
            <a:off x="6000750" y="1333500"/>
            <a:ext cx="5095875" cy="3333750"/>
          </a:xfrm>
          <a:prstGeom prst="roundRect">
            <a:avLst>
              <a:gd name="adj" fmla="val 2286"/>
            </a:avLst>
          </a:prstGeom>
          <a:solidFill>
            <a:srgbClr val="F8F5FB"/>
          </a:solidFill>
          <a:ln w="9525">
            <a:solidFill>
              <a:srgbClr val="DCE2E6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FBD1FA-196E-4C0B-B34C-DA37D84A5E39}"/>
              </a:ext>
            </a:extLst>
          </p:cNvPr>
          <p:cNvSpPr>
            <a:spLocks noGrp="1"/>
          </p:cNvSpPr>
          <p:nvPr/>
        </p:nvSpPr>
        <p:spPr>
          <a:xfrm>
            <a:off x="6286500" y="1619250"/>
            <a:ext cx="4524375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2025" b="1">
                <a:solidFill>
                  <a:srgbClr val="7B4AA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7B4AAC"/>
                </a:solidFill>
                <a:latin typeface="Tahoma"/>
                <a:ea typeface="Tahoma"/>
                <a:cs typeface="Tahoma"/>
              </a:rPr>
              <a:t>Αποθήκευση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46C3FD-F501-4D47-A11B-84BCA967A5A4}"/>
              </a:ext>
            </a:extLst>
          </p:cNvPr>
          <p:cNvSpPr>
            <a:spLocks noGrp="1"/>
          </p:cNvSpPr>
          <p:nvPr/>
        </p:nvSpPr>
        <p:spPr>
          <a:xfrm>
            <a:off x="6477000" y="2333625"/>
            <a:ext cx="4000500" cy="1809750"/>
          </a:xfrm>
          <a:prstGeom prst="rect">
            <a:avLst/>
          </a:prstGeom>
          <a:noFill/>
          <a:ln w="0">
            <a:noFill/>
          </a:ln>
        </p:spPr>
        <p:txBody>
          <a:bodyPr lIns="28575" tIns="19050" rIns="28575" bIns="19050" anchor="t">
            <a:normAutofit/>
          </a:bodyPr>
          <a:lstStyle/>
          <a:p>
            <a:pPr marL="254000" indent="-152400" algn="l">
              <a:spcAft>
                <a:spcPts val="520"/>
              </a:spcAft>
              <a:buChar char="•"/>
              <a:defRPr sz="150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Πατάμε Λήψη (Download).</a:t>
            </a:r>
          </a:p>
          <a:p>
            <a:pPr marL="254000" indent="-152400" algn="l">
              <a:spcAft>
                <a:spcPts val="520"/>
              </a:spcAft>
              <a:buChar char="•"/>
              <a:defRPr sz="150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Επιλέγουμε Αποθήκευση ως.</a:t>
            </a:r>
          </a:p>
          <a:p>
            <a:pPr marL="254000" indent="-152400" algn="l">
              <a:spcAft>
                <a:spcPts val="520"/>
              </a:spcAft>
              <a:buChar char="•"/>
              <a:defRPr sz="150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Ορίζουμε τον σωστό φάκελο.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620FDB-49B2-4B74-84D9-1BAD5CBE13F6}"/>
              </a:ext>
            </a:extLst>
          </p:cNvPr>
          <p:cNvSpPr>
            <a:spLocks noGrp="1"/>
          </p:cNvSpPr>
          <p:nvPr/>
        </p:nvSpPr>
        <p:spPr>
          <a:xfrm>
            <a:off x="619125" y="5095875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725" b="1">
                <a:solidFill>
                  <a:srgbClr val="B04A2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B04A2F"/>
                </a:solidFill>
                <a:latin typeface="Tahoma"/>
                <a:ea typeface="Tahoma"/>
                <a:cs typeface="Tahoma"/>
              </a:rPr>
              <a:t>Ανοίγουμε μόνο συνημμένα από αποστολείς που εμπιστευόμαστε.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9D2DE1-406F-494F-80B6-FD3F88BD4329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1087100" cy="47625"/>
          </a:xfrm>
          <a:prstGeom prst="rect">
            <a:avLst/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379F0B-CCD9-479B-940F-9EBA47C725AF}"/>
              </a:ext>
            </a:extLst>
          </p:cNvPr>
          <p:cNvSpPr>
            <a:spLocks noGrp="1"/>
          </p:cNvSpPr>
          <p:nvPr/>
        </p:nvSpPr>
        <p:spPr>
          <a:xfrm>
            <a:off x="4286250" y="6429375"/>
            <a:ext cx="7353300" cy="47625"/>
          </a:xfrm>
          <a:prstGeom prst="rect">
            <a:avLst/>
          </a:prstGeom>
          <a:solidFill>
            <a:srgbClr val="77A9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0401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CC72C02-C3C0-4ACA-88F1-D8A87F21FF02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110871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5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Ασκήσεις Α5.2 Μ3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AABC78-BC95-47BB-A9C9-6FCE423908A8}"/>
              </a:ext>
            </a:extLst>
          </p:cNvPr>
          <p:cNvSpPr>
            <a:spLocks noGrp="1"/>
          </p:cNvSpPr>
          <p:nvPr/>
        </p:nvSpPr>
        <p:spPr>
          <a:xfrm>
            <a:off x="619125" y="1200150"/>
            <a:ext cx="1762125" cy="47625"/>
          </a:xfrm>
          <a:prstGeom prst="rect">
            <a:avLst/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2AFABD-7AD6-4471-9266-5CEA9FB8BE11}"/>
              </a:ext>
            </a:extLst>
          </p:cNvPr>
          <p:cNvSpPr>
            <a:spLocks noGrp="1"/>
          </p:cNvSpPr>
          <p:nvPr/>
        </p:nvSpPr>
        <p:spPr>
          <a:xfrm>
            <a:off x="590550" y="1524000"/>
            <a:ext cx="4000500" cy="1285875"/>
          </a:xfrm>
          <a:prstGeom prst="rect">
            <a:avLst/>
          </a:prstGeom>
          <a:noFill/>
          <a:ln w="0">
            <a:noFill/>
          </a:ln>
        </p:spPr>
        <p:txBody>
          <a:bodyPr lIns="28575" tIns="19050" rIns="28575" bIns="19050" anchor="t">
            <a:normAutofit/>
          </a:bodyPr>
          <a:lstStyle/>
          <a:p>
            <a:pPr marL="254000" indent="-152400" algn="l">
              <a:spcAft>
                <a:spcPts val="520"/>
              </a:spcAft>
              <a:buChar char="•"/>
              <a:defRPr sz="180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Σελίδες 139–141</a:t>
            </a:r>
          </a:p>
          <a:p>
            <a:pPr marL="254000" indent="-152400" algn="l">
              <a:spcAft>
                <a:spcPts val="520"/>
              </a:spcAft>
              <a:buChar char="•"/>
              <a:defRPr sz="180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Δραστηριότητες 1–18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A00303-0C66-4C63-9EA9-EEFD51C61147}"/>
              </a:ext>
            </a:extLst>
          </p:cNvPr>
          <p:cNvSpPr>
            <a:spLocks noGrp="1"/>
          </p:cNvSpPr>
          <p:nvPr/>
        </p:nvSpPr>
        <p:spPr>
          <a:xfrm>
            <a:off x="590550" y="3143250"/>
            <a:ext cx="4000500" cy="1238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75" b="0">
                <a:solidFill>
                  <a:srgbClr val="444444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444444"/>
                </a:solidFill>
                <a:latin typeface="Tahoma"/>
                <a:ea typeface="Tahoma"/>
                <a:cs typeface="Tahoma"/>
              </a:rPr>
              <a:t>Εφαρμογή: επισύναψη αρχείων και άνοιγμα ή αποθήκευση συνημμένων στον σωστό φάκελο.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CF78B2-B668-4C5B-B5A9-B117EFAC117E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1087100" cy="47625"/>
          </a:xfrm>
          <a:prstGeom prst="rect">
            <a:avLst/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73CAFF-40FA-43E9-94AE-093C10ED2B2C}"/>
              </a:ext>
            </a:extLst>
          </p:cNvPr>
          <p:cNvSpPr>
            <a:spLocks noGrp="1"/>
          </p:cNvSpPr>
          <p:nvPr/>
        </p:nvSpPr>
        <p:spPr>
          <a:xfrm>
            <a:off x="4286250" y="6429375"/>
            <a:ext cx="7353300" cy="47625"/>
          </a:xfrm>
          <a:prstGeom prst="rect">
            <a:avLst/>
          </a:prstGeom>
          <a:solidFill>
            <a:srgbClr val="77A9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373952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</Words>
  <Application>Microsoft Office PowerPoint</Application>
  <DocSecurity>0</DocSecurity>
  <PresentationFormat>Widescreen</PresentationFormat>
  <Paragraphs>45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Calibri</vt:lpstr>
      <vt:lpstr>Tahoma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Άριστος Αρέστη</cp:lastModifiedBy>
  <cp:revision>1</cp:revision>
  <dcterms:created xsi:type="dcterms:W3CDTF">2026-09-12T05:25:30Z</dcterms:created>
  <dcterms:modified xsi:type="dcterms:W3CDTF">2026-09-26T06:34:53Z</dcterms:modified>
</cp:coreProperties>
</file>