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38177D-E295-440C-81DB-D73E51E727E2}" v="1" dt="2026-10-21T06:53:42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6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 sldOrd">
      <pc:chgData name="Άριστος Αρέστη" userId="813aa191-2d4c-464f-9d05-0a7e494d859f" providerId="ADAL" clId="{49C7B61D-1ACF-4AFF-A04E-A3B433E32474}" dt="2026-10-21T06:53:44.784" v="6"/>
      <pc:docMkLst>
        <pc:docMk/>
      </pc:docMkLst>
      <pc:sldChg chg="delSp del mod">
        <pc:chgData name="Άριστος Αρέστη" userId="813aa191-2d4c-464f-9d05-0a7e494d859f" providerId="ADAL" clId="{49C7B61D-1ACF-4AFF-A04E-A3B433E32474}" dt="2026-10-21T06:47:13.731" v="3" actId="47"/>
        <pc:sldMkLst>
          <pc:docMk/>
          <pc:sldMk cId="1863739521" sldId="260"/>
        </pc:sldMkLst>
      </pc:sldChg>
      <pc:sldChg chg="add ord setBg">
        <pc:chgData name="Άριστος Αρέστη" userId="813aa191-2d4c-464f-9d05-0a7e494d859f" providerId="ADAL" clId="{49C7B61D-1ACF-4AFF-A04E-A3B433E32474}" dt="2026-10-21T06:53:44.784" v="6"/>
        <pc:sldMkLst>
          <pc:docMk/>
          <pc:sldMk cId="2121798388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Πηγή: Σημειώσεις και Τετράδιο Εργασιών Πληροφορικής Α΄ Γυμνασίου, ενότητα Α.5.2.Μ3.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83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C665E8E-1AA6-493B-8AEC-2ACCE954E7CD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552450" cy="76200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755021-AF10-466B-BDDB-5C1D1E299D03}"/>
              </a:ext>
            </a:extLst>
          </p:cNvPr>
          <p:cNvSpPr>
            <a:spLocks noGrp="1"/>
          </p:cNvSpPr>
          <p:nvPr/>
        </p:nvSpPr>
        <p:spPr>
          <a:xfrm>
            <a:off x="590550" y="1028700"/>
            <a:ext cx="3905250" cy="3810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Α5.2 Μ3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Διαχείριση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Ηλεκτρονικού</a:t>
            </a:r>
          </a:p>
          <a:p>
            <a:pPr algn="l">
              <a:defRPr sz="2925" b="0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2925" b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Ταχυδρομείου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B781DE6-886A-4E77-8BE3-624F397B50B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972800" cy="590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defPPr>
            <a:lvl1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1pPr>
            <a:lvl2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2pPr>
            <a:lvl3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3pPr>
            <a:lvl4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4pPr>
            <a:lvl5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5pPr>
            <a:lvl6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6pPr>
            <a:lvl7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7pPr>
            <a:lvl8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8pPr>
            <a:lvl9pPr algn="l">
              <a:defRPr sz="28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2850" b="1">
                <a:solidFill>
                  <a:srgbClr val="14213D"/>
                </a:solidFill>
                <a:latin typeface="Inter"/>
                <a:ea typeface="Inter"/>
                <a:cs typeface="Inter"/>
              </a:rPr>
              <a:t>Γιατί χρησιμοποιούμε συνημμένα;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35BC1F-90F4-4F24-8483-8609163B2103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10820400" cy="5143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3C4A5E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1500" b="0">
                <a:solidFill>
                  <a:srgbClr val="3C4A5E"/>
                </a:solidFill>
                <a:latin typeface="Inter"/>
                <a:ea typeface="Inter"/>
                <a:cs typeface="Inter"/>
              </a:rPr>
              <a:t>Η Μαρία πρέπει να στείλει την εργασία της στον καθηγητή. Το κείμενο του email δεν μεταφέρει το ίδιο το αρχείο.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2E57CED-0D9E-45B4-A649-C377C0ACE7E9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3143250" cy="31813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CD6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7C72B4-D5B9-47EB-8920-BE8EC2F715B3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7622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650" b="1">
                <a:solidFill>
                  <a:srgbClr val="14213D"/>
                </a:solidFill>
                <a:latin typeface="Inter"/>
                <a:ea typeface="Inter"/>
                <a:cs typeface="Inter"/>
              </a:rPr>
              <a:t>Αρχεία στον υπολογιστή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BEBC24-C107-4672-A00D-1C79461CF2BB}"/>
              </a:ext>
            </a:extLst>
          </p:cNvPr>
          <p:cNvSpPr>
            <a:spLocks noGrp="1"/>
          </p:cNvSpPr>
          <p:nvPr/>
        </p:nvSpPr>
        <p:spPr>
          <a:xfrm>
            <a:off x="971550" y="2647950"/>
            <a:ext cx="704850" cy="514350"/>
          </a:xfrm>
          <a:prstGeom prst="roundRect">
            <a:avLst>
              <a:gd name="adj" fmla="val 14815"/>
            </a:avLst>
          </a:prstGeom>
          <a:solidFill>
            <a:srgbClr val="E74C3C"/>
          </a:solidFill>
          <a:ln w="9525">
            <a:solidFill>
              <a:srgbClr val="E74C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ACC734-FC0E-4518-BAC1-319988AACF9C}"/>
              </a:ext>
            </a:extLst>
          </p:cNvPr>
          <p:cNvSpPr>
            <a:spLocks noGrp="1"/>
          </p:cNvSpPr>
          <p:nvPr/>
        </p:nvSpPr>
        <p:spPr>
          <a:xfrm>
            <a:off x="990600" y="2695575"/>
            <a:ext cx="66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PDF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0676FD-D318-48C7-A25B-24FEF51515E7}"/>
              </a:ext>
            </a:extLst>
          </p:cNvPr>
          <p:cNvSpPr>
            <a:spLocks noGrp="1"/>
          </p:cNvSpPr>
          <p:nvPr/>
        </p:nvSpPr>
        <p:spPr>
          <a:xfrm>
            <a:off x="1809750" y="2676525"/>
            <a:ext cx="1714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1350" b="0">
                <a:solidFill>
                  <a:srgbClr val="25364D"/>
                </a:solidFill>
                <a:latin typeface="Inter"/>
                <a:ea typeface="Inter"/>
                <a:cs typeface="Inter"/>
              </a:rPr>
              <a:t>Εργασία.pdf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DFD083-13ED-4548-B862-D158B8D8B32F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704850" cy="514350"/>
          </a:xfrm>
          <a:prstGeom prst="roundRect">
            <a:avLst>
              <a:gd name="adj" fmla="val 14815"/>
            </a:avLst>
          </a:prstGeom>
          <a:solidFill>
            <a:srgbClr val="E6A23C"/>
          </a:solidFill>
          <a:ln w="9525">
            <a:solidFill>
              <a:srgbClr val="E6A23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46F7EC-4A68-44E9-9BFD-4BA951EE4D57}"/>
              </a:ext>
            </a:extLst>
          </p:cNvPr>
          <p:cNvSpPr>
            <a:spLocks noGrp="1"/>
          </p:cNvSpPr>
          <p:nvPr/>
        </p:nvSpPr>
        <p:spPr>
          <a:xfrm>
            <a:off x="990600" y="3419475"/>
            <a:ext cx="66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JPG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83F22-B759-4C93-AF01-8B1B74BD0D5B}"/>
              </a:ext>
            </a:extLst>
          </p:cNvPr>
          <p:cNvSpPr>
            <a:spLocks noGrp="1"/>
          </p:cNvSpPr>
          <p:nvPr/>
        </p:nvSpPr>
        <p:spPr>
          <a:xfrm>
            <a:off x="1809750" y="3400425"/>
            <a:ext cx="1714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1350" b="0">
                <a:solidFill>
                  <a:srgbClr val="25364D"/>
                </a:solidFill>
                <a:latin typeface="Inter"/>
                <a:ea typeface="Inter"/>
                <a:cs typeface="Inter"/>
              </a:rPr>
              <a:t>Φωτογραφία.jpg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52A70E-36FD-44D7-953A-33A77164B256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704850" cy="514350"/>
          </a:xfrm>
          <a:prstGeom prst="roundRect">
            <a:avLst>
              <a:gd name="adj" fmla="val 14815"/>
            </a:avLst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ED41E8-7C2B-4B27-AC3D-0F96EE9F8B1B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666750" cy="4191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DOCX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45A65-D3BD-4A53-B087-E826DE425435}"/>
              </a:ext>
            </a:extLst>
          </p:cNvPr>
          <p:cNvSpPr>
            <a:spLocks noGrp="1"/>
          </p:cNvSpPr>
          <p:nvPr/>
        </p:nvSpPr>
        <p:spPr>
          <a:xfrm>
            <a:off x="1809750" y="4124325"/>
            <a:ext cx="171450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25364D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1350" b="0">
                <a:solidFill>
                  <a:srgbClr val="25364D"/>
                </a:solidFill>
                <a:latin typeface="Inter"/>
                <a:ea typeface="Inter"/>
                <a:cs typeface="Inter"/>
              </a:rPr>
              <a:t>Κείμενο.docx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1E996E1-64F0-4460-B61F-E9A151D68E01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1619250" cy="1619250"/>
          </a:xfrm>
          <a:prstGeom prst="ellipse">
            <a:avLst/>
          </a:prstGeom>
          <a:solidFill>
            <a:srgbClr val="24446A"/>
          </a:solidFill>
          <a:ln w="9525">
            <a:solidFill>
              <a:srgbClr val="24446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483EEC-8801-43AC-8931-0CD699E943E7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1123950" cy="762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defPPr>
            <a:lvl1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1pPr>
            <a:lvl2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2pPr>
            <a:lvl3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3pPr>
            <a:lvl4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4pPr>
            <a:lvl5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5pPr>
            <a:lvl6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6pPr>
            <a:lvl7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7pPr>
            <a:lvl8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8pPr>
            <a:lvl9pPr algn="ctr">
              <a:defRPr sz="3525" b="0">
                <a:solidFill>
                  <a:srgbClr val="14213D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3525" b="0">
                <a:solidFill>
                  <a:srgbClr val="14213D"/>
                </a:solidFill>
                <a:latin typeface="Inter"/>
                <a:ea typeface="Inter"/>
                <a:cs typeface="Inter"/>
              </a:rPr>
              <a:t>📎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B8A749-8D8A-4EA8-AF73-723818A0CDBF}"/>
              </a:ext>
            </a:extLst>
          </p:cNvPr>
          <p:cNvSpPr>
            <a:spLocks noGrp="1"/>
          </p:cNvSpPr>
          <p:nvPr/>
        </p:nvSpPr>
        <p:spPr>
          <a:xfrm>
            <a:off x="4781550" y="3476625"/>
            <a:ext cx="1085850" cy="4000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7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7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Attach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5BE7ED-FFC8-41D8-AD29-EABB459EC675}"/>
              </a:ext>
            </a:extLst>
          </p:cNvPr>
          <p:cNvSpPr>
            <a:spLocks noGrp="1"/>
          </p:cNvSpPr>
          <p:nvPr/>
        </p:nvSpPr>
        <p:spPr>
          <a:xfrm>
            <a:off x="3867150" y="3048000"/>
            <a:ext cx="609600" cy="590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defPPr>
            <a:lvl1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1pPr>
            <a:lvl2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2pPr>
            <a:lvl3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3pPr>
            <a:lvl4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4pPr>
            <a:lvl5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5pPr>
            <a:lvl6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6pPr>
            <a:lvl7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7pPr>
            <a:lvl8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8pPr>
            <a:lvl9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3150" b="1">
                <a:solidFill>
                  <a:srgbClr val="7A8CA3"/>
                </a:solidFill>
                <a:latin typeface="Inter"/>
                <a:ea typeface="Inter"/>
                <a:cs typeface="Inter"/>
              </a:rPr>
              <a:t>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3377B6-8B90-49A0-B168-63F749C6A87D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609600" cy="5905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defPPr>
            <a:lvl1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1pPr>
            <a:lvl2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2pPr>
            <a:lvl3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3pPr>
            <a:lvl4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4pPr>
            <a:lvl5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5pPr>
            <a:lvl6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6pPr>
            <a:lvl7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7pPr>
            <a:lvl8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8pPr>
            <a:lvl9pPr algn="ctr">
              <a:defRPr sz="3150" b="1">
                <a:solidFill>
                  <a:srgbClr val="7A8CA3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3150" b="1">
                <a:solidFill>
                  <a:srgbClr val="7A8CA3"/>
                </a:solidFill>
                <a:latin typeface="Inter"/>
                <a:ea typeface="Inter"/>
                <a:cs typeface="Inter"/>
              </a:rPr>
              <a:t>➜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F5F37B-0468-4C98-9004-14EB601828D5}"/>
              </a:ext>
            </a:extLst>
          </p:cNvPr>
          <p:cNvSpPr>
            <a:spLocks noGrp="1"/>
          </p:cNvSpPr>
          <p:nvPr/>
        </p:nvSpPr>
        <p:spPr>
          <a:xfrm>
            <a:off x="6800850" y="1885950"/>
            <a:ext cx="470535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CD6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62DE390-9200-4499-A416-2E24445D2340}"/>
              </a:ext>
            </a:extLst>
          </p:cNvPr>
          <p:cNvSpPr>
            <a:spLocks noGrp="1"/>
          </p:cNvSpPr>
          <p:nvPr/>
        </p:nvSpPr>
        <p:spPr>
          <a:xfrm>
            <a:off x="7162800" y="2305050"/>
            <a:ext cx="3981450" cy="1924050"/>
          </a:xfrm>
          <a:prstGeom prst="roundRect">
            <a:avLst>
              <a:gd name="adj" fmla="val 3960"/>
            </a:avLst>
          </a:prstGeom>
          <a:solidFill>
            <a:srgbClr val="EEF4FA"/>
          </a:solidFill>
          <a:ln w="9525">
            <a:solidFill>
              <a:srgbClr val="9CB0C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C80229-F028-4F38-94AA-F7792E6980AE}"/>
              </a:ext>
            </a:extLst>
          </p:cNvPr>
          <p:cNvSpPr>
            <a:spLocks noGrp="1"/>
          </p:cNvSpPr>
          <p:nvPr/>
        </p:nvSpPr>
        <p:spPr>
          <a:xfrm>
            <a:off x="7334250" y="2419350"/>
            <a:ext cx="361950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1">
                <a:solidFill>
                  <a:srgbClr val="14213D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650" b="1">
                <a:solidFill>
                  <a:srgbClr val="14213D"/>
                </a:solidFill>
                <a:latin typeface="Inter"/>
                <a:ea typeface="Inter"/>
                <a:cs typeface="Inter"/>
              </a:rPr>
              <a:t>Email προς τον καθηγητή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B13E4F-5A7F-40FA-AC3B-E95CE3D93A5F}"/>
              </a:ext>
            </a:extLst>
          </p:cNvPr>
          <p:cNvSpPr>
            <a:spLocks noGrp="1"/>
          </p:cNvSpPr>
          <p:nvPr/>
        </p:nvSpPr>
        <p:spPr>
          <a:xfrm>
            <a:off x="7448550" y="2914650"/>
            <a:ext cx="3390900" cy="3810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defPPr>
            <a:lvl1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1pPr>
            <a:lvl2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2pPr>
            <a:lvl3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3pPr>
            <a:lvl4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4pPr>
            <a:lvl5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5pPr>
            <a:lvl6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6pPr>
            <a:lvl7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7pPr>
            <a:lvl8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8pPr>
            <a:lvl9pPr algn="l">
              <a:defRPr sz="1350" b="0">
                <a:solidFill>
                  <a:srgbClr val="40516A"/>
                </a:solidFill>
                <a:latin typeface="Inter"/>
                <a:ea typeface="Inter"/>
                <a:cs typeface="Inter"/>
              </a:defRPr>
            </a:lvl9pPr>
          </a:lstStyle>
          <a:p>
            <a:pPr algn="l"/>
            <a:r>
              <a:rPr sz="1350" b="0">
                <a:solidFill>
                  <a:srgbClr val="40516A"/>
                </a:solidFill>
                <a:latin typeface="Inter"/>
                <a:ea typeface="Inter"/>
                <a:cs typeface="Inter"/>
              </a:rPr>
              <a:t>Σας στέλνω την εργασία μου.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FE9B472-C8A6-499A-878E-EC6125D035F9}"/>
              </a:ext>
            </a:extLst>
          </p:cNvPr>
          <p:cNvSpPr>
            <a:spLocks noGrp="1"/>
          </p:cNvSpPr>
          <p:nvPr/>
        </p:nvSpPr>
        <p:spPr>
          <a:xfrm>
            <a:off x="7486650" y="3467100"/>
            <a:ext cx="14478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00D92E-3D5A-43D8-8BEE-094FC78932B2}"/>
              </a:ext>
            </a:extLst>
          </p:cNvPr>
          <p:cNvSpPr>
            <a:spLocks noGrp="1"/>
          </p:cNvSpPr>
          <p:nvPr/>
        </p:nvSpPr>
        <p:spPr>
          <a:xfrm>
            <a:off x="7543800" y="3524250"/>
            <a:ext cx="133350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defPPr>
            <a:lvl1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1pPr>
            <a:lvl2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2pPr>
            <a:lvl3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3pPr>
            <a:lvl4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4pPr>
            <a:lvl5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5pPr>
            <a:lvl6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6pPr>
            <a:lvl7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7pPr>
            <a:lvl8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8pPr>
            <a:lvl9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125" b="1">
                <a:solidFill>
                  <a:srgbClr val="24446A"/>
                </a:solidFill>
                <a:latin typeface="Inter"/>
                <a:ea typeface="Inter"/>
                <a:cs typeface="Inter"/>
              </a:rPr>
              <a:t>📎 Εργασία.pdf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21CFC0-9C64-4409-971D-7AC4CD7EB9A2}"/>
              </a:ext>
            </a:extLst>
          </p:cNvPr>
          <p:cNvSpPr>
            <a:spLocks noGrp="1"/>
          </p:cNvSpPr>
          <p:nvPr/>
        </p:nvSpPr>
        <p:spPr>
          <a:xfrm>
            <a:off x="9086850" y="3467100"/>
            <a:ext cx="16573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DEE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D13948-0D58-4775-91F7-8275737FCDF2}"/>
              </a:ext>
            </a:extLst>
          </p:cNvPr>
          <p:cNvSpPr>
            <a:spLocks noGrp="1"/>
          </p:cNvSpPr>
          <p:nvPr/>
        </p:nvSpPr>
        <p:spPr>
          <a:xfrm>
            <a:off x="9144000" y="3524250"/>
            <a:ext cx="1543050" cy="3429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defPPr>
            <a:lvl1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1pPr>
            <a:lvl2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2pPr>
            <a:lvl3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3pPr>
            <a:lvl4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4pPr>
            <a:lvl5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5pPr>
            <a:lvl6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6pPr>
            <a:lvl7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7pPr>
            <a:lvl8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8pPr>
            <a:lvl9pPr algn="ctr">
              <a:defRPr sz="1125" b="1">
                <a:solidFill>
                  <a:srgbClr val="24446A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125" b="1">
                <a:solidFill>
                  <a:srgbClr val="24446A"/>
                </a:solidFill>
                <a:latin typeface="Inter"/>
                <a:ea typeface="Inter"/>
                <a:cs typeface="Inter"/>
              </a:rPr>
              <a:t>📎 Φωτογραφία.jpg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181736-33AC-4760-8EC4-27BF669ECD75}"/>
              </a:ext>
            </a:extLst>
          </p:cNvPr>
          <p:cNvSpPr>
            <a:spLocks noGrp="1"/>
          </p:cNvSpPr>
          <p:nvPr/>
        </p:nvSpPr>
        <p:spPr>
          <a:xfrm>
            <a:off x="7239000" y="4362450"/>
            <a:ext cx="3829050" cy="45720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defPPr>
            <a:lvl1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1pPr>
            <a:lvl2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2pPr>
            <a:lvl3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3pPr>
            <a:lvl4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4pPr>
            <a:lvl5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5pPr>
            <a:lvl6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6pPr>
            <a:lvl7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7pPr>
            <a:lvl8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8pPr>
            <a:lvl9pPr algn="ctr">
              <a:defRPr sz="1350" b="1">
                <a:solidFill>
                  <a:srgbClr val="25364D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350" b="1">
                <a:solidFill>
                  <a:srgbClr val="25364D"/>
                </a:solidFill>
                <a:latin typeface="Inter"/>
                <a:ea typeface="Inter"/>
                <a:cs typeface="Inter"/>
              </a:rPr>
              <a:t>Ο παραλήπτης μπορεί να ανοίξει και να αποθηκεύσει τα αρχεία.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CDF992F-1E37-403E-9BDE-2DF3EDFB1A15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10820400" cy="914400"/>
          </a:xfrm>
          <a:prstGeom prst="roundRect">
            <a:avLst>
              <a:gd name="adj" fmla="val 8333"/>
            </a:avLst>
          </a:prstGeom>
          <a:solidFill>
            <a:srgbClr val="E8F1E8"/>
          </a:solidFill>
          <a:ln w="9525">
            <a:solidFill>
              <a:srgbClr val="B7D2B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E0216A-7AF3-4E2A-9EA4-C5553C1AA2CD}"/>
              </a:ext>
            </a:extLst>
          </p:cNvPr>
          <p:cNvSpPr>
            <a:spLocks noGrp="1"/>
          </p:cNvSpPr>
          <p:nvPr/>
        </p:nvSpPr>
        <p:spPr>
          <a:xfrm>
            <a:off x="971550" y="5562600"/>
            <a:ext cx="10248900" cy="3619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234D32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875" b="1">
                <a:solidFill>
                  <a:srgbClr val="234D32"/>
                </a:solidFill>
                <a:latin typeface="Inter"/>
                <a:ea typeface="Inter"/>
                <a:cs typeface="Inter"/>
              </a:rPr>
              <a:t>Το μήνυμα εξηγεί. Το συνημμένο μεταφέρει το αρχείο.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F61CD0-2348-4B20-AEAE-C96CA84C98EB}"/>
              </a:ext>
            </a:extLst>
          </p:cNvPr>
          <p:cNvSpPr>
            <a:spLocks noGrp="1"/>
          </p:cNvSpPr>
          <p:nvPr/>
        </p:nvSpPr>
        <p:spPr>
          <a:xfrm>
            <a:off x="971550" y="5915025"/>
            <a:ext cx="10248900" cy="285750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solidFill>
              <a:srgbClr val="FFFFFF">
                <a:alpha val="0"/>
              </a:srgbClr>
            </a:solidFill>
          </a:ln>
        </p:spPr>
        <p:txBody>
          <a:bodyPr lIns="76200" tIns="38100" rIns="76200" bIns="38100" anchor="ctr"/>
          <a:lstStyle>
            <a:def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0">
                <a:solidFill>
                  <a:srgbClr val="41624A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/>
            <a:r>
              <a:rPr sz="1275" b="0">
                <a:solidFill>
                  <a:srgbClr val="41624A"/>
                </a:solidFill>
                <a:latin typeface="Inter"/>
                <a:ea typeface="Inter"/>
                <a:cs typeface="Inter"/>
              </a:rPr>
              <a:t>Χρήσιμο για εργασίες, φωτογραφίες, έγγραφα και άλλα αρχεία.</a:t>
            </a:r>
          </a:p>
        </p:txBody>
      </p:sp>
    </p:spTree>
    <p:extLst>
      <p:ext uri="{BB962C8B-B14F-4D97-AF65-F5344CB8AC3E}">
        <p14:creationId xmlns:p14="http://schemas.microsoft.com/office/powerpoint/2010/main" val="2121798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A9B9568-5E18-4335-93FF-0F7C6D34E3FD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Επισυναπτόμενα αρχεία (Attachments)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62000" y="1428750"/>
            <a:ext cx="2762250" cy="27622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3E88CFE-D1BD-497F-97EA-CA81D475AFF9}"/>
              </a:ext>
            </a:extLst>
          </p:cNvPr>
          <p:cNvSpPr>
            <a:spLocks noGrp="1"/>
          </p:cNvSpPr>
          <p:nvPr/>
        </p:nvSpPr>
        <p:spPr>
          <a:xfrm>
            <a:off x="4095750" y="1428750"/>
            <a:ext cx="685800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0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Σε ένα μήνυμα μπορούμε να επισυνάψουμε ένα ή περισσότερα αρχεία διαφορετικού τύπου.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5D44BEA-A24E-45C9-8DD9-2D9E115779A0}"/>
              </a:ext>
            </a:extLst>
          </p:cNvPr>
          <p:cNvSpPr>
            <a:spLocks noGrp="1"/>
          </p:cNvSpPr>
          <p:nvPr/>
        </p:nvSpPr>
        <p:spPr>
          <a:xfrm>
            <a:off x="4095750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594D24-BA8E-4D9D-8B9C-555D27FDC175}"/>
              </a:ext>
            </a:extLst>
          </p:cNvPr>
          <p:cNvSpPr>
            <a:spLocks noGrp="1"/>
          </p:cNvSpPr>
          <p:nvPr/>
        </p:nvSpPr>
        <p:spPr>
          <a:xfrm>
            <a:off x="4238625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F57C24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F57C24"/>
                </a:solidFill>
                <a:latin typeface="Tahoma"/>
                <a:ea typeface="Tahoma"/>
                <a:cs typeface="Tahoma"/>
              </a:rPr>
              <a:t>Κείμενο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13862-F7C9-4E18-A38C-ABA0C5152C33}"/>
              </a:ext>
            </a:extLst>
          </p:cNvPr>
          <p:cNvSpPr>
            <a:spLocks noGrp="1"/>
          </p:cNvSpPr>
          <p:nvPr/>
        </p:nvSpPr>
        <p:spPr>
          <a:xfrm>
            <a:off x="4238625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Έγγραφα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666E21-3B81-48FE-8BBA-F596E9AE1214}"/>
              </a:ext>
            </a:extLst>
          </p:cNvPr>
          <p:cNvSpPr>
            <a:spLocks noGrp="1"/>
          </p:cNvSpPr>
          <p:nvPr/>
        </p:nvSpPr>
        <p:spPr>
          <a:xfrm>
            <a:off x="6429375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D2A5D-2144-42F4-A4EB-52D3A9B16D4F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Εικόνα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A2D96-F8AC-45B9-87B7-19394340500A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Φωτογραφίες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0B8828-D32E-4A3D-BE33-A1E6ECA52A6F}"/>
              </a:ext>
            </a:extLst>
          </p:cNvPr>
          <p:cNvSpPr>
            <a:spLocks noGrp="1"/>
          </p:cNvSpPr>
          <p:nvPr/>
        </p:nvSpPr>
        <p:spPr>
          <a:xfrm>
            <a:off x="8763000" y="2857500"/>
            <a:ext cx="2047875" cy="1285875"/>
          </a:xfrm>
          <a:prstGeom prst="roundRect">
            <a:avLst>
              <a:gd name="adj" fmla="val 5926"/>
            </a:avLst>
          </a:prstGeom>
          <a:solidFill>
            <a:srgbClr val="F3F6F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E23D55-421D-4242-8218-2C74BA9D8EF4}"/>
              </a:ext>
            </a:extLst>
          </p:cNvPr>
          <p:cNvSpPr>
            <a:spLocks noGrp="1"/>
          </p:cNvSpPr>
          <p:nvPr/>
        </p:nvSpPr>
        <p:spPr>
          <a:xfrm>
            <a:off x="8905875" y="3067050"/>
            <a:ext cx="1762125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1">
                <a:solidFill>
                  <a:srgbClr val="6CAB4F"/>
                </a:solidFill>
                <a:latin typeface="Tahoma"/>
                <a:ea typeface="Tahoma"/>
                <a:cs typeface="Tahoma"/>
              </a:defRPr>
            </a:pPr>
            <a:r>
              <a:rPr sz="1650" b="1">
                <a:solidFill>
                  <a:srgbClr val="6CAB4F"/>
                </a:solidFill>
                <a:latin typeface="Tahoma"/>
                <a:ea typeface="Tahoma"/>
                <a:cs typeface="Tahoma"/>
              </a:rPr>
              <a:t>Ήχος / Βίντεο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BCA25D-99E4-4858-ABB6-9F62E90164AA}"/>
              </a:ext>
            </a:extLst>
          </p:cNvPr>
          <p:cNvSpPr>
            <a:spLocks noGrp="1"/>
          </p:cNvSpPr>
          <p:nvPr/>
        </p:nvSpPr>
        <p:spPr>
          <a:xfrm>
            <a:off x="8905875" y="3571875"/>
            <a:ext cx="1762125" cy="3333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425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425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Πολυμέσα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03AC18-366E-4AF2-B5E0-3059322AD21A}"/>
              </a:ext>
            </a:extLst>
          </p:cNvPr>
          <p:cNvSpPr>
            <a:spLocks noGrp="1"/>
          </p:cNvSpPr>
          <p:nvPr/>
        </p:nvSpPr>
        <p:spPr>
          <a:xfrm>
            <a:off x="4095750" y="4810125"/>
            <a:ext cx="685800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650" b="0">
                <a:solidFill>
                  <a:srgbClr val="444444"/>
                </a:solidFill>
                <a:latin typeface="Tahoma"/>
                <a:ea typeface="Tahoma"/>
                <a:cs typeface="Tahoma"/>
              </a:defRPr>
            </a:pPr>
            <a:r>
              <a:rPr sz="1650" b="0">
                <a:solidFill>
                  <a:srgbClr val="444444"/>
                </a:solidFill>
                <a:latin typeface="Tahoma"/>
                <a:ea typeface="Tahoma"/>
                <a:cs typeface="Tahoma"/>
              </a:rPr>
              <a:t>Ελέγχουμε πάντα ότι το σωστό αρχείο εμφανίζεται στο μήνυμα πριν την αποστολή.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EBBC61-BA63-4EC0-914F-7BFBF684293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78A829-824D-401A-AE27-CAC310681A9E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619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666744-8F35-40B5-9E4D-379BFB579709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Επισύναψη αρχείου σε μήνυμα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E5DAB29-8E2E-46DA-A64B-C3D8759C6390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B65486-6F82-4F2B-AC4F-2A719ED00064}"/>
              </a:ext>
            </a:extLst>
          </p:cNvPr>
          <p:cNvSpPr>
            <a:spLocks noGrp="1"/>
          </p:cNvSpPr>
          <p:nvPr/>
        </p:nvSpPr>
        <p:spPr>
          <a:xfrm>
            <a:off x="638175" y="12382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60B27-D5E8-4AB9-A87A-4C574AFF2094}"/>
              </a:ext>
            </a:extLst>
          </p:cNvPr>
          <p:cNvSpPr>
            <a:spLocks noGrp="1"/>
          </p:cNvSpPr>
          <p:nvPr/>
        </p:nvSpPr>
        <p:spPr>
          <a:xfrm>
            <a:off x="1257300" y="11715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Επισύναψη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CDA91A-CC40-4C90-B073-918EACE8355A}"/>
              </a:ext>
            </a:extLst>
          </p:cNvPr>
          <p:cNvSpPr>
            <a:spLocks noGrp="1"/>
          </p:cNvSpPr>
          <p:nvPr/>
        </p:nvSpPr>
        <p:spPr>
          <a:xfrm>
            <a:off x="1257300" y="15525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Attach ή το εικονίδιο συνδετήρα.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29E4AE-C331-4C8E-B684-85997B83F417}"/>
              </a:ext>
            </a:extLst>
          </p:cNvPr>
          <p:cNvSpPr>
            <a:spLocks noGrp="1"/>
          </p:cNvSpPr>
          <p:nvPr/>
        </p:nvSpPr>
        <p:spPr>
          <a:xfrm>
            <a:off x="590550" y="24288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5599D8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49C013-D2E9-4D69-8072-E282034C515B}"/>
              </a:ext>
            </a:extLst>
          </p:cNvPr>
          <p:cNvSpPr>
            <a:spLocks noGrp="1"/>
          </p:cNvSpPr>
          <p:nvPr/>
        </p:nvSpPr>
        <p:spPr>
          <a:xfrm>
            <a:off x="638175" y="24765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5C6880-CA27-42C4-91BA-348A8B7F28A2}"/>
              </a:ext>
            </a:extLst>
          </p:cNvPr>
          <p:cNvSpPr>
            <a:spLocks noGrp="1"/>
          </p:cNvSpPr>
          <p:nvPr/>
        </p:nvSpPr>
        <p:spPr>
          <a:xfrm>
            <a:off x="1257300" y="24098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Επιλογή αρχείου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94CB41-730B-466A-897F-5949A1EC49B9}"/>
              </a:ext>
            </a:extLst>
          </p:cNvPr>
          <p:cNvSpPr>
            <a:spLocks noGrp="1"/>
          </p:cNvSpPr>
          <p:nvPr/>
        </p:nvSpPr>
        <p:spPr>
          <a:xfrm>
            <a:off x="1257300" y="27908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Εντοπίζουμε τον σωστό φάκελο και επιλέγουμε το αρχείο.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C0CF8AB-9F5E-4A76-90C4-4C66AA2957A6}"/>
              </a:ext>
            </a:extLst>
          </p:cNvPr>
          <p:cNvSpPr>
            <a:spLocks noGrp="1"/>
          </p:cNvSpPr>
          <p:nvPr/>
        </p:nvSpPr>
        <p:spPr>
          <a:xfrm>
            <a:off x="590550" y="366712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6CAB4F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38206E-4039-43C5-AEC4-160EFE814788}"/>
              </a:ext>
            </a:extLst>
          </p:cNvPr>
          <p:cNvSpPr>
            <a:spLocks noGrp="1"/>
          </p:cNvSpPr>
          <p:nvPr/>
        </p:nvSpPr>
        <p:spPr>
          <a:xfrm>
            <a:off x="638175" y="371475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23B1A8-2287-4B27-9B9E-8491E9FC9DC1}"/>
              </a:ext>
            </a:extLst>
          </p:cNvPr>
          <p:cNvSpPr>
            <a:spLocks noGrp="1"/>
          </p:cNvSpPr>
          <p:nvPr/>
        </p:nvSpPr>
        <p:spPr>
          <a:xfrm>
            <a:off x="1257300" y="364807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Άνοιγμα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68A7C9-8D05-4675-808D-6105E433D45B}"/>
              </a:ext>
            </a:extLst>
          </p:cNvPr>
          <p:cNvSpPr>
            <a:spLocks noGrp="1"/>
          </p:cNvSpPr>
          <p:nvPr/>
        </p:nvSpPr>
        <p:spPr>
          <a:xfrm>
            <a:off x="1257300" y="402907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Πατάμε Open και περιμένουμε να ολοκληρωθεί η επισύναψη.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8642D0-1BB8-4E7D-9580-500A5216DE5A}"/>
              </a:ext>
            </a:extLst>
          </p:cNvPr>
          <p:cNvSpPr>
            <a:spLocks noGrp="1"/>
          </p:cNvSpPr>
          <p:nvPr/>
        </p:nvSpPr>
        <p:spPr>
          <a:xfrm>
            <a:off x="590550" y="4905375"/>
            <a:ext cx="514350" cy="514350"/>
          </a:xfrm>
          <a:prstGeom prst="roundRect">
            <a:avLst>
              <a:gd name="adj" fmla="val 14815"/>
            </a:avLst>
          </a:prstGeom>
          <a:solidFill>
            <a:srgbClr val="7B4AA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AAA448-3943-47B8-8435-A066C6D1A5DC}"/>
              </a:ext>
            </a:extLst>
          </p:cNvPr>
          <p:cNvSpPr>
            <a:spLocks noGrp="1"/>
          </p:cNvSpPr>
          <p:nvPr/>
        </p:nvSpPr>
        <p:spPr>
          <a:xfrm>
            <a:off x="638175" y="4953000"/>
            <a:ext cx="4191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38FCCC-9365-44AE-857B-B87495F510E0}"/>
              </a:ext>
            </a:extLst>
          </p:cNvPr>
          <p:cNvSpPr>
            <a:spLocks noGrp="1"/>
          </p:cNvSpPr>
          <p:nvPr/>
        </p:nvSpPr>
        <p:spPr>
          <a:xfrm>
            <a:off x="1257300" y="4886325"/>
            <a:ext cx="43815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725" b="1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Αποστολή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45C611-992C-4AE9-83A2-09281F5591E3}"/>
              </a:ext>
            </a:extLst>
          </p:cNvPr>
          <p:cNvSpPr>
            <a:spLocks noGrp="1"/>
          </p:cNvSpPr>
          <p:nvPr/>
        </p:nvSpPr>
        <p:spPr>
          <a:xfrm>
            <a:off x="1257300" y="5267325"/>
            <a:ext cx="4429125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333333"/>
                </a:solidFill>
                <a:latin typeface="Tahoma"/>
                <a:ea typeface="Tahoma"/>
                <a:cs typeface="Tahoma"/>
              </a:rPr>
              <a:t>Ελέγχουμε το συνημμένο και πατάμε Send.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34250" y="1476375"/>
            <a:ext cx="2857500" cy="28575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5971AC7-6FFE-4114-9C91-8FBC61B2C6D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C7E019-2A54-432E-B90E-5FAE6B47D8A7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617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9EBF2BD-69CA-42C4-8808-EF01064663C2}"/>
              </a:ext>
            </a:extLst>
          </p:cNvPr>
          <p:cNvSpPr>
            <a:spLocks noGrp="1"/>
          </p:cNvSpPr>
          <p:nvPr/>
        </p:nvSpPr>
        <p:spPr>
          <a:xfrm>
            <a:off x="552450" y="333375"/>
            <a:ext cx="110871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55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255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Άνοιγμα και αποθήκευση συνημμένου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CC51F1-C956-44D9-9840-C68BA5692CDC}"/>
              </a:ext>
            </a:extLst>
          </p:cNvPr>
          <p:cNvSpPr>
            <a:spLocks noGrp="1"/>
          </p:cNvSpPr>
          <p:nvPr/>
        </p:nvSpPr>
        <p:spPr>
          <a:xfrm>
            <a:off x="590550" y="1333500"/>
            <a:ext cx="5095875" cy="3333750"/>
          </a:xfrm>
          <a:prstGeom prst="roundRect">
            <a:avLst>
              <a:gd name="adj" fmla="val 2286"/>
            </a:avLst>
          </a:prstGeom>
          <a:solidFill>
            <a:srgbClr val="F5F8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D94EFD-5A43-4AB1-82DD-BAA938DB26D6}"/>
              </a:ext>
            </a:extLst>
          </p:cNvPr>
          <p:cNvSpPr>
            <a:spLocks noGrp="1"/>
          </p:cNvSpPr>
          <p:nvPr/>
        </p:nvSpPr>
        <p:spPr>
          <a:xfrm>
            <a:off x="876300" y="1619250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5599D8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5599D8"/>
                </a:solidFill>
                <a:latin typeface="Tahoma"/>
                <a:ea typeface="Tahoma"/>
                <a:cs typeface="Tahoma"/>
              </a:rPr>
              <a:t>Άνοιγμα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7D54E-AA23-45F1-9FC2-DF8863AFB486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4191000" cy="1809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Ανοίγουμε το μήνυμα.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το συνημμένο.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Άνοιγμα (Open).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31FE0E-2189-4F4D-A03D-93F34F6DEE94}"/>
              </a:ext>
            </a:extLst>
          </p:cNvPr>
          <p:cNvSpPr>
            <a:spLocks noGrp="1"/>
          </p:cNvSpPr>
          <p:nvPr/>
        </p:nvSpPr>
        <p:spPr>
          <a:xfrm>
            <a:off x="6000750" y="1333500"/>
            <a:ext cx="5095875" cy="3333750"/>
          </a:xfrm>
          <a:prstGeom prst="roundRect">
            <a:avLst>
              <a:gd name="adj" fmla="val 2286"/>
            </a:avLst>
          </a:prstGeom>
          <a:solidFill>
            <a:srgbClr val="F8F5FB"/>
          </a:solidFill>
          <a:ln w="9525">
            <a:solidFill>
              <a:srgbClr val="DCE2E6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BD1FA-196E-4C0B-B34C-DA37D84A5E39}"/>
              </a:ext>
            </a:extLst>
          </p:cNvPr>
          <p:cNvSpPr>
            <a:spLocks noGrp="1"/>
          </p:cNvSpPr>
          <p:nvPr/>
        </p:nvSpPr>
        <p:spPr>
          <a:xfrm>
            <a:off x="6286500" y="1619250"/>
            <a:ext cx="452437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2025" b="1">
                <a:solidFill>
                  <a:srgbClr val="7B4AAC"/>
                </a:solidFill>
                <a:latin typeface="Tahoma"/>
                <a:ea typeface="Tahoma"/>
                <a:cs typeface="Tahoma"/>
              </a:defRPr>
            </a:pPr>
            <a:r>
              <a:rPr sz="2025" b="1">
                <a:solidFill>
                  <a:srgbClr val="7B4AAC"/>
                </a:solidFill>
                <a:latin typeface="Tahoma"/>
                <a:ea typeface="Tahoma"/>
                <a:cs typeface="Tahoma"/>
              </a:rPr>
              <a:t>Αποθήκευση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46C3FD-F501-4D47-A11B-84BCA967A5A4}"/>
              </a:ext>
            </a:extLst>
          </p:cNvPr>
          <p:cNvSpPr>
            <a:spLocks noGrp="1"/>
          </p:cNvSpPr>
          <p:nvPr/>
        </p:nvSpPr>
        <p:spPr>
          <a:xfrm>
            <a:off x="6477000" y="2333625"/>
            <a:ext cx="4000500" cy="1809750"/>
          </a:xfrm>
          <a:prstGeom prst="rect">
            <a:avLst/>
          </a:prstGeom>
          <a:noFill/>
          <a:ln w="0">
            <a:noFill/>
          </a:ln>
        </p:spPr>
        <p:txBody>
          <a:bodyPr lIns="28575" tIns="19050" rIns="28575" bIns="19050" anchor="t">
            <a:normAutofit/>
          </a:bodyPr>
          <a:lstStyle/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Πατάμε Λήψη (Download).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Επιλέγουμε Αποθήκευση ως.</a:t>
            </a:r>
          </a:p>
          <a:p>
            <a:pPr marL="254000" indent="-152400" algn="l">
              <a:spcAft>
                <a:spcPts val="520"/>
              </a:spcAft>
              <a:buChar char="•"/>
              <a:defRPr sz="1500" b="0">
                <a:solidFill>
                  <a:srgbClr val="111111"/>
                </a:solidFill>
                <a:latin typeface="Tahoma"/>
                <a:ea typeface="Tahoma"/>
                <a:cs typeface="Tahoma"/>
              </a:defRPr>
            </a:pPr>
            <a:r>
              <a:rPr sz="1500" b="0">
                <a:solidFill>
                  <a:srgbClr val="111111"/>
                </a:solidFill>
                <a:latin typeface="Tahoma"/>
                <a:ea typeface="Tahoma"/>
                <a:cs typeface="Tahoma"/>
              </a:rPr>
              <a:t>Ορίζουμε τον σωστό φάκελο.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620FDB-49B2-4B74-84D9-1BAD5CBE13F6}"/>
              </a:ext>
            </a:extLst>
          </p:cNvPr>
          <p:cNvSpPr>
            <a:spLocks noGrp="1"/>
          </p:cNvSpPr>
          <p:nvPr/>
        </p:nvSpPr>
        <p:spPr>
          <a:xfrm>
            <a:off x="619125" y="5095875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ctr">
              <a:defRPr sz="1725" b="1">
                <a:solidFill>
                  <a:srgbClr val="B04A2F"/>
                </a:solidFill>
                <a:latin typeface="Tahoma"/>
                <a:ea typeface="Tahoma"/>
                <a:cs typeface="Tahoma"/>
              </a:defRPr>
            </a:pPr>
            <a:r>
              <a:rPr sz="1725" b="1">
                <a:solidFill>
                  <a:srgbClr val="B04A2F"/>
                </a:solidFill>
                <a:latin typeface="Tahoma"/>
                <a:ea typeface="Tahoma"/>
                <a:cs typeface="Tahoma"/>
              </a:rPr>
              <a:t>Ανοίγουμε μόνο συνημμένα από αποστολείς που εμπιστευόμαστε.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9D2DE1-406F-494F-80B6-FD3F88BD4329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1087100" cy="47625"/>
          </a:xfrm>
          <a:prstGeom prst="rect">
            <a:avLst/>
          </a:prstGeom>
          <a:solidFill>
            <a:srgbClr val="F57C24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379F0B-CCD9-479B-940F-9EBA47C725AF}"/>
              </a:ext>
            </a:extLst>
          </p:cNvPr>
          <p:cNvSpPr>
            <a:spLocks noGrp="1"/>
          </p:cNvSpPr>
          <p:nvPr/>
        </p:nvSpPr>
        <p:spPr>
          <a:xfrm>
            <a:off x="4286250" y="6429375"/>
            <a:ext cx="7353300" cy="47625"/>
          </a:xfrm>
          <a:prstGeom prst="rect">
            <a:avLst/>
          </a:prstGeom>
          <a:solidFill>
            <a:srgbClr val="77A9D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04016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297</Words>
  <Application>Microsoft Office PowerPoint</Application>
  <DocSecurity>0</DocSecurity>
  <PresentationFormat>Widescreen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Inter</vt:lpstr>
      <vt:lpstr>Tahoma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2026-09-12T05:25:30Z</dcterms:created>
  <dcterms:modified xsi:type="dcterms:W3CDTF">2026-10-21T06:53:53Z</dcterms:modified>
</cp:coreProperties>
</file>