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D86457C-2143-4EBE-96DE-2A21C9AD82B3}" v="1" dt="2026-10-24T05:13:00.15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Άριστος Αρέστη" userId="813aa191-2d4c-464f-9d05-0a7e494d859f" providerId="ADAL" clId="{49C7B61D-1ACF-4AFF-A04E-A3B433E32474}"/>
    <pc:docChg chg="custSel modSld">
      <pc:chgData name="Άριστος Αρέστη" userId="813aa191-2d4c-464f-9d05-0a7e494d859f" providerId="ADAL" clId="{49C7B61D-1ACF-4AFF-A04E-A3B433E32474}" dt="2026-10-24T05:40:04.746" v="67" actId="14100"/>
      <pc:docMkLst>
        <pc:docMk/>
      </pc:docMkLst>
      <pc:sldChg chg="modSp mod">
        <pc:chgData name="Άριστος Αρέστη" userId="813aa191-2d4c-464f-9d05-0a7e494d859f" providerId="ADAL" clId="{49C7B61D-1ACF-4AFF-A04E-A3B433E32474}" dt="2026-10-24T05:13:00.203" v="10" actId="27636"/>
        <pc:sldMkLst>
          <pc:docMk/>
          <pc:sldMk cId="243166808" sldId="257"/>
        </pc:sldMkLst>
        <pc:spChg chg="mod">
          <ac:chgData name="Άριστος Αρέστη" userId="813aa191-2d4c-464f-9d05-0a7e494d859f" providerId="ADAL" clId="{49C7B61D-1ACF-4AFF-A04E-A3B433E32474}" dt="2026-10-24T05:13:00.203" v="9" actId="27636"/>
          <ac:spMkLst>
            <pc:docMk/>
            <pc:sldMk cId="243166808" sldId="257"/>
            <ac:spMk id="5" creationId="{CF738A0D-576D-4E34-81E0-510B6534C11A}"/>
          </ac:spMkLst>
        </pc:spChg>
        <pc:spChg chg="mod">
          <ac:chgData name="Άριστος Αρέστη" userId="813aa191-2d4c-464f-9d05-0a7e494d859f" providerId="ADAL" clId="{49C7B61D-1ACF-4AFF-A04E-A3B433E32474}" dt="2026-10-24T05:13:00.203" v="10" actId="27636"/>
          <ac:spMkLst>
            <pc:docMk/>
            <pc:sldMk cId="243166808" sldId="257"/>
            <ac:spMk id="13" creationId="{2C2D3EC6-7F8E-4342-BA74-B2DC84B867EF}"/>
          </ac:spMkLst>
        </pc:spChg>
      </pc:sldChg>
      <pc:sldChg chg="addSp delSp modSp mod">
        <pc:chgData name="Άριστος Αρέστη" userId="813aa191-2d4c-464f-9d05-0a7e494d859f" providerId="ADAL" clId="{49C7B61D-1ACF-4AFF-A04E-A3B433E32474}" dt="2026-10-24T05:13:49.025" v="53"/>
        <pc:sldMkLst>
          <pc:docMk/>
          <pc:sldMk cId="961205622" sldId="258"/>
        </pc:sldMkLst>
        <pc:spChg chg="mod">
          <ac:chgData name="Άριστος Αρέστη" userId="813aa191-2d4c-464f-9d05-0a7e494d859f" providerId="ADAL" clId="{49C7B61D-1ACF-4AFF-A04E-A3B433E32474}" dt="2026-10-24T05:13:39.544" v="51" actId="20577"/>
          <ac:spMkLst>
            <pc:docMk/>
            <pc:sldMk cId="961205622" sldId="258"/>
            <ac:spMk id="3" creationId="{DF31CF07-87AA-41B2-B953-238653D6F491}"/>
          </ac:spMkLst>
        </pc:spChg>
        <pc:spChg chg="mod">
          <ac:chgData name="Άριστος Αρέστη" userId="813aa191-2d4c-464f-9d05-0a7e494d859f" providerId="ADAL" clId="{49C7B61D-1ACF-4AFF-A04E-A3B433E32474}" dt="2026-10-24T05:13:09.092" v="31" actId="20577"/>
          <ac:spMkLst>
            <pc:docMk/>
            <pc:sldMk cId="961205622" sldId="258"/>
            <ac:spMk id="8" creationId="{FFBB6C08-C140-4637-83A0-AFBE5C4B9266}"/>
          </ac:spMkLst>
        </pc:spChg>
        <pc:spChg chg="add del mod">
          <ac:chgData name="Άριστος Αρέστη" userId="813aa191-2d4c-464f-9d05-0a7e494d859f" providerId="ADAL" clId="{49C7B61D-1ACF-4AFF-A04E-A3B433E32474}" dt="2026-10-24T05:13:49.025" v="53"/>
          <ac:spMkLst>
            <pc:docMk/>
            <pc:sldMk cId="961205622" sldId="258"/>
            <ac:spMk id="10" creationId="{6C3CC270-B28E-A42C-6214-9E04AAA354D1}"/>
          </ac:spMkLst>
        </pc:spChg>
      </pc:sldChg>
      <pc:sldChg chg="addSp modSp mod">
        <pc:chgData name="Άριστος Αρέστη" userId="813aa191-2d4c-464f-9d05-0a7e494d859f" providerId="ADAL" clId="{49C7B61D-1ACF-4AFF-A04E-A3B433E32474}" dt="2026-10-24T05:40:04.746" v="67" actId="14100"/>
        <pc:sldMkLst>
          <pc:docMk/>
          <pc:sldMk cId="1946445957" sldId="259"/>
        </pc:sldMkLst>
        <pc:spChg chg="mod">
          <ac:chgData name="Άριστος Αρέστη" userId="813aa191-2d4c-464f-9d05-0a7e494d859f" providerId="ADAL" clId="{49C7B61D-1ACF-4AFF-A04E-A3B433E32474}" dt="2026-10-24T05:39:30.004" v="60" actId="1076"/>
          <ac:spMkLst>
            <pc:docMk/>
            <pc:sldMk cId="1946445957" sldId="259"/>
            <ac:spMk id="4" creationId="{F79314E8-3A6F-46E2-A78B-4CD3961CBE39}"/>
          </ac:spMkLst>
        </pc:spChg>
        <pc:spChg chg="mod">
          <ac:chgData name="Άριστος Αρέστη" userId="813aa191-2d4c-464f-9d05-0a7e494d859f" providerId="ADAL" clId="{49C7B61D-1ACF-4AFF-A04E-A3B433E32474}" dt="2026-10-24T05:39:30.004" v="60" actId="1076"/>
          <ac:spMkLst>
            <pc:docMk/>
            <pc:sldMk cId="1946445957" sldId="259"/>
            <ac:spMk id="5" creationId="{32DB920A-6409-4A60-8E31-372BCD86C1E7}"/>
          </ac:spMkLst>
        </pc:spChg>
        <pc:spChg chg="mod">
          <ac:chgData name="Άριστος Αρέστη" userId="813aa191-2d4c-464f-9d05-0a7e494d859f" providerId="ADAL" clId="{49C7B61D-1ACF-4AFF-A04E-A3B433E32474}" dt="2026-10-24T05:39:30.004" v="60" actId="1076"/>
          <ac:spMkLst>
            <pc:docMk/>
            <pc:sldMk cId="1946445957" sldId="259"/>
            <ac:spMk id="6" creationId="{DA4ECB22-5CCF-445C-8BA6-2F4430BA89DE}"/>
          </ac:spMkLst>
        </pc:spChg>
        <pc:spChg chg="mod">
          <ac:chgData name="Άριστος Αρέστη" userId="813aa191-2d4c-464f-9d05-0a7e494d859f" providerId="ADAL" clId="{49C7B61D-1ACF-4AFF-A04E-A3B433E32474}" dt="2026-10-24T05:39:30.004" v="60" actId="1076"/>
          <ac:spMkLst>
            <pc:docMk/>
            <pc:sldMk cId="1946445957" sldId="259"/>
            <ac:spMk id="7" creationId="{478197E1-76A9-45D2-8452-15F6560626FC}"/>
          </ac:spMkLst>
        </pc:spChg>
        <pc:spChg chg="mod">
          <ac:chgData name="Άριστος Αρέστη" userId="813aa191-2d4c-464f-9d05-0a7e494d859f" providerId="ADAL" clId="{49C7B61D-1ACF-4AFF-A04E-A3B433E32474}" dt="2026-10-24T05:39:30.004" v="60" actId="1076"/>
          <ac:spMkLst>
            <pc:docMk/>
            <pc:sldMk cId="1946445957" sldId="259"/>
            <ac:spMk id="8" creationId="{98FA285B-8308-4FA4-A3A9-37A92CF51A5A}"/>
          </ac:spMkLst>
        </pc:spChg>
        <pc:spChg chg="mod">
          <ac:chgData name="Άριστος Αρέστη" userId="813aa191-2d4c-464f-9d05-0a7e494d859f" providerId="ADAL" clId="{49C7B61D-1ACF-4AFF-A04E-A3B433E32474}" dt="2026-10-24T05:39:30.004" v="60" actId="1076"/>
          <ac:spMkLst>
            <pc:docMk/>
            <pc:sldMk cId="1946445957" sldId="259"/>
            <ac:spMk id="9" creationId="{349C8FAC-768D-4E38-A696-81851F316ED9}"/>
          </ac:spMkLst>
        </pc:spChg>
        <pc:spChg chg="mod">
          <ac:chgData name="Άριστος Αρέστη" userId="813aa191-2d4c-464f-9d05-0a7e494d859f" providerId="ADAL" clId="{49C7B61D-1ACF-4AFF-A04E-A3B433E32474}" dt="2026-10-24T05:39:30.004" v="60" actId="1076"/>
          <ac:spMkLst>
            <pc:docMk/>
            <pc:sldMk cId="1946445957" sldId="259"/>
            <ac:spMk id="10" creationId="{2869A131-F304-4668-A7F4-180B70E5D9B7}"/>
          </ac:spMkLst>
        </pc:spChg>
        <pc:spChg chg="mod">
          <ac:chgData name="Άριστος Αρέστη" userId="813aa191-2d4c-464f-9d05-0a7e494d859f" providerId="ADAL" clId="{49C7B61D-1ACF-4AFF-A04E-A3B433E32474}" dt="2026-10-24T05:39:30.004" v="60" actId="1076"/>
          <ac:spMkLst>
            <pc:docMk/>
            <pc:sldMk cId="1946445957" sldId="259"/>
            <ac:spMk id="11" creationId="{5849ADB9-7835-4023-8722-12ECD43DF3BD}"/>
          </ac:spMkLst>
        </pc:spChg>
        <pc:spChg chg="mod">
          <ac:chgData name="Άριστος Αρέστη" userId="813aa191-2d4c-464f-9d05-0a7e494d859f" providerId="ADAL" clId="{49C7B61D-1ACF-4AFF-A04E-A3B433E32474}" dt="2026-10-24T05:40:04.746" v="67" actId="14100"/>
          <ac:spMkLst>
            <pc:docMk/>
            <pc:sldMk cId="1946445957" sldId="259"/>
            <ac:spMk id="12" creationId="{B6ADAF72-591B-4CE3-B632-7B964CE1D833}"/>
          </ac:spMkLst>
        </pc:spChg>
        <pc:picChg chg="add mod">
          <ac:chgData name="Άριστος Αρέστη" userId="813aa191-2d4c-464f-9d05-0a7e494d859f" providerId="ADAL" clId="{49C7B61D-1ACF-4AFF-A04E-A3B433E32474}" dt="2026-10-24T05:10:37.694" v="4" actId="1076"/>
          <ac:picMkLst>
            <pc:docMk/>
            <pc:sldMk cId="1946445957" sldId="259"/>
            <ac:picMk id="3" creationId="{6549A2E4-4813-69C5-F925-FC667E9B9399}"/>
          </ac:picMkLst>
        </pc:picChg>
        <pc:picChg chg="mod">
          <ac:chgData name="Άριστος Αρέστη" userId="813aa191-2d4c-464f-9d05-0a7e494d859f" providerId="ADAL" clId="{49C7B61D-1ACF-4AFF-A04E-A3B433E32474}" dt="2026-10-24T05:39:15.225" v="58" actId="1076"/>
          <ac:picMkLst>
            <pc:docMk/>
            <pc:sldMk cId="1946445957" sldId="259"/>
            <ac:picMk id="15" creationId="{00000000-0000-0000-0000-000000000000}"/>
          </ac:picMkLst>
        </pc:picChg>
        <pc:picChg chg="add mod">
          <ac:chgData name="Άριστος Αρέστη" userId="813aa191-2d4c-464f-9d05-0a7e494d859f" providerId="ADAL" clId="{49C7B61D-1ACF-4AFF-A04E-A3B433E32474}" dt="2026-10-24T05:39:17.273" v="59" actId="1076"/>
          <ac:picMkLst>
            <pc:docMk/>
            <pc:sldMk cId="1946445957" sldId="259"/>
            <ac:picMk id="16" creationId="{841572BC-9B80-31CC-4309-530D68C24C9D}"/>
          </ac:picMkLst>
        </pc:picChg>
      </pc:sldChg>
      <pc:sldChg chg="modSp mod">
        <pc:chgData name="Άριστος Αρέστη" userId="813aa191-2d4c-464f-9d05-0a7e494d859f" providerId="ADAL" clId="{49C7B61D-1ACF-4AFF-A04E-A3B433E32474}" dt="2026-10-24T05:13:00.183" v="8" actId="27636"/>
        <pc:sldMkLst>
          <pc:docMk/>
          <pc:sldMk cId="1164157584" sldId="265"/>
        </pc:sldMkLst>
        <pc:spChg chg="mod">
          <ac:chgData name="Άριστος Αρέστη" userId="813aa191-2d4c-464f-9d05-0a7e494d859f" providerId="ADAL" clId="{49C7B61D-1ACF-4AFF-A04E-A3B433E32474}" dt="2026-10-24T05:13:00.183" v="8" actId="27636"/>
          <ac:spMkLst>
            <pc:docMk/>
            <pc:sldMk cId="1164157584" sldId="265"/>
            <ac:spMk id="11" creationId="{DA9E55C7-E51D-4311-A2A4-C857D5C55A80}"/>
          </ac:spMkLst>
        </pc:spChg>
        <pc:spChg chg="mod">
          <ac:chgData name="Άριστος Αρέστη" userId="813aa191-2d4c-464f-9d05-0a7e494d859f" providerId="ADAL" clId="{49C7B61D-1ACF-4AFF-A04E-A3B433E32474}" dt="2026-10-24T05:13:00.183" v="7" actId="27636"/>
          <ac:spMkLst>
            <pc:docMk/>
            <pc:sldMk cId="1164157584" sldId="265"/>
            <ac:spMk id="14" creationId="{24AE2ECD-FFF4-4B4D-9D67-4F80C7174392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Πηγές: σχολικό βιβλίο θεωρίας και Φύλλα Εργασίας Πληροφορικής Α΄ Γυμνασίου, ενότητα Α.5.3.Μ2. Πρότυπο μορφοποίησης: A1Μ1 Εισαγωγή στις Βασικές Έννοιες.pptx.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Πηγές: σχολικό βιβλίο θεωρίας και Φύλλα Εργασίας Πληροφορικής Α΄ Γυμνασίου, ενότητα Α.5.3.Μ2. Πρότυπο μορφοποίησης: A1Μ1 Εισαγωγή στις Βασικές Έννοιες.pptx.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Πηγές: σχολικό βιβλίο θεωρίας και Φύλλα Εργασίας Πληροφορικής Α΄ Γυμνασίου, ενότητα Α.5.3.Μ2. Πρότυπο μορφοποίησης: A1Μ1 Εισαγωγή στις Βασικές Έννοιες.pptx.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Πηγές: σχολικό βιβλίο θεωρίας και Φύλλα Εργασίας Πληροφορικής Α΄ Γυμνασίου, ενότητα Α.5.3.Μ2. Πρότυπο μορφοποίησης: A1Μ1 Εισαγωγή στις Βασικές Έννοιες.pptx.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Πηγές: σχολικό βιβλίο θεωρίας και Φύλλα Εργασίας Πληροφορικής Α΄ Γυμνασίου, ενότητα Α.5.3.Μ2. Πρότυπο μορφοποίησης: A1Μ1 Εισαγωγή στις Βασικές Έννοιες.pptx.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Πηγές: σχολικό βιβλίο θεωρίας και Φύλλα Εργασίας Πληροφορικής Α΄ Γυμνασίου, ενότητα Α.5.3.Μ2. Πρότυπο μορφοποίησης: A1Μ1 Εισαγωγή στις Βασικές Έννοιες.pptx.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Πηγές: σχολικό βιβλίο θεωρίας και Φύλλα Εργασίας Πληροφορικής Α΄ Γυμνασίου, ενότητα Α.5.3.Μ2. Πρότυπο μορφοποίησης: A1Μ1 Εισαγωγή στις Βασικές Έννοιες.pptx.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Πηγές: σχολικό βιβλίο θεωρίας και Φύλλα Εργασίας Πληροφορικής Α΄ Γυμνασίου, ενότητα Α.5.3.Μ2. Πρότυπο μορφοποίησης: A1Μ1 Εισαγωγή στις Βασικές Έννοιες.pptx.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Πηγές: σχολικό βιβλίο θεωρίας και Φύλλα Εργασίας Πληροφορικής Α΄ Γυμνασίου, ενότητα Α.5.3.Μ2. Πρότυπο μορφοποίησης: A1Μ1 Εισαγωγή στις Βασικές Έννοιες.pptx.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Πηγές: σχολικό βιβλίο θεωρίας και Φύλλα Εργασίας Πληροφορικής Α΄ Γυμνασίου, ενότητα Α.5.3.Μ2. Πρότυπο μορφοποίησης: A1Μ1 Εισαγωγή στις Βασικές Έννοιες.pptx.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ccent rule">
            <a:extLst>
              <a:ext uri="{FF2B5EF4-FFF2-40B4-BE49-F238E27FC236}">
                <a16:creationId xmlns:a16="http://schemas.microsoft.com/office/drawing/2014/main" id="{22C12B43-D79B-4985-AA34-11E124109DD9}"/>
              </a:ext>
            </a:extLst>
          </p:cNvPr>
          <p:cNvSpPr>
            <a:spLocks noGrp="1"/>
          </p:cNvSpPr>
          <p:nvPr/>
        </p:nvSpPr>
        <p:spPr>
          <a:xfrm>
            <a:off x="5791200" y="2209800"/>
            <a:ext cx="609600" cy="38100"/>
          </a:xfrm>
          <a:prstGeom prst="rect">
            <a:avLst/>
          </a:prstGeom>
          <a:solidFill>
            <a:schemeClr val="accent1"/>
          </a:solidFill>
          <a:ln>
            <a:noFill/>
            <a:prstDash val="solid"/>
          </a:ln>
        </p:spPr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D4AE22A4-0841-4073-B875-32C2A53B18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00EAFECA-6035-4276-967F-0AE14D76DC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 rule">
            <a:extLst>
              <a:ext uri="{FF2B5EF4-FFF2-40B4-BE49-F238E27FC236}">
                <a16:creationId xmlns:a16="http://schemas.microsoft.com/office/drawing/2014/main" id="{4294BAAD-334F-46CD-9E2C-D6843C91C65F}"/>
              </a:ext>
            </a:extLst>
          </p:cNvPr>
          <p:cNvSpPr>
            <a:spLocks noGrp="1"/>
          </p:cNvSpPr>
          <p:nvPr/>
        </p:nvSpPr>
        <p:spPr>
          <a:xfrm>
            <a:off x="5791200" y="2476500"/>
            <a:ext cx="609600" cy="38100"/>
          </a:xfrm>
          <a:prstGeom prst="rect">
            <a:avLst/>
          </a:prstGeom>
          <a:solidFill>
            <a:schemeClr val="accent1"/>
          </a:solidFill>
          <a:ln>
            <a:noFill/>
            <a:prstDash val="solid"/>
          </a:ln>
        </p:spPr>
      </p:sp>
      <p:sp>
        <p:nvSpPr>
          <p:cNvPr id="2" name="Section title">
            <a:extLst>
              <a:ext uri="{FF2B5EF4-FFF2-40B4-BE49-F238E27FC236}">
                <a16:creationId xmlns:a16="http://schemas.microsoft.com/office/drawing/2014/main" id="{402FBB36-04C0-4422-8E8E-A0DE9D4AFE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ccent rule">
            <a:extLst>
              <a:ext uri="{FF2B5EF4-FFF2-40B4-BE49-F238E27FC236}">
                <a16:creationId xmlns:a16="http://schemas.microsoft.com/office/drawing/2014/main" id="{7E7DBCBD-3EAD-4F69-BD24-AF04BD9F8ADE}"/>
              </a:ext>
            </a:extLst>
          </p:cNvPr>
          <p:cNvSpPr>
            <a:spLocks noGrp="1"/>
          </p:cNvSpPr>
          <p:nvPr/>
        </p:nvSpPr>
        <p:spPr>
          <a:xfrm>
            <a:off x="685800" y="1524000"/>
            <a:ext cx="609600" cy="38100"/>
          </a:xfrm>
          <a:prstGeom prst="rect">
            <a:avLst/>
          </a:prstGeom>
          <a:solidFill>
            <a:schemeClr val="accent1"/>
          </a:solidFill>
          <a:ln>
            <a:noFill/>
            <a:prstDash val="solid"/>
          </a:ln>
        </p:spPr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6DD79B78-C713-418D-94DE-BBB11C2F5D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3" name="Body">
            <a:extLst>
              <a:ext uri="{FF2B5EF4-FFF2-40B4-BE49-F238E27FC236}">
                <a16:creationId xmlns:a16="http://schemas.microsoft.com/office/drawing/2014/main" id="{2B0001D1-89D6-4B03-B248-2A2CBEF8AC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ccent rule">
            <a:extLst>
              <a:ext uri="{FF2B5EF4-FFF2-40B4-BE49-F238E27FC236}">
                <a16:creationId xmlns:a16="http://schemas.microsoft.com/office/drawing/2014/main" id="{F6183188-97F9-4267-B775-1380EE8D73FB}"/>
              </a:ext>
            </a:extLst>
          </p:cNvPr>
          <p:cNvSpPr>
            <a:spLocks noGrp="1"/>
          </p:cNvSpPr>
          <p:nvPr/>
        </p:nvSpPr>
        <p:spPr>
          <a:xfrm>
            <a:off x="685800" y="1524000"/>
            <a:ext cx="609600" cy="38100"/>
          </a:xfrm>
          <a:prstGeom prst="rect">
            <a:avLst/>
          </a:prstGeom>
          <a:solidFill>
            <a:schemeClr val="accent1"/>
          </a:solidFill>
          <a:ln>
            <a:noFill/>
            <a:prstDash val="solid"/>
          </a:ln>
        </p:spPr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73451D1D-D3D2-43A6-A123-F113FDA50F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3" name="Left column">
            <a:extLst>
              <a:ext uri="{FF2B5EF4-FFF2-40B4-BE49-F238E27FC236}">
                <a16:creationId xmlns:a16="http://schemas.microsoft.com/office/drawing/2014/main" id="{5DEA78A5-4018-4C25-8BDE-1598CA417A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4" name="Right column">
            <a:extLst>
              <a:ext uri="{FF2B5EF4-FFF2-40B4-BE49-F238E27FC236}">
                <a16:creationId xmlns:a16="http://schemas.microsoft.com/office/drawing/2014/main" id="{04088C89-93BC-4569-B1EF-326B52200AF8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ccent rule">
            <a:extLst>
              <a:ext uri="{FF2B5EF4-FFF2-40B4-BE49-F238E27FC236}">
                <a16:creationId xmlns:a16="http://schemas.microsoft.com/office/drawing/2014/main" id="{31D87146-5565-4107-8DC3-7220B681532A}"/>
              </a:ext>
            </a:extLst>
          </p:cNvPr>
          <p:cNvSpPr>
            <a:spLocks noGrp="1"/>
          </p:cNvSpPr>
          <p:nvPr/>
        </p:nvSpPr>
        <p:spPr>
          <a:xfrm>
            <a:off x="685800" y="1524000"/>
            <a:ext cx="609600" cy="38100"/>
          </a:xfrm>
          <a:prstGeom prst="rect">
            <a:avLst/>
          </a:prstGeom>
          <a:solidFill>
            <a:schemeClr val="accent1"/>
          </a:solidFill>
          <a:ln>
            <a:noFill/>
            <a:prstDash val="solid"/>
          </a:ln>
        </p:spPr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CE9F16-FB9D-49E7-BA3E-56F97F4063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3" name="Left column">
            <a:extLst>
              <a:ext uri="{FF2B5EF4-FFF2-40B4-BE49-F238E27FC236}">
                <a16:creationId xmlns:a16="http://schemas.microsoft.com/office/drawing/2014/main" id="{065938AE-8B93-4393-B8DA-2A7947401C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2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rcRect t="7529" b="7529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91236BAF-B885-46CC-B7B3-EFE7B4F8377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C3D2E3E-2606-415E-A3B4-F3E2DD640DDA}"/>
              </a:ext>
            </a:extLst>
          </p:cNvPr>
          <p:cNvSpPr>
            <a:spLocks noGrp="1"/>
          </p:cNvSpPr>
          <p:nvPr/>
        </p:nvSpPr>
        <p:spPr>
          <a:xfrm>
            <a:off x="838200" y="1666875"/>
            <a:ext cx="7239000" cy="523875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rmAutofit/>
          </a:bodyPr>
          <a:lstStyle/>
          <a:p>
            <a:pPr algn="l">
              <a:defRPr sz="1875" b="1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875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Α.5.3.Μ2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0957940-6843-4AED-BE3E-02036BBC0A84}"/>
              </a:ext>
            </a:extLst>
          </p:cNvPr>
          <p:cNvSpPr>
            <a:spLocks noGrp="1"/>
          </p:cNvSpPr>
          <p:nvPr/>
        </p:nvSpPr>
        <p:spPr>
          <a:xfrm>
            <a:off x="819150" y="2333625"/>
            <a:ext cx="7524750" cy="1476375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rm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3600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Κίνδυνοι στο Διαδίκτυο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270BA60-E17D-4BA8-9F08-BA6D62C9310C}"/>
              </a:ext>
            </a:extLst>
          </p:cNvPr>
          <p:cNvSpPr>
            <a:spLocks noGrp="1"/>
          </p:cNvSpPr>
          <p:nvPr/>
        </p:nvSpPr>
        <p:spPr>
          <a:xfrm>
            <a:off x="838200" y="4333875"/>
            <a:ext cx="952500" cy="66675"/>
          </a:xfrm>
          <a:prstGeom prst="rect">
            <a:avLst/>
          </a:prstGeom>
          <a:solidFill>
            <a:srgbClr val="F47C27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3297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A355CF60-B1CA-4E8C-9F29-CBE9795280E5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10858500" cy="6858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rmAutofit/>
          </a:bodyPr>
          <a:lstStyle/>
          <a:p>
            <a:pPr algn="l">
              <a:defRPr sz="2925" b="1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2925" b="1">
                <a:solidFill>
                  <a:srgbClr val="151515"/>
                </a:solidFill>
                <a:latin typeface="Inter"/>
                <a:ea typeface="Inter"/>
                <a:cs typeface="Inter"/>
              </a:rPr>
              <a:t>Τέσσερις κίνδυνοι που χρειάζεται να αναγνωρίζουμε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3602A81-C336-4115-809A-137C449252B1}"/>
              </a:ext>
            </a:extLst>
          </p:cNvPr>
          <p:cNvSpPr>
            <a:spLocks noGrp="1"/>
          </p:cNvSpPr>
          <p:nvPr/>
        </p:nvSpPr>
        <p:spPr>
          <a:xfrm>
            <a:off x="666750" y="1190625"/>
            <a:ext cx="10858500" cy="28575"/>
          </a:xfrm>
          <a:prstGeom prst="rect">
            <a:avLst/>
          </a:prstGeom>
          <a:solidFill>
            <a:srgbClr val="9B9B9B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02BDA97-FF6D-4B39-9E77-AB4292E68894}"/>
              </a:ext>
            </a:extLst>
          </p:cNvPr>
          <p:cNvSpPr>
            <a:spLocks noGrp="1"/>
          </p:cNvSpPr>
          <p:nvPr/>
        </p:nvSpPr>
        <p:spPr>
          <a:xfrm>
            <a:off x="523875" y="1571625"/>
            <a:ext cx="2619375" cy="3143250"/>
          </a:xfrm>
          <a:prstGeom prst="roundRect">
            <a:avLst>
              <a:gd name="adj" fmla="val 2909"/>
            </a:avLst>
          </a:prstGeom>
          <a:solidFill>
            <a:srgbClr val="F5F5F7"/>
          </a:solidFill>
          <a:ln w="9525">
            <a:solidFill>
              <a:srgbClr val="D5D5E7"/>
            </a:solidFill>
          </a:ln>
        </p:spPr>
        <p:txBody>
          <a:bodyPr/>
          <a:lstStyle/>
          <a:p>
            <a:endParaRPr lang="en-GB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5DBC2AB-1B95-4468-9748-337E1AD74947}"/>
              </a:ext>
            </a:extLst>
          </p:cNvPr>
          <p:cNvSpPr>
            <a:spLocks noGrp="1"/>
          </p:cNvSpPr>
          <p:nvPr/>
        </p:nvSpPr>
        <p:spPr>
          <a:xfrm>
            <a:off x="523875" y="1571625"/>
            <a:ext cx="114300" cy="3143250"/>
          </a:xfrm>
          <a:prstGeom prst="roundRect">
            <a:avLst>
              <a:gd name="adj" fmla="val 50000"/>
            </a:avLst>
          </a:prstGeom>
          <a:solidFill>
            <a:srgbClr val="C94C4C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F738A0D-576D-4E34-81E0-510B6534C11A}"/>
              </a:ext>
            </a:extLst>
          </p:cNvPr>
          <p:cNvSpPr>
            <a:spLocks noGrp="1"/>
          </p:cNvSpPr>
          <p:nvPr/>
        </p:nvSpPr>
        <p:spPr>
          <a:xfrm>
            <a:off x="809625" y="1762125"/>
            <a:ext cx="2143125" cy="4191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rmAutofit fontScale="89348" lnSpcReduction="20000"/>
          </a:bodyPr>
          <a:lstStyle/>
          <a:p>
            <a:pPr algn="l">
              <a:defRPr sz="1800" b="1">
                <a:solidFill>
                  <a:srgbClr val="C94C4C"/>
                </a:solidFill>
                <a:latin typeface="Inter"/>
                <a:ea typeface="Inter"/>
                <a:cs typeface="Inter"/>
              </a:defRPr>
            </a:pPr>
            <a:r>
              <a:rPr sz="1800" b="1">
                <a:solidFill>
                  <a:srgbClr val="C94C4C"/>
                </a:solidFill>
                <a:latin typeface="Inter"/>
                <a:ea typeface="Inter"/>
                <a:cs typeface="Inter"/>
              </a:rPr>
              <a:t>Ακατάλληλο περιεχόμενο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F88CF89-FC5B-4812-8E3A-02B8F4181992}"/>
              </a:ext>
            </a:extLst>
          </p:cNvPr>
          <p:cNvSpPr>
            <a:spLocks noGrp="1"/>
          </p:cNvSpPr>
          <p:nvPr/>
        </p:nvSpPr>
        <p:spPr>
          <a:xfrm>
            <a:off x="809625" y="2295525"/>
            <a:ext cx="2095500" cy="22860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rmAutofit/>
          </a:bodyPr>
          <a:lstStyle/>
          <a:p>
            <a:pPr algn="l">
              <a:defRPr sz="1425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Υλικό που προάγει βία, ρατσισμό, πορνογραφία, τζόγο ή άλλες επιβλαβείς συμπεριφορές.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3CAF778-DB80-4074-B01A-29D2B34F2AAD}"/>
              </a:ext>
            </a:extLst>
          </p:cNvPr>
          <p:cNvSpPr>
            <a:spLocks noGrp="1"/>
          </p:cNvSpPr>
          <p:nvPr/>
        </p:nvSpPr>
        <p:spPr>
          <a:xfrm>
            <a:off x="3381375" y="1571625"/>
            <a:ext cx="2619375" cy="3143250"/>
          </a:xfrm>
          <a:prstGeom prst="roundRect">
            <a:avLst>
              <a:gd name="adj" fmla="val 2909"/>
            </a:avLst>
          </a:prstGeom>
          <a:solidFill>
            <a:srgbClr val="F5F5F7"/>
          </a:solidFill>
          <a:ln w="9525">
            <a:solidFill>
              <a:srgbClr val="D5D5E7"/>
            </a:solidFill>
          </a:ln>
        </p:spPr>
        <p:txBody>
          <a:bodyPr/>
          <a:lstStyle/>
          <a:p>
            <a:endParaRPr lang="en-GB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1331D5E-2FFF-4809-9B86-FC6571A9E579}"/>
              </a:ext>
            </a:extLst>
          </p:cNvPr>
          <p:cNvSpPr>
            <a:spLocks noGrp="1"/>
          </p:cNvSpPr>
          <p:nvPr/>
        </p:nvSpPr>
        <p:spPr>
          <a:xfrm>
            <a:off x="3381375" y="1571625"/>
            <a:ext cx="114300" cy="3143250"/>
          </a:xfrm>
          <a:prstGeom prst="roundRect">
            <a:avLst>
              <a:gd name="adj" fmla="val 50000"/>
            </a:avLst>
          </a:prstGeom>
          <a:solidFill>
            <a:srgbClr val="F47C27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5F4C61A-7C6C-4B4A-BBD2-2E4C9377CB0D}"/>
              </a:ext>
            </a:extLst>
          </p:cNvPr>
          <p:cNvSpPr>
            <a:spLocks noGrp="1"/>
          </p:cNvSpPr>
          <p:nvPr/>
        </p:nvSpPr>
        <p:spPr>
          <a:xfrm>
            <a:off x="3667125" y="1762125"/>
            <a:ext cx="2143125" cy="4191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rmAutofit fontScale="94335"/>
          </a:bodyPr>
          <a:lstStyle/>
          <a:p>
            <a:pPr algn="l">
              <a:defRPr sz="1800" b="1">
                <a:solidFill>
                  <a:srgbClr val="F47C27"/>
                </a:solidFill>
                <a:latin typeface="Inter"/>
                <a:ea typeface="Inter"/>
                <a:cs typeface="Inter"/>
              </a:defRPr>
            </a:pPr>
            <a:r>
              <a:rPr sz="1800" b="1">
                <a:solidFill>
                  <a:srgbClr val="F47C27"/>
                </a:solidFill>
                <a:latin typeface="Inter"/>
                <a:ea typeface="Inter"/>
                <a:cs typeface="Inter"/>
              </a:rPr>
              <a:t>Παραπληροφόρηση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0D305DB-9247-4F66-BC93-D1D4227EDDB4}"/>
              </a:ext>
            </a:extLst>
          </p:cNvPr>
          <p:cNvSpPr>
            <a:spLocks noGrp="1"/>
          </p:cNvSpPr>
          <p:nvPr/>
        </p:nvSpPr>
        <p:spPr>
          <a:xfrm>
            <a:off x="3667125" y="2295525"/>
            <a:ext cx="2095500" cy="22860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rmAutofit/>
          </a:bodyPr>
          <a:lstStyle/>
          <a:p>
            <a:pPr algn="l">
              <a:defRPr sz="1425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Ψευδείς, τροποποιημένες ή ελλιπείς πληροφορίες που οδηγούν σε λάθος συμπεράσματα.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CA53787C-800C-4AF7-99E0-B0D928C6353D}"/>
              </a:ext>
            </a:extLst>
          </p:cNvPr>
          <p:cNvSpPr>
            <a:spLocks noGrp="1"/>
          </p:cNvSpPr>
          <p:nvPr/>
        </p:nvSpPr>
        <p:spPr>
          <a:xfrm>
            <a:off x="6238875" y="1571625"/>
            <a:ext cx="2619375" cy="3143250"/>
          </a:xfrm>
          <a:prstGeom prst="roundRect">
            <a:avLst>
              <a:gd name="adj" fmla="val 2909"/>
            </a:avLst>
          </a:prstGeom>
          <a:solidFill>
            <a:srgbClr val="F5F5F7"/>
          </a:solidFill>
          <a:ln w="9525">
            <a:solidFill>
              <a:srgbClr val="D5D5E7"/>
            </a:solidFill>
          </a:ln>
        </p:spPr>
        <p:txBody>
          <a:bodyPr/>
          <a:lstStyle/>
          <a:p>
            <a:endParaRPr lang="en-GB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95770FD4-A29C-406A-94F8-ED15A738FAA5}"/>
              </a:ext>
            </a:extLst>
          </p:cNvPr>
          <p:cNvSpPr>
            <a:spLocks noGrp="1"/>
          </p:cNvSpPr>
          <p:nvPr/>
        </p:nvSpPr>
        <p:spPr>
          <a:xfrm>
            <a:off x="6238875" y="1571625"/>
            <a:ext cx="114300" cy="3143250"/>
          </a:xfrm>
          <a:prstGeom prst="roundRect">
            <a:avLst>
              <a:gd name="adj" fmla="val 50000"/>
            </a:avLst>
          </a:prstGeom>
          <a:solidFill>
            <a:srgbClr val="5A58CB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C2D3EC6-7F8E-4342-BA74-B2DC84B867EF}"/>
              </a:ext>
            </a:extLst>
          </p:cNvPr>
          <p:cNvSpPr>
            <a:spLocks noGrp="1"/>
          </p:cNvSpPr>
          <p:nvPr/>
        </p:nvSpPr>
        <p:spPr>
          <a:xfrm>
            <a:off x="6524625" y="1762125"/>
            <a:ext cx="2143125" cy="4191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rmAutofit fontScale="88227" lnSpcReduction="20000"/>
          </a:bodyPr>
          <a:lstStyle/>
          <a:p>
            <a:pPr algn="l">
              <a:defRPr sz="1800" b="1">
                <a:solidFill>
                  <a:srgbClr val="5A58CB"/>
                </a:solidFill>
                <a:latin typeface="Inter"/>
                <a:ea typeface="Inter"/>
                <a:cs typeface="Inter"/>
              </a:defRPr>
            </a:pPr>
            <a:r>
              <a:rPr sz="1800" b="1">
                <a:solidFill>
                  <a:srgbClr val="5A58CB"/>
                </a:solidFill>
                <a:latin typeface="Inter"/>
                <a:ea typeface="Inter"/>
                <a:cs typeface="Inter"/>
              </a:rPr>
              <a:t>Πνευματικά δικαιώματα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5F86888-BFE5-4EB3-BD1C-F6947920D5BE}"/>
              </a:ext>
            </a:extLst>
          </p:cNvPr>
          <p:cNvSpPr>
            <a:spLocks noGrp="1"/>
          </p:cNvSpPr>
          <p:nvPr/>
        </p:nvSpPr>
        <p:spPr>
          <a:xfrm>
            <a:off x="6524625" y="2295525"/>
            <a:ext cx="2095500" cy="22860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rmAutofit/>
          </a:bodyPr>
          <a:lstStyle/>
          <a:p>
            <a:pPr algn="l">
              <a:defRPr sz="1425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Χρήση ή αντιγραφή έργου άλλου χωρίς άδεια του δημιουργού.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11FB1056-8DAE-4B66-A274-BC0DA0640CE3}"/>
              </a:ext>
            </a:extLst>
          </p:cNvPr>
          <p:cNvSpPr>
            <a:spLocks noGrp="1"/>
          </p:cNvSpPr>
          <p:nvPr/>
        </p:nvSpPr>
        <p:spPr>
          <a:xfrm>
            <a:off x="9096375" y="1571625"/>
            <a:ext cx="2619375" cy="3143250"/>
          </a:xfrm>
          <a:prstGeom prst="roundRect">
            <a:avLst>
              <a:gd name="adj" fmla="val 2909"/>
            </a:avLst>
          </a:prstGeom>
          <a:solidFill>
            <a:srgbClr val="F5F5F7"/>
          </a:solidFill>
          <a:ln w="9525">
            <a:solidFill>
              <a:srgbClr val="D5D5E7"/>
            </a:solidFill>
          </a:ln>
        </p:spPr>
        <p:txBody>
          <a:bodyPr/>
          <a:lstStyle/>
          <a:p>
            <a:endParaRPr lang="en-GB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C3606320-1956-460F-85AF-FD91BA3FAABB}"/>
              </a:ext>
            </a:extLst>
          </p:cNvPr>
          <p:cNvSpPr>
            <a:spLocks noGrp="1"/>
          </p:cNvSpPr>
          <p:nvPr/>
        </p:nvSpPr>
        <p:spPr>
          <a:xfrm>
            <a:off x="9096375" y="1571625"/>
            <a:ext cx="114300" cy="3143250"/>
          </a:xfrm>
          <a:prstGeom prst="roundRect">
            <a:avLst>
              <a:gd name="adj" fmla="val 50000"/>
            </a:avLst>
          </a:prstGeom>
          <a:solidFill>
            <a:srgbClr val="4B76C5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C4D16FB-67A7-48C6-99F2-7CA22A86800F}"/>
              </a:ext>
            </a:extLst>
          </p:cNvPr>
          <p:cNvSpPr>
            <a:spLocks noGrp="1"/>
          </p:cNvSpPr>
          <p:nvPr/>
        </p:nvSpPr>
        <p:spPr>
          <a:xfrm>
            <a:off x="9382125" y="1762125"/>
            <a:ext cx="2143125" cy="4191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rmAutofit/>
          </a:bodyPr>
          <a:lstStyle/>
          <a:p>
            <a:pPr algn="l">
              <a:defRPr sz="1800" b="1">
                <a:solidFill>
                  <a:srgbClr val="4B76C5"/>
                </a:solidFill>
                <a:latin typeface="Inter"/>
                <a:ea typeface="Inter"/>
                <a:cs typeface="Inter"/>
              </a:defRPr>
            </a:pPr>
            <a:r>
              <a:rPr sz="1800" b="1">
                <a:solidFill>
                  <a:srgbClr val="4B76C5"/>
                </a:solidFill>
                <a:latin typeface="Inter"/>
                <a:ea typeface="Inter"/>
                <a:cs typeface="Inter"/>
              </a:rPr>
              <a:t>Εθισμός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53701EA-1073-4156-AFB9-03F43475104F}"/>
              </a:ext>
            </a:extLst>
          </p:cNvPr>
          <p:cNvSpPr>
            <a:spLocks noGrp="1"/>
          </p:cNvSpPr>
          <p:nvPr/>
        </p:nvSpPr>
        <p:spPr>
          <a:xfrm>
            <a:off x="9382125" y="2295525"/>
            <a:ext cx="2095500" cy="22860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rmAutofit/>
          </a:bodyPr>
          <a:lstStyle/>
          <a:p>
            <a:pPr algn="l">
              <a:defRPr sz="1425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Υπερβολική χρήση που επηρεάζει μαθήματα, οικογένεια, υγεία και καθημερινότητα.</a:t>
            </a:r>
          </a:p>
        </p:txBody>
      </p:sp>
    </p:spTree>
    <p:extLst>
      <p:ext uri="{BB962C8B-B14F-4D97-AF65-F5344CB8AC3E}">
        <p14:creationId xmlns:p14="http://schemas.microsoft.com/office/powerpoint/2010/main" val="2431668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3095B31F-0839-46DB-8BD1-8D6A30D432B2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10858500" cy="6858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rmAutofit/>
          </a:bodyPr>
          <a:lstStyle/>
          <a:p>
            <a:pPr algn="l">
              <a:defRPr sz="2925" b="1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2925" b="1">
                <a:solidFill>
                  <a:srgbClr val="151515"/>
                </a:solidFill>
                <a:latin typeface="Inter"/>
                <a:ea typeface="Inter"/>
                <a:cs typeface="Inter"/>
              </a:rPr>
              <a:t>Ακατάλληλο περιεχόμενο — τι κάνουμε;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CD89C8E-116C-4C00-99C1-3C18EBF24373}"/>
              </a:ext>
            </a:extLst>
          </p:cNvPr>
          <p:cNvSpPr>
            <a:spLocks noGrp="1"/>
          </p:cNvSpPr>
          <p:nvPr/>
        </p:nvSpPr>
        <p:spPr>
          <a:xfrm>
            <a:off x="666750" y="1190625"/>
            <a:ext cx="10858500" cy="28575"/>
          </a:xfrm>
          <a:prstGeom prst="rect">
            <a:avLst/>
          </a:prstGeom>
          <a:solidFill>
            <a:srgbClr val="9B9B9B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F31CF07-87AA-41B2-B953-238653D6F491}"/>
              </a:ext>
            </a:extLst>
          </p:cNvPr>
          <p:cNvSpPr>
            <a:spLocks noGrp="1"/>
          </p:cNvSpPr>
          <p:nvPr/>
        </p:nvSpPr>
        <p:spPr>
          <a:xfrm>
            <a:off x="714375" y="1666875"/>
            <a:ext cx="6191250" cy="3143250"/>
          </a:xfrm>
          <a:prstGeom prst="rect">
            <a:avLst/>
          </a:prstGeom>
          <a:noFill/>
          <a:ln w="0">
            <a:noFill/>
          </a:ln>
        </p:spPr>
        <p:txBody>
          <a:bodyPr lIns="28575" tIns="19050" rIns="28575" bIns="19050" anchor="t">
            <a:normAutofit/>
          </a:bodyPr>
          <a:lstStyle/>
          <a:p>
            <a:pPr marL="279400" indent="-165100" algn="l">
              <a:spcAft>
                <a:spcPts val="400"/>
              </a:spcAft>
              <a:buChar char="•"/>
              <a:defRPr sz="1650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650" b="0" dirty="0" err="1">
                <a:solidFill>
                  <a:srgbClr val="151515"/>
                </a:solidFill>
                <a:latin typeface="Inter"/>
                <a:ea typeface="Inter"/>
                <a:cs typeface="Inter"/>
              </a:rPr>
              <a:t>Δεν</a:t>
            </a:r>
            <a:r>
              <a:rPr sz="1650" b="0" dirty="0">
                <a:solidFill>
                  <a:srgbClr val="151515"/>
                </a:solidFill>
                <a:latin typeface="Inter"/>
                <a:ea typeface="Inter"/>
                <a:cs typeface="Inter"/>
              </a:rPr>
              <a:t> </a:t>
            </a:r>
            <a:r>
              <a:rPr sz="1650" b="0" dirty="0" err="1">
                <a:solidFill>
                  <a:srgbClr val="151515"/>
                </a:solidFill>
                <a:latin typeface="Inter"/>
                <a:ea typeface="Inter"/>
                <a:cs typeface="Inter"/>
              </a:rPr>
              <a:t>το</a:t>
            </a:r>
            <a:r>
              <a:rPr sz="1650" b="0" dirty="0">
                <a:solidFill>
                  <a:srgbClr val="151515"/>
                </a:solidFill>
                <a:latin typeface="Inter"/>
                <a:ea typeface="Inter"/>
                <a:cs typeface="Inter"/>
              </a:rPr>
              <a:t> π</a:t>
            </a:r>
            <a:r>
              <a:rPr sz="1650" b="0" dirty="0" err="1">
                <a:solidFill>
                  <a:srgbClr val="151515"/>
                </a:solidFill>
                <a:latin typeface="Inter"/>
                <a:ea typeface="Inter"/>
                <a:cs typeface="Inter"/>
              </a:rPr>
              <a:t>ροωθούμε</a:t>
            </a:r>
            <a:r>
              <a:rPr sz="1650" b="0" dirty="0">
                <a:solidFill>
                  <a:srgbClr val="151515"/>
                </a:solidFill>
                <a:latin typeface="Inter"/>
                <a:ea typeface="Inter"/>
                <a:cs typeface="Inter"/>
              </a:rPr>
              <a:t> και </a:t>
            </a:r>
            <a:r>
              <a:rPr sz="1650" b="0" dirty="0" err="1">
                <a:solidFill>
                  <a:srgbClr val="151515"/>
                </a:solidFill>
                <a:latin typeface="Inter"/>
                <a:ea typeface="Inter"/>
                <a:cs typeface="Inter"/>
              </a:rPr>
              <a:t>δεν</a:t>
            </a:r>
            <a:r>
              <a:rPr sz="1650" b="0" dirty="0">
                <a:solidFill>
                  <a:srgbClr val="151515"/>
                </a:solidFill>
                <a:latin typeface="Inter"/>
                <a:ea typeface="Inter"/>
                <a:cs typeface="Inter"/>
              </a:rPr>
              <a:t> </a:t>
            </a:r>
            <a:r>
              <a:rPr sz="1650" b="0" dirty="0" err="1">
                <a:solidFill>
                  <a:srgbClr val="151515"/>
                </a:solidFill>
                <a:latin typeface="Inter"/>
                <a:ea typeface="Inter"/>
                <a:cs typeface="Inter"/>
              </a:rPr>
              <a:t>συνεχίζουμε</a:t>
            </a:r>
            <a:r>
              <a:rPr sz="1650" b="0" dirty="0">
                <a:solidFill>
                  <a:srgbClr val="151515"/>
                </a:solidFill>
                <a:latin typeface="Inter"/>
                <a:ea typeface="Inter"/>
                <a:cs typeface="Inter"/>
              </a:rPr>
              <a:t> </a:t>
            </a:r>
            <a:r>
              <a:rPr sz="1650" b="0" dirty="0" err="1">
                <a:solidFill>
                  <a:srgbClr val="151515"/>
                </a:solidFill>
                <a:latin typeface="Inter"/>
                <a:ea typeface="Inter"/>
                <a:cs typeface="Inter"/>
              </a:rPr>
              <a:t>την</a:t>
            </a:r>
            <a:r>
              <a:rPr sz="1650" b="0" dirty="0">
                <a:solidFill>
                  <a:srgbClr val="151515"/>
                </a:solidFill>
                <a:latin typeface="Inter"/>
                <a:ea typeface="Inter"/>
                <a:cs typeface="Inter"/>
              </a:rPr>
              <a:t> π</a:t>
            </a:r>
            <a:r>
              <a:rPr sz="1650" b="0" dirty="0" err="1">
                <a:solidFill>
                  <a:srgbClr val="151515"/>
                </a:solidFill>
                <a:latin typeface="Inter"/>
                <a:ea typeface="Inter"/>
                <a:cs typeface="Inter"/>
              </a:rPr>
              <a:t>ρο</a:t>
            </a:r>
            <a:r>
              <a:rPr sz="1650" b="0" dirty="0">
                <a:solidFill>
                  <a:srgbClr val="151515"/>
                </a:solidFill>
                <a:latin typeface="Inter"/>
                <a:ea typeface="Inter"/>
                <a:cs typeface="Inter"/>
              </a:rPr>
              <a:t>βολή.</a:t>
            </a:r>
          </a:p>
          <a:p>
            <a:pPr marL="279400" indent="-165100" algn="l">
              <a:spcAft>
                <a:spcPts val="400"/>
              </a:spcAft>
              <a:buChar char="•"/>
              <a:defRPr sz="1650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650" b="0" dirty="0" err="1">
                <a:solidFill>
                  <a:srgbClr val="151515"/>
                </a:solidFill>
                <a:latin typeface="Inter"/>
                <a:ea typeface="Inter"/>
                <a:cs typeface="Inter"/>
              </a:rPr>
              <a:t>Κλείνουμε</a:t>
            </a:r>
            <a:r>
              <a:rPr sz="1650" b="0" dirty="0">
                <a:solidFill>
                  <a:srgbClr val="151515"/>
                </a:solidFill>
                <a:latin typeface="Inter"/>
                <a:ea typeface="Inter"/>
                <a:cs typeface="Inter"/>
              </a:rPr>
              <a:t> </a:t>
            </a:r>
            <a:r>
              <a:rPr sz="1650" b="0" dirty="0" err="1">
                <a:solidFill>
                  <a:srgbClr val="151515"/>
                </a:solidFill>
                <a:latin typeface="Inter"/>
                <a:ea typeface="Inter"/>
                <a:cs typeface="Inter"/>
              </a:rPr>
              <a:t>τη</a:t>
            </a:r>
            <a:r>
              <a:rPr sz="1650" b="0" dirty="0">
                <a:solidFill>
                  <a:srgbClr val="151515"/>
                </a:solidFill>
                <a:latin typeface="Inter"/>
                <a:ea typeface="Inter"/>
                <a:cs typeface="Inter"/>
              </a:rPr>
              <a:t> </a:t>
            </a:r>
            <a:r>
              <a:rPr sz="1650" b="0" dirty="0" err="1">
                <a:solidFill>
                  <a:srgbClr val="151515"/>
                </a:solidFill>
                <a:latin typeface="Inter"/>
                <a:ea typeface="Inter"/>
                <a:cs typeface="Inter"/>
              </a:rPr>
              <a:t>σελίδ</a:t>
            </a:r>
            <a:r>
              <a:rPr sz="1650" b="0" dirty="0">
                <a:solidFill>
                  <a:srgbClr val="151515"/>
                </a:solidFill>
                <a:latin typeface="Inter"/>
                <a:ea typeface="Inter"/>
                <a:cs typeface="Inter"/>
              </a:rPr>
              <a:t>α ή το μήνυμα.</a:t>
            </a:r>
          </a:p>
          <a:p>
            <a:pPr marL="279400" indent="-165100" algn="l">
              <a:spcAft>
                <a:spcPts val="400"/>
              </a:spcAft>
              <a:buChar char="•"/>
              <a:defRPr sz="1650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650" b="0" dirty="0" err="1">
                <a:solidFill>
                  <a:srgbClr val="151515"/>
                </a:solidFill>
                <a:latin typeface="Inter"/>
                <a:ea typeface="Inter"/>
                <a:cs typeface="Inter"/>
              </a:rPr>
              <a:t>Ενημερώνουμε</a:t>
            </a:r>
            <a:r>
              <a:rPr sz="1650" b="0" dirty="0">
                <a:solidFill>
                  <a:srgbClr val="151515"/>
                </a:solidFill>
                <a:latin typeface="Inter"/>
                <a:ea typeface="Inter"/>
                <a:cs typeface="Inter"/>
              </a:rPr>
              <a:t> α</a:t>
            </a:r>
            <a:r>
              <a:rPr sz="1650" b="0" dirty="0" err="1">
                <a:solidFill>
                  <a:srgbClr val="151515"/>
                </a:solidFill>
                <a:latin typeface="Inter"/>
                <a:ea typeface="Inter"/>
                <a:cs typeface="Inter"/>
              </a:rPr>
              <a:t>μέσως</a:t>
            </a:r>
            <a:r>
              <a:rPr sz="1650" b="0" dirty="0">
                <a:solidFill>
                  <a:srgbClr val="151515"/>
                </a:solidFill>
                <a:latin typeface="Inter"/>
                <a:ea typeface="Inter"/>
                <a:cs typeface="Inter"/>
              </a:rPr>
              <a:t> </a:t>
            </a:r>
            <a:r>
              <a:rPr sz="1650" b="0" dirty="0" err="1">
                <a:solidFill>
                  <a:srgbClr val="151515"/>
                </a:solidFill>
                <a:latin typeface="Inter"/>
                <a:ea typeface="Inter"/>
                <a:cs typeface="Inter"/>
              </a:rPr>
              <a:t>έν</a:t>
            </a:r>
            <a:r>
              <a:rPr sz="1650" b="0" dirty="0">
                <a:solidFill>
                  <a:srgbClr val="151515"/>
                </a:solidFill>
                <a:latin typeface="Inter"/>
                <a:ea typeface="Inter"/>
                <a:cs typeface="Inter"/>
              </a:rPr>
              <a:t>αν έμπιστο ενήλικα.</a:t>
            </a:r>
          </a:p>
          <a:p>
            <a:pPr marL="279400" indent="-165100" algn="l">
              <a:spcAft>
                <a:spcPts val="400"/>
              </a:spcAft>
              <a:buChar char="•"/>
              <a:defRPr sz="1650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650" b="0" dirty="0" err="1">
                <a:solidFill>
                  <a:srgbClr val="151515"/>
                </a:solidFill>
                <a:latin typeface="Inter"/>
                <a:ea typeface="Inter"/>
                <a:cs typeface="Inter"/>
              </a:rPr>
              <a:t>Κάνουμε</a:t>
            </a:r>
            <a:r>
              <a:rPr sz="1650" b="0" dirty="0">
                <a:solidFill>
                  <a:srgbClr val="151515"/>
                </a:solidFill>
                <a:latin typeface="Inter"/>
                <a:ea typeface="Inter"/>
                <a:cs typeface="Inter"/>
              </a:rPr>
              <a:t> κατα</a:t>
            </a:r>
            <a:r>
              <a:rPr sz="1650" b="0" dirty="0" err="1">
                <a:solidFill>
                  <a:srgbClr val="151515"/>
                </a:solidFill>
                <a:latin typeface="Inter"/>
                <a:ea typeface="Inter"/>
                <a:cs typeface="Inter"/>
              </a:rPr>
              <a:t>γγελί</a:t>
            </a:r>
            <a:r>
              <a:rPr sz="1650" b="0" dirty="0">
                <a:solidFill>
                  <a:srgbClr val="151515"/>
                </a:solidFill>
                <a:latin typeface="Inter"/>
                <a:ea typeface="Inter"/>
                <a:cs typeface="Inter"/>
              </a:rPr>
              <a:t>α στις κατάλληλες υπηρεσίες.</a:t>
            </a:r>
          </a:p>
          <a:p>
            <a:pPr marL="279400" indent="-165100" algn="l">
              <a:spcAft>
                <a:spcPts val="400"/>
              </a:spcAft>
              <a:buChar char="•"/>
              <a:defRPr sz="1650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650" b="0" dirty="0" err="1">
                <a:solidFill>
                  <a:srgbClr val="151515"/>
                </a:solidFill>
                <a:latin typeface="Inter"/>
                <a:ea typeface="Inter"/>
                <a:cs typeface="Inter"/>
              </a:rPr>
              <a:t>Χρησιμο</a:t>
            </a:r>
            <a:r>
              <a:rPr sz="1650" b="0" dirty="0">
                <a:solidFill>
                  <a:srgbClr val="151515"/>
                </a:solidFill>
                <a:latin typeface="Inter"/>
                <a:ea typeface="Inter"/>
                <a:cs typeface="Inter"/>
              </a:rPr>
              <a:t>ποιούμε λογισμικό φιλτραρίσματος για παιδιά</a:t>
            </a:r>
            <a:r>
              <a:rPr lang="en-US" sz="1650" b="0" dirty="0">
                <a:solidFill>
                  <a:srgbClr val="151515"/>
                </a:solidFill>
                <a:latin typeface="Inter"/>
                <a:ea typeface="Inter"/>
                <a:cs typeface="Inter"/>
              </a:rPr>
              <a:t>(safe internet CYTA)</a:t>
            </a:r>
            <a:r>
              <a:rPr sz="1650" b="0" dirty="0">
                <a:solidFill>
                  <a:srgbClr val="151515"/>
                </a:solidFill>
                <a:latin typeface="Inter"/>
                <a:ea typeface="Inter"/>
                <a:cs typeface="Inter"/>
              </a:rPr>
              <a:t>.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C404471-184A-4527-B66F-6E290B62D2E2}"/>
              </a:ext>
            </a:extLst>
          </p:cNvPr>
          <p:cNvSpPr>
            <a:spLocks noGrp="1"/>
          </p:cNvSpPr>
          <p:nvPr/>
        </p:nvSpPr>
        <p:spPr>
          <a:xfrm>
            <a:off x="7239000" y="1714500"/>
            <a:ext cx="4095750" cy="2571750"/>
          </a:xfrm>
          <a:prstGeom prst="roundRect">
            <a:avLst>
              <a:gd name="adj" fmla="val 2963"/>
            </a:avLst>
          </a:prstGeom>
          <a:solidFill>
            <a:srgbClr val="F5F5F7"/>
          </a:solidFill>
          <a:ln w="9525">
            <a:solidFill>
              <a:srgbClr val="D5D5E7"/>
            </a:solidFill>
          </a:ln>
        </p:spPr>
        <p:txBody>
          <a:bodyPr/>
          <a:lstStyle/>
          <a:p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34BBC6C-652D-45DE-9463-B73D6510DFBE}"/>
              </a:ext>
            </a:extLst>
          </p:cNvPr>
          <p:cNvSpPr>
            <a:spLocks noGrp="1"/>
          </p:cNvSpPr>
          <p:nvPr/>
        </p:nvSpPr>
        <p:spPr>
          <a:xfrm>
            <a:off x="7239000" y="1714500"/>
            <a:ext cx="114300" cy="2571750"/>
          </a:xfrm>
          <a:prstGeom prst="roundRect">
            <a:avLst>
              <a:gd name="adj" fmla="val 50000"/>
            </a:avLst>
          </a:prstGeom>
          <a:solidFill>
            <a:srgbClr val="C94C4C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2321E16-FCF9-40A3-B582-8CA225DEE5CA}"/>
              </a:ext>
            </a:extLst>
          </p:cNvPr>
          <p:cNvSpPr>
            <a:spLocks noGrp="1"/>
          </p:cNvSpPr>
          <p:nvPr/>
        </p:nvSpPr>
        <p:spPr>
          <a:xfrm>
            <a:off x="7524750" y="1905000"/>
            <a:ext cx="3619500" cy="4191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rmAutofit/>
          </a:bodyPr>
          <a:lstStyle/>
          <a:p>
            <a:pPr algn="l">
              <a:defRPr sz="1800" b="1">
                <a:solidFill>
                  <a:srgbClr val="C94C4C"/>
                </a:solidFill>
                <a:latin typeface="Inter"/>
                <a:ea typeface="Inter"/>
                <a:cs typeface="Inter"/>
              </a:defRPr>
            </a:pPr>
            <a:r>
              <a:rPr sz="1800" b="1">
                <a:solidFill>
                  <a:srgbClr val="C94C4C"/>
                </a:solidFill>
                <a:latin typeface="Inter"/>
                <a:ea typeface="Inter"/>
                <a:cs typeface="Inter"/>
              </a:rPr>
              <a:t>Αν νιώσουμε άβολα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1976235-C430-439C-880B-B400B6F50F65}"/>
              </a:ext>
            </a:extLst>
          </p:cNvPr>
          <p:cNvSpPr>
            <a:spLocks noGrp="1"/>
          </p:cNvSpPr>
          <p:nvPr/>
        </p:nvSpPr>
        <p:spPr>
          <a:xfrm>
            <a:off x="7524750" y="2438400"/>
            <a:ext cx="3571875" cy="17145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rmAutofit/>
          </a:bodyPr>
          <a:lstStyle/>
          <a:p>
            <a:pPr algn="l">
              <a:defRPr sz="1425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Σταματούμε, κλείνουμε τον φυλλομετρητή και μιλάμε σε ενήλικα. Δεν αγνοούμε και δεν προωθούμε το υλικό.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FBB6C08-C140-4637-83A0-AFBE5C4B9266}"/>
              </a:ext>
            </a:extLst>
          </p:cNvPr>
          <p:cNvSpPr>
            <a:spLocks noGrp="1"/>
          </p:cNvSpPr>
          <p:nvPr/>
        </p:nvSpPr>
        <p:spPr>
          <a:xfrm>
            <a:off x="7429500" y="4810125"/>
            <a:ext cx="3714750" cy="523875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rmAutofit fontScale="96591" lnSpcReduction="10000"/>
          </a:bodyPr>
          <a:lstStyle/>
          <a:p>
            <a:pPr algn="ctr">
              <a:defRPr sz="1650" b="1">
                <a:solidFill>
                  <a:srgbClr val="5A58CB"/>
                </a:solidFill>
                <a:latin typeface="Inter"/>
                <a:ea typeface="Inter"/>
                <a:cs typeface="Inter"/>
              </a:defRPr>
            </a:pPr>
            <a:r>
              <a:rPr sz="1650" b="1" dirty="0" err="1">
                <a:solidFill>
                  <a:srgbClr val="5A58CB"/>
                </a:solidFill>
                <a:latin typeface="Inter"/>
                <a:ea typeface="Inter"/>
                <a:cs typeface="Inter"/>
              </a:rPr>
              <a:t>Γρ</a:t>
            </a:r>
            <a:r>
              <a:rPr sz="1650" b="1" dirty="0">
                <a:solidFill>
                  <a:srgbClr val="5A58CB"/>
                </a:solidFill>
                <a:latin typeface="Inter"/>
                <a:ea typeface="Inter"/>
                <a:cs typeface="Inter"/>
              </a:rPr>
              <a:t>αμμή βοήθειας και καταγγελιών: 1480</a:t>
            </a:r>
            <a:endParaRPr lang="en-US" sz="1650" b="1" dirty="0">
              <a:solidFill>
                <a:srgbClr val="5A58CB"/>
              </a:solidFill>
              <a:latin typeface="Inter"/>
              <a:ea typeface="Inter"/>
              <a:cs typeface="Inter"/>
            </a:endParaRPr>
          </a:p>
          <a:p>
            <a:pPr algn="ctr">
              <a:defRPr sz="1650" b="1">
                <a:solidFill>
                  <a:srgbClr val="5A58CB"/>
                </a:solidFill>
                <a:latin typeface="Inter"/>
                <a:ea typeface="Inter"/>
                <a:cs typeface="Inter"/>
              </a:defRPr>
            </a:pPr>
            <a:r>
              <a:rPr lang="en-US" sz="1650" b="1" dirty="0">
                <a:solidFill>
                  <a:srgbClr val="5A58CB"/>
                </a:solidFill>
                <a:latin typeface="Inter"/>
                <a:ea typeface="Inter"/>
                <a:cs typeface="Inter"/>
              </a:rPr>
              <a:t>www.cyberethics.com</a:t>
            </a:r>
            <a:endParaRPr sz="1650" b="1" dirty="0">
              <a:solidFill>
                <a:srgbClr val="5A58CB"/>
              </a:solidFill>
              <a:latin typeface="Inter"/>
              <a:ea typeface="Inter"/>
              <a:cs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9612056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C6DA8CF8-318B-4C1D-80BF-0508FB54A9EA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10858500" cy="6858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rmAutofit/>
          </a:bodyPr>
          <a:lstStyle/>
          <a:p>
            <a:pPr algn="l">
              <a:defRPr sz="2925" b="1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2925" b="1">
                <a:solidFill>
                  <a:srgbClr val="151515"/>
                </a:solidFill>
                <a:latin typeface="Inter"/>
                <a:ea typeface="Inter"/>
                <a:cs typeface="Inter"/>
              </a:rPr>
              <a:t>PEGI — ηλικιακή καταλληλότητα παιχνιδιών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FC88043-C4C4-4DFF-AA81-2728FC4A1C32}"/>
              </a:ext>
            </a:extLst>
          </p:cNvPr>
          <p:cNvSpPr>
            <a:spLocks noGrp="1"/>
          </p:cNvSpPr>
          <p:nvPr/>
        </p:nvSpPr>
        <p:spPr>
          <a:xfrm>
            <a:off x="666750" y="1190625"/>
            <a:ext cx="10858500" cy="28575"/>
          </a:xfrm>
          <a:prstGeom prst="rect">
            <a:avLst/>
          </a:prstGeom>
          <a:solidFill>
            <a:srgbClr val="9B9B9B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pic>
        <p:nvPicPr>
          <p:cNvPr id="15" name="Picture 1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62000" y="1316933"/>
            <a:ext cx="5334000" cy="1372721"/>
          </a:xfrm>
          <a:prstGeom prst="rect">
            <a:avLst/>
          </a:prstGeom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79314E8-3A6F-46E2-A78B-4CD3961CBE39}"/>
              </a:ext>
            </a:extLst>
          </p:cNvPr>
          <p:cNvSpPr>
            <a:spLocks noGrp="1"/>
          </p:cNvSpPr>
          <p:nvPr/>
        </p:nvSpPr>
        <p:spPr>
          <a:xfrm>
            <a:off x="6667500" y="1323975"/>
            <a:ext cx="4762500" cy="1905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9525">
            <a:solidFill>
              <a:srgbClr val="D5D5E7"/>
            </a:solidFill>
          </a:ln>
        </p:spPr>
        <p:txBody>
          <a:bodyPr/>
          <a:lstStyle/>
          <a:p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2DB920A-6409-4A60-8E31-372BCD86C1E7}"/>
              </a:ext>
            </a:extLst>
          </p:cNvPr>
          <p:cNvSpPr>
            <a:spLocks noGrp="1"/>
          </p:cNvSpPr>
          <p:nvPr/>
        </p:nvSpPr>
        <p:spPr>
          <a:xfrm>
            <a:off x="6667500" y="1323975"/>
            <a:ext cx="114300" cy="1905000"/>
          </a:xfrm>
          <a:prstGeom prst="roundRect">
            <a:avLst>
              <a:gd name="adj" fmla="val 50000"/>
            </a:avLst>
          </a:prstGeom>
          <a:solidFill>
            <a:srgbClr val="6A994E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A4ECB22-5CCF-445C-8BA6-2F4430BA89DE}"/>
              </a:ext>
            </a:extLst>
          </p:cNvPr>
          <p:cNvSpPr>
            <a:spLocks noGrp="1"/>
          </p:cNvSpPr>
          <p:nvPr/>
        </p:nvSpPr>
        <p:spPr>
          <a:xfrm>
            <a:off x="6953250" y="1514475"/>
            <a:ext cx="4286250" cy="4191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rmAutofit/>
          </a:bodyPr>
          <a:lstStyle/>
          <a:p>
            <a:pPr algn="l">
              <a:defRPr sz="1800" b="1">
                <a:solidFill>
                  <a:srgbClr val="6A994E"/>
                </a:solidFill>
                <a:latin typeface="Inter"/>
                <a:ea typeface="Inter"/>
                <a:cs typeface="Inter"/>
              </a:defRPr>
            </a:pPr>
            <a:r>
              <a:rPr sz="1800" b="1" dirty="0" err="1">
                <a:solidFill>
                  <a:srgbClr val="6A994E"/>
                </a:solidFill>
                <a:latin typeface="Inter"/>
                <a:ea typeface="Inter"/>
                <a:cs typeface="Inter"/>
              </a:rPr>
              <a:t>Ηλικι</a:t>
            </a:r>
            <a:r>
              <a:rPr sz="1800" b="1" dirty="0">
                <a:solidFill>
                  <a:srgbClr val="6A994E"/>
                </a:solidFill>
                <a:latin typeface="Inter"/>
                <a:ea typeface="Inter"/>
                <a:cs typeface="Inter"/>
              </a:rPr>
              <a:t>ακές ενδείξεις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78197E1-76A9-45D2-8452-15F6560626FC}"/>
              </a:ext>
            </a:extLst>
          </p:cNvPr>
          <p:cNvSpPr>
            <a:spLocks noGrp="1"/>
          </p:cNvSpPr>
          <p:nvPr/>
        </p:nvSpPr>
        <p:spPr>
          <a:xfrm>
            <a:off x="6953250" y="2047875"/>
            <a:ext cx="4238625" cy="10477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rmAutofit/>
          </a:bodyPr>
          <a:lstStyle/>
          <a:p>
            <a:pPr algn="l">
              <a:defRPr sz="1425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Οι αριθμοί 3, 7, 12, 16 και 18 δείχνουν την ηλικιακή καταλληλότητα, όχι το επίπεδο δυσκολίας.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8FA285B-8308-4FA4-A3A9-37A92CF51A5A}"/>
              </a:ext>
            </a:extLst>
          </p:cNvPr>
          <p:cNvSpPr>
            <a:spLocks noGrp="1"/>
          </p:cNvSpPr>
          <p:nvPr/>
        </p:nvSpPr>
        <p:spPr>
          <a:xfrm>
            <a:off x="6667500" y="3562350"/>
            <a:ext cx="4762500" cy="1571625"/>
          </a:xfrm>
          <a:prstGeom prst="roundRect">
            <a:avLst>
              <a:gd name="adj" fmla="val 4848"/>
            </a:avLst>
          </a:prstGeom>
          <a:solidFill>
            <a:srgbClr val="F5F5F7"/>
          </a:solidFill>
          <a:ln w="9525">
            <a:solidFill>
              <a:srgbClr val="D5D5E7"/>
            </a:solidFill>
          </a:ln>
        </p:spPr>
        <p:txBody>
          <a:bodyPr/>
          <a:lstStyle/>
          <a:p>
            <a:endParaRPr lang="en-GB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349C8FAC-768D-4E38-A696-81851F316ED9}"/>
              </a:ext>
            </a:extLst>
          </p:cNvPr>
          <p:cNvSpPr>
            <a:spLocks noGrp="1"/>
          </p:cNvSpPr>
          <p:nvPr/>
        </p:nvSpPr>
        <p:spPr>
          <a:xfrm>
            <a:off x="6667500" y="3562350"/>
            <a:ext cx="114300" cy="1571625"/>
          </a:xfrm>
          <a:prstGeom prst="roundRect">
            <a:avLst>
              <a:gd name="adj" fmla="val 50000"/>
            </a:avLst>
          </a:prstGeom>
          <a:solidFill>
            <a:srgbClr val="4B76C5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869A131-F304-4668-A7F4-180B70E5D9B7}"/>
              </a:ext>
            </a:extLst>
          </p:cNvPr>
          <p:cNvSpPr>
            <a:spLocks noGrp="1"/>
          </p:cNvSpPr>
          <p:nvPr/>
        </p:nvSpPr>
        <p:spPr>
          <a:xfrm>
            <a:off x="6953250" y="3752850"/>
            <a:ext cx="4286250" cy="4191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rmAutofit/>
          </a:bodyPr>
          <a:lstStyle/>
          <a:p>
            <a:pPr algn="l">
              <a:defRPr sz="1800" b="1">
                <a:solidFill>
                  <a:srgbClr val="4B76C5"/>
                </a:solidFill>
                <a:latin typeface="Inter"/>
                <a:ea typeface="Inter"/>
                <a:cs typeface="Inter"/>
              </a:defRPr>
            </a:pPr>
            <a:r>
              <a:rPr sz="1800" b="1" dirty="0">
                <a:solidFill>
                  <a:srgbClr val="4B76C5"/>
                </a:solidFill>
                <a:latin typeface="Inter"/>
                <a:ea typeface="Inter"/>
                <a:cs typeface="Inter"/>
              </a:rPr>
              <a:t>PEGI OK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849ADB9-7835-4023-8722-12ECD43DF3BD}"/>
              </a:ext>
            </a:extLst>
          </p:cNvPr>
          <p:cNvSpPr>
            <a:spLocks noGrp="1"/>
          </p:cNvSpPr>
          <p:nvPr/>
        </p:nvSpPr>
        <p:spPr>
          <a:xfrm>
            <a:off x="6953250" y="4286250"/>
            <a:ext cx="4238625" cy="714375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rmAutofit/>
          </a:bodyPr>
          <a:lstStyle/>
          <a:p>
            <a:pPr algn="l">
              <a:defRPr sz="1425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425" b="0" dirty="0" err="1">
                <a:solidFill>
                  <a:srgbClr val="151515"/>
                </a:solidFill>
                <a:latin typeface="Inter"/>
                <a:ea typeface="Inter"/>
                <a:cs typeface="Inter"/>
              </a:rPr>
              <a:t>Δείχνει</a:t>
            </a:r>
            <a:r>
              <a:rPr sz="1425" b="0" dirty="0">
                <a:solidFill>
                  <a:srgbClr val="151515"/>
                </a:solidFill>
                <a:latin typeface="Inter"/>
                <a:ea typeface="Inter"/>
                <a:cs typeface="Inter"/>
              </a:rPr>
              <a:t> </a:t>
            </a:r>
            <a:r>
              <a:rPr sz="1425" b="0" dirty="0" err="1">
                <a:solidFill>
                  <a:srgbClr val="151515"/>
                </a:solidFill>
                <a:latin typeface="Inter"/>
                <a:ea typeface="Inter"/>
                <a:cs typeface="Inter"/>
              </a:rPr>
              <a:t>ότι</a:t>
            </a:r>
            <a:r>
              <a:rPr sz="1425" b="0" dirty="0">
                <a:solidFill>
                  <a:srgbClr val="151515"/>
                </a:solidFill>
                <a:latin typeface="Inter"/>
                <a:ea typeface="Inter"/>
                <a:cs typeface="Inter"/>
              </a:rPr>
              <a:t> </a:t>
            </a:r>
            <a:r>
              <a:rPr sz="1425" b="0" dirty="0" err="1">
                <a:solidFill>
                  <a:srgbClr val="151515"/>
                </a:solidFill>
                <a:latin typeface="Inter"/>
                <a:ea typeface="Inter"/>
                <a:cs typeface="Inter"/>
              </a:rPr>
              <a:t>έν</a:t>
            </a:r>
            <a:r>
              <a:rPr sz="1425" b="0" dirty="0">
                <a:solidFill>
                  <a:srgbClr val="151515"/>
                </a:solidFill>
                <a:latin typeface="Inter"/>
                <a:ea typeface="Inter"/>
                <a:cs typeface="Inter"/>
              </a:rPr>
              <a:t>α μικρό online παιχνίδι δεν περιλαμβάνει δυνητικά ακατάλληλο περιεχόμενο και είναι κατάλληλο για όλες τις ηλικίες.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6ADAF72-591B-4CE3-B632-7B964CE1D833}"/>
              </a:ext>
            </a:extLst>
          </p:cNvPr>
          <p:cNvSpPr>
            <a:spLocks noGrp="1"/>
          </p:cNvSpPr>
          <p:nvPr/>
        </p:nvSpPr>
        <p:spPr>
          <a:xfrm>
            <a:off x="803910" y="5221795"/>
            <a:ext cx="6767322" cy="385763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rmAutofit/>
          </a:bodyPr>
          <a:lstStyle/>
          <a:p>
            <a:pPr algn="ctr">
              <a:defRPr sz="1575" b="1">
                <a:solidFill>
                  <a:srgbClr val="5A58CB"/>
                </a:solidFill>
                <a:latin typeface="Inter"/>
                <a:ea typeface="Inter"/>
                <a:cs typeface="Inter"/>
              </a:defRPr>
            </a:pPr>
            <a:r>
              <a:rPr sz="1575" b="1" dirty="0" err="1">
                <a:solidFill>
                  <a:srgbClr val="5A58CB"/>
                </a:solidFill>
                <a:latin typeface="Inter"/>
                <a:ea typeface="Inter"/>
                <a:cs typeface="Inter"/>
              </a:rPr>
              <a:t>Ελέγχουμε</a:t>
            </a:r>
            <a:r>
              <a:rPr sz="1575" b="1" dirty="0">
                <a:solidFill>
                  <a:srgbClr val="5A58CB"/>
                </a:solidFill>
                <a:latin typeface="Inter"/>
                <a:ea typeface="Inter"/>
                <a:cs typeface="Inter"/>
              </a:rPr>
              <a:t> και </a:t>
            </a:r>
            <a:r>
              <a:rPr sz="1575" b="1" dirty="0" err="1">
                <a:solidFill>
                  <a:srgbClr val="5A58CB"/>
                </a:solidFill>
                <a:latin typeface="Inter"/>
                <a:ea typeface="Inter"/>
                <a:cs typeface="Inter"/>
              </a:rPr>
              <a:t>τις</a:t>
            </a:r>
            <a:r>
              <a:rPr sz="1575" b="1" dirty="0">
                <a:solidFill>
                  <a:srgbClr val="5A58CB"/>
                </a:solidFill>
                <a:latin typeface="Inter"/>
                <a:ea typeface="Inter"/>
                <a:cs typeface="Inter"/>
              </a:rPr>
              <a:t> π</a:t>
            </a:r>
            <a:r>
              <a:rPr sz="1575" b="1" dirty="0" err="1">
                <a:solidFill>
                  <a:srgbClr val="5A58CB"/>
                </a:solidFill>
                <a:latin typeface="Inter"/>
                <a:ea typeface="Inter"/>
                <a:cs typeface="Inter"/>
              </a:rPr>
              <a:t>εριγρ</a:t>
            </a:r>
            <a:r>
              <a:rPr sz="1575" b="1" dirty="0">
                <a:solidFill>
                  <a:srgbClr val="5A58CB"/>
                </a:solidFill>
                <a:latin typeface="Inter"/>
                <a:ea typeface="Inter"/>
                <a:cs typeface="Inter"/>
              </a:rPr>
              <a:t>αφικές ενδείξεις: βία, φόβος, τζόγος, διακρίσεις κ.ά.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549A2E4-4813-69C5-F925-FC667E9B93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910" y="5572125"/>
            <a:ext cx="8153400" cy="104775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41572BC-9B80-31CC-4309-530D68C24C9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2675367"/>
            <a:ext cx="4024476" cy="13251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64459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8E6EEC00-0C92-46A8-B58C-84B2DF5F7E62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10858500" cy="6858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rmAutofit/>
          </a:bodyPr>
          <a:lstStyle/>
          <a:p>
            <a:pPr algn="l">
              <a:defRPr sz="2925" b="1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2925" b="1">
                <a:solidFill>
                  <a:srgbClr val="151515"/>
                </a:solidFill>
                <a:latin typeface="Inter"/>
                <a:ea typeface="Inter"/>
                <a:cs typeface="Inter"/>
              </a:rPr>
              <a:t>Παραπληροφόρηση — δεν πιστεύουμε τα πάντα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0257C15-FF5B-449A-8063-544B4AC15B31}"/>
              </a:ext>
            </a:extLst>
          </p:cNvPr>
          <p:cNvSpPr>
            <a:spLocks noGrp="1"/>
          </p:cNvSpPr>
          <p:nvPr/>
        </p:nvSpPr>
        <p:spPr>
          <a:xfrm>
            <a:off x="666750" y="1190625"/>
            <a:ext cx="10858500" cy="28575"/>
          </a:xfrm>
          <a:prstGeom prst="rect">
            <a:avLst/>
          </a:prstGeom>
          <a:solidFill>
            <a:srgbClr val="9B9B9B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010D81A-9569-49E3-910C-E226DD8E8F7C}"/>
              </a:ext>
            </a:extLst>
          </p:cNvPr>
          <p:cNvSpPr>
            <a:spLocks noGrp="1"/>
          </p:cNvSpPr>
          <p:nvPr/>
        </p:nvSpPr>
        <p:spPr>
          <a:xfrm>
            <a:off x="571500" y="1619250"/>
            <a:ext cx="3429000" cy="3333750"/>
          </a:xfrm>
          <a:prstGeom prst="roundRect">
            <a:avLst>
              <a:gd name="adj" fmla="val 2286"/>
            </a:avLst>
          </a:prstGeom>
          <a:solidFill>
            <a:srgbClr val="F5F5F7"/>
          </a:solidFill>
          <a:ln w="9525">
            <a:solidFill>
              <a:srgbClr val="D5D5E7"/>
            </a:solidFill>
          </a:ln>
        </p:spPr>
        <p:txBody>
          <a:bodyPr/>
          <a:lstStyle/>
          <a:p>
            <a:endParaRPr lang="en-GB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F2DF88A-F8C8-437D-AEF9-F7EA4B137606}"/>
              </a:ext>
            </a:extLst>
          </p:cNvPr>
          <p:cNvSpPr>
            <a:spLocks noGrp="1"/>
          </p:cNvSpPr>
          <p:nvPr/>
        </p:nvSpPr>
        <p:spPr>
          <a:xfrm>
            <a:off x="571500" y="1619250"/>
            <a:ext cx="114300" cy="3333750"/>
          </a:xfrm>
          <a:prstGeom prst="roundRect">
            <a:avLst>
              <a:gd name="adj" fmla="val 50000"/>
            </a:avLst>
          </a:prstGeom>
          <a:solidFill>
            <a:srgbClr val="F47C27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92D3B69-DDA7-4F49-89F0-5FAD7C7C0627}"/>
              </a:ext>
            </a:extLst>
          </p:cNvPr>
          <p:cNvSpPr>
            <a:spLocks noGrp="1"/>
          </p:cNvSpPr>
          <p:nvPr/>
        </p:nvSpPr>
        <p:spPr>
          <a:xfrm>
            <a:off x="857250" y="1809750"/>
            <a:ext cx="2952750" cy="4191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rmAutofit/>
          </a:bodyPr>
          <a:lstStyle/>
          <a:p>
            <a:pPr algn="l">
              <a:defRPr sz="1800" b="1">
                <a:solidFill>
                  <a:srgbClr val="F47C27"/>
                </a:solidFill>
                <a:latin typeface="Inter"/>
                <a:ea typeface="Inter"/>
                <a:cs typeface="Inter"/>
              </a:defRPr>
            </a:pPr>
            <a:r>
              <a:rPr sz="1800" b="1">
                <a:solidFill>
                  <a:srgbClr val="F47C27"/>
                </a:solidFill>
                <a:latin typeface="Inter"/>
                <a:ea typeface="Inter"/>
                <a:cs typeface="Inter"/>
              </a:rPr>
              <a:t>Τι μπορεί να συμβεί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D69960E-50E4-4C6B-88CD-87EF577DCF23}"/>
              </a:ext>
            </a:extLst>
          </p:cNvPr>
          <p:cNvSpPr>
            <a:spLocks noGrp="1"/>
          </p:cNvSpPr>
          <p:nvPr/>
        </p:nvSpPr>
        <p:spPr>
          <a:xfrm>
            <a:off x="857250" y="2343150"/>
            <a:ext cx="2905125" cy="24765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rmAutofit/>
          </a:bodyPr>
          <a:lstStyle/>
          <a:p>
            <a:pPr algn="l">
              <a:defRPr sz="1425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Μια πληροφορία μπορεί να είναι ψευδής, τροποποιημένη ή ελλιπής και να μας οδηγήσει σε λάθος συμπέρασμα.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2C7F017-B37F-4A54-B472-8F2C7F75E48E}"/>
              </a:ext>
            </a:extLst>
          </p:cNvPr>
          <p:cNvSpPr>
            <a:spLocks noGrp="1"/>
          </p:cNvSpPr>
          <p:nvPr/>
        </p:nvSpPr>
        <p:spPr>
          <a:xfrm>
            <a:off x="4381500" y="1619250"/>
            <a:ext cx="3429000" cy="3333750"/>
          </a:xfrm>
          <a:prstGeom prst="roundRect">
            <a:avLst>
              <a:gd name="adj" fmla="val 2286"/>
            </a:avLst>
          </a:prstGeom>
          <a:solidFill>
            <a:srgbClr val="F5F5F7"/>
          </a:solidFill>
          <a:ln w="9525">
            <a:solidFill>
              <a:srgbClr val="D5D5E7"/>
            </a:solidFill>
          </a:ln>
        </p:spPr>
        <p:txBody>
          <a:bodyPr/>
          <a:lstStyle/>
          <a:p>
            <a:endParaRPr lang="en-GB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F1A40C3-1433-4B4B-9A38-42FC87E57400}"/>
              </a:ext>
            </a:extLst>
          </p:cNvPr>
          <p:cNvSpPr>
            <a:spLocks noGrp="1"/>
          </p:cNvSpPr>
          <p:nvPr/>
        </p:nvSpPr>
        <p:spPr>
          <a:xfrm>
            <a:off x="4381500" y="1619250"/>
            <a:ext cx="114300" cy="3333750"/>
          </a:xfrm>
          <a:prstGeom prst="roundRect">
            <a:avLst>
              <a:gd name="adj" fmla="val 50000"/>
            </a:avLst>
          </a:prstGeom>
          <a:solidFill>
            <a:srgbClr val="4B76C5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EFE1621-489F-48D9-8B7A-D30555630FA9}"/>
              </a:ext>
            </a:extLst>
          </p:cNvPr>
          <p:cNvSpPr>
            <a:spLocks noGrp="1"/>
          </p:cNvSpPr>
          <p:nvPr/>
        </p:nvSpPr>
        <p:spPr>
          <a:xfrm>
            <a:off x="4667250" y="1809750"/>
            <a:ext cx="2952750" cy="4191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rmAutofit/>
          </a:bodyPr>
          <a:lstStyle/>
          <a:p>
            <a:pPr algn="l">
              <a:defRPr sz="1800" b="1">
                <a:solidFill>
                  <a:srgbClr val="4B76C5"/>
                </a:solidFill>
                <a:latin typeface="Inter"/>
                <a:ea typeface="Inter"/>
                <a:cs typeface="Inter"/>
              </a:defRPr>
            </a:pPr>
            <a:r>
              <a:rPr sz="1800" b="1">
                <a:solidFill>
                  <a:srgbClr val="4B76C5"/>
                </a:solidFill>
                <a:latin typeface="Inter"/>
                <a:ea typeface="Inter"/>
                <a:cs typeface="Inter"/>
              </a:rPr>
              <a:t>Τι ελέγχουμε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C973272-8D3E-465E-B550-B5CFD7703C89}"/>
              </a:ext>
            </a:extLst>
          </p:cNvPr>
          <p:cNvSpPr>
            <a:spLocks noGrp="1"/>
          </p:cNvSpPr>
          <p:nvPr/>
        </p:nvSpPr>
        <p:spPr>
          <a:xfrm>
            <a:off x="4667250" y="2343150"/>
            <a:ext cx="2905125" cy="24765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rmAutofit/>
          </a:bodyPr>
          <a:lstStyle/>
          <a:p>
            <a:pPr algn="l">
              <a:defRPr sz="1425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Συγγραφέα, προέλευση της σελίδας, ημερομηνία, βιβλιογραφία και στοιχεία που στηρίζουν τον ισχυρισμό.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A602415E-4BA1-4228-8B5C-A3BC6404F1FB}"/>
              </a:ext>
            </a:extLst>
          </p:cNvPr>
          <p:cNvSpPr>
            <a:spLocks noGrp="1"/>
          </p:cNvSpPr>
          <p:nvPr/>
        </p:nvSpPr>
        <p:spPr>
          <a:xfrm>
            <a:off x="8191500" y="1619250"/>
            <a:ext cx="3429000" cy="3333750"/>
          </a:xfrm>
          <a:prstGeom prst="roundRect">
            <a:avLst>
              <a:gd name="adj" fmla="val 2286"/>
            </a:avLst>
          </a:prstGeom>
          <a:solidFill>
            <a:srgbClr val="F5F5F7"/>
          </a:solidFill>
          <a:ln w="9525">
            <a:solidFill>
              <a:srgbClr val="D5D5E7"/>
            </a:solidFill>
          </a:ln>
        </p:spPr>
        <p:txBody>
          <a:bodyPr/>
          <a:lstStyle/>
          <a:p>
            <a:endParaRPr lang="en-GB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F6B2AEAE-6647-4303-A882-7EC41A56B650}"/>
              </a:ext>
            </a:extLst>
          </p:cNvPr>
          <p:cNvSpPr>
            <a:spLocks noGrp="1"/>
          </p:cNvSpPr>
          <p:nvPr/>
        </p:nvSpPr>
        <p:spPr>
          <a:xfrm>
            <a:off x="8191500" y="1619250"/>
            <a:ext cx="114300" cy="3333750"/>
          </a:xfrm>
          <a:prstGeom prst="roundRect">
            <a:avLst>
              <a:gd name="adj" fmla="val 50000"/>
            </a:avLst>
          </a:prstGeom>
          <a:solidFill>
            <a:srgbClr val="5A58CB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2C2A289-67DE-45A5-A98C-E490DEA77823}"/>
              </a:ext>
            </a:extLst>
          </p:cNvPr>
          <p:cNvSpPr>
            <a:spLocks noGrp="1"/>
          </p:cNvSpPr>
          <p:nvPr/>
        </p:nvSpPr>
        <p:spPr>
          <a:xfrm>
            <a:off x="8477250" y="1809750"/>
            <a:ext cx="2952750" cy="4191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rmAutofit/>
          </a:bodyPr>
          <a:lstStyle/>
          <a:p>
            <a:pPr algn="l">
              <a:defRPr sz="1800" b="1">
                <a:solidFill>
                  <a:srgbClr val="5A58CB"/>
                </a:solidFill>
                <a:latin typeface="Inter"/>
                <a:ea typeface="Inter"/>
                <a:cs typeface="Inter"/>
              </a:defRPr>
            </a:pPr>
            <a:r>
              <a:rPr sz="1800" b="1">
                <a:solidFill>
                  <a:srgbClr val="5A58CB"/>
                </a:solidFill>
                <a:latin typeface="Inter"/>
                <a:ea typeface="Inter"/>
                <a:cs typeface="Inter"/>
              </a:rPr>
              <a:t>Πώς επιβεβαιώνουμε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D228F49-E707-414E-8E60-F639E6650F13}"/>
              </a:ext>
            </a:extLst>
          </p:cNvPr>
          <p:cNvSpPr>
            <a:spLocks noGrp="1"/>
          </p:cNvSpPr>
          <p:nvPr/>
        </p:nvSpPr>
        <p:spPr>
          <a:xfrm>
            <a:off x="8477250" y="2343150"/>
            <a:ext cx="2905125" cy="24765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rmAutofit/>
          </a:bodyPr>
          <a:lstStyle/>
          <a:p>
            <a:pPr algn="l">
              <a:defRPr sz="1425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Συγκρίνουμε πολλές αξιόπιστες πηγές και χρησιμοποιούμε βιβλία, εφημερίδες ή επίσημες ιστοσελίδες.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9C0214A-C711-4E91-A60D-5D63EA8F5977}"/>
              </a:ext>
            </a:extLst>
          </p:cNvPr>
          <p:cNvSpPr>
            <a:spLocks noGrp="1"/>
          </p:cNvSpPr>
          <p:nvPr/>
        </p:nvSpPr>
        <p:spPr>
          <a:xfrm>
            <a:off x="1619250" y="5381625"/>
            <a:ext cx="8953500" cy="4572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rmAutofit/>
          </a:bodyPr>
          <a:lstStyle/>
          <a:p>
            <a:pPr algn="ctr">
              <a:defRPr sz="1575" b="1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575" b="1">
                <a:solidFill>
                  <a:srgbClr val="151515"/>
                </a:solidFill>
                <a:latin typeface="Inter"/>
                <a:ea typeface="Inter"/>
                <a:cs typeface="Inter"/>
              </a:rPr>
              <a:t>Οποιοσδήποτε μπορεί να δημοσιεύσει στο Διαδίκτυο — η αξιολόγηση είναι δική μας ευθύνη.</a:t>
            </a:r>
          </a:p>
        </p:txBody>
      </p:sp>
    </p:spTree>
    <p:extLst>
      <p:ext uri="{BB962C8B-B14F-4D97-AF65-F5344CB8AC3E}">
        <p14:creationId xmlns:p14="http://schemas.microsoft.com/office/powerpoint/2010/main" val="2152206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F61E13A0-6442-4F24-A189-F941F82C2E0E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10858500" cy="6858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rmAutofit/>
          </a:bodyPr>
          <a:lstStyle/>
          <a:p>
            <a:pPr algn="l">
              <a:defRPr sz="2925" b="1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2925" b="1">
                <a:solidFill>
                  <a:srgbClr val="151515"/>
                </a:solidFill>
                <a:latin typeface="Inter"/>
                <a:ea typeface="Inter"/>
                <a:cs typeface="Inter"/>
              </a:rPr>
              <a:t>Πνευματικά δικαιώματα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A9A9687-7C32-4646-939E-830C7796BB2B}"/>
              </a:ext>
            </a:extLst>
          </p:cNvPr>
          <p:cNvSpPr>
            <a:spLocks noGrp="1"/>
          </p:cNvSpPr>
          <p:nvPr/>
        </p:nvSpPr>
        <p:spPr>
          <a:xfrm>
            <a:off x="666750" y="1190625"/>
            <a:ext cx="10858500" cy="28575"/>
          </a:xfrm>
          <a:prstGeom prst="rect">
            <a:avLst/>
          </a:prstGeom>
          <a:solidFill>
            <a:srgbClr val="9B9B9B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FFE693A-4B42-48C7-AA37-CEBAFF5377C1}"/>
              </a:ext>
            </a:extLst>
          </p:cNvPr>
          <p:cNvSpPr>
            <a:spLocks noGrp="1"/>
          </p:cNvSpPr>
          <p:nvPr/>
        </p:nvSpPr>
        <p:spPr>
          <a:xfrm>
            <a:off x="952500" y="1476375"/>
            <a:ext cx="10287000" cy="4953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rmAutofit/>
          </a:bodyPr>
          <a:lstStyle/>
          <a:p>
            <a:pPr algn="ctr">
              <a:defRPr sz="1950" b="1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950" b="1">
                <a:solidFill>
                  <a:srgbClr val="151515"/>
                </a:solidFill>
                <a:latin typeface="Inter"/>
                <a:ea typeface="Inter"/>
                <a:cs typeface="Inter"/>
              </a:rPr>
              <a:t>Τα δικαιώματα ανήκουν στον δημιουργό του έργου.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A828A8B-4769-407B-A2A3-3512F7CCC332}"/>
              </a:ext>
            </a:extLst>
          </p:cNvPr>
          <p:cNvSpPr>
            <a:spLocks noGrp="1"/>
          </p:cNvSpPr>
          <p:nvPr/>
        </p:nvSpPr>
        <p:spPr>
          <a:xfrm>
            <a:off x="714375" y="2238375"/>
            <a:ext cx="10763250" cy="781050"/>
          </a:xfrm>
          <a:prstGeom prst="roundRect">
            <a:avLst>
              <a:gd name="adj" fmla="val 9756"/>
            </a:avLst>
          </a:prstGeom>
          <a:solidFill>
            <a:srgbClr val="F5F5F7"/>
          </a:solidFill>
          <a:ln w="9525">
            <a:solidFill>
              <a:srgbClr val="D9D9E5"/>
            </a:solidFill>
          </a:ln>
        </p:spPr>
        <p:txBody>
          <a:bodyPr/>
          <a:lstStyle/>
          <a:p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9A724A09-E3FB-4063-AA6A-7DBFD977F3E0}"/>
              </a:ext>
            </a:extLst>
          </p:cNvPr>
          <p:cNvSpPr>
            <a:spLocks noGrp="1"/>
          </p:cNvSpPr>
          <p:nvPr/>
        </p:nvSpPr>
        <p:spPr>
          <a:xfrm>
            <a:off x="714375" y="2238375"/>
            <a:ext cx="2333625" cy="781050"/>
          </a:xfrm>
          <a:prstGeom prst="roundRect">
            <a:avLst>
              <a:gd name="adj" fmla="val 9756"/>
            </a:avLst>
          </a:prstGeom>
          <a:solidFill>
            <a:srgbClr val="4B76C5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488A497-5888-48C3-988C-B189DAAE1FF2}"/>
              </a:ext>
            </a:extLst>
          </p:cNvPr>
          <p:cNvSpPr>
            <a:spLocks noGrp="1"/>
          </p:cNvSpPr>
          <p:nvPr/>
        </p:nvSpPr>
        <p:spPr>
          <a:xfrm>
            <a:off x="838200" y="2409825"/>
            <a:ext cx="2095500" cy="4191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rmAutofit/>
          </a:bodyPr>
          <a:lstStyle/>
          <a:p>
            <a:pPr algn="ctr">
              <a:defRPr sz="1575" b="1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575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Δημιουργοί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75CDA02-4621-4466-997B-507A943F4DBB}"/>
              </a:ext>
            </a:extLst>
          </p:cNvPr>
          <p:cNvSpPr>
            <a:spLocks noGrp="1"/>
          </p:cNvSpPr>
          <p:nvPr/>
        </p:nvSpPr>
        <p:spPr>
          <a:xfrm>
            <a:off x="3286125" y="2381250"/>
            <a:ext cx="7810500" cy="4762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rmAutofit/>
          </a:bodyPr>
          <a:lstStyle/>
          <a:p>
            <a:pPr algn="l">
              <a:defRPr sz="1500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500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Συγγραφέας, συνθέτης, σκηνοθέτης, προγραμματιστής.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B117A54-D28D-4905-ACAE-3B18BD4C365C}"/>
              </a:ext>
            </a:extLst>
          </p:cNvPr>
          <p:cNvSpPr>
            <a:spLocks noGrp="1"/>
          </p:cNvSpPr>
          <p:nvPr/>
        </p:nvSpPr>
        <p:spPr>
          <a:xfrm>
            <a:off x="714375" y="3286125"/>
            <a:ext cx="10763250" cy="781050"/>
          </a:xfrm>
          <a:prstGeom prst="roundRect">
            <a:avLst>
              <a:gd name="adj" fmla="val 9756"/>
            </a:avLst>
          </a:prstGeom>
          <a:solidFill>
            <a:srgbClr val="F5F5F7"/>
          </a:solidFill>
          <a:ln w="9525">
            <a:solidFill>
              <a:srgbClr val="D9D9E5"/>
            </a:solidFill>
          </a:ln>
        </p:spPr>
        <p:txBody>
          <a:bodyPr/>
          <a:lstStyle/>
          <a:p>
            <a:endParaRPr lang="en-GB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0B7A3528-09D6-4E96-B8A5-9A54E3673917}"/>
              </a:ext>
            </a:extLst>
          </p:cNvPr>
          <p:cNvSpPr>
            <a:spLocks noGrp="1"/>
          </p:cNvSpPr>
          <p:nvPr/>
        </p:nvSpPr>
        <p:spPr>
          <a:xfrm>
            <a:off x="714375" y="3286125"/>
            <a:ext cx="2333625" cy="781050"/>
          </a:xfrm>
          <a:prstGeom prst="roundRect">
            <a:avLst>
              <a:gd name="adj" fmla="val 9756"/>
            </a:avLst>
          </a:prstGeom>
          <a:solidFill>
            <a:srgbClr val="C94C4C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A3181A-4323-4302-9028-C363F8009A66}"/>
              </a:ext>
            </a:extLst>
          </p:cNvPr>
          <p:cNvSpPr>
            <a:spLocks noGrp="1"/>
          </p:cNvSpPr>
          <p:nvPr/>
        </p:nvSpPr>
        <p:spPr>
          <a:xfrm>
            <a:off x="838200" y="3457575"/>
            <a:ext cx="2095500" cy="4191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rmAutofit/>
          </a:bodyPr>
          <a:lstStyle/>
          <a:p>
            <a:pPr algn="ctr">
              <a:defRPr sz="1575" b="1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575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Παραβίαση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A190EA6-4DE2-41B9-97B4-061B05D8C4D6}"/>
              </a:ext>
            </a:extLst>
          </p:cNvPr>
          <p:cNvSpPr>
            <a:spLocks noGrp="1"/>
          </p:cNvSpPr>
          <p:nvPr/>
        </p:nvSpPr>
        <p:spPr>
          <a:xfrm>
            <a:off x="3286125" y="3429000"/>
            <a:ext cx="7810500" cy="4762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rmAutofit/>
          </a:bodyPr>
          <a:lstStyle/>
          <a:p>
            <a:pPr algn="l">
              <a:defRPr sz="1500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500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Αντιγραφή ή δημοσίευση έργου χωρίς άδεια.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12D73555-115F-4F2F-983A-AA6A47E73904}"/>
              </a:ext>
            </a:extLst>
          </p:cNvPr>
          <p:cNvSpPr>
            <a:spLocks noGrp="1"/>
          </p:cNvSpPr>
          <p:nvPr/>
        </p:nvSpPr>
        <p:spPr>
          <a:xfrm>
            <a:off x="714375" y="4333875"/>
            <a:ext cx="10763250" cy="781050"/>
          </a:xfrm>
          <a:prstGeom prst="roundRect">
            <a:avLst>
              <a:gd name="adj" fmla="val 9756"/>
            </a:avLst>
          </a:prstGeom>
          <a:solidFill>
            <a:srgbClr val="F5F5F7"/>
          </a:solidFill>
          <a:ln w="9525">
            <a:solidFill>
              <a:srgbClr val="D9D9E5"/>
            </a:solidFill>
          </a:ln>
        </p:spPr>
        <p:txBody>
          <a:bodyPr/>
          <a:lstStyle/>
          <a:p>
            <a:endParaRPr lang="en-GB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5DC06406-ECED-4904-849E-BACA7F96928D}"/>
              </a:ext>
            </a:extLst>
          </p:cNvPr>
          <p:cNvSpPr>
            <a:spLocks noGrp="1"/>
          </p:cNvSpPr>
          <p:nvPr/>
        </p:nvSpPr>
        <p:spPr>
          <a:xfrm>
            <a:off x="714375" y="4333875"/>
            <a:ext cx="2333625" cy="781050"/>
          </a:xfrm>
          <a:prstGeom prst="roundRect">
            <a:avLst>
              <a:gd name="adj" fmla="val 9756"/>
            </a:avLst>
          </a:prstGeom>
          <a:solidFill>
            <a:srgbClr val="F47C27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9921828-6F9E-42B2-A255-4843963C7C5F}"/>
              </a:ext>
            </a:extLst>
          </p:cNvPr>
          <p:cNvSpPr>
            <a:spLocks noGrp="1"/>
          </p:cNvSpPr>
          <p:nvPr/>
        </p:nvSpPr>
        <p:spPr>
          <a:xfrm>
            <a:off x="838200" y="4505325"/>
            <a:ext cx="2095500" cy="4191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rmAutofit/>
          </a:bodyPr>
          <a:lstStyle/>
          <a:p>
            <a:pPr algn="ctr">
              <a:defRPr sz="1575" b="1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575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Παραδείγματα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667B0B7-D524-4DE0-9D0B-8789D3247A9B}"/>
              </a:ext>
            </a:extLst>
          </p:cNvPr>
          <p:cNvSpPr>
            <a:spLocks noGrp="1"/>
          </p:cNvSpPr>
          <p:nvPr/>
        </p:nvSpPr>
        <p:spPr>
          <a:xfrm>
            <a:off x="3286125" y="4476750"/>
            <a:ext cx="7810500" cy="4762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rmAutofit/>
          </a:bodyPr>
          <a:lstStyle/>
          <a:p>
            <a:pPr algn="l">
              <a:defRPr sz="1500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500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Παράνομα προγράμματα, μουσική, βίντεο και ηλεκτρονικά βιβλία.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A21A26E-9CE2-4165-8C7F-0474F990C37C}"/>
              </a:ext>
            </a:extLst>
          </p:cNvPr>
          <p:cNvSpPr>
            <a:spLocks noGrp="1"/>
          </p:cNvSpPr>
          <p:nvPr/>
        </p:nvSpPr>
        <p:spPr>
          <a:xfrm>
            <a:off x="2238375" y="5476875"/>
            <a:ext cx="7715250" cy="428625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rmAutofit/>
          </a:bodyPr>
          <a:lstStyle/>
          <a:p>
            <a:pPr algn="ctr">
              <a:defRPr sz="1575" b="1">
                <a:solidFill>
                  <a:srgbClr val="5A58CB"/>
                </a:solidFill>
                <a:latin typeface="Inter"/>
                <a:ea typeface="Inter"/>
                <a:cs typeface="Inter"/>
              </a:defRPr>
            </a:pPr>
            <a:r>
              <a:rPr sz="1575" b="1">
                <a:solidFill>
                  <a:srgbClr val="5A58CB"/>
                </a:solidFill>
                <a:latin typeface="Inter"/>
                <a:ea typeface="Inter"/>
                <a:cs typeface="Inter"/>
              </a:rPr>
              <a:t>Σεβόμαστε την εργασία του δημιουργού και ζητούμε άδεια όπου απαιτείται.</a:t>
            </a:r>
          </a:p>
        </p:txBody>
      </p:sp>
    </p:spTree>
    <p:extLst>
      <p:ext uri="{BB962C8B-B14F-4D97-AF65-F5344CB8AC3E}">
        <p14:creationId xmlns:p14="http://schemas.microsoft.com/office/powerpoint/2010/main" val="7246420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2CFA499-0998-4FD9-B2E9-9C37AD195537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10858500" cy="6858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rmAutofit/>
          </a:bodyPr>
          <a:lstStyle/>
          <a:p>
            <a:pPr algn="l">
              <a:defRPr sz="2925" b="1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2925" b="1">
                <a:solidFill>
                  <a:srgbClr val="151515"/>
                </a:solidFill>
                <a:latin typeface="Inter"/>
                <a:ea typeface="Inter"/>
                <a:cs typeface="Inter"/>
              </a:rPr>
              <a:t>Εθισμός στο Διαδίκτυο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367924A-15B9-4BAF-9E82-E92CA1728BE5}"/>
              </a:ext>
            </a:extLst>
          </p:cNvPr>
          <p:cNvSpPr>
            <a:spLocks noGrp="1"/>
          </p:cNvSpPr>
          <p:nvPr/>
        </p:nvSpPr>
        <p:spPr>
          <a:xfrm>
            <a:off x="666750" y="1190625"/>
            <a:ext cx="10858500" cy="28575"/>
          </a:xfrm>
          <a:prstGeom prst="rect">
            <a:avLst/>
          </a:prstGeom>
          <a:solidFill>
            <a:srgbClr val="9B9B9B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66750" y="1784171"/>
            <a:ext cx="4095750" cy="3099158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60820E4C-D41D-4C49-B010-8B2449D0C944}"/>
              </a:ext>
            </a:extLst>
          </p:cNvPr>
          <p:cNvSpPr>
            <a:spLocks noGrp="1"/>
          </p:cNvSpPr>
          <p:nvPr/>
        </p:nvSpPr>
        <p:spPr>
          <a:xfrm>
            <a:off x="5334000" y="1666875"/>
            <a:ext cx="5905500" cy="3143250"/>
          </a:xfrm>
          <a:prstGeom prst="rect">
            <a:avLst/>
          </a:prstGeom>
          <a:noFill/>
          <a:ln w="0">
            <a:noFill/>
          </a:ln>
        </p:spPr>
        <p:txBody>
          <a:bodyPr lIns="28575" tIns="19050" rIns="28575" bIns="19050" anchor="t">
            <a:normAutofit/>
          </a:bodyPr>
          <a:lstStyle/>
          <a:p>
            <a:pPr marL="279400" indent="-165100" algn="l">
              <a:spcAft>
                <a:spcPts val="400"/>
              </a:spcAft>
              <a:buChar char="•"/>
              <a:defRPr sz="1650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650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αδυναμία να σταματήσουμε</a:t>
            </a:r>
          </a:p>
          <a:p>
            <a:pPr marL="279400" indent="-165100" algn="l">
              <a:spcAft>
                <a:spcPts val="400"/>
              </a:spcAft>
              <a:buChar char="•"/>
              <a:defRPr sz="1650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650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ανάγκη για όλο και περισσότερο χρόνο</a:t>
            </a:r>
          </a:p>
          <a:p>
            <a:pPr marL="279400" indent="-165100" algn="l">
              <a:spcAft>
                <a:spcPts val="400"/>
              </a:spcAft>
              <a:buChar char="•"/>
              <a:defRPr sz="1650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650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παραμέληση μαθημάτων, φίλων ή οικογένειας</a:t>
            </a:r>
          </a:p>
          <a:p>
            <a:pPr marL="279400" indent="-165100" algn="l">
              <a:spcAft>
                <a:spcPts val="400"/>
              </a:spcAft>
              <a:buChar char="•"/>
              <a:defRPr sz="1650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650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ευερεθιστότητα όταν δεν είμαστε online</a:t>
            </a:r>
          </a:p>
          <a:p>
            <a:pPr marL="279400" indent="-165100" algn="l">
              <a:spcAft>
                <a:spcPts val="400"/>
              </a:spcAft>
              <a:buChar char="•"/>
              <a:defRPr sz="1650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650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διαταραχές ύπνου, ημικρανίες και μειωμένη άσκηση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7F7DD23-CEE6-4895-A732-74555C7F5EAA}"/>
              </a:ext>
            </a:extLst>
          </p:cNvPr>
          <p:cNvSpPr>
            <a:spLocks noGrp="1"/>
          </p:cNvSpPr>
          <p:nvPr/>
        </p:nvSpPr>
        <p:spPr>
          <a:xfrm>
            <a:off x="5095875" y="5095875"/>
            <a:ext cx="6286500" cy="5715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rmAutofit/>
          </a:bodyPr>
          <a:lstStyle/>
          <a:p>
            <a:pPr algn="ctr">
              <a:defRPr sz="1575" b="1">
                <a:solidFill>
                  <a:srgbClr val="C94C4C"/>
                </a:solidFill>
                <a:latin typeface="Inter"/>
                <a:ea typeface="Inter"/>
                <a:cs typeface="Inter"/>
              </a:defRPr>
            </a:pPr>
            <a:r>
              <a:rPr sz="1575" b="1">
                <a:solidFill>
                  <a:srgbClr val="C94C4C"/>
                </a:solidFill>
                <a:latin typeface="Inter"/>
                <a:ea typeface="Inter"/>
                <a:cs typeface="Inter"/>
              </a:rPr>
              <a:t>Σημάδι κινδύνου: η χρήση αρχίζει να επηρεάζει την υγεία και την καθημερινή ζωή.</a:t>
            </a:r>
          </a:p>
        </p:txBody>
      </p:sp>
    </p:spTree>
    <p:extLst>
      <p:ext uri="{BB962C8B-B14F-4D97-AF65-F5344CB8AC3E}">
        <p14:creationId xmlns:p14="http://schemas.microsoft.com/office/powerpoint/2010/main" val="5490574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5359B864-B917-4671-8579-5F2D6CA7A67C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10858500" cy="6858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rmAutofit/>
          </a:bodyPr>
          <a:lstStyle/>
          <a:p>
            <a:pPr algn="l">
              <a:defRPr sz="2925" b="1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2925" b="1">
                <a:solidFill>
                  <a:srgbClr val="151515"/>
                </a:solidFill>
                <a:latin typeface="Inter"/>
                <a:ea typeface="Inter"/>
                <a:cs typeface="Inter"/>
              </a:rPr>
              <a:t>Πρόληψη και ισορροπημένη χρήση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686A80A-48A6-4D4A-ADB9-B4FA3DC1B355}"/>
              </a:ext>
            </a:extLst>
          </p:cNvPr>
          <p:cNvSpPr>
            <a:spLocks noGrp="1"/>
          </p:cNvSpPr>
          <p:nvPr/>
        </p:nvSpPr>
        <p:spPr>
          <a:xfrm>
            <a:off x="666750" y="1190625"/>
            <a:ext cx="10858500" cy="28575"/>
          </a:xfrm>
          <a:prstGeom prst="rect">
            <a:avLst/>
          </a:prstGeom>
          <a:solidFill>
            <a:srgbClr val="9B9B9B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2C1DB93-DCF4-4A85-8CD4-53103E2D7596}"/>
              </a:ext>
            </a:extLst>
          </p:cNvPr>
          <p:cNvSpPr>
            <a:spLocks noGrp="1"/>
          </p:cNvSpPr>
          <p:nvPr/>
        </p:nvSpPr>
        <p:spPr>
          <a:xfrm>
            <a:off x="714375" y="1476375"/>
            <a:ext cx="10763250" cy="781050"/>
          </a:xfrm>
          <a:prstGeom prst="roundRect">
            <a:avLst>
              <a:gd name="adj" fmla="val 9756"/>
            </a:avLst>
          </a:prstGeom>
          <a:solidFill>
            <a:srgbClr val="F5F5F7"/>
          </a:solidFill>
          <a:ln w="9525">
            <a:solidFill>
              <a:srgbClr val="D9D9E5"/>
            </a:solidFill>
          </a:ln>
        </p:spPr>
        <p:txBody>
          <a:bodyPr/>
          <a:lstStyle/>
          <a:p>
            <a:endParaRPr lang="en-GB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B4B707E-79FC-4BF0-81D1-4C37C5E5B782}"/>
              </a:ext>
            </a:extLst>
          </p:cNvPr>
          <p:cNvSpPr>
            <a:spLocks noGrp="1"/>
          </p:cNvSpPr>
          <p:nvPr/>
        </p:nvSpPr>
        <p:spPr>
          <a:xfrm>
            <a:off x="714375" y="1476375"/>
            <a:ext cx="2333625" cy="781050"/>
          </a:xfrm>
          <a:prstGeom prst="roundRect">
            <a:avLst>
              <a:gd name="adj" fmla="val 9756"/>
            </a:avLst>
          </a:prstGeom>
          <a:solidFill>
            <a:srgbClr val="4B76C5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488B05A-9BE2-46B5-85E5-68719FBEFBD4}"/>
              </a:ext>
            </a:extLst>
          </p:cNvPr>
          <p:cNvSpPr>
            <a:spLocks noGrp="1"/>
          </p:cNvSpPr>
          <p:nvPr/>
        </p:nvSpPr>
        <p:spPr>
          <a:xfrm>
            <a:off x="838200" y="1647825"/>
            <a:ext cx="2095500" cy="4191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rmAutofit/>
          </a:bodyPr>
          <a:lstStyle/>
          <a:p>
            <a:pPr algn="ctr">
              <a:defRPr sz="1575" b="1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575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Μέτρο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0D9A823-8BA1-40FC-841E-352C88F5A86E}"/>
              </a:ext>
            </a:extLst>
          </p:cNvPr>
          <p:cNvSpPr>
            <a:spLocks noGrp="1"/>
          </p:cNvSpPr>
          <p:nvPr/>
        </p:nvSpPr>
        <p:spPr>
          <a:xfrm>
            <a:off x="3286125" y="1619250"/>
            <a:ext cx="7810500" cy="4762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rmAutofit/>
          </a:bodyPr>
          <a:lstStyle/>
          <a:p>
            <a:pPr algn="l">
              <a:defRPr sz="1500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500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Ορίζουμε χρόνο και διαλείμματα χρήσης.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6C136FC-6F5A-4C7F-B17F-0B5C4E415014}"/>
              </a:ext>
            </a:extLst>
          </p:cNvPr>
          <p:cNvSpPr>
            <a:spLocks noGrp="1"/>
          </p:cNvSpPr>
          <p:nvPr/>
        </p:nvSpPr>
        <p:spPr>
          <a:xfrm>
            <a:off x="714375" y="2428875"/>
            <a:ext cx="10763250" cy="781050"/>
          </a:xfrm>
          <a:prstGeom prst="roundRect">
            <a:avLst>
              <a:gd name="adj" fmla="val 9756"/>
            </a:avLst>
          </a:prstGeom>
          <a:solidFill>
            <a:srgbClr val="F5F5F7"/>
          </a:solidFill>
          <a:ln w="9525">
            <a:solidFill>
              <a:srgbClr val="D9D9E5"/>
            </a:solidFill>
          </a:ln>
        </p:spPr>
        <p:txBody>
          <a:bodyPr/>
          <a:lstStyle/>
          <a:p>
            <a:endParaRPr lang="en-GB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447E589-3700-47C8-BB58-D44EA902F0CB}"/>
              </a:ext>
            </a:extLst>
          </p:cNvPr>
          <p:cNvSpPr>
            <a:spLocks noGrp="1"/>
          </p:cNvSpPr>
          <p:nvPr/>
        </p:nvSpPr>
        <p:spPr>
          <a:xfrm>
            <a:off x="714375" y="2428875"/>
            <a:ext cx="2333625" cy="781050"/>
          </a:xfrm>
          <a:prstGeom prst="roundRect">
            <a:avLst>
              <a:gd name="adj" fmla="val 9756"/>
            </a:avLst>
          </a:prstGeom>
          <a:solidFill>
            <a:srgbClr val="6A994E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4F6213C-8189-424A-ACFD-AE35B1494012}"/>
              </a:ext>
            </a:extLst>
          </p:cNvPr>
          <p:cNvSpPr>
            <a:spLocks noGrp="1"/>
          </p:cNvSpPr>
          <p:nvPr/>
        </p:nvSpPr>
        <p:spPr>
          <a:xfrm>
            <a:off x="838200" y="2600325"/>
            <a:ext cx="2095500" cy="4191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rmAutofit/>
          </a:bodyPr>
          <a:lstStyle/>
          <a:p>
            <a:pPr algn="ctr">
              <a:defRPr sz="1575" b="1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575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Εναλλακτικές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59C5E58-F138-4ED8-AF01-EB9BA728CCC5}"/>
              </a:ext>
            </a:extLst>
          </p:cNvPr>
          <p:cNvSpPr>
            <a:spLocks noGrp="1"/>
          </p:cNvSpPr>
          <p:nvPr/>
        </p:nvSpPr>
        <p:spPr>
          <a:xfrm>
            <a:off x="3286125" y="2571750"/>
            <a:ext cx="7810500" cy="4762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rmAutofit/>
          </a:bodyPr>
          <a:lstStyle/>
          <a:p>
            <a:pPr algn="l">
              <a:defRPr sz="1500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500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Άθληση, χορός, μουσική, φίλοι και οικογενειακές δραστηριότητες.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FD6C6E0-91C7-49B0-96DD-0B13A32786BE}"/>
              </a:ext>
            </a:extLst>
          </p:cNvPr>
          <p:cNvSpPr>
            <a:spLocks noGrp="1"/>
          </p:cNvSpPr>
          <p:nvPr/>
        </p:nvSpPr>
        <p:spPr>
          <a:xfrm>
            <a:off x="714375" y="3381375"/>
            <a:ext cx="10763250" cy="781050"/>
          </a:xfrm>
          <a:prstGeom prst="roundRect">
            <a:avLst>
              <a:gd name="adj" fmla="val 9756"/>
            </a:avLst>
          </a:prstGeom>
          <a:solidFill>
            <a:srgbClr val="F5F5F7"/>
          </a:solidFill>
          <a:ln w="9525">
            <a:solidFill>
              <a:srgbClr val="D9D9E5"/>
            </a:solidFill>
          </a:ln>
        </p:spPr>
        <p:txBody>
          <a:bodyPr/>
          <a:lstStyle/>
          <a:p>
            <a:endParaRPr lang="en-GB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020BAD74-0239-4AEC-AC4D-AA25AE6290D7}"/>
              </a:ext>
            </a:extLst>
          </p:cNvPr>
          <p:cNvSpPr>
            <a:spLocks noGrp="1"/>
          </p:cNvSpPr>
          <p:nvPr/>
        </p:nvSpPr>
        <p:spPr>
          <a:xfrm>
            <a:off x="714375" y="3381375"/>
            <a:ext cx="2333625" cy="781050"/>
          </a:xfrm>
          <a:prstGeom prst="roundRect">
            <a:avLst>
              <a:gd name="adj" fmla="val 9756"/>
            </a:avLst>
          </a:prstGeom>
          <a:solidFill>
            <a:srgbClr val="F47C27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45C2388-3A00-4B27-AAE2-87EA48D69141}"/>
              </a:ext>
            </a:extLst>
          </p:cNvPr>
          <p:cNvSpPr>
            <a:spLocks noGrp="1"/>
          </p:cNvSpPr>
          <p:nvPr/>
        </p:nvSpPr>
        <p:spPr>
          <a:xfrm>
            <a:off x="838200" y="3552825"/>
            <a:ext cx="2095500" cy="4191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rmAutofit/>
          </a:bodyPr>
          <a:lstStyle/>
          <a:p>
            <a:pPr algn="ctr">
              <a:defRPr sz="1575" b="1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575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Σωστός χώρος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E763A8A-C2DF-4999-B3B7-4ACC8347B131}"/>
              </a:ext>
            </a:extLst>
          </p:cNvPr>
          <p:cNvSpPr>
            <a:spLocks noGrp="1"/>
          </p:cNvSpPr>
          <p:nvPr/>
        </p:nvSpPr>
        <p:spPr>
          <a:xfrm>
            <a:off x="3286125" y="3524250"/>
            <a:ext cx="7810500" cy="4762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rmAutofit/>
          </a:bodyPr>
          <a:lstStyle/>
          <a:p>
            <a:pPr algn="l">
              <a:defRPr sz="1500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500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Ο υπολογιστής σε κοινόχρηστο χώρο, ιδιαίτερα για μικρά παιδιά.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86CDF49C-F6DE-4918-8183-91EA61B8F11F}"/>
              </a:ext>
            </a:extLst>
          </p:cNvPr>
          <p:cNvSpPr>
            <a:spLocks noGrp="1"/>
          </p:cNvSpPr>
          <p:nvPr/>
        </p:nvSpPr>
        <p:spPr>
          <a:xfrm>
            <a:off x="714375" y="4333875"/>
            <a:ext cx="10763250" cy="781050"/>
          </a:xfrm>
          <a:prstGeom prst="roundRect">
            <a:avLst>
              <a:gd name="adj" fmla="val 9756"/>
            </a:avLst>
          </a:prstGeom>
          <a:solidFill>
            <a:srgbClr val="F5F5F7"/>
          </a:solidFill>
          <a:ln w="9525">
            <a:solidFill>
              <a:srgbClr val="D9D9E5"/>
            </a:solidFill>
          </a:ln>
        </p:spPr>
        <p:txBody>
          <a:bodyPr/>
          <a:lstStyle/>
          <a:p>
            <a:endParaRPr lang="en-GB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5CDF8507-495E-4E2A-AA0C-8C618D032F2C}"/>
              </a:ext>
            </a:extLst>
          </p:cNvPr>
          <p:cNvSpPr>
            <a:spLocks noGrp="1"/>
          </p:cNvSpPr>
          <p:nvPr/>
        </p:nvSpPr>
        <p:spPr>
          <a:xfrm>
            <a:off x="714375" y="4333875"/>
            <a:ext cx="2333625" cy="781050"/>
          </a:xfrm>
          <a:prstGeom prst="roundRect">
            <a:avLst>
              <a:gd name="adj" fmla="val 9756"/>
            </a:avLst>
          </a:prstGeom>
          <a:solidFill>
            <a:srgbClr val="5A58CB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199835E-5DE0-4406-A31E-1F8481F0906B}"/>
              </a:ext>
            </a:extLst>
          </p:cNvPr>
          <p:cNvSpPr>
            <a:spLocks noGrp="1"/>
          </p:cNvSpPr>
          <p:nvPr/>
        </p:nvSpPr>
        <p:spPr>
          <a:xfrm>
            <a:off x="838200" y="4505325"/>
            <a:ext cx="2095500" cy="4191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rmAutofit/>
          </a:bodyPr>
          <a:lstStyle/>
          <a:p>
            <a:pPr algn="ctr">
              <a:defRPr sz="1575" b="1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575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Επικοινωνία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0814F14-E9B9-4AA2-A851-45F14BE651DD}"/>
              </a:ext>
            </a:extLst>
          </p:cNvPr>
          <p:cNvSpPr>
            <a:spLocks noGrp="1"/>
          </p:cNvSpPr>
          <p:nvPr/>
        </p:nvSpPr>
        <p:spPr>
          <a:xfrm>
            <a:off x="3286125" y="4476750"/>
            <a:ext cx="7810500" cy="4762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rmAutofit/>
          </a:bodyPr>
          <a:lstStyle/>
          <a:p>
            <a:pPr algn="l">
              <a:defRPr sz="1500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500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Μιλάμε με γονείς ή εκπαιδευτικούς για ό,τι μας ανησυχεί.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336757F-5F9A-4068-95C6-5AC1925DB12F}"/>
              </a:ext>
            </a:extLst>
          </p:cNvPr>
          <p:cNvSpPr>
            <a:spLocks noGrp="1"/>
          </p:cNvSpPr>
          <p:nvPr/>
        </p:nvSpPr>
        <p:spPr>
          <a:xfrm>
            <a:off x="2190750" y="5476875"/>
            <a:ext cx="7810500" cy="428625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rmAutofit/>
          </a:bodyPr>
          <a:lstStyle/>
          <a:p>
            <a:pPr algn="ctr">
              <a:defRPr sz="1575" b="1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575" b="1">
                <a:solidFill>
                  <a:srgbClr val="151515"/>
                </a:solidFill>
                <a:latin typeface="Inter"/>
                <a:ea typeface="Inter"/>
                <a:cs typeface="Inter"/>
              </a:rPr>
              <a:t>Στόχος δεν είναι η απαγόρευση· είναι η ασφαλής και ισορροπημένη χρήση.</a:t>
            </a:r>
          </a:p>
        </p:txBody>
      </p:sp>
    </p:spTree>
    <p:extLst>
      <p:ext uri="{BB962C8B-B14F-4D97-AF65-F5344CB8AC3E}">
        <p14:creationId xmlns:p14="http://schemas.microsoft.com/office/powerpoint/2010/main" val="9521731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B5668A4D-CA10-4AC7-A999-2980A69240E0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10858500" cy="6858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rmAutofit/>
          </a:bodyPr>
          <a:lstStyle/>
          <a:p>
            <a:pPr algn="l">
              <a:defRPr sz="2925" b="1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2925" b="1">
                <a:solidFill>
                  <a:srgbClr val="151515"/>
                </a:solidFill>
                <a:latin typeface="Inter"/>
                <a:ea typeface="Inter"/>
                <a:cs typeface="Inter"/>
              </a:rPr>
              <a:t>Σενάριο: χρήση 4–6 ώρες καθημερινά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78EAE78-B3F6-47F2-BEBC-F5AFFD7EAA05}"/>
              </a:ext>
            </a:extLst>
          </p:cNvPr>
          <p:cNvSpPr>
            <a:spLocks noGrp="1"/>
          </p:cNvSpPr>
          <p:nvPr/>
        </p:nvSpPr>
        <p:spPr>
          <a:xfrm>
            <a:off x="666750" y="1190625"/>
            <a:ext cx="10858500" cy="28575"/>
          </a:xfrm>
          <a:prstGeom prst="rect">
            <a:avLst/>
          </a:prstGeom>
          <a:solidFill>
            <a:srgbClr val="9B9B9B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C0CBAFE3-C1EA-4A34-B735-550138E337F2}"/>
              </a:ext>
            </a:extLst>
          </p:cNvPr>
          <p:cNvSpPr>
            <a:spLocks noGrp="1"/>
          </p:cNvSpPr>
          <p:nvPr/>
        </p:nvSpPr>
        <p:spPr>
          <a:xfrm>
            <a:off x="666750" y="1571625"/>
            <a:ext cx="5095875" cy="3429000"/>
          </a:xfrm>
          <a:prstGeom prst="roundRect">
            <a:avLst>
              <a:gd name="adj" fmla="val 2222"/>
            </a:avLst>
          </a:prstGeom>
          <a:solidFill>
            <a:srgbClr val="F5F5F7"/>
          </a:solidFill>
          <a:ln w="9525">
            <a:solidFill>
              <a:srgbClr val="D5D5E7"/>
            </a:solidFill>
          </a:ln>
        </p:spPr>
        <p:txBody>
          <a:bodyPr/>
          <a:lstStyle/>
          <a:p>
            <a:endParaRPr lang="en-GB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E37094E-BA90-4751-A35B-F407C885B271}"/>
              </a:ext>
            </a:extLst>
          </p:cNvPr>
          <p:cNvSpPr>
            <a:spLocks noGrp="1"/>
          </p:cNvSpPr>
          <p:nvPr/>
        </p:nvSpPr>
        <p:spPr>
          <a:xfrm>
            <a:off x="666750" y="1571625"/>
            <a:ext cx="114300" cy="3429000"/>
          </a:xfrm>
          <a:prstGeom prst="roundRect">
            <a:avLst>
              <a:gd name="adj" fmla="val 50000"/>
            </a:avLst>
          </a:prstGeom>
          <a:solidFill>
            <a:srgbClr val="C94C4C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5D4E43B-B8B0-469E-8522-795C1EED7D4E}"/>
              </a:ext>
            </a:extLst>
          </p:cNvPr>
          <p:cNvSpPr>
            <a:spLocks noGrp="1"/>
          </p:cNvSpPr>
          <p:nvPr/>
        </p:nvSpPr>
        <p:spPr>
          <a:xfrm>
            <a:off x="952500" y="1762125"/>
            <a:ext cx="4619625" cy="4191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rmAutofit/>
          </a:bodyPr>
          <a:lstStyle/>
          <a:p>
            <a:pPr algn="l">
              <a:defRPr sz="1800" b="1">
                <a:solidFill>
                  <a:srgbClr val="C94C4C"/>
                </a:solidFill>
                <a:latin typeface="Inter"/>
                <a:ea typeface="Inter"/>
                <a:cs typeface="Inter"/>
              </a:defRPr>
            </a:pPr>
            <a:r>
              <a:rPr sz="1800" b="1">
                <a:solidFill>
                  <a:srgbClr val="C94C4C"/>
                </a:solidFill>
                <a:latin typeface="Inter"/>
                <a:ea typeface="Inter"/>
                <a:cs typeface="Inter"/>
              </a:rPr>
              <a:t>Πιθανοί κίνδυνοι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8C0A06A-17EA-47F7-9D31-88A29AA5230A}"/>
              </a:ext>
            </a:extLst>
          </p:cNvPr>
          <p:cNvSpPr>
            <a:spLocks noGrp="1"/>
          </p:cNvSpPr>
          <p:nvPr/>
        </p:nvSpPr>
        <p:spPr>
          <a:xfrm>
            <a:off x="952500" y="2295525"/>
            <a:ext cx="4572000" cy="25717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rmAutofit/>
          </a:bodyPr>
          <a:lstStyle/>
          <a:p>
            <a:pPr algn="l">
              <a:defRPr sz="1425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Εθισμός, παραμέληση μαθημάτων και φίλων, διαταραχές ύπνου, μειωμένη άσκηση, ακατάλληλο περιεχόμενο και παραπληροφόρηση.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BD749DB-8E0B-48B8-A736-B081EBAD8A72}"/>
              </a:ext>
            </a:extLst>
          </p:cNvPr>
          <p:cNvSpPr>
            <a:spLocks noGrp="1"/>
          </p:cNvSpPr>
          <p:nvPr/>
        </p:nvSpPr>
        <p:spPr>
          <a:xfrm>
            <a:off x="6429375" y="1571625"/>
            <a:ext cx="5095875" cy="3429000"/>
          </a:xfrm>
          <a:prstGeom prst="roundRect">
            <a:avLst>
              <a:gd name="adj" fmla="val 2222"/>
            </a:avLst>
          </a:prstGeom>
          <a:solidFill>
            <a:srgbClr val="F5F5F7"/>
          </a:solidFill>
          <a:ln w="9525">
            <a:solidFill>
              <a:srgbClr val="D5D5E7"/>
            </a:solidFill>
          </a:ln>
        </p:spPr>
        <p:txBody>
          <a:bodyPr/>
          <a:lstStyle/>
          <a:p>
            <a:endParaRPr lang="en-GB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DAEBB70-0C7E-43D6-8F08-5F7509BA5221}"/>
              </a:ext>
            </a:extLst>
          </p:cNvPr>
          <p:cNvSpPr>
            <a:spLocks noGrp="1"/>
          </p:cNvSpPr>
          <p:nvPr/>
        </p:nvSpPr>
        <p:spPr>
          <a:xfrm>
            <a:off x="6429375" y="1571625"/>
            <a:ext cx="114300" cy="3429000"/>
          </a:xfrm>
          <a:prstGeom prst="roundRect">
            <a:avLst>
              <a:gd name="adj" fmla="val 50000"/>
            </a:avLst>
          </a:prstGeom>
          <a:solidFill>
            <a:srgbClr val="6A994E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C93C8E8-2B8C-4138-876C-DD9A3EFAC27C}"/>
              </a:ext>
            </a:extLst>
          </p:cNvPr>
          <p:cNvSpPr>
            <a:spLocks noGrp="1"/>
          </p:cNvSpPr>
          <p:nvPr/>
        </p:nvSpPr>
        <p:spPr>
          <a:xfrm>
            <a:off x="6715125" y="1762125"/>
            <a:ext cx="4619625" cy="4191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rmAutofit/>
          </a:bodyPr>
          <a:lstStyle/>
          <a:p>
            <a:pPr algn="l">
              <a:defRPr sz="1800" b="1">
                <a:solidFill>
                  <a:srgbClr val="6A994E"/>
                </a:solidFill>
                <a:latin typeface="Inter"/>
                <a:ea typeface="Inter"/>
                <a:cs typeface="Inter"/>
              </a:defRPr>
            </a:pPr>
            <a:r>
              <a:rPr sz="1800" b="1">
                <a:solidFill>
                  <a:srgbClr val="6A994E"/>
                </a:solidFill>
                <a:latin typeface="Inter"/>
                <a:ea typeface="Inter"/>
                <a:cs typeface="Inter"/>
              </a:rPr>
              <a:t>Εισηγήσεις προς γονείς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11997E0-12EE-4135-B80A-244F1BFD040D}"/>
              </a:ext>
            </a:extLst>
          </p:cNvPr>
          <p:cNvSpPr>
            <a:spLocks noGrp="1"/>
          </p:cNvSpPr>
          <p:nvPr/>
        </p:nvSpPr>
        <p:spPr>
          <a:xfrm>
            <a:off x="6715125" y="2295525"/>
            <a:ext cx="4572000" cy="257175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rmAutofit/>
          </a:bodyPr>
          <a:lstStyle/>
          <a:p>
            <a:pPr algn="l">
              <a:defRPr sz="1425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Συμφωνία για χρόνο χρήσης, υπολογιστής σε κοινόχρηστο χώρο, φίλτρα και PEGI, εναλλακτικές δραστηριότητες και συζήτηση χωρίς φόβο.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719B9B7-4166-41D8-900C-4A54A29A6D54}"/>
              </a:ext>
            </a:extLst>
          </p:cNvPr>
          <p:cNvSpPr>
            <a:spLocks noGrp="1"/>
          </p:cNvSpPr>
          <p:nvPr/>
        </p:nvSpPr>
        <p:spPr>
          <a:xfrm>
            <a:off x="1809750" y="5381625"/>
            <a:ext cx="8572500" cy="4572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rmAutofit/>
          </a:bodyPr>
          <a:lstStyle/>
          <a:p>
            <a:pPr algn="ctr">
              <a:defRPr sz="1575" b="1">
                <a:solidFill>
                  <a:srgbClr val="5A58CB"/>
                </a:solidFill>
                <a:latin typeface="Inter"/>
                <a:ea typeface="Inter"/>
                <a:cs typeface="Inter"/>
              </a:defRPr>
            </a:pPr>
            <a:r>
              <a:rPr sz="1575" b="1">
                <a:solidFill>
                  <a:srgbClr val="5A58CB"/>
                </a:solidFill>
                <a:latin typeface="Inter"/>
                <a:ea typeface="Inter"/>
                <a:cs typeface="Inter"/>
              </a:rPr>
              <a:t>Παρατηρούμε αλλαγές στη συμπεριφορά και ζητούμε βοήθεια όταν χρειάζεται.</a:t>
            </a:r>
          </a:p>
        </p:txBody>
      </p:sp>
    </p:spTree>
    <p:extLst>
      <p:ext uri="{BB962C8B-B14F-4D97-AF65-F5344CB8AC3E}">
        <p14:creationId xmlns:p14="http://schemas.microsoft.com/office/powerpoint/2010/main" val="8905360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C18EA252-B285-454A-A3FD-C17A797207A4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10858500" cy="6858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rmAutofit/>
          </a:bodyPr>
          <a:lstStyle/>
          <a:p>
            <a:pPr algn="l">
              <a:defRPr sz="2925" b="1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2925" b="1">
                <a:solidFill>
                  <a:srgbClr val="151515"/>
                </a:solidFill>
                <a:latin typeface="Inter"/>
                <a:ea typeface="Inter"/>
                <a:cs typeface="Inter"/>
              </a:rPr>
              <a:t>Ερωτήσεις του Φύλλου Εργασίας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D8CABFC-FB34-4E5B-995D-20F641BA56EB}"/>
              </a:ext>
            </a:extLst>
          </p:cNvPr>
          <p:cNvSpPr>
            <a:spLocks noGrp="1"/>
          </p:cNvSpPr>
          <p:nvPr/>
        </p:nvSpPr>
        <p:spPr>
          <a:xfrm>
            <a:off x="666750" y="1190625"/>
            <a:ext cx="10858500" cy="28575"/>
          </a:xfrm>
          <a:prstGeom prst="rect">
            <a:avLst/>
          </a:prstGeom>
          <a:solidFill>
            <a:srgbClr val="9B9B9B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3A30C87-9CD8-4DA6-A416-DF077A88A8E5}"/>
              </a:ext>
            </a:extLst>
          </p:cNvPr>
          <p:cNvSpPr>
            <a:spLocks noGrp="1"/>
          </p:cNvSpPr>
          <p:nvPr/>
        </p:nvSpPr>
        <p:spPr>
          <a:xfrm>
            <a:off x="714375" y="1476375"/>
            <a:ext cx="7239000" cy="428625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rmAutofit/>
          </a:bodyPr>
          <a:lstStyle/>
          <a:p>
            <a:pPr algn="l">
              <a:defRPr sz="1800" b="1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800" b="1">
                <a:solidFill>
                  <a:srgbClr val="151515"/>
                </a:solidFill>
                <a:latin typeface="Inter"/>
                <a:ea typeface="Inter"/>
                <a:cs typeface="Inter"/>
              </a:rPr>
              <a:t>Η θεωρία καλύπτει τις δραστηριότητες του Α.5.3.Μ2: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C7A6562-39DF-410F-9FA6-F9E66CA336AC}"/>
              </a:ext>
            </a:extLst>
          </p:cNvPr>
          <p:cNvSpPr>
            <a:spLocks noGrp="1"/>
          </p:cNvSpPr>
          <p:nvPr/>
        </p:nvSpPr>
        <p:spPr>
          <a:xfrm>
            <a:off x="762000" y="2095500"/>
            <a:ext cx="609600" cy="438150"/>
          </a:xfrm>
          <a:prstGeom prst="roundRect">
            <a:avLst>
              <a:gd name="adj" fmla="val 17391"/>
            </a:avLst>
          </a:prstGeom>
          <a:solidFill>
            <a:srgbClr val="F47C27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C6BC4B6-67BE-4D2C-A570-B84871F9CA5C}"/>
              </a:ext>
            </a:extLst>
          </p:cNvPr>
          <p:cNvSpPr>
            <a:spLocks noGrp="1"/>
          </p:cNvSpPr>
          <p:nvPr/>
        </p:nvSpPr>
        <p:spPr>
          <a:xfrm>
            <a:off x="800100" y="2133600"/>
            <a:ext cx="533400" cy="3429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425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E41D8F0-80E4-4DF7-8F1F-7165D4551A1B}"/>
              </a:ext>
            </a:extLst>
          </p:cNvPr>
          <p:cNvSpPr>
            <a:spLocks noGrp="1"/>
          </p:cNvSpPr>
          <p:nvPr/>
        </p:nvSpPr>
        <p:spPr>
          <a:xfrm>
            <a:off x="1571625" y="2095500"/>
            <a:ext cx="6762750" cy="4572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rmAutofit/>
          </a:bodyPr>
          <a:lstStyle/>
          <a:p>
            <a:pPr algn="l">
              <a:defRPr sz="1425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Συμπτώματα και πρόληψη εθισμού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0417A66-7E8B-430C-AE70-866F805A8BBC}"/>
              </a:ext>
            </a:extLst>
          </p:cNvPr>
          <p:cNvSpPr>
            <a:spLocks noGrp="1"/>
          </p:cNvSpPr>
          <p:nvPr/>
        </p:nvSpPr>
        <p:spPr>
          <a:xfrm>
            <a:off x="762000" y="2724150"/>
            <a:ext cx="609600" cy="438150"/>
          </a:xfrm>
          <a:prstGeom prst="roundRect">
            <a:avLst>
              <a:gd name="adj" fmla="val 17391"/>
            </a:avLst>
          </a:prstGeom>
          <a:solidFill>
            <a:srgbClr val="4B76C5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1F46DA1-BD23-43C8-B13B-78A78ED2BDFF}"/>
              </a:ext>
            </a:extLst>
          </p:cNvPr>
          <p:cNvSpPr>
            <a:spLocks noGrp="1"/>
          </p:cNvSpPr>
          <p:nvPr/>
        </p:nvSpPr>
        <p:spPr>
          <a:xfrm>
            <a:off x="800100" y="2762250"/>
            <a:ext cx="533400" cy="3429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425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2–10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D215535-4CA8-47E8-84DC-CD46639A3F41}"/>
              </a:ext>
            </a:extLst>
          </p:cNvPr>
          <p:cNvSpPr>
            <a:spLocks noGrp="1"/>
          </p:cNvSpPr>
          <p:nvPr/>
        </p:nvSpPr>
        <p:spPr>
          <a:xfrm>
            <a:off x="1571625" y="2724150"/>
            <a:ext cx="6762750" cy="4572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rmAutofit/>
          </a:bodyPr>
          <a:lstStyle/>
          <a:p>
            <a:pPr algn="l">
              <a:defRPr sz="1425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Ακατάλληλο περιεχόμενο, αναφορά και PEGI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494F476-AD7E-4FCC-BCA2-FF998595A6C7}"/>
              </a:ext>
            </a:extLst>
          </p:cNvPr>
          <p:cNvSpPr>
            <a:spLocks noGrp="1"/>
          </p:cNvSpPr>
          <p:nvPr/>
        </p:nvSpPr>
        <p:spPr>
          <a:xfrm>
            <a:off x="762000" y="3352800"/>
            <a:ext cx="609600" cy="438150"/>
          </a:xfrm>
          <a:prstGeom prst="roundRect">
            <a:avLst>
              <a:gd name="adj" fmla="val 17391"/>
            </a:avLst>
          </a:prstGeom>
          <a:solidFill>
            <a:srgbClr val="F47C27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A9E55C7-E51D-4311-A2A4-C857D5C55A80}"/>
              </a:ext>
            </a:extLst>
          </p:cNvPr>
          <p:cNvSpPr>
            <a:spLocks noGrp="1"/>
          </p:cNvSpPr>
          <p:nvPr/>
        </p:nvSpPr>
        <p:spPr>
          <a:xfrm>
            <a:off x="800100" y="3390900"/>
            <a:ext cx="533400" cy="3429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rmAutofit fontScale="98292"/>
          </a:bodyPr>
          <a:lstStyle/>
          <a:p>
            <a:pPr algn="ctr">
              <a:defRPr sz="1425" b="1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425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11–14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54BC6A5-ACE4-4C82-AAD8-20BAE1C6A3E7}"/>
              </a:ext>
            </a:extLst>
          </p:cNvPr>
          <p:cNvSpPr>
            <a:spLocks noGrp="1"/>
          </p:cNvSpPr>
          <p:nvPr/>
        </p:nvSpPr>
        <p:spPr>
          <a:xfrm>
            <a:off x="1571625" y="3352800"/>
            <a:ext cx="6762750" cy="4572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rmAutofit/>
          </a:bodyPr>
          <a:lstStyle/>
          <a:p>
            <a:pPr algn="l">
              <a:defRPr sz="1425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Παραπληροφόρηση και πνευματικά δικαιώματα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42BE2AF1-CBFB-4753-81AE-153130D1B54D}"/>
              </a:ext>
            </a:extLst>
          </p:cNvPr>
          <p:cNvSpPr>
            <a:spLocks noGrp="1"/>
          </p:cNvSpPr>
          <p:nvPr/>
        </p:nvSpPr>
        <p:spPr>
          <a:xfrm>
            <a:off x="762000" y="3981450"/>
            <a:ext cx="609600" cy="438150"/>
          </a:xfrm>
          <a:prstGeom prst="roundRect">
            <a:avLst>
              <a:gd name="adj" fmla="val 17391"/>
            </a:avLst>
          </a:prstGeom>
          <a:solidFill>
            <a:srgbClr val="4B76C5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4AE2ECD-FFF4-4B4D-9D67-4F80C7174392}"/>
              </a:ext>
            </a:extLst>
          </p:cNvPr>
          <p:cNvSpPr>
            <a:spLocks noGrp="1"/>
          </p:cNvSpPr>
          <p:nvPr/>
        </p:nvSpPr>
        <p:spPr>
          <a:xfrm>
            <a:off x="800100" y="4019550"/>
            <a:ext cx="533400" cy="3429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rmAutofit fontScale="98292"/>
          </a:bodyPr>
          <a:lstStyle/>
          <a:p>
            <a:pPr algn="ctr">
              <a:defRPr sz="1425" b="1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425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15–17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FDCA8B4-D49C-42D7-964A-E25B440C1CFD}"/>
              </a:ext>
            </a:extLst>
          </p:cNvPr>
          <p:cNvSpPr>
            <a:spLocks noGrp="1"/>
          </p:cNvSpPr>
          <p:nvPr/>
        </p:nvSpPr>
        <p:spPr>
          <a:xfrm>
            <a:off x="1571625" y="3981450"/>
            <a:ext cx="6762750" cy="457200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ctr">
            <a:normAutofit/>
          </a:bodyPr>
          <a:lstStyle/>
          <a:p>
            <a:pPr algn="l">
              <a:defRPr sz="1425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Εφαρμογή εννοιών και σενάριο πολύωρης χρήσης</a:t>
            </a:r>
          </a:p>
        </p:txBody>
      </p:sp>
      <p:pic>
        <p:nvPicPr>
          <p:cNvPr id="33" name="Picture 32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858250" y="3016483"/>
            <a:ext cx="2095500" cy="539283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15EAD259-1675-4347-9043-D3CDC6234A03}"/>
              </a:ext>
            </a:extLst>
          </p:cNvPr>
          <p:cNvSpPr>
            <a:spLocks noGrp="1"/>
          </p:cNvSpPr>
          <p:nvPr/>
        </p:nvSpPr>
        <p:spPr>
          <a:xfrm>
            <a:off x="8572500" y="5191125"/>
            <a:ext cx="2667000" cy="428625"/>
          </a:xfrm>
          <a:prstGeom prst="rect">
            <a:avLst/>
          </a:prstGeom>
          <a:noFill/>
          <a:ln w="0">
            <a:noFill/>
          </a:ln>
        </p:spPr>
        <p:txBody>
          <a:bodyPr lIns="38100" tIns="19050" rIns="38100" bIns="19050" anchor="t">
            <a:normAutofit/>
          </a:bodyPr>
          <a:lstStyle/>
          <a:p>
            <a:pPr algn="ctr">
              <a:defRPr sz="1500" b="1">
                <a:solidFill>
                  <a:srgbClr val="5A58CB"/>
                </a:solidFill>
                <a:latin typeface="Inter"/>
                <a:ea typeface="Inter"/>
                <a:cs typeface="Inter"/>
              </a:defRPr>
            </a:pPr>
            <a:r>
              <a:rPr sz="1500" b="1">
                <a:solidFill>
                  <a:srgbClr val="5A58CB"/>
                </a:solidFill>
                <a:latin typeface="Inter"/>
                <a:ea typeface="Inter"/>
                <a:cs typeface="Inter"/>
              </a:rPr>
              <a:t>Σελίδες 149–153</a:t>
            </a:r>
          </a:p>
        </p:txBody>
      </p:sp>
    </p:spTree>
    <p:extLst>
      <p:ext uri="{BB962C8B-B14F-4D97-AF65-F5344CB8AC3E}">
        <p14:creationId xmlns:p14="http://schemas.microsoft.com/office/powerpoint/2010/main" val="1164157584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855</Words>
  <Application>Microsoft Office PowerPoint</Application>
  <DocSecurity>0</DocSecurity>
  <PresentationFormat>Widescreen</PresentationFormat>
  <Paragraphs>88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Aptos</vt:lpstr>
      <vt:lpstr>Inter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Άριστος Αρέστη</cp:lastModifiedBy>
  <cp:revision>1</cp:revision>
  <dcterms:created xsi:type="dcterms:W3CDTF">2026-10-03T07:25:46Z</dcterms:created>
  <dcterms:modified xsi:type="dcterms:W3CDTF">2026-10-24T05:40:07Z</dcterms:modified>
</cp:coreProperties>
</file>