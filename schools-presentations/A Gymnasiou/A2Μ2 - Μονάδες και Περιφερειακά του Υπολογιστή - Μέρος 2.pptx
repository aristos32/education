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85e516755f4a04" /><Relationship Type="http://schemas.openxmlformats.org/officeDocument/2006/relationships/extended-properties" Target="/docProps/app.xml" Id="Rdc019a90d0d44904" /><Relationship Type="http://schemas.openxmlformats.org/officeDocument/2006/relationships/officeDocument" Target="/ppt/presentation.xml" Id="R33e19f50554d4f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ef9fb07df2492a"/>
  </p:sldMasterIdLst>
  <p:notesMasterIdLst>
    <p:notesMasterId xmlns:r="http://schemas.openxmlformats.org/officeDocument/2006/relationships" r:id="R7b837a9c32b54235"/>
  </p:notesMasterIdLst>
  <p:sldIdLst>
    <p:sldId xmlns:r="http://schemas.openxmlformats.org/officeDocument/2006/relationships" id="256" r:id="R552898a919924e13"/>
    <p:sldId xmlns:r="http://schemas.openxmlformats.org/officeDocument/2006/relationships" id="257" r:id="Re99af23cea2b4dc3"/>
    <p:sldId xmlns:r="http://schemas.openxmlformats.org/officeDocument/2006/relationships" id="258" r:id="R8d8093497cc0458e"/>
    <p:sldId xmlns:r="http://schemas.openxmlformats.org/officeDocument/2006/relationships" id="259" r:id="Re64f04b0369f446f"/>
    <p:sldId xmlns:r="http://schemas.openxmlformats.org/officeDocument/2006/relationships" id="260" r:id="R9d998fc1e4424fb8"/>
    <p:sldId xmlns:r="http://schemas.openxmlformats.org/officeDocument/2006/relationships" id="261" r:id="Recfb2e81e2074178"/>
    <p:sldId xmlns:r="http://schemas.openxmlformats.org/officeDocument/2006/relationships" id="262" r:id="Rf63e92798d1a4c7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fe85ea2b0f426e" /><Relationship Type="http://schemas.openxmlformats.org/officeDocument/2006/relationships/slideMaster" Target="/ppt/slideMasters/slideMaster1.xml" Id="R9cef9fb07df2492a" /><Relationship Type="http://schemas.openxmlformats.org/officeDocument/2006/relationships/notesMaster" Target="/ppt/notesMasters/notesMaster1.xml" Id="R7b837a9c32b54235" /><Relationship Type="http://schemas.openxmlformats.org/officeDocument/2006/relationships/presProps" Target="/ppt/presProps.xml" Id="Rc6993178c99f4cf7" /><Relationship Type="http://schemas.openxmlformats.org/officeDocument/2006/relationships/tableStyles" Target="/ppt/tableStyles.xml" Id="Rf4021356f9874299" /><Relationship Type="http://schemas.openxmlformats.org/officeDocument/2006/relationships/slide" Target="/ppt/slides/slide1.xml" Id="R552898a919924e13" /><Relationship Type="http://schemas.openxmlformats.org/officeDocument/2006/relationships/slide" Target="/ppt/slides/slide2.xml" Id="Re99af23cea2b4dc3" /><Relationship Type="http://schemas.openxmlformats.org/officeDocument/2006/relationships/slide" Target="/ppt/slides/slide3.xml" Id="R8d8093497cc0458e" /><Relationship Type="http://schemas.openxmlformats.org/officeDocument/2006/relationships/slide" Target="/ppt/slides/slide4.xml" Id="Re64f04b0369f446f" /><Relationship Type="http://schemas.openxmlformats.org/officeDocument/2006/relationships/slide" Target="/ppt/slides/slide5.xml" Id="R9d998fc1e4424fb8" /><Relationship Type="http://schemas.openxmlformats.org/officeDocument/2006/relationships/slide" Target="/ppt/slides/slide6.xml" Id="Recfb2e81e2074178" /><Relationship Type="http://schemas.openxmlformats.org/officeDocument/2006/relationships/slide" Target="/ppt/slides/slide7.xml" Id="Rf63e92798d1a4c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d8f992482d44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85e520c4ab4639" /><Relationship Type="http://schemas.openxmlformats.org/officeDocument/2006/relationships/notesMaster" Target="/ppt/notesMasters/notesMaster1.xml" Id="Ra0ddea9a7af549e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c1c6c106c554b9b" /><Relationship Type="http://schemas.openxmlformats.org/officeDocument/2006/relationships/notesMaster" Target="/ppt/notesMasters/notesMaster1.xml" Id="Refc364ed59fd4b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fc754248ef40f3" /><Relationship Type="http://schemas.openxmlformats.org/officeDocument/2006/relationships/notesMaster" Target="/ppt/notesMasters/notesMaster1.xml" Id="R7decaba72336469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9ef315471574c03" /><Relationship Type="http://schemas.openxmlformats.org/officeDocument/2006/relationships/notesMaster" Target="/ppt/notesMasters/notesMaster1.xml" Id="R2f0c7e5dcbc14e3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d1a1dad0d24412b" /><Relationship Type="http://schemas.openxmlformats.org/officeDocument/2006/relationships/notesMaster" Target="/ppt/notesMasters/notesMaster1.xml" Id="R2ac14b740b85461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e022a90720a4ca6" /><Relationship Type="http://schemas.openxmlformats.org/officeDocument/2006/relationships/notesMaster" Target="/ppt/notesMasters/notesMaster1.xml" Id="R09c88d237b614fa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c783d74afed4184" /><Relationship Type="http://schemas.openxmlformats.org/officeDocument/2006/relationships/notesMaster" Target="/ppt/notesMasters/notesMaster1.xml" Id="R5c4cf51e770345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Πηγές: σχολικό βιβλίο θεωρίας και Φύλλα Εργασίας Πληροφορικής Α΄ Γυμνασίου, ενότητα Α.2.Μ2. Πρότυπο μορφοποίησης: A1Μ1 Εισαγωγή στις Βασικές Έννοιες.pptx.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Πηγές: σχολικό βιβλίο θεωρίας και Φύλλα Εργασίας Πληροφορικής Α΄ Γυμνασίου, ενότητα Α.2.Μ2. Πρότυπο μορφοποίησης: A1Μ1 Εισαγωγή στις Βασικές Έννοιες.pptx.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Πηγές: σχολικό βιβλίο θεωρίας και Φύλλα Εργασίας Πληροφορικής Α΄ Γυμνασίου, ενότητα Α.2.Μ2. Πρότυπο μορφοποίησης: A1Μ1 Εισαγωγή στις Βασικές Έννοιες.pptx.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Πηγές: σχολικό βιβλίο θεωρίας και Φύλλα Εργασίας Πληροφορικής Α΄ Γυμνασίου, ενότητα Α.2.Μ2. Πρότυπο μορφοποίησης: A1Μ1 Εισαγωγή στις Βασικές Έννοιες.pptx.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Πηγές: σχολικό βιβλίο θεωρίας και Φύλλα Εργασίας Πληροφορικής Α΄ Γυμνασίου, ενότητα Α.2.Μ2. Πρότυπο μορφοποίησης: A1Μ1 Εισαγωγή στις Βασικές Έννοιες.pptx.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Πηγές: σχολικό βιβλίο θεωρίας και Φύλλα Εργασίας Πληροφορικής Α΄ Γυμνασίου, ενότητα Α.2.Μ2. Πρότυπο μορφοποίησης: A1Μ1 Εισαγωγή στις Βασικές Έννοιες.pptx.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Πηγές: σχολικό βιβλίο θεωρίας και Φύλλα Εργασίας Πληροφορικής Α΄ Γυμνασίου, ενότητα Α.2.Μ2. Πρότυπο μορφοποίησης: A1Μ1 Εισαγωγή στις Βασικές Έννοιες.pptx.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1d5f08b96445c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045f3300624aae" /><Relationship Type="http://schemas.openxmlformats.org/officeDocument/2006/relationships/slideLayout" Target="/ppt/slideLayouts/slideLayout1.xml" Id="Rae0a5149985a4e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0a5149985a4e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a5f507ec3d4d2f" /><Relationship Type="http://schemas.openxmlformats.org/officeDocument/2006/relationships/image" Target="/ppt/media/image.png" Id="R908e99ec2e3442fe" /><Relationship Type="http://schemas.openxmlformats.org/officeDocument/2006/relationships/notesSlide" Target="/ppt/notesSlides/notesSlide1.xml" Id="R1f64195a702048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d9553d90be4a30" /><Relationship Type="http://schemas.openxmlformats.org/officeDocument/2006/relationships/image" Target="/ppt/media/image2.png" Id="Rc054439e838e473e" /><Relationship Type="http://schemas.openxmlformats.org/officeDocument/2006/relationships/image" Target="/ppt/media/image3.png" Id="Rb74f107ceea6456d" /><Relationship Type="http://schemas.openxmlformats.org/officeDocument/2006/relationships/image" Target="/ppt/media/image4.png" Id="R0c798a85778a4b7f" /><Relationship Type="http://schemas.openxmlformats.org/officeDocument/2006/relationships/image" Target="/ppt/media/image5.png" Id="R9d5af56ef3e34093" /><Relationship Type="http://schemas.openxmlformats.org/officeDocument/2006/relationships/image" Target="/ppt/media/image6.png" Id="R65efe96ea83e4378" /><Relationship Type="http://schemas.openxmlformats.org/officeDocument/2006/relationships/notesSlide" Target="/ppt/notesSlides/notesSlide2.xml" Id="Re2827336739749b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d9cd41365d450a" /><Relationship Type="http://schemas.openxmlformats.org/officeDocument/2006/relationships/image" Target="/ppt/media/image7.png" Id="Rcc61372e227843aa" /><Relationship Type="http://schemas.openxmlformats.org/officeDocument/2006/relationships/image" Target="/ppt/media/image8.png" Id="R27d0dbb1033142bc" /><Relationship Type="http://schemas.openxmlformats.org/officeDocument/2006/relationships/image" Target="/ppt/media/image9.png" Id="R596b6cd229c541a3" /><Relationship Type="http://schemas.openxmlformats.org/officeDocument/2006/relationships/notesSlide" Target="/ppt/notesSlides/notesSlide3.xml" Id="Rdc04ea03803648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7dd3e0de9449e4" /><Relationship Type="http://schemas.openxmlformats.org/officeDocument/2006/relationships/image" Target="/ppt/media/image10.png" Id="R6a95196d17024a0c" /><Relationship Type="http://schemas.openxmlformats.org/officeDocument/2006/relationships/image" Target="/ppt/media/image11.png" Id="R17c56e3e7ded4334" /><Relationship Type="http://schemas.openxmlformats.org/officeDocument/2006/relationships/image" Target="/ppt/media/image12.png" Id="Rc737ba8e4a18446a" /><Relationship Type="http://schemas.openxmlformats.org/officeDocument/2006/relationships/notesSlide" Target="/ppt/notesSlides/notesSlide4.xml" Id="R1dedcfbd113940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d8dabfc5d347c2" /><Relationship Type="http://schemas.openxmlformats.org/officeDocument/2006/relationships/notesSlide" Target="/ppt/notesSlides/notesSlide5.xml" Id="Rc813c3e988d946a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5e7dfd22a6467d" /><Relationship Type="http://schemas.openxmlformats.org/officeDocument/2006/relationships/notesSlide" Target="/ppt/notesSlides/notesSlide6.xml" Id="Rf7b8da762f71492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b6a0750afc4847" /><Relationship Type="http://schemas.openxmlformats.org/officeDocument/2006/relationships/image" Target="/ppt/media/image13.png" Id="Re1f2b4f2b68a46b5" /><Relationship Type="http://schemas.openxmlformats.org/officeDocument/2006/relationships/notesSlide" Target="/ppt/notesSlides/notesSlide7.xml" Id="Raeac220941cc442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2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70E46E-FD0D-4C25-A6FE-E0AB5C4F7B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8e99ec2e3442fe"/>
          <a:srcRect xmlns:a="http://schemas.openxmlformats.org/drawingml/2006/main" l="0" t="7529" r="0" b="75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A73AB4-97AB-42C8-9AFF-94C6316A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2CE910-5E4A-47F0-8201-26C8D50C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66875"/>
            <a:ext cx="723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Α.2.Μ2 • ΜΕΡΟΣ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D6EA00-2DA3-4361-9532-740BE0408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33625"/>
            <a:ext cx="7524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34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Μονάδες και Περιφερειακά του Υπολογιστή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88352C-AED1-4F37-910A-4349866C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33875"/>
            <a:ext cx="95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27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59309015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AD2BC8-A998-4DE9-9830-53D3430A4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Περιφερειακές συσκευές εισόδου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E0C9C0-CB95-4319-A4B4-6A77BA38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9B9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AB225C-3178-44DB-BC84-D0254069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19250"/>
            <a:ext cx="619125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79400" indent="-165100" algn="l">
              <a:spcAft>
                <a:spcPts val="420"/>
              </a:spcAft>
              <a:buChar char="•"/>
              <a:defRPr sz="165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Πληκτρολόγιο: εισαγωγή κειμένου, αριθμών και εντολών</a:t>
            </a:r>
          </a:p>
          <a:p xmlns:a="http://schemas.openxmlformats.org/drawingml/2006/main">
            <a:pPr marL="279400" indent="-165100" algn="l">
              <a:spcAft>
                <a:spcPts val="420"/>
              </a:spcAft>
              <a:buChar char="•"/>
              <a:defRPr sz="165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Ποντίκι: κίνηση, επιλογές και εντολές</a:t>
            </a:r>
          </a:p>
          <a:p xmlns:a="http://schemas.openxmlformats.org/drawingml/2006/main">
            <a:pPr marL="279400" indent="-165100" algn="l">
              <a:spcAft>
                <a:spcPts val="420"/>
              </a:spcAft>
              <a:buChar char="•"/>
              <a:defRPr sz="165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Σαρωτής: έντυπο ή εικόνα σε ψηφιακή μορφή</a:t>
            </a:r>
          </a:p>
          <a:p xmlns:a="http://schemas.openxmlformats.org/drawingml/2006/main">
            <a:pPr marL="279400" indent="-165100" algn="l">
              <a:spcAft>
                <a:spcPts val="420"/>
              </a:spcAft>
              <a:buChar char="•"/>
              <a:defRPr sz="165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Μικρόφωνο: εισαγωγή ήχου</a:t>
            </a:r>
          </a:p>
          <a:p xmlns:a="http://schemas.openxmlformats.org/drawingml/2006/main">
            <a:pPr marL="279400" indent="-165100" algn="l">
              <a:spcAft>
                <a:spcPts val="420"/>
              </a:spcAft>
              <a:buChar char="•"/>
              <a:defRPr sz="165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Κάμερα: εισαγωγή κινούμενης εικόνας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55BF15-42CF-4E2A-9BA5-5D1E926D2E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54439e838e473e"/>
          <a:stretch xmlns:a="http://schemas.openxmlformats.org/drawingml/2006/main"/>
        </p:blipFill>
        <p:spPr>
          <a:xfrm xmlns:a="http://schemas.openxmlformats.org/drawingml/2006/main">
            <a:off x="7239000" y="1542075"/>
            <a:ext cx="2000250" cy="963976"/>
          </a:xfrm>
          <a:prstGeom xmlns:a="http://schemas.openxmlformats.org/drawingml/2006/main" prst="rect">
            <a:avLst/>
          </a:prstGeom>
        </p:spPr>
      </p:pic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07441F-A00A-4DBD-89AD-FA58B6BCED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4f107ceea6456d"/>
          <a:stretch xmlns:a="http://schemas.openxmlformats.org/drawingml/2006/main"/>
        </p:blipFill>
        <p:spPr>
          <a:xfrm xmlns:a="http://schemas.openxmlformats.org/drawingml/2006/main">
            <a:off x="9785747" y="1476375"/>
            <a:ext cx="1193006" cy="1143000"/>
          </a:xfrm>
          <a:prstGeom xmlns:a="http://schemas.openxmlformats.org/drawingml/2006/main" prst="rect">
            <a:avLst/>
          </a:prstGeom>
        </p:spPr>
      </p:pic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156C9E-9B8D-4101-97C6-C1756DF793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798a85778a4b7f"/>
          <a:stretch xmlns:a="http://schemas.openxmlformats.org/drawingml/2006/main"/>
        </p:blipFill>
        <p:spPr>
          <a:xfrm xmlns:a="http://schemas.openxmlformats.org/drawingml/2006/main">
            <a:off x="7167563" y="3000375"/>
            <a:ext cx="1381125" cy="1381125"/>
          </a:xfrm>
          <a:prstGeom xmlns:a="http://schemas.openxmlformats.org/drawingml/2006/main" prst="rect">
            <a:avLst/>
          </a:prstGeom>
        </p:spPr>
      </p:pic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487D60-1620-44E1-8CDE-6033123296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5af56ef3e34093"/>
          <a:stretch xmlns:a="http://schemas.openxmlformats.org/drawingml/2006/main"/>
        </p:blipFill>
        <p:spPr>
          <a:xfrm xmlns:a="http://schemas.openxmlformats.org/drawingml/2006/main">
            <a:off x="8763000" y="3055938"/>
            <a:ext cx="952500" cy="1270000"/>
          </a:xfrm>
          <a:prstGeom xmlns:a="http://schemas.openxmlformats.org/drawingml/2006/main" prst="rect">
            <a:avLst/>
          </a:prstGeom>
        </p:spPr>
      </p:pic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1F3550-2059-40B3-9916-13B1106C01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efe96ea83e4378"/>
          <a:stretch xmlns:a="http://schemas.openxmlformats.org/drawingml/2006/main"/>
        </p:blipFill>
        <p:spPr>
          <a:xfrm xmlns:a="http://schemas.openxmlformats.org/drawingml/2006/main">
            <a:off x="9906000" y="3048000"/>
            <a:ext cx="1285875" cy="12858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242136-95F5-4E5C-ACFC-E72656FC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00625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47C27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47C27"/>
                </a:solidFill>
                <a:latin typeface="Inter"/>
                <a:ea typeface="Inter"/>
                <a:cs typeface="Inter"/>
              </a:rPr>
              <a:t>Ροή: περιβάλλον → υπολογιστής</a:t>
            </a:r>
          </a:p>
        </p:txBody>
      </p:sp>
    </p:spTree>
    <p:extLst>
      <p:ext uri="{BB962C8B-B14F-4D97-AF65-F5344CB8AC3E}">
        <p14:creationId xmlns:p14="http://schemas.microsoft.com/office/powerpoint/2010/main" val="208528831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B6E701-0393-48AA-B2D9-AC3C1BFE6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Περιφερειακές συσκευές εξόδου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9CA2C1-71C7-43C1-A1C5-A75661C2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9B9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6C69EA-10E2-4F5D-904E-55307CF59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3333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5D5E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1C9E86-EED6-4B2F-B932-A87754F6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114300" cy="3143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B76C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E24354-9D25-4C12-937F-33C1E6D6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6212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4B76C5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4B76C5"/>
                </a:solidFill>
                <a:latin typeface="Inter"/>
                <a:ea typeface="Inter"/>
                <a:cs typeface="Inter"/>
              </a:rPr>
              <a:t>Οθόνη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2B29E6-80E5-4B01-8E82-89A44632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95525"/>
            <a:ext cx="2809875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Προσωρινή οπτική παρουσίαση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A14201-9D78-469D-B5BD-FA12F8FC5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71625"/>
            <a:ext cx="3333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5D5E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152C19-FC9A-4A1E-8651-61175C0FD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71625"/>
            <a:ext cx="114300" cy="3143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A58C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A4E4DE-F9CB-4CD6-BD68-F8F17F14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76212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A58CB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5A58CB"/>
                </a:solidFill>
                <a:latin typeface="Inter"/>
                <a:ea typeface="Inter"/>
                <a:cs typeface="Inter"/>
              </a:rPr>
              <a:t>Εκτυπωτής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FFC99D-FB74-40DB-B060-CF8AAFE1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95525"/>
            <a:ext cx="2809875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Μόνιμο αντίγραφο σε χαρτί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E2CAF0-8560-465E-BF82-186C840E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571625"/>
            <a:ext cx="3333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5D5E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121500-60CE-4A2B-962B-32BFF58B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571625"/>
            <a:ext cx="114300" cy="3143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A994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E6D7EF-0712-4608-A7E9-9F4948242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76212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6A994E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6A994E"/>
                </a:solidFill>
                <a:latin typeface="Inter"/>
                <a:ea typeface="Inter"/>
                <a:cs typeface="Inter"/>
              </a:rPr>
              <a:t>Ηχεία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FB6236-2656-48F8-BDCA-79C447D6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295525"/>
            <a:ext cx="2809875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Μετατροπή πληροφοριών σε ήχο</a:t>
            </a:r>
          </a:p>
        </p:txBody>
      </p:sp>
      <p:pic>
        <p:nvPic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43B243-D99B-4A6F-B09B-AA50006E43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61372e227843aa"/>
          <a:stretch xmlns:a="http://schemas.openxmlformats.org/drawingml/2006/main"/>
        </p:blipFill>
        <p:spPr>
          <a:xfrm xmlns:a="http://schemas.openxmlformats.org/drawingml/2006/main">
            <a:off x="1462995" y="2857500"/>
            <a:ext cx="1550761" cy="1238250"/>
          </a:xfrm>
          <a:prstGeom xmlns:a="http://schemas.openxmlformats.org/drawingml/2006/main" prst="rect">
            <a:avLst/>
          </a:prstGeom>
        </p:spPr>
      </p:pic>
      <p:pic>
        <p:nvPic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5376044-0F28-4D7A-9C8E-98B4E47CC6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d0dbb1033142bc"/>
          <a:stretch xmlns:a="http://schemas.openxmlformats.org/drawingml/2006/main"/>
        </p:blipFill>
        <p:spPr>
          <a:xfrm xmlns:a="http://schemas.openxmlformats.org/drawingml/2006/main">
            <a:off x="5000625" y="2941108"/>
            <a:ext cx="2095500" cy="1071033"/>
          </a:xfrm>
          <a:prstGeom xmlns:a="http://schemas.openxmlformats.org/drawingml/2006/main" prst="rect">
            <a:avLst/>
          </a:prstGeom>
        </p:spPr>
      </p:pic>
      <p:pic>
        <p:nvPic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888AAF0-E5CB-47C1-A826-603F651271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6b6cd229c541a3"/>
          <a:stretch xmlns:a="http://schemas.openxmlformats.org/drawingml/2006/main"/>
        </p:blipFill>
        <p:spPr>
          <a:xfrm xmlns:a="http://schemas.openxmlformats.org/drawingml/2006/main">
            <a:off x="9267076" y="2857500"/>
            <a:ext cx="1182598" cy="12382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F3C205-D554-43AB-B091-3C7721FC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911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4B76C5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4B76C5"/>
                </a:solidFill>
                <a:latin typeface="Inter"/>
                <a:ea typeface="Inter"/>
                <a:cs typeface="Inter"/>
              </a:rPr>
              <a:t>Ροή: υπολογιστής → περιβάλλον</a:t>
            </a:r>
          </a:p>
        </p:txBody>
      </p:sp>
    </p:spTree>
    <p:extLst>
      <p:ext uri="{BB962C8B-B14F-4D97-AF65-F5344CB8AC3E}">
        <p14:creationId xmlns:p14="http://schemas.microsoft.com/office/powerpoint/2010/main" val="189722715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9B138B-D6CE-4179-97DF-0A32000E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Περιφερειακές μονάδες αποθήκευσης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3F5017-3F96-4D45-A4BE-57639A7B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9B9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D02499-50F2-41FC-A403-17FC8569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476625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5D5E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75FFFC-04E8-4CE2-B771-E4EE75C3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14300" cy="3476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7C2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6EA29C-98D2-4DA9-9EEA-B5D24F78F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300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47C27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F47C27"/>
                </a:solidFill>
                <a:latin typeface="Inter"/>
                <a:ea typeface="Inter"/>
                <a:cs typeface="Inter"/>
              </a:rPr>
              <a:t>Σκληρός δίσκος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156BB3-7FA4-4A29-BFCB-7A1EBE04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95525"/>
            <a:ext cx="29527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Μεγάλη χωρητικότητα και μόνιμη αποθήκευση. Υπάρχουν εσωτερικοί και εξωτερικοί δίσκοι.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79DE94-FF16-4D49-B4B7-949486F94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71625"/>
            <a:ext cx="3476625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5D5E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6EC0E6-8BDC-4FE5-91CD-DEC6D6724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71625"/>
            <a:ext cx="114300" cy="3476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B76C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8CF12D-1B0D-4A00-A755-08BDA785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762125"/>
            <a:ext cx="300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4B76C5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4B76C5"/>
                </a:solidFill>
                <a:latin typeface="Inter"/>
                <a:ea typeface="Inter"/>
                <a:cs typeface="Inter"/>
              </a:rPr>
              <a:t>CD / DVD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2E9A3F-35DE-4556-94D2-BFBA9839C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95525"/>
            <a:ext cx="29527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Φορητά οπτικά μέσα για διανομή ή αντίγραφα ασφαλείας. Χρειάζονται κατάλληλο οδηγό.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B81642-C2B8-40F6-BC38-44293C411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571625"/>
            <a:ext cx="3476625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5D5E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91EAE8-03DE-44C4-8BD9-FB15737F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571625"/>
            <a:ext cx="114300" cy="3476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A58C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762249-79CB-40AF-A945-66031C9B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62125"/>
            <a:ext cx="300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A58CB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5A58CB"/>
                </a:solidFill>
                <a:latin typeface="Inter"/>
                <a:ea typeface="Inter"/>
                <a:cs typeface="Inter"/>
              </a:rPr>
              <a:t>USB Flash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6C98AC-26EF-4143-A4CB-EE058707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95525"/>
            <a:ext cx="29527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Μικρό, φορητό μέσο με σχετικά μεγάλη χωρητικότητα. Αντικατέστησε σε μεγάλο βαθμό τις δισκέτες.</a:t>
            </a:r>
          </a:p>
        </p:txBody>
      </p:sp>
      <p:pic>
        <p:nvPic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98297F-6962-4A2C-83FF-ECD4972CF0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95196d17024a0c"/>
          <a:stretch xmlns:a="http://schemas.openxmlformats.org/drawingml/2006/main"/>
        </p:blipFill>
        <p:spPr>
          <a:xfrm xmlns:a="http://schemas.openxmlformats.org/drawingml/2006/main">
            <a:off x="1538416" y="3714750"/>
            <a:ext cx="1495168" cy="1143000"/>
          </a:xfrm>
          <a:prstGeom xmlns:a="http://schemas.openxmlformats.org/drawingml/2006/main" prst="rect">
            <a:avLst/>
          </a:prstGeom>
        </p:spPr>
      </p:pic>
      <p:pic>
        <p:nvPic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38E640-A8DA-4D59-BE60-771699B990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c56e3e7ded4334"/>
          <a:stretch xmlns:a="http://schemas.openxmlformats.org/drawingml/2006/main"/>
        </p:blipFill>
        <p:spPr>
          <a:xfrm xmlns:a="http://schemas.openxmlformats.org/drawingml/2006/main">
            <a:off x="5292786" y="3810000"/>
            <a:ext cx="1654053" cy="1000125"/>
          </a:xfrm>
          <a:prstGeom xmlns:a="http://schemas.openxmlformats.org/drawingml/2006/main" prst="rect">
            <a:avLst/>
          </a:prstGeom>
        </p:spPr>
      </p:pic>
      <p:pic>
        <p:nvPic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2114CA-37F6-4281-9B5B-7EC389C006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37ba8e4a18446a"/>
          <a:stretch xmlns:a="http://schemas.openxmlformats.org/drawingml/2006/main"/>
        </p:blipFill>
        <p:spPr>
          <a:xfrm xmlns:a="http://schemas.openxmlformats.org/drawingml/2006/main">
            <a:off x="9203531" y="4000500"/>
            <a:ext cx="1500188" cy="666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40809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48180D-9FC3-4D5C-B8B8-F3CA8A5B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Πώς ταξινομούμε μια συσκευή;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39DC5C-B586-4F98-AEF6-2F4F33F6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9B9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BDAEE8-E984-4D43-90C2-D4E65516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24000"/>
            <a:ext cx="10763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9D9E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B7916B-433A-4483-BB0E-1DD90DE0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24000"/>
            <a:ext cx="2381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47C2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1A83C4-715D-4F33-8938-3946CF9DB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954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Προς τον υπολογιστή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CE21F5-046F-45CC-8B7F-DA1EFF3A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764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Είσοδος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837DF1-861C-4BE7-8CC7-FC9AF25F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76400"/>
            <a:ext cx="5476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Πληκτρολόγιο, σαρωτής, μικρόφωνο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BBC5A5-6D79-4B52-B725-152CEBDD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24125"/>
            <a:ext cx="10763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9D9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9BB218-3B63-4ACE-8089-4644161E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24125"/>
            <a:ext cx="2381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4B76C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4CC33D-0CED-47CF-9B8F-2508FEF3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9557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Προς το περιβάλλον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7E2205-4576-4608-A621-F53C767DF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7652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Έξοδος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871DA4-87E1-404D-AFA1-A37FB18C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76525"/>
            <a:ext cx="5476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Οθόνη, εκτυπωτής, ηχεία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9075B5-2B43-4464-B6DA-B2CE9C43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24250"/>
            <a:ext cx="10763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9D9E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2DB151-4162-4743-9146-C6C65574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24250"/>
            <a:ext cx="2381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5A58C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DEFE24-FC2E-4BFC-A100-F9F3E517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957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Διατηρεί πληροφορίες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73345E-B4FB-4259-A6F4-DC83C402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766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Αποθήκευση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DC76FC-27F5-4F17-92D2-DEDB6351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76650"/>
            <a:ext cx="5476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Σκληρός δίσκος, CD/DVD, USB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D17962-4693-4EA7-AD4F-A186EA193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10763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9D9E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39446D-54C4-4075-BB29-A24BE9A54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2381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6A994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124183-8342-4C8F-AB0D-0E7C39A5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958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Και προς τις δύο κατευθύνσεις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436EEC-4CB2-42C9-AB55-E65EEC2E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767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Είσοδος–Έξοδος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1A5658-88EE-4E41-A167-7D1AC66C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676775"/>
            <a:ext cx="5476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Οθόνη αφής</a:t>
            </a:r>
          </a:p>
        </p:txBody>
      </p:sp>
    </p:spTree>
    <p:extLst>
      <p:ext uri="{BB962C8B-B14F-4D97-AF65-F5344CB8AC3E}">
        <p14:creationId xmlns:p14="http://schemas.microsoft.com/office/powerpoint/2010/main" val="52553847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0BCD84-B3C5-4EE1-819A-49CE6050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Παραδείγματα ολοκληρωμένης λειτουργίας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238040-B85C-4F5A-8FE3-3AA5DE5F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9B9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E79344-BF74-4659-9789-39A7538B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519112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5D5E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5EA471-97BA-470A-8544-28651B38E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114300" cy="17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B76C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329212-A14F-4478-9E92-67D672AE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145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4B76C5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4B76C5"/>
                </a:solidFill>
                <a:latin typeface="Inter"/>
                <a:ea typeface="Inter"/>
                <a:cs typeface="Inter"/>
              </a:rPr>
              <a:t>Ακρόαση μουσικής από CD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7D056D-0305-4D15-84EE-59CF9BA4A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47900"/>
            <a:ext cx="466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Αποθήκευση: CD  •  Έξοδος: ηχεία  •  Επεξεργασία: CPU και πρόγραμμα αναπαραγωγής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0948F9-AE87-448D-8CD5-54F339917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24000"/>
            <a:ext cx="519112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5D5E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504560-A1F4-4555-8550-E57E906B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24000"/>
            <a:ext cx="114300" cy="17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A58C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E5C6C7-695C-4812-B7AD-C72E42CB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145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A58CB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5A58CB"/>
                </a:solidFill>
                <a:latin typeface="Inter"/>
                <a:ea typeface="Inter"/>
                <a:cs typeface="Inter"/>
              </a:rPr>
              <a:t>Καταγραφή και επεξεργασία βίντεο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5D8BD-D7D1-4CB2-9881-0437A552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47900"/>
            <a:ext cx="466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Είσοδος: κάμερα/μικρόφωνο  •  Αποθήκευση: δίσκος  •  Έξοδος: οθόνη/ηχεία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54DD30-877C-45D6-B990-9CEA6C96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67125"/>
            <a:ext cx="519112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5D5E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7EC5BF-6470-484C-B5FF-7E48A834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67125"/>
            <a:ext cx="114300" cy="17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7C2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163E8F-784A-4D2F-A5A0-C407F3B05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47C27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F47C27"/>
                </a:solidFill>
                <a:latin typeface="Inter"/>
                <a:ea typeface="Inter"/>
                <a:cs typeface="Inter"/>
              </a:rPr>
              <a:t>Σύνταξη και εκτύπωση επιστολής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2F7885-479F-4B51-B4BE-9B2B5AE2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91025"/>
            <a:ext cx="466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Είσοδος: πληκτρολόγιο/ποντίκι  •  Αποθήκευση: δίσκος  •  Έξοδος: οθόνη/εκτυπωτής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E0749A-25DD-4FB4-AAE6-8DE69062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67125"/>
            <a:ext cx="519112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5D5E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47D563-2A5D-4DEE-BA6D-D8C21F4B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67125"/>
            <a:ext cx="114300" cy="17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A994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DF0959-D8C3-4D0D-8FA9-7BC9CB68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57625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6A994E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6A994E"/>
                </a:solidFill>
                <a:latin typeface="Inter"/>
                <a:ea typeface="Inter"/>
                <a:cs typeface="Inter"/>
              </a:rPr>
              <a:t>Δημιουργία αφίσας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33DF0A-61FE-4CEB-A31E-7A69459A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91025"/>
            <a:ext cx="466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Είσοδος: σαρωτής  •  Αποθήκευση: USB  •  Έξοδος: οθόνη/εκτυπωτής</a:t>
            </a:r>
          </a:p>
        </p:txBody>
      </p:sp>
    </p:spTree>
    <p:extLst>
      <p:ext uri="{BB962C8B-B14F-4D97-AF65-F5344CB8AC3E}">
        <p14:creationId xmlns:p14="http://schemas.microsoft.com/office/powerpoint/2010/main" val="177239311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AF72FA-49A7-44DD-AD5B-4735F5F5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Ερωτήσεις του Φύλλου Εργασίας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79B707-D240-4D63-A05B-DC62B0AB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9B9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0DBFC0-D3FD-41B6-8367-DC859196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76375"/>
            <a:ext cx="685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Ασκήσεις για το Μέρος 2 — περιφερειακά και εφαρμογές: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2E9997-0238-4882-AD82-01A0D2FC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571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7C2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E1D167-628C-4CEB-8294-70E75CFB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336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2–3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2CEF06-5650-4CFB-A4A8-23787F5C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95500"/>
            <a:ext cx="638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Παραδείγματα περιφερειακών και αντιστοίχιση χρήσης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1D50FC-15A8-4511-937F-C33EC7BB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571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4B76C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8B3457-4E0C-4C42-8D09-0594E43BD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7523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4α,ε–ζ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7D898E-6B93-4C9D-B596-E5C8D276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24150"/>
            <a:ext cx="638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Συσκευές εισόδου/εξόδου και αποθήκευση — Ορθό/Λάθος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1BEC46-EB9B-4655-B02A-5DF598BBF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571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7C2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82623B-0617-47F6-B7F6-5DA7A4D8B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09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C6AAA2-8D75-435C-B90A-BA7CB6EF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52800"/>
            <a:ext cx="638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Ταξινόμηση συσκευών: είσοδος, επεξεργασία, αποθήκευση, έξοδος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AA3A57-9F60-4113-A35A-BC01D2AB9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81450"/>
            <a:ext cx="571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4B76C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941C14-DEEA-4081-AC4B-F8DE885A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95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11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0E2D7E-7B1D-42D5-9375-BF004699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81450"/>
            <a:ext cx="638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Συμπλήρωση βασικών όρων για περιφερειακές συσκευές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FECE7D-91F3-4FCC-B884-44E7FBEE9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571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7C2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565CC9-CE23-4FA2-9B2E-1B2A33F4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482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7867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13–14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92E2C8-89B7-438B-9AAC-8D9F68AE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10100"/>
            <a:ext cx="638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Εφαρμογή γνώσεων σε πραγματικά σενάρια χρήσης</a:t>
            </a:r>
          </a:p>
        </p:txBody>
      </p:sp>
      <p:pic>
        <p:nvPic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FE0742B-04EF-4E31-8CF6-64C8881FDB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f2b4f2b68a46b5"/>
          <a:stretch xmlns:a="http://schemas.openxmlformats.org/drawingml/2006/main"/>
        </p:blipFill>
        <p:spPr>
          <a:xfrm xmlns:a="http://schemas.openxmlformats.org/drawingml/2006/main">
            <a:off x="8334375" y="2597571"/>
            <a:ext cx="2857500" cy="1377108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016AA6-8F1A-4C9A-A1FD-A4821C12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958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5A58CB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5A58CB"/>
                </a:solidFill>
                <a:latin typeface="Inter"/>
                <a:ea typeface="Inter"/>
                <a:cs typeface="Inter"/>
              </a:rPr>
              <a:t>Σελίδες 21–25</a:t>
            </a:r>
          </a:p>
        </p:txBody>
      </p:sp>
    </p:spTree>
    <p:extLst>
      <p:ext uri="{BB962C8B-B14F-4D97-AF65-F5344CB8AC3E}">
        <p14:creationId xmlns:p14="http://schemas.microsoft.com/office/powerpoint/2010/main" val="21316477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2026-10-16T20:26:19.4220000Z</dcterms:created>
  <dcterms:modified xsi:type="dcterms:W3CDTF">2026-10-16T20:26:19.4220000Z</dcterms:modified>
</coreProperties>
</file>