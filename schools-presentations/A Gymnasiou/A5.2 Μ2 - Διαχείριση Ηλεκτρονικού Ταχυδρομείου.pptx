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Άριστος Αρέστη" userId="813aa191-2d4c-464f-9d05-0a7e494d859f" providerId="ADAL" clId="{49C7B61D-1ACF-4AFF-A04E-A3B433E32474}"/>
    <pc:docChg chg="custSel modSld">
      <pc:chgData name="Άριστος Αρέστη" userId="813aa191-2d4c-464f-9d05-0a7e494d859f" providerId="ADAL" clId="{49C7B61D-1ACF-4AFF-A04E-A3B433E32474}" dt="2026-09-26T06:34:31.024" v="2" actId="478"/>
      <pc:docMkLst>
        <pc:docMk/>
      </pc:docMkLst>
      <pc:sldChg chg="delSp mod">
        <pc:chgData name="Άριστος Αρέστη" userId="813aa191-2d4c-464f-9d05-0a7e494d859f" providerId="ADAL" clId="{49C7B61D-1ACF-4AFF-A04E-A3B433E32474}" dt="2026-09-26T06:34:31.024" v="2" actId="478"/>
        <pc:sldMkLst>
          <pc:docMk/>
          <pc:sldMk cId="1200177838" sldId="260"/>
        </pc:sldMkLst>
        <pc:picChg chg="del">
          <ac:chgData name="Άριστος Αρέστη" userId="813aa191-2d4c-464f-9d05-0a7e494d859f" providerId="ADAL" clId="{49C7B61D-1ACF-4AFF-A04E-A3B433E32474}" dt="2026-09-26T06:34:29.360" v="0" actId="478"/>
          <ac:picMkLst>
            <pc:docMk/>
            <pc:sldMk cId="1200177838" sldId="260"/>
            <ac:picMk id="14" creationId="{00000000-0000-0000-0000-000000000000}"/>
          </ac:picMkLst>
        </pc:picChg>
        <pc:picChg chg="del">
          <ac:chgData name="Άριστος Αρέστη" userId="813aa191-2d4c-464f-9d05-0a7e494d859f" providerId="ADAL" clId="{49C7B61D-1ACF-4AFF-A04E-A3B433E32474}" dt="2026-09-26T06:34:30.319" v="1" actId="478"/>
          <ac:picMkLst>
            <pc:docMk/>
            <pc:sldMk cId="1200177838" sldId="260"/>
            <ac:picMk id="15" creationId="{00000000-0000-0000-0000-000000000000}"/>
          </ac:picMkLst>
        </pc:picChg>
        <pc:picChg chg="del">
          <ac:chgData name="Άριστος Αρέστη" userId="813aa191-2d4c-464f-9d05-0a7e494d859f" providerId="ADAL" clId="{49C7B61D-1ACF-4AFF-A04E-A3B433E32474}" dt="2026-09-26T06:34:31.024" v="2" actId="478"/>
          <ac:picMkLst>
            <pc:docMk/>
            <pc:sldMk cId="1200177838" sldId="260"/>
            <ac:picMk id="16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Πηγή: Σημειώσεις και Τετράδιο Εργασιών Πληροφορικής Α΄ Γυμνασίου, ενότητα Α.5.2.Μ2.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Πηγή: Σημειώσεις και Τετράδιο Εργασιών Πληροφορικής Α΄ Γυμνασίου, ενότητα Α.5.2.Μ2.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Πηγή: Σημειώσεις και Τετράδιο Εργασιών Πληροφορικής Α΄ Γυμνασίου, ενότητα Α.5.2.Μ2.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Πηγή: Σημειώσεις και Τετράδιο Εργασιών Πληροφορικής Α΄ Γυμνασίου, ενότητα Α.5.2.Μ2.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Πηγή: Σημειώσεις και Τετράδιο Εργασιών Πληροφορικής Α΄ Γυμνασίου, ενότητα Α.5.2.Μ2.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7D239E6-E5ED-44FF-BF78-9986CE9826EE}"/>
              </a:ext>
            </a:extLst>
          </p:cNvPr>
          <p:cNvSpPr>
            <a:spLocks noGrp="1"/>
          </p:cNvSpPr>
          <p:nvPr/>
        </p:nvSpPr>
        <p:spPr>
          <a:xfrm>
            <a:off x="533400" y="704850"/>
            <a:ext cx="552450" cy="76200"/>
          </a:xfrm>
          <a:prstGeom prst="rect">
            <a:avLst/>
          </a:prstGeom>
          <a:solidFill>
            <a:srgbClr val="F57C24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F510CF0-0169-4D96-A128-BA366C65C1D3}"/>
              </a:ext>
            </a:extLst>
          </p:cNvPr>
          <p:cNvSpPr>
            <a:spLocks noGrp="1"/>
          </p:cNvSpPr>
          <p:nvPr/>
        </p:nvSpPr>
        <p:spPr>
          <a:xfrm>
            <a:off x="590550" y="1028700"/>
            <a:ext cx="3905250" cy="38100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2925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925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Α5.2 Μ2</a:t>
            </a:r>
          </a:p>
          <a:p>
            <a:pPr algn="l">
              <a:defRPr sz="2925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925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Διαχείριση</a:t>
            </a:r>
          </a:p>
          <a:p>
            <a:pPr algn="l">
              <a:defRPr sz="2925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925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Ηλεκτρονικού</a:t>
            </a:r>
          </a:p>
          <a:p>
            <a:pPr algn="l">
              <a:defRPr sz="2925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925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Ταχυδρομείου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rcRect l="16667" r="16667"/>
          <a:stretch>
            <a:fillRect/>
          </a:stretch>
        </p:blipFill>
        <p:spPr>
          <a:xfrm>
            <a:off x="4762500" y="0"/>
            <a:ext cx="7429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2495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6B5D0DC-6015-41D3-B2BD-55CCA0AF9B25}"/>
              </a:ext>
            </a:extLst>
          </p:cNvPr>
          <p:cNvSpPr>
            <a:spLocks noGrp="1"/>
          </p:cNvSpPr>
          <p:nvPr/>
        </p:nvSpPr>
        <p:spPr>
          <a:xfrm>
            <a:off x="552450" y="333375"/>
            <a:ext cx="11087100" cy="704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255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2550" b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Προώθηση μηνύματος (Forward)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298531" y="1238250"/>
            <a:ext cx="3214688" cy="3143250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06B83BF-0321-43A3-971E-6242D5E8B71B}"/>
              </a:ext>
            </a:extLst>
          </p:cNvPr>
          <p:cNvSpPr>
            <a:spLocks noGrp="1"/>
          </p:cNvSpPr>
          <p:nvPr/>
        </p:nvSpPr>
        <p:spPr>
          <a:xfrm>
            <a:off x="590550" y="1285875"/>
            <a:ext cx="514350" cy="514350"/>
          </a:xfrm>
          <a:prstGeom prst="roundRect">
            <a:avLst>
              <a:gd name="adj" fmla="val 14815"/>
            </a:avLst>
          </a:prstGeom>
          <a:solidFill>
            <a:srgbClr val="F57C24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7A6C8B0-8562-46D0-ABC3-E4F8B1476AE5}"/>
              </a:ext>
            </a:extLst>
          </p:cNvPr>
          <p:cNvSpPr>
            <a:spLocks noGrp="1"/>
          </p:cNvSpPr>
          <p:nvPr/>
        </p:nvSpPr>
        <p:spPr>
          <a:xfrm>
            <a:off x="638175" y="1333500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26C57F-4BD1-4688-9ED9-B8E7885DF73A}"/>
              </a:ext>
            </a:extLst>
          </p:cNvPr>
          <p:cNvSpPr>
            <a:spLocks noGrp="1"/>
          </p:cNvSpPr>
          <p:nvPr/>
        </p:nvSpPr>
        <p:spPr>
          <a:xfrm>
            <a:off x="1257300" y="1266825"/>
            <a:ext cx="4381500" cy="342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725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Ανοίγουμε το μήνυμα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DC86CDF-B03F-48D5-A756-D7EC66A086CE}"/>
              </a:ext>
            </a:extLst>
          </p:cNvPr>
          <p:cNvSpPr>
            <a:spLocks noGrp="1"/>
          </p:cNvSpPr>
          <p:nvPr/>
        </p:nvSpPr>
        <p:spPr>
          <a:xfrm>
            <a:off x="1257300" y="1647825"/>
            <a:ext cx="4429125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333333"/>
                </a:solidFill>
                <a:latin typeface="Tahoma"/>
                <a:ea typeface="Tahoma"/>
                <a:cs typeface="Tahoma"/>
              </a:rPr>
              <a:t>Επιλέγουμε το μήνυμα που θέλουμε να προωθήσουμε.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A8D3657-D360-4F86-BD20-5700E6B3D17F}"/>
              </a:ext>
            </a:extLst>
          </p:cNvPr>
          <p:cNvSpPr>
            <a:spLocks noGrp="1"/>
          </p:cNvSpPr>
          <p:nvPr/>
        </p:nvSpPr>
        <p:spPr>
          <a:xfrm>
            <a:off x="590550" y="2571750"/>
            <a:ext cx="514350" cy="514350"/>
          </a:xfrm>
          <a:prstGeom prst="roundRect">
            <a:avLst>
              <a:gd name="adj" fmla="val 14815"/>
            </a:avLst>
          </a:prstGeom>
          <a:solidFill>
            <a:srgbClr val="5599D8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40317D7-55C7-413B-8874-00A031643369}"/>
              </a:ext>
            </a:extLst>
          </p:cNvPr>
          <p:cNvSpPr>
            <a:spLocks noGrp="1"/>
          </p:cNvSpPr>
          <p:nvPr/>
        </p:nvSpPr>
        <p:spPr>
          <a:xfrm>
            <a:off x="638175" y="261937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23B54FC-62B4-4F03-934F-7EED4D95B5B2}"/>
              </a:ext>
            </a:extLst>
          </p:cNvPr>
          <p:cNvSpPr>
            <a:spLocks noGrp="1"/>
          </p:cNvSpPr>
          <p:nvPr/>
        </p:nvSpPr>
        <p:spPr>
          <a:xfrm>
            <a:off x="1257300" y="2552700"/>
            <a:ext cx="4381500" cy="342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725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Πατάμε Forward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A705B1A-1DAA-4DC1-9712-C73A903F6DA0}"/>
              </a:ext>
            </a:extLst>
          </p:cNvPr>
          <p:cNvSpPr>
            <a:spLocks noGrp="1"/>
          </p:cNvSpPr>
          <p:nvPr/>
        </p:nvSpPr>
        <p:spPr>
          <a:xfrm>
            <a:off x="1257300" y="2933700"/>
            <a:ext cx="4429125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333333"/>
                </a:solidFill>
                <a:latin typeface="Tahoma"/>
                <a:ea typeface="Tahoma"/>
                <a:cs typeface="Tahoma"/>
              </a:rPr>
              <a:t>Το περιεχόμενο του αρχικού μηνύματος παραμένει.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A2F8AB0-9477-4CCF-A4FF-7EB3B3AA4EED}"/>
              </a:ext>
            </a:extLst>
          </p:cNvPr>
          <p:cNvSpPr>
            <a:spLocks noGrp="1"/>
          </p:cNvSpPr>
          <p:nvPr/>
        </p:nvSpPr>
        <p:spPr>
          <a:xfrm>
            <a:off x="590550" y="3857625"/>
            <a:ext cx="514350" cy="514350"/>
          </a:xfrm>
          <a:prstGeom prst="roundRect">
            <a:avLst>
              <a:gd name="adj" fmla="val 14815"/>
            </a:avLst>
          </a:prstGeom>
          <a:solidFill>
            <a:srgbClr val="6CAB4F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3B55E08-71F2-4290-94C7-C02CE9B745A8}"/>
              </a:ext>
            </a:extLst>
          </p:cNvPr>
          <p:cNvSpPr>
            <a:spLocks noGrp="1"/>
          </p:cNvSpPr>
          <p:nvPr/>
        </p:nvSpPr>
        <p:spPr>
          <a:xfrm>
            <a:off x="638175" y="3905250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1887FE4-23D8-47DB-A4A5-5A3EACE7FDCC}"/>
              </a:ext>
            </a:extLst>
          </p:cNvPr>
          <p:cNvSpPr>
            <a:spLocks noGrp="1"/>
          </p:cNvSpPr>
          <p:nvPr/>
        </p:nvSpPr>
        <p:spPr>
          <a:xfrm>
            <a:off x="1257300" y="3838575"/>
            <a:ext cx="4381500" cy="342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725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Νέος παραλήπτης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0DF42BF-A66B-4D94-A7A9-C0489E9BD16A}"/>
              </a:ext>
            </a:extLst>
          </p:cNvPr>
          <p:cNvSpPr>
            <a:spLocks noGrp="1"/>
          </p:cNvSpPr>
          <p:nvPr/>
        </p:nvSpPr>
        <p:spPr>
          <a:xfrm>
            <a:off x="1257300" y="4219575"/>
            <a:ext cx="4429125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333333"/>
                </a:solidFill>
                <a:latin typeface="Tahoma"/>
                <a:ea typeface="Tahoma"/>
                <a:cs typeface="Tahoma"/>
              </a:rPr>
              <a:t>Συμπληρώνουμε το Προς και πατάμε Αποστολή.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8D056BA-8D2A-494E-B31D-154A3856F1D2}"/>
              </a:ext>
            </a:extLst>
          </p:cNvPr>
          <p:cNvSpPr>
            <a:spLocks noGrp="1"/>
          </p:cNvSpPr>
          <p:nvPr/>
        </p:nvSpPr>
        <p:spPr>
          <a:xfrm>
            <a:off x="6667500" y="4762500"/>
            <a:ext cx="4476750" cy="61912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ctr">
              <a:defRPr sz="1575" b="0">
                <a:solidFill>
                  <a:srgbClr val="444444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444444"/>
                </a:solidFill>
                <a:latin typeface="Tahoma"/>
                <a:ea typeface="Tahoma"/>
                <a:cs typeface="Tahoma"/>
              </a:rPr>
              <a:t>Η προώθηση στέλνει ένα ήδη ληφθέν μήνυμα σε νέο παραλήπτη.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3B3147-DDB6-41A1-ACDD-1994206A5C71}"/>
              </a:ext>
            </a:extLst>
          </p:cNvPr>
          <p:cNvSpPr>
            <a:spLocks noGrp="1"/>
          </p:cNvSpPr>
          <p:nvPr/>
        </p:nvSpPr>
        <p:spPr>
          <a:xfrm>
            <a:off x="552450" y="6429375"/>
            <a:ext cx="11087100" cy="47625"/>
          </a:xfrm>
          <a:prstGeom prst="rect">
            <a:avLst/>
          </a:prstGeom>
          <a:solidFill>
            <a:srgbClr val="F57C24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C31CC60-1791-4AAD-95E7-0E5775BDC549}"/>
              </a:ext>
            </a:extLst>
          </p:cNvPr>
          <p:cNvSpPr>
            <a:spLocks noGrp="1"/>
          </p:cNvSpPr>
          <p:nvPr/>
        </p:nvSpPr>
        <p:spPr>
          <a:xfrm>
            <a:off x="4286250" y="6429375"/>
            <a:ext cx="7353300" cy="47625"/>
          </a:xfrm>
          <a:prstGeom prst="rect">
            <a:avLst/>
          </a:prstGeom>
          <a:solidFill>
            <a:srgbClr val="77A9D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30272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A3ADD9C-9D9B-43C4-8E6F-02E02BCF2E88}"/>
              </a:ext>
            </a:extLst>
          </p:cNvPr>
          <p:cNvSpPr>
            <a:spLocks noGrp="1"/>
          </p:cNvSpPr>
          <p:nvPr/>
        </p:nvSpPr>
        <p:spPr>
          <a:xfrm>
            <a:off x="552450" y="333375"/>
            <a:ext cx="11087100" cy="704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255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2550" b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Κοινοποίηση (Cc) και κρυφή κοινοποίηση (Bcc)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4139089-2D34-4E11-A362-8EA5BA93392C}"/>
              </a:ext>
            </a:extLst>
          </p:cNvPr>
          <p:cNvSpPr>
            <a:spLocks noGrp="1"/>
          </p:cNvSpPr>
          <p:nvPr/>
        </p:nvSpPr>
        <p:spPr>
          <a:xfrm>
            <a:off x="590550" y="1333500"/>
            <a:ext cx="5095875" cy="2381250"/>
          </a:xfrm>
          <a:prstGeom prst="roundRect">
            <a:avLst>
              <a:gd name="adj" fmla="val 3200"/>
            </a:avLst>
          </a:prstGeom>
          <a:solidFill>
            <a:srgbClr val="F5F8FB"/>
          </a:solidFill>
          <a:ln w="9525">
            <a:solidFill>
              <a:srgbClr val="DCE2E6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B4E812C-23E9-4124-8431-47B74D85B92B}"/>
              </a:ext>
            </a:extLst>
          </p:cNvPr>
          <p:cNvSpPr>
            <a:spLocks noGrp="1"/>
          </p:cNvSpPr>
          <p:nvPr/>
        </p:nvSpPr>
        <p:spPr>
          <a:xfrm>
            <a:off x="876300" y="1600200"/>
            <a:ext cx="1143000" cy="5143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ctr">
              <a:defRPr sz="2550" b="1">
                <a:solidFill>
                  <a:srgbClr val="5599D8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5599D8"/>
                </a:solidFill>
                <a:latin typeface="Tahoma"/>
                <a:ea typeface="Tahoma"/>
                <a:cs typeface="Tahoma"/>
              </a:rPr>
              <a:t>Cc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F3AF2A-D456-48B9-8E9F-07D265C1C7D9}"/>
              </a:ext>
            </a:extLst>
          </p:cNvPr>
          <p:cNvSpPr>
            <a:spLocks noGrp="1"/>
          </p:cNvSpPr>
          <p:nvPr/>
        </p:nvSpPr>
        <p:spPr>
          <a:xfrm>
            <a:off x="2190750" y="1619250"/>
            <a:ext cx="3095625" cy="11430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defRPr sz="1725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Οι παραλήπτες βλέπουν ποιοι άλλοι έλαβαν αντίγραφο του μηνύματος.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D8F020E-6165-4040-9BEA-7EB1BB870AD7}"/>
              </a:ext>
            </a:extLst>
          </p:cNvPr>
          <p:cNvSpPr>
            <a:spLocks noGrp="1"/>
          </p:cNvSpPr>
          <p:nvPr/>
        </p:nvSpPr>
        <p:spPr>
          <a:xfrm>
            <a:off x="6000750" y="1333500"/>
            <a:ext cx="5095875" cy="2381250"/>
          </a:xfrm>
          <a:prstGeom prst="roundRect">
            <a:avLst>
              <a:gd name="adj" fmla="val 3200"/>
            </a:avLst>
          </a:prstGeom>
          <a:solidFill>
            <a:srgbClr val="F8F5FB"/>
          </a:solidFill>
          <a:ln w="9525">
            <a:solidFill>
              <a:srgbClr val="DCE2E6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A73AF6-868F-41D3-B2F0-AFF9FAA8FCDA}"/>
              </a:ext>
            </a:extLst>
          </p:cNvPr>
          <p:cNvSpPr>
            <a:spLocks noGrp="1"/>
          </p:cNvSpPr>
          <p:nvPr/>
        </p:nvSpPr>
        <p:spPr>
          <a:xfrm>
            <a:off x="6286500" y="1600200"/>
            <a:ext cx="1143000" cy="5143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ctr">
              <a:defRPr sz="2550" b="1">
                <a:solidFill>
                  <a:srgbClr val="7B4AAC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7B4AAC"/>
                </a:solidFill>
                <a:latin typeface="Tahoma"/>
                <a:ea typeface="Tahoma"/>
                <a:cs typeface="Tahoma"/>
              </a:rPr>
              <a:t>Bcc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F1A61D5-3CCC-4E66-AAC2-46EC2980122C}"/>
              </a:ext>
            </a:extLst>
          </p:cNvPr>
          <p:cNvSpPr>
            <a:spLocks noGrp="1"/>
          </p:cNvSpPr>
          <p:nvPr/>
        </p:nvSpPr>
        <p:spPr>
          <a:xfrm>
            <a:off x="7620000" y="1619250"/>
            <a:ext cx="3095625" cy="11430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defRPr sz="1725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Οι διευθύνσεις στο Bcc παραμένουν κρυφές από τους υπόλοιπους παραλήπτες.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327587" y="4191000"/>
            <a:ext cx="5536826" cy="128587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5985A538-CFCA-4440-AB55-516149FC27BB}"/>
              </a:ext>
            </a:extLst>
          </p:cNvPr>
          <p:cNvSpPr>
            <a:spLocks noGrp="1"/>
          </p:cNvSpPr>
          <p:nvPr/>
        </p:nvSpPr>
        <p:spPr>
          <a:xfrm>
            <a:off x="552450" y="6429375"/>
            <a:ext cx="11087100" cy="47625"/>
          </a:xfrm>
          <a:prstGeom prst="rect">
            <a:avLst/>
          </a:prstGeom>
          <a:solidFill>
            <a:srgbClr val="F57C24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BB208C0-57DE-44E4-8897-C0B3688C3406}"/>
              </a:ext>
            </a:extLst>
          </p:cNvPr>
          <p:cNvSpPr>
            <a:spLocks noGrp="1"/>
          </p:cNvSpPr>
          <p:nvPr/>
        </p:nvSpPr>
        <p:spPr>
          <a:xfrm>
            <a:off x="4286250" y="6429375"/>
            <a:ext cx="7353300" cy="47625"/>
          </a:xfrm>
          <a:prstGeom prst="rect">
            <a:avLst/>
          </a:prstGeom>
          <a:solidFill>
            <a:srgbClr val="77A9D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77544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B4325950-A34B-4A4B-8C51-EF2DD10B3CDC}"/>
              </a:ext>
            </a:extLst>
          </p:cNvPr>
          <p:cNvSpPr>
            <a:spLocks noGrp="1"/>
          </p:cNvSpPr>
          <p:nvPr/>
        </p:nvSpPr>
        <p:spPr>
          <a:xfrm>
            <a:off x="552450" y="333375"/>
            <a:ext cx="11087100" cy="704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255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2550" b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Ποιο πεδίο χρησιμοποιούμε;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8F08E16-E8F0-4DE5-8D25-B0208853E971}"/>
              </a:ext>
            </a:extLst>
          </p:cNvPr>
          <p:cNvSpPr>
            <a:spLocks noGrp="1"/>
          </p:cNvSpPr>
          <p:nvPr/>
        </p:nvSpPr>
        <p:spPr>
          <a:xfrm>
            <a:off x="590550" y="1524000"/>
            <a:ext cx="3333750" cy="2857500"/>
          </a:xfrm>
          <a:prstGeom prst="roundRect">
            <a:avLst>
              <a:gd name="adj" fmla="val 2667"/>
            </a:avLst>
          </a:prstGeom>
          <a:solidFill>
            <a:srgbClr val="F4F6F8"/>
          </a:solidFill>
          <a:ln w="9525">
            <a:solidFill>
              <a:srgbClr val="DDE2E6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32E695C-335E-4600-99C8-2CA1D1B09151}"/>
              </a:ext>
            </a:extLst>
          </p:cNvPr>
          <p:cNvSpPr>
            <a:spLocks noGrp="1"/>
          </p:cNvSpPr>
          <p:nvPr/>
        </p:nvSpPr>
        <p:spPr>
          <a:xfrm>
            <a:off x="590550" y="1524000"/>
            <a:ext cx="3333750" cy="133350"/>
          </a:xfrm>
          <a:prstGeom prst="rect">
            <a:avLst/>
          </a:prstGeom>
          <a:solidFill>
            <a:srgbClr val="F57C24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FB17EAE-5789-46A8-83BE-12D97E9505BF}"/>
              </a:ext>
            </a:extLst>
          </p:cNvPr>
          <p:cNvSpPr>
            <a:spLocks noGrp="1"/>
          </p:cNvSpPr>
          <p:nvPr/>
        </p:nvSpPr>
        <p:spPr>
          <a:xfrm>
            <a:off x="828675" y="2000250"/>
            <a:ext cx="2857500" cy="42862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ctr">
              <a:defRPr sz="2250" b="1">
                <a:solidFill>
                  <a:srgbClr val="F57C24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F57C24"/>
                </a:solidFill>
                <a:latin typeface="Tahoma"/>
                <a:ea typeface="Tahoma"/>
                <a:cs typeface="Tahoma"/>
              </a:rPr>
              <a:t>Προς (To)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E8CB56-823F-4F1D-B09D-217AE02777DD}"/>
              </a:ext>
            </a:extLst>
          </p:cNvPr>
          <p:cNvSpPr>
            <a:spLocks noGrp="1"/>
          </p:cNvSpPr>
          <p:nvPr/>
        </p:nvSpPr>
        <p:spPr>
          <a:xfrm>
            <a:off x="923925" y="2809875"/>
            <a:ext cx="2667000" cy="1047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defRPr sz="165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Κύριος παραλήπτης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10F1EBC-854E-4522-9E84-49B06D54A662}"/>
              </a:ext>
            </a:extLst>
          </p:cNvPr>
          <p:cNvSpPr>
            <a:spLocks noGrp="1"/>
          </p:cNvSpPr>
          <p:nvPr/>
        </p:nvSpPr>
        <p:spPr>
          <a:xfrm>
            <a:off x="4305300" y="1524000"/>
            <a:ext cx="3333750" cy="2857500"/>
          </a:xfrm>
          <a:prstGeom prst="roundRect">
            <a:avLst>
              <a:gd name="adj" fmla="val 2667"/>
            </a:avLst>
          </a:prstGeom>
          <a:solidFill>
            <a:srgbClr val="F4F6F8"/>
          </a:solidFill>
          <a:ln w="9525">
            <a:solidFill>
              <a:srgbClr val="DDE2E6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3359F22-3A15-4288-BDB9-5B3746E06116}"/>
              </a:ext>
            </a:extLst>
          </p:cNvPr>
          <p:cNvSpPr>
            <a:spLocks noGrp="1"/>
          </p:cNvSpPr>
          <p:nvPr/>
        </p:nvSpPr>
        <p:spPr>
          <a:xfrm>
            <a:off x="4305300" y="1524000"/>
            <a:ext cx="3333750" cy="133350"/>
          </a:xfrm>
          <a:prstGeom prst="rect">
            <a:avLst/>
          </a:prstGeom>
          <a:solidFill>
            <a:srgbClr val="5599D8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419678B-031C-4FA3-84F2-A63792863213}"/>
              </a:ext>
            </a:extLst>
          </p:cNvPr>
          <p:cNvSpPr>
            <a:spLocks noGrp="1"/>
          </p:cNvSpPr>
          <p:nvPr/>
        </p:nvSpPr>
        <p:spPr>
          <a:xfrm>
            <a:off x="4543425" y="2000250"/>
            <a:ext cx="2857500" cy="42862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ctr">
              <a:defRPr sz="2250" b="1">
                <a:solidFill>
                  <a:srgbClr val="5599D8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5599D8"/>
                </a:solidFill>
                <a:latin typeface="Tahoma"/>
                <a:ea typeface="Tahoma"/>
                <a:cs typeface="Tahoma"/>
              </a:rPr>
              <a:t>Cc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4BE627A-FD6F-48B5-AAF1-009DC9136DAA}"/>
              </a:ext>
            </a:extLst>
          </p:cNvPr>
          <p:cNvSpPr>
            <a:spLocks noGrp="1"/>
          </p:cNvSpPr>
          <p:nvPr/>
        </p:nvSpPr>
        <p:spPr>
          <a:xfrm>
            <a:off x="4638675" y="2809875"/>
            <a:ext cx="2667000" cy="1047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defRPr sz="165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Ενημέρωση με ορατούς παραλήπτες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358F4DE-75B2-425A-BF41-D49E6C7A67E1}"/>
              </a:ext>
            </a:extLst>
          </p:cNvPr>
          <p:cNvSpPr>
            <a:spLocks noGrp="1"/>
          </p:cNvSpPr>
          <p:nvPr/>
        </p:nvSpPr>
        <p:spPr>
          <a:xfrm>
            <a:off x="8020050" y="1524000"/>
            <a:ext cx="3333750" cy="2857500"/>
          </a:xfrm>
          <a:prstGeom prst="roundRect">
            <a:avLst>
              <a:gd name="adj" fmla="val 2667"/>
            </a:avLst>
          </a:prstGeom>
          <a:solidFill>
            <a:srgbClr val="F4F6F8"/>
          </a:solidFill>
          <a:ln w="9525">
            <a:solidFill>
              <a:srgbClr val="DDE2E6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9ADE3D4-9C82-482F-B1C8-07AC2C13EA7C}"/>
              </a:ext>
            </a:extLst>
          </p:cNvPr>
          <p:cNvSpPr>
            <a:spLocks noGrp="1"/>
          </p:cNvSpPr>
          <p:nvPr/>
        </p:nvSpPr>
        <p:spPr>
          <a:xfrm>
            <a:off x="8020050" y="1524000"/>
            <a:ext cx="3333750" cy="133350"/>
          </a:xfrm>
          <a:prstGeom prst="rect">
            <a:avLst/>
          </a:prstGeom>
          <a:solidFill>
            <a:srgbClr val="7B4AAC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F88868D-C1DB-49FD-8F66-49C3D79B3621}"/>
              </a:ext>
            </a:extLst>
          </p:cNvPr>
          <p:cNvSpPr>
            <a:spLocks noGrp="1"/>
          </p:cNvSpPr>
          <p:nvPr/>
        </p:nvSpPr>
        <p:spPr>
          <a:xfrm>
            <a:off x="8258175" y="2000250"/>
            <a:ext cx="2857500" cy="42862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ctr">
              <a:defRPr sz="2250" b="1">
                <a:solidFill>
                  <a:srgbClr val="7B4AAC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7B4AAC"/>
                </a:solidFill>
                <a:latin typeface="Tahoma"/>
                <a:ea typeface="Tahoma"/>
                <a:cs typeface="Tahoma"/>
              </a:rPr>
              <a:t>Bcc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0AE0DFB-F0D0-49AA-8689-009DD523516E}"/>
              </a:ext>
            </a:extLst>
          </p:cNvPr>
          <p:cNvSpPr>
            <a:spLocks noGrp="1"/>
          </p:cNvSpPr>
          <p:nvPr/>
        </p:nvSpPr>
        <p:spPr>
          <a:xfrm>
            <a:off x="8353425" y="2809875"/>
            <a:ext cx="2667000" cy="1047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defRPr sz="165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Ενημέρωση χωρίς εμφάνιση των διευθύνσεων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474AC9A-30EF-47BF-B3C5-379EA1142A8F}"/>
              </a:ext>
            </a:extLst>
          </p:cNvPr>
          <p:cNvSpPr>
            <a:spLocks noGrp="1"/>
          </p:cNvSpPr>
          <p:nvPr/>
        </p:nvSpPr>
        <p:spPr>
          <a:xfrm>
            <a:off x="619125" y="5000625"/>
            <a:ext cx="10572750" cy="5238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ctr">
              <a:defRPr sz="1725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Για μαζική αποστολή χωρίς αποκάλυψη των διευθύνσεων χρησιμοποιούμε Bcc.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6FF9F3F-9C16-405D-A284-3266B140E0B6}"/>
              </a:ext>
            </a:extLst>
          </p:cNvPr>
          <p:cNvSpPr>
            <a:spLocks noGrp="1"/>
          </p:cNvSpPr>
          <p:nvPr/>
        </p:nvSpPr>
        <p:spPr>
          <a:xfrm>
            <a:off x="552450" y="6429375"/>
            <a:ext cx="11087100" cy="47625"/>
          </a:xfrm>
          <a:prstGeom prst="rect">
            <a:avLst/>
          </a:prstGeom>
          <a:solidFill>
            <a:srgbClr val="F57C24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C5ABD84-9A30-48CF-9025-E03581622F0B}"/>
              </a:ext>
            </a:extLst>
          </p:cNvPr>
          <p:cNvSpPr>
            <a:spLocks noGrp="1"/>
          </p:cNvSpPr>
          <p:nvPr/>
        </p:nvSpPr>
        <p:spPr>
          <a:xfrm>
            <a:off x="4286250" y="6429375"/>
            <a:ext cx="7353300" cy="47625"/>
          </a:xfrm>
          <a:prstGeom prst="rect">
            <a:avLst/>
          </a:prstGeom>
          <a:solidFill>
            <a:srgbClr val="77A9D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04008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1895EB8-36F6-489C-822F-F071C6E71FE1}"/>
              </a:ext>
            </a:extLst>
          </p:cNvPr>
          <p:cNvSpPr>
            <a:spLocks noGrp="1"/>
          </p:cNvSpPr>
          <p:nvPr/>
        </p:nvSpPr>
        <p:spPr>
          <a:xfrm>
            <a:off x="552450" y="333375"/>
            <a:ext cx="11087100" cy="704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255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2550" b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Ασκήσεις Α5.2 Μ2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62F47D3-A0DD-43CA-A643-1CB10BD67617}"/>
              </a:ext>
            </a:extLst>
          </p:cNvPr>
          <p:cNvSpPr>
            <a:spLocks noGrp="1"/>
          </p:cNvSpPr>
          <p:nvPr/>
        </p:nvSpPr>
        <p:spPr>
          <a:xfrm>
            <a:off x="619125" y="1200150"/>
            <a:ext cx="1762125" cy="47625"/>
          </a:xfrm>
          <a:prstGeom prst="rect">
            <a:avLst/>
          </a:prstGeom>
          <a:solidFill>
            <a:srgbClr val="F57C24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68D9C3-AEF9-4F75-BE80-7B656EAB6BA9}"/>
              </a:ext>
            </a:extLst>
          </p:cNvPr>
          <p:cNvSpPr>
            <a:spLocks noGrp="1"/>
          </p:cNvSpPr>
          <p:nvPr/>
        </p:nvSpPr>
        <p:spPr>
          <a:xfrm>
            <a:off x="590550" y="1524000"/>
            <a:ext cx="4000500" cy="1285875"/>
          </a:xfrm>
          <a:prstGeom prst="rect">
            <a:avLst/>
          </a:prstGeom>
          <a:noFill/>
          <a:ln w="0">
            <a:noFill/>
          </a:ln>
        </p:spPr>
        <p:txBody>
          <a:bodyPr lIns="28575" tIns="19050" rIns="28575" bIns="19050" anchor="t">
            <a:normAutofit/>
          </a:bodyPr>
          <a:lstStyle/>
          <a:p>
            <a:pPr marL="254000" indent="-152400" algn="l">
              <a:spcAft>
                <a:spcPts val="520"/>
              </a:spcAft>
              <a:buChar char="•"/>
              <a:defRPr sz="180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Σελίδες 135–137</a:t>
            </a:r>
          </a:p>
          <a:p>
            <a:pPr marL="254000" indent="-152400" algn="l">
              <a:spcAft>
                <a:spcPts val="520"/>
              </a:spcAft>
              <a:buChar char="•"/>
              <a:defRPr sz="180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Δραστηριότητες 1–19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2E93EF1-B98A-4856-93F8-2E0AD107F9F7}"/>
              </a:ext>
            </a:extLst>
          </p:cNvPr>
          <p:cNvSpPr>
            <a:spLocks noGrp="1"/>
          </p:cNvSpPr>
          <p:nvPr/>
        </p:nvSpPr>
        <p:spPr>
          <a:xfrm>
            <a:off x="590550" y="3143250"/>
            <a:ext cx="4000500" cy="1238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575" b="0">
                <a:solidFill>
                  <a:srgbClr val="444444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444444"/>
                </a:solidFill>
                <a:latin typeface="Tahoma"/>
                <a:ea typeface="Tahoma"/>
                <a:cs typeface="Tahoma"/>
              </a:rPr>
              <a:t>Εφαρμογή: Forward, Cc και Bcc. Παρατηρήστε ποιοι παραλήπτες βλέπουν τις άλλες διευθύνσεις.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568C8C9-7016-4CFB-964B-82CFCE778F37}"/>
              </a:ext>
            </a:extLst>
          </p:cNvPr>
          <p:cNvSpPr>
            <a:spLocks noGrp="1"/>
          </p:cNvSpPr>
          <p:nvPr/>
        </p:nvSpPr>
        <p:spPr>
          <a:xfrm>
            <a:off x="552450" y="6429375"/>
            <a:ext cx="11087100" cy="47625"/>
          </a:xfrm>
          <a:prstGeom prst="rect">
            <a:avLst/>
          </a:prstGeom>
          <a:solidFill>
            <a:srgbClr val="F57C24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4A4327D-6FC2-4A15-B6B1-B3E909314EB3}"/>
              </a:ext>
            </a:extLst>
          </p:cNvPr>
          <p:cNvSpPr>
            <a:spLocks noGrp="1"/>
          </p:cNvSpPr>
          <p:nvPr/>
        </p:nvSpPr>
        <p:spPr>
          <a:xfrm>
            <a:off x="4286250" y="6429375"/>
            <a:ext cx="7353300" cy="47625"/>
          </a:xfrm>
          <a:prstGeom prst="rect">
            <a:avLst/>
          </a:prstGeom>
          <a:solidFill>
            <a:srgbClr val="77A9D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017783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230</Words>
  <Application>Microsoft Office PowerPoint</Application>
  <DocSecurity>0</DocSecurity>
  <PresentationFormat>Widescreen</PresentationFormat>
  <Paragraphs>37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Calibri</vt:lpstr>
      <vt:lpstr>Tahoma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Άριστος Αρέστη</cp:lastModifiedBy>
  <cp:revision>1</cp:revision>
  <dcterms:created xsi:type="dcterms:W3CDTF">2026-09-12T05:23:28Z</dcterms:created>
  <dcterms:modified xsi:type="dcterms:W3CDTF">2026-09-26T06:34:38Z</dcterms:modified>
</cp:coreProperties>
</file>