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2a6be926db4c85" /><Relationship Type="http://schemas.openxmlformats.org/officeDocument/2006/relationships/extended-properties" Target="/docProps/app.xml" Id="Rb56e53031b494484" /><Relationship Type="http://schemas.openxmlformats.org/officeDocument/2006/relationships/officeDocument" Target="/ppt/presentation.xml" Id="R6e2b80bd649e49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3a0b81179a4e0d"/>
  </p:sldMasterIdLst>
  <p:notesMasterIdLst>
    <p:notesMasterId xmlns:r="http://schemas.openxmlformats.org/officeDocument/2006/relationships" r:id="R311263bcdce74617"/>
  </p:notesMasterIdLst>
  <p:sldIdLst>
    <p:sldId xmlns:r="http://schemas.openxmlformats.org/officeDocument/2006/relationships" id="256" r:id="R14da9f0f00064cc5"/>
    <p:sldId xmlns:r="http://schemas.openxmlformats.org/officeDocument/2006/relationships" id="257" r:id="Rc53e594228324992"/>
    <p:sldId xmlns:r="http://schemas.openxmlformats.org/officeDocument/2006/relationships" id="258" r:id="R289a5f67dd404835"/>
    <p:sldId xmlns:r="http://schemas.openxmlformats.org/officeDocument/2006/relationships" id="259" r:id="Rffa0f1ef38a9491d"/>
    <p:sldId xmlns:r="http://schemas.openxmlformats.org/officeDocument/2006/relationships" id="260" r:id="R7ca35ce7063e4da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57787058d44cac" /><Relationship Type="http://schemas.openxmlformats.org/officeDocument/2006/relationships/slideMaster" Target="/ppt/slideMasters/slideMaster1.xml" Id="R293a0b81179a4e0d" /><Relationship Type="http://schemas.openxmlformats.org/officeDocument/2006/relationships/notesMaster" Target="/ppt/notesMasters/notesMaster1.xml" Id="R311263bcdce74617" /><Relationship Type="http://schemas.openxmlformats.org/officeDocument/2006/relationships/presProps" Target="/ppt/presProps.xml" Id="R9b5f46c7b1df4e75" /><Relationship Type="http://schemas.openxmlformats.org/officeDocument/2006/relationships/tableStyles" Target="/ppt/tableStyles.xml" Id="R486a540db3334620" /><Relationship Type="http://schemas.openxmlformats.org/officeDocument/2006/relationships/slide" Target="/ppt/slides/slide1.xml" Id="R14da9f0f00064cc5" /><Relationship Type="http://schemas.openxmlformats.org/officeDocument/2006/relationships/slide" Target="/ppt/slides/slide2.xml" Id="Rc53e594228324992" /><Relationship Type="http://schemas.openxmlformats.org/officeDocument/2006/relationships/slide" Target="/ppt/slides/slide3.xml" Id="R289a5f67dd404835" /><Relationship Type="http://schemas.openxmlformats.org/officeDocument/2006/relationships/slide" Target="/ppt/slides/slide4.xml" Id="Rffa0f1ef38a9491d" /><Relationship Type="http://schemas.openxmlformats.org/officeDocument/2006/relationships/slide" Target="/ppt/slides/slide5.xml" Id="R7ca35ce7063e4d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a76ce112d9c41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7da8a79eff945ea" /><Relationship Type="http://schemas.openxmlformats.org/officeDocument/2006/relationships/notesMaster" Target="/ppt/notesMasters/notesMaster1.xml" Id="Rce942bd9a97a471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857487c72f4693" /><Relationship Type="http://schemas.openxmlformats.org/officeDocument/2006/relationships/notesMaster" Target="/ppt/notesMasters/notesMaster1.xml" Id="R2bcd5738619048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594923c1d4041a4" /><Relationship Type="http://schemas.openxmlformats.org/officeDocument/2006/relationships/notesMaster" Target="/ppt/notesMasters/notesMaster1.xml" Id="R157dd56b8c0b4bd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126ea372784903" /><Relationship Type="http://schemas.openxmlformats.org/officeDocument/2006/relationships/notesMaster" Target="/ppt/notesMasters/notesMaster1.xml" Id="Rdd8109742c3f4d0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11b682d4ab944b8" /><Relationship Type="http://schemas.openxmlformats.org/officeDocument/2006/relationships/notesMaster" Target="/ppt/notesMasters/notesMaster1.xml" Id="Rfb4338ca29c646b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Πηγές: σχολικό βιβλίο θεωρίας και Φύλλα Εργασίας Πληροφορικής Α΄ Γυμνασίου, ενότητα Α.2.Μ2. Πρότυπο μορφοποίησης: A1Μ1 Εισαγωγή στις Βασικές Έννοιες.pptx.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Πηγές: σχολικό βιβλίο θεωρίας και Φύλλα Εργασίας Πληροφορικής Α΄ Γυμνασίου, ενότητα Α.2.Μ2. Πρότυπο μορφοποίησης: A1Μ1 Εισαγωγή στις Βασικές Έννοιες.pptx.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Πηγές: σχολικό βιβλίο θεωρίας και Φύλλα Εργασίας Πληροφορικής Α΄ Γυμνασίου, ενότητα Α.2.Μ2. Πρότυπο μορφοποίησης: A1Μ1 Εισαγωγή στις Βασικές Έννοιες.pptx.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Πηγές: σχολικό βιβλίο θεωρίας και Φύλλα Εργασίας Πληροφορικής Α΄ Γυμνασίου, ενότητα Α.2.Μ2. Πρότυπο μορφοποίησης: A1Μ1 Εισαγωγή στις Βασικές Έννοιες.pptx.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Πηγές: σχολικό βιβλίο θεωρίας και Φύλλα Εργασίας Πληροφορικής Α΄ Γυμνασίου, ενότητα Α.2.Μ2. Πρότυπο μορφοποίησης: A1Μ1 Εισαγωγή στις Βασικές Έννοιες.pptx.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419d1ea4bf404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0353efa0f94331" /><Relationship Type="http://schemas.openxmlformats.org/officeDocument/2006/relationships/slideLayout" Target="/ppt/slideLayouts/slideLayout1.xml" Id="Rdbc4c9e3b70f4b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c4c9e3b70f4b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9b0b02d71f4c1f" /><Relationship Type="http://schemas.openxmlformats.org/officeDocument/2006/relationships/image" Target="/ppt/media/image.png" Id="Raaa52b2a232e4d29" /><Relationship Type="http://schemas.openxmlformats.org/officeDocument/2006/relationships/notesSlide" Target="/ppt/notesSlides/notesSlide1.xml" Id="Rd4a0794f3f154f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d2fa0475d54cb8" /><Relationship Type="http://schemas.openxmlformats.org/officeDocument/2006/relationships/notesSlide" Target="/ppt/notesSlides/notesSlide2.xml" Id="R24c2bd6128b447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17b4a975694d54" /><Relationship Type="http://schemas.openxmlformats.org/officeDocument/2006/relationships/image" Target="/ppt/media/image2.png" Id="R9a5a35981ebe42e3" /><Relationship Type="http://schemas.openxmlformats.org/officeDocument/2006/relationships/notesSlide" Target="/ppt/notesSlides/notesSlide3.xml" Id="R1607039f27f1418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e8c9a710b04fc8" /><Relationship Type="http://schemas.openxmlformats.org/officeDocument/2006/relationships/image" Target="/ppt/media/image3.png" Id="R2a84b4c07c144388" /><Relationship Type="http://schemas.openxmlformats.org/officeDocument/2006/relationships/notesSlide" Target="/ppt/notesSlides/notesSlide4.xml" Id="Rd18d9383cc3a476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10b475e4ca427d" /><Relationship Type="http://schemas.openxmlformats.org/officeDocument/2006/relationships/image" Target="/ppt/media/image4.png" Id="Rb27b9bc043b14032" /><Relationship Type="http://schemas.openxmlformats.org/officeDocument/2006/relationships/notesSlide" Target="/ppt/notesSlides/notesSlide5.xml" Id="Rd0c590c91cf7471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2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E726C8-735F-40B5-931D-E4D1F5FF13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a52b2a232e4d29"/>
          <a:srcRect xmlns:a="http://schemas.openxmlformats.org/drawingml/2006/main" l="0" t="7529" r="0" b="75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A73AB4-97AB-42C8-9AFF-94C6316A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2CE910-5E4A-47F0-8201-26C8D50C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66875"/>
            <a:ext cx="723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Α.2.Μ2 • ΜΕΡΟΣ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D6EA00-2DA3-4361-9532-740BE0408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33625"/>
            <a:ext cx="7524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34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Μονάδες και Περιφερειακά του Υπολογιστή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88352C-AED1-4F37-910A-4349866C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33875"/>
            <a:ext cx="952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27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59309015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318C26-0F09-42EA-948F-0599C519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Υλικό και λογισμικό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AF242F-5D5C-4C98-B3A6-191B1D21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9B9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668C75-54BB-46BF-828B-3FE924A7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66875"/>
            <a:ext cx="4953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5D5E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D988BA-883D-497B-BAF5-B4920F2A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66875"/>
            <a:ext cx="114300" cy="3143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7C2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8DF07A-87B9-4FA8-869A-C7D2FBA1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57375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47C27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F47C27"/>
                </a:solidFill>
                <a:latin typeface="Inter"/>
                <a:ea typeface="Inter"/>
                <a:cs typeface="Inter"/>
              </a:rPr>
              <a:t>Υλικό (Hardware)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85679D-E0E9-4E32-9761-78DE42660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90775"/>
            <a:ext cx="4429125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Όλα τα ηλεκτρονικά και μηχανικά εξαρτήματα και οι συσκευές που μπορούμε να δούμε και να αγγίξουμε: CPU, RAM, οθόνη, πληκτρολόγιο, δίσκος.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EEBD28-1F43-4888-8970-922594E2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666875"/>
            <a:ext cx="4953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5D5E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58EF23-DBF2-426C-9275-E4905A9F9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666875"/>
            <a:ext cx="114300" cy="3143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B76C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7AC55B-3054-4615-8353-874AA50E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857375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4B76C5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4B76C5"/>
                </a:solidFill>
                <a:latin typeface="Inter"/>
                <a:ea typeface="Inter"/>
                <a:cs typeface="Inter"/>
              </a:rPr>
              <a:t>Λογισμικό (Software)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7B619D-FFDD-4A37-9B96-1CBF35E4E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90775"/>
            <a:ext cx="4429125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Τα άυλα προγράμματα που δίνουν εντολές και συντονίζουν το υλικό ώστε ο υπολογιστής να εκτελέσει μια εργασία.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3F9549-F64A-4AA7-8DE1-E16D3BB9D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286375"/>
            <a:ext cx="771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5A58CB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5A58CB"/>
                </a:solidFill>
                <a:latin typeface="Inter"/>
                <a:ea typeface="Inter"/>
                <a:cs typeface="Inter"/>
              </a:rPr>
              <a:t>Το υλικό εκτελεί — το λογισμικό καθοδηγεί.</a:t>
            </a:r>
          </a:p>
        </p:txBody>
      </p:sp>
    </p:spTree>
    <p:extLst>
      <p:ext uri="{BB962C8B-B14F-4D97-AF65-F5344CB8AC3E}">
        <p14:creationId xmlns:p14="http://schemas.microsoft.com/office/powerpoint/2010/main" val="141239964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895C0A-A118-443A-9D5E-B4C3F82D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Οι τέσσερις βασικές λειτουργίες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0F2B3D-3358-4CCF-AF70-1E19AB1AC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9B9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A32CCB-13B9-4DCE-9B1F-65E5A577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571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D9DAF2"/>
          </a:solidFill>
          <a:ln xmlns:a="http://schemas.openxmlformats.org/drawingml/2006/main" w="9525">
            <a:solidFill>
              <a:srgbClr val="C4C5D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379245-A406-4E77-B15F-995E7DDFD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478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7C2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242D9B-478D-43D1-BBE9-A2081F76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88595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5F3087-DB83-4B9B-BED1-2DBA9136E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876425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Είσοδος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BA3196-D4CC-49D4-9332-369496C1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95550"/>
            <a:ext cx="2228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Δεδομένα προς τον υπολογιστή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FDB6BA-017D-4F4E-B44C-6DEC8517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14500"/>
            <a:ext cx="2571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D9DAF2"/>
          </a:solidFill>
          <a:ln xmlns:a="http://schemas.openxmlformats.org/drawingml/2006/main" w="9525">
            <a:solidFill>
              <a:srgbClr val="C4C5D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EA0CA8-5C77-4541-A355-EF35DDB76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8478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4B76C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364B28-0F1C-40E8-87C1-3AC1A2E3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188595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9ECA7F-95AE-463A-B828-4E27623BD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876425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Επεξεργασία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CD905F-5737-48A7-AB75-ECBC2FD1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95550"/>
            <a:ext cx="2228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Εκτέλεση εντολών από την CPU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6FBAF0-92C4-4893-A7C1-CC7D7232B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2571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D9DAF2"/>
          </a:solidFill>
          <a:ln xmlns:a="http://schemas.openxmlformats.org/drawingml/2006/main" w="9525">
            <a:solidFill>
              <a:srgbClr val="C4C5D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A3CFAA-1905-440E-9F74-25A3BC694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478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5A58C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683CA8-1E9E-4D37-9847-B31E2B5B6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88595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E795E4-6E5B-49A7-A234-7FCDEA84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876425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Αποθήκευση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2E4A3E-8F6E-4C9B-B7DC-68DA7EBFD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95550"/>
            <a:ext cx="2228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Προσωρινή ή μόνιμη φύλαξη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6D7A26-E5BB-43E9-9FCC-711F6752F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14500"/>
            <a:ext cx="2571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D9DAF2"/>
          </a:solidFill>
          <a:ln xmlns:a="http://schemas.openxmlformats.org/drawingml/2006/main" w="9525">
            <a:solidFill>
              <a:srgbClr val="C4C5D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77B544-0D1B-473E-B1DB-F8A7C9F66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8478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6A994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81DDCD-BBE8-4EF2-B2C2-2B514949A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188595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8B2BAD-7DB7-4140-999E-010E334E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876425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Έξοδος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306CAE-7114-48A4-9E24-F1F53F9D4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95550"/>
            <a:ext cx="2228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Πληροφορίες προς τον χρήστη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D7EE28-CDC2-4C0A-BEA7-52E2F2A8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00500"/>
            <a:ext cx="914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5A58CB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5A58CB"/>
                </a:solidFill>
                <a:latin typeface="Inter"/>
                <a:ea typeface="Inter"/>
                <a:cs typeface="Inter"/>
              </a:rPr>
              <a:t>Το πρόγραμμα συντονίζει τη ροή: δεδομένα → επεξεργασία → πληροφορίες.</a:t>
            </a:r>
          </a:p>
        </p:txBody>
      </p:sp>
      <p:pic>
        <p:nvPic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1D46AA7-CDC8-448A-BCD7-BDC57F110E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5a35981ebe42e3"/>
          <a:stretch xmlns:a="http://schemas.openxmlformats.org/drawingml/2006/main"/>
        </p:blipFill>
        <p:spPr>
          <a:xfrm xmlns:a="http://schemas.openxmlformats.org/drawingml/2006/main">
            <a:off x="4174214" y="4857750"/>
            <a:ext cx="3843572" cy="857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12785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40289C-DA1B-4406-AF19-17E20E40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Οι κύριες μονάδες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971A72-EC6F-4FA7-98EB-BF3472759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9B9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23B5A4-D0A7-444E-A11D-543B34863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3476625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5D5E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AF8FD4-733B-4B5B-8BDD-B0680401F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14300" cy="3476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7C2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D6E25B-7F82-4FD3-B6FF-53D4BB9F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3000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47C27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F47C27"/>
                </a:solidFill>
                <a:latin typeface="Inter"/>
                <a:ea typeface="Inter"/>
                <a:cs typeface="Inter"/>
              </a:rPr>
              <a:t>ΚΜΕ / CPU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986E77-F004-4832-8D97-A483D222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95525"/>
            <a:ext cx="29527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Επεξεργάζεται τα δεδομένα εκτελώντας τις εντολές του προγράμματος. Ονομάζεται και μικροεπεξεργαστής.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79CF8F-083A-4C4D-A891-21334AA6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71625"/>
            <a:ext cx="3476625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5D5E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AAD15B-40F2-4A88-9694-DA54D62E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71625"/>
            <a:ext cx="114300" cy="3476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B76C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625A21-7BFD-4D67-B590-9B1224BE8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762125"/>
            <a:ext cx="3000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4B76C5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4B76C5"/>
                </a:solidFill>
                <a:latin typeface="Inter"/>
                <a:ea typeface="Inter"/>
                <a:cs typeface="Inter"/>
              </a:rPr>
              <a:t>Κύρια μνήμη / RAM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134854-D367-43D4-AFB6-B5BE611EC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95525"/>
            <a:ext cx="29527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Γρήγορη, προσωρινή αποθήκευση πληροφοριών όσο εκτελείται ένα πρόγραμμα. Τα περιεχόμενά της χάνονται χωρίς ρεύμα.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F1570F-8948-406C-9069-227C034F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571625"/>
            <a:ext cx="3476625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5D5E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28CC98-DA12-49E7-9FF1-1C673A917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571625"/>
            <a:ext cx="114300" cy="3476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A58C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3446C1-9950-4016-9A4B-75860D1A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762125"/>
            <a:ext cx="3000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A58CB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5A58CB"/>
                </a:solidFill>
                <a:latin typeface="Inter"/>
                <a:ea typeface="Inter"/>
                <a:cs typeface="Inter"/>
              </a:rPr>
              <a:t>Μονάδα I/O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ADC319-6CBF-4A1A-A76C-516CA0D01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95525"/>
            <a:ext cx="29527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Συνδέει τις περιφερειακές συσκευές και μεσολαβεί στην επικοινωνία τους με την ΚΜΕ.</a:t>
            </a:r>
          </a:p>
        </p:txBody>
      </p:sp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929068-1AF3-4E16-9B38-E6447BAA3C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84b4c07c144388"/>
          <a:stretch xmlns:a="http://schemas.openxmlformats.org/drawingml/2006/main"/>
        </p:blipFill>
        <p:spPr>
          <a:xfrm xmlns:a="http://schemas.openxmlformats.org/drawingml/2006/main">
            <a:off x="5548313" y="5191125"/>
            <a:ext cx="1095375" cy="1095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10871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AF72FA-49A7-44DD-AD5B-4735F5F5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Ερωτήσεις του Φύλλου Εργασίας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79B707-D240-4D63-A05B-DC62B0ABE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9B9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0DBFC0-D3FD-41B6-8367-DC859196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76375"/>
            <a:ext cx="685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Ασκήσεις για το Μέρος 1 — κύριες μονάδες και λειτουργία: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2E9997-0238-4882-AD82-01A0D2FC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571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7C2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E1D167-628C-4CEB-8294-70E75CFBD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336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2CEF06-5650-4CFB-A4A8-23787F5CB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95500"/>
            <a:ext cx="638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Οι τέσσερις βασικές λειτουργίες του υπολογιστή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1D50FC-15A8-4511-937F-C33EC7BB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571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4B76C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8B3457-4E0C-4C42-8D09-0594E43BD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6827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4β–δ,η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7D898E-6B93-4C9D-B596-E5C8D276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24150"/>
            <a:ext cx="638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RAM, CPU, I/O και κύρια μνήμη — Ορθό/Λάθος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1BEC46-EB9B-4655-B02A-5DF598BBF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571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7C2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82623B-0617-47F6-B7F6-5DA7A4D8B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09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5–6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C6AAA2-8D75-435C-B90A-BA7CB6EF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52800"/>
            <a:ext cx="638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Διάκριση Υλικού (Hardware) και Λογισμικού (Software)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AA3A57-9F60-4113-A35A-BC01D2AB9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81450"/>
            <a:ext cx="571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4B76C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941C14-DEEA-4081-AC4B-F8DE885A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95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7–8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0E2D7E-7B1D-42D5-9375-BF004699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81450"/>
            <a:ext cx="638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Ρόλος και ονομασία της Κεντρικής Μονάδας Επεξεργασίας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FECE7D-91F3-4FCC-B884-44E7FBEE9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0100"/>
            <a:ext cx="571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7C2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565CC9-CE23-4FA2-9B2E-1B2A33F47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482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92E2C8-89B7-438B-9AAC-8D9F68AE2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10100"/>
            <a:ext cx="638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Χρήση της κύριας μνήμης RAM</a:t>
            </a:r>
          </a:p>
        </p:txBody>
      </p:sp>
      <p:pic>
        <p:nvPic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D8E2F6D-E148-4375-830A-CB5C4829EE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7b9bc043b14032"/>
          <a:stretch xmlns:a="http://schemas.openxmlformats.org/drawingml/2006/main"/>
        </p:blipFill>
        <p:spPr>
          <a:xfrm xmlns:a="http://schemas.openxmlformats.org/drawingml/2006/main">
            <a:off x="8334375" y="2597571"/>
            <a:ext cx="2857500" cy="1377108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016AA6-8F1A-4C9A-A1FD-A4821C12B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958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5A58CB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5A58CB"/>
                </a:solidFill>
                <a:latin typeface="Inter"/>
                <a:ea typeface="Inter"/>
                <a:cs typeface="Inter"/>
              </a:rPr>
              <a:t>Σελίδες 21–25</a:t>
            </a:r>
          </a:p>
        </p:txBody>
      </p:sp>
    </p:spTree>
    <p:extLst>
      <p:ext uri="{BB962C8B-B14F-4D97-AF65-F5344CB8AC3E}">
        <p14:creationId xmlns:p14="http://schemas.microsoft.com/office/powerpoint/2010/main" val="21316477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2026-10-16T20:26:18.4400000Z</dcterms:created>
  <dcterms:modified xsi:type="dcterms:W3CDTF">2026-10-16T20:26:18.4400000Z</dcterms:modified>
</coreProperties>
</file>