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9" r:id="rId12"/>
    <p:sldId id="270" r:id="rId13"/>
    <p:sldId id="271" r:id="rId14"/>
    <p:sldId id="272" r:id="rId15"/>
    <p:sldId id="273" r:id="rId16"/>
    <p:sldId id="259" r:id="rId5"/>
    <p:sldId id="261" r:id="rId6"/>
  </p:sldIdLst>
  <p:sldSz cx="12192000" cy="6858000"/>
  <p:notesSz cx="6858000" cy="9144000"/>
  <p:defaultTextStyle>
    <a:defPPr>
      <a:defRPr lang="en-C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modSld">
      <pc:chgData name="Άριστος Αρέστη" userId="813aa191-2d4c-464f-9d05-0a7e494d859f" providerId="ADAL" clId="{49C7B61D-1ACF-4AFF-A04E-A3B433E32474}" dt="2026-09-25T18:16:58.132" v="1" actId="20577"/>
      <pc:docMkLst>
        <pc:docMk/>
      </pc:docMkLst>
      <pc:sldChg chg="modSp mod">
        <pc:chgData name="Άριστος Αρέστη" userId="813aa191-2d4c-464f-9d05-0a7e494d859f" providerId="ADAL" clId="{49C7B61D-1ACF-4AFF-A04E-A3B433E32474}" dt="2026-09-25T18:16:58.132" v="1" actId="20577"/>
        <pc:sldMkLst>
          <pc:docMk/>
          <pc:sldMk cId="734411823" sldId="257"/>
        </pc:sldMkLst>
        <pc:graphicFrameChg chg="modGraphic">
          <ac:chgData name="Άριστος Αρέστη" userId="813aa191-2d4c-464f-9d05-0a7e494d859f" providerId="ADAL" clId="{49C7B61D-1ACF-4AFF-A04E-A3B433E32474}" dt="2026-09-25T18:16:58.132" v="1" actId="20577"/>
          <ac:graphicFrameMkLst>
            <pc:docMk/>
            <pc:sldMk cId="734411823" sldId="257"/>
            <ac:graphicFrameMk id="5" creationId="{A3E00B58-6928-32EB-BCD8-28AB606A9A41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752A77-1A3A-4C03-A5C0-D025542DA505}" type="doc">
      <dgm:prSet loTypeId="urn:microsoft.com/office/officeart/2005/8/layout/vList2" loCatId="list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B51E39D-6055-4E29-BA16-82D66C911728}">
      <dgm:prSet custT="1"/>
      <dgm:spPr/>
      <dgm:t>
        <a:bodyPr/>
        <a:lstStyle/>
        <a:p>
          <a:r>
            <a:rPr lang="el-GR" sz="1600" b="1" i="0" baseline="0" dirty="0"/>
            <a:t>Δίκτυο Η/Υ (</a:t>
          </a:r>
          <a:r>
            <a:rPr lang="en-US" sz="1600" b="1" i="0" baseline="0" dirty="0"/>
            <a:t>Network): </a:t>
          </a:r>
          <a:r>
            <a:rPr lang="el-GR" sz="1600" b="0" i="0" baseline="0" dirty="0"/>
            <a:t>Σύνδεση δύο ή περισσότερων Η/Υ μεταξύ τους με σκοπό την</a:t>
          </a:r>
          <a:r>
            <a:rPr lang="en-US" sz="1600" b="0" i="0" baseline="0" dirty="0"/>
            <a:t> </a:t>
          </a:r>
          <a:r>
            <a:rPr lang="el-GR" sz="1600" b="0" i="0" baseline="0" dirty="0"/>
            <a:t>ανταλλαγή πληροφοριών ή να μοιράζονται κοινές περιφερειακές</a:t>
          </a:r>
          <a:r>
            <a:rPr lang="en-US" sz="1600" b="0" i="0" baseline="0" dirty="0"/>
            <a:t> </a:t>
          </a:r>
          <a:r>
            <a:rPr lang="el-GR" sz="1600" b="0" i="0" baseline="0" dirty="0"/>
            <a:t>συσκευές και λογισμικό</a:t>
          </a:r>
          <a:r>
            <a:rPr lang="en-US" sz="1600" b="0" i="0" baseline="0" dirty="0"/>
            <a:t>.</a:t>
          </a:r>
          <a:endParaRPr lang="en-US" sz="1600" dirty="0"/>
        </a:p>
      </dgm:t>
    </dgm:pt>
    <dgm:pt modelId="{17B57465-5BBF-45D7-8B12-45FD7A99BEFE}" type="parTrans" cxnId="{637E44AF-BE4B-4B2C-B2D9-C7B71124DAE1}">
      <dgm:prSet/>
      <dgm:spPr/>
      <dgm:t>
        <a:bodyPr/>
        <a:lstStyle/>
        <a:p>
          <a:endParaRPr lang="en-US"/>
        </a:p>
      </dgm:t>
    </dgm:pt>
    <dgm:pt modelId="{FDFD6CF4-6D30-4230-A17B-BF6AB0E545A0}" type="sibTrans" cxnId="{637E44AF-BE4B-4B2C-B2D9-C7B71124DAE1}">
      <dgm:prSet/>
      <dgm:spPr/>
      <dgm:t>
        <a:bodyPr/>
        <a:lstStyle/>
        <a:p>
          <a:endParaRPr lang="en-US"/>
        </a:p>
      </dgm:t>
    </dgm:pt>
    <dgm:pt modelId="{C693D07E-9624-431B-9CAE-918E6BAACD18}">
      <dgm:prSet custT="1"/>
      <dgm:spPr/>
      <dgm:t>
        <a:bodyPr/>
        <a:lstStyle/>
        <a:p>
          <a:r>
            <a:rPr lang="el-GR" sz="1600" b="1" i="0" baseline="0" dirty="0"/>
            <a:t>Διαδίκτυο (Internet): </a:t>
          </a:r>
          <a:r>
            <a:rPr lang="el-GR" sz="1600" b="0" i="0" baseline="0" dirty="0"/>
            <a:t>Δίκτυο που αποτελείται από πολλά δίκτυα που βρίσκονται</a:t>
          </a:r>
          <a:r>
            <a:rPr lang="en-US" sz="1600" b="0" i="0" baseline="0" dirty="0"/>
            <a:t> </a:t>
          </a:r>
          <a:r>
            <a:rPr lang="el-GR" sz="1600" b="0" i="0" baseline="0" dirty="0"/>
            <a:t>σκορπισμένα σε όλη τη γη</a:t>
          </a:r>
          <a:r>
            <a:rPr lang="en-US" sz="1600" b="0" i="0" baseline="0" dirty="0"/>
            <a:t>.</a:t>
          </a:r>
          <a:endParaRPr lang="en-US" sz="1600" dirty="0"/>
        </a:p>
      </dgm:t>
    </dgm:pt>
    <dgm:pt modelId="{86E9D31D-7022-4022-9F2A-24EB976E969E}" type="parTrans" cxnId="{26613A90-496A-4A10-8083-B609D360D5CF}">
      <dgm:prSet/>
      <dgm:spPr/>
      <dgm:t>
        <a:bodyPr/>
        <a:lstStyle/>
        <a:p>
          <a:endParaRPr lang="en-US"/>
        </a:p>
      </dgm:t>
    </dgm:pt>
    <dgm:pt modelId="{413B60AF-A3A3-45A3-AFD2-E2EFA8B31769}" type="sibTrans" cxnId="{26613A90-496A-4A10-8083-B609D360D5CF}">
      <dgm:prSet/>
      <dgm:spPr/>
      <dgm:t>
        <a:bodyPr/>
        <a:lstStyle/>
        <a:p>
          <a:endParaRPr lang="en-US"/>
        </a:p>
      </dgm:t>
    </dgm:pt>
    <dgm:pt modelId="{B3BA226E-7AB9-4D23-9213-8A8590DF3B14}">
      <dgm:prSet custT="1"/>
      <dgm:spPr/>
      <dgm:t>
        <a:bodyPr/>
        <a:lstStyle/>
        <a:p>
          <a:r>
            <a:rPr lang="el-GR" sz="1600" b="1" i="0" baseline="0" dirty="0" err="1"/>
            <a:t>Παροχέα</a:t>
          </a:r>
          <a:r>
            <a:rPr lang="el-GR" sz="1600" b="1" i="0" baseline="0" dirty="0"/>
            <a:t> Υπηρεσιών Διαδικτύου (ISP): </a:t>
          </a:r>
          <a:r>
            <a:rPr lang="el-GR" sz="1600" b="0" i="0" baseline="0" dirty="0"/>
            <a:t>Η εταιρεία που αναλαμβάνει να μας παρέχει την υπηρεσία</a:t>
          </a:r>
          <a:r>
            <a:rPr lang="en-US" sz="1600" b="0" i="0" baseline="0" dirty="0"/>
            <a:t> </a:t>
          </a:r>
          <a:r>
            <a:rPr lang="el-GR" sz="1600" b="0" i="0" baseline="0" dirty="0"/>
            <a:t>διαδικτύου, παρέχοντάς μας μια γραμμή σύνδεσης</a:t>
          </a:r>
          <a:r>
            <a:rPr lang="en-US" sz="1600" b="0" i="0" baseline="0" dirty="0"/>
            <a:t>, </a:t>
          </a:r>
          <a:r>
            <a:rPr lang="el-GR" sz="1600" b="0" i="0" baseline="0" dirty="0" err="1"/>
            <a:t>π.χ</a:t>
          </a:r>
          <a:r>
            <a:rPr lang="el-GR" sz="1600" b="0" i="0" baseline="0" dirty="0"/>
            <a:t> </a:t>
          </a:r>
          <a:r>
            <a:rPr lang="en-US" sz="1600" b="0" i="0" baseline="0" dirty="0"/>
            <a:t>CYTA</a:t>
          </a:r>
          <a:endParaRPr lang="en-US" sz="1600" dirty="0"/>
        </a:p>
      </dgm:t>
    </dgm:pt>
    <dgm:pt modelId="{BA4A4ECB-24EA-4506-90FC-44877A1CFF1C}" type="parTrans" cxnId="{3ED816C2-9DD8-4F1B-A1DF-AE539461F2A5}">
      <dgm:prSet/>
      <dgm:spPr/>
      <dgm:t>
        <a:bodyPr/>
        <a:lstStyle/>
        <a:p>
          <a:endParaRPr lang="en-US"/>
        </a:p>
      </dgm:t>
    </dgm:pt>
    <dgm:pt modelId="{54D22786-7AED-4263-B681-45989ABFBC76}" type="sibTrans" cxnId="{3ED816C2-9DD8-4F1B-A1DF-AE539461F2A5}">
      <dgm:prSet/>
      <dgm:spPr/>
      <dgm:t>
        <a:bodyPr/>
        <a:lstStyle/>
        <a:p>
          <a:endParaRPr lang="en-US"/>
        </a:p>
      </dgm:t>
    </dgm:pt>
    <dgm:pt modelId="{64DAEE11-12F5-4AC4-8267-61918C785D1E}">
      <dgm:prSet custT="1"/>
      <dgm:spPr/>
      <dgm:t>
        <a:bodyPr/>
        <a:lstStyle/>
        <a:p>
          <a:r>
            <a:rPr lang="el-GR" sz="1600" b="1" i="0" baseline="0" dirty="0"/>
            <a:t>Διαμορφωτής/</a:t>
          </a:r>
          <a:r>
            <a:rPr lang="el-GR" sz="1600" b="1" i="0" baseline="0" dirty="0" err="1"/>
            <a:t>αποδιαμορφωτής</a:t>
          </a:r>
          <a:r>
            <a:rPr lang="el-GR" sz="1600" b="1" i="0" baseline="0" dirty="0"/>
            <a:t> (</a:t>
          </a:r>
          <a:r>
            <a:rPr lang="el-GR" sz="1600" b="1" i="0" baseline="0" dirty="0" err="1"/>
            <a:t>Modem</a:t>
          </a:r>
          <a:r>
            <a:rPr lang="el-GR" sz="1600" b="1" i="0" baseline="0" dirty="0"/>
            <a:t>): </a:t>
          </a:r>
          <a:r>
            <a:rPr lang="el-GR" sz="1600" b="0" i="0" baseline="0" dirty="0"/>
            <a:t>Συσκευή που είναι απαραίτητη για να γίνεται η σύνδεση του</a:t>
          </a:r>
          <a:r>
            <a:rPr lang="en-US" sz="1600" b="0" i="0" baseline="0" dirty="0"/>
            <a:t> </a:t>
          </a:r>
          <a:r>
            <a:rPr lang="el-GR" sz="1600" b="0" i="0" baseline="0" dirty="0"/>
            <a:t>Η/Υ στο διαδίκτυο μέσω της τηλεφωνικής γραμμής του</a:t>
          </a:r>
          <a:r>
            <a:rPr lang="en-US" sz="1600" b="0" i="0" baseline="0" dirty="0"/>
            <a:t> </a:t>
          </a:r>
          <a:r>
            <a:rPr lang="el-GR" sz="1600" b="0" i="0" baseline="0" dirty="0" err="1"/>
            <a:t>παροχέα</a:t>
          </a:r>
          <a:r>
            <a:rPr lang="el-GR" sz="1600" b="0" i="0" baseline="0" dirty="0"/>
            <a:t> ή μέσω καλωδίου οπτικών ινών</a:t>
          </a:r>
          <a:r>
            <a:rPr lang="en-US" sz="1600" b="0" i="0" baseline="0" dirty="0"/>
            <a:t>.</a:t>
          </a:r>
          <a:endParaRPr lang="en-US" sz="1600" dirty="0"/>
        </a:p>
      </dgm:t>
    </dgm:pt>
    <dgm:pt modelId="{DE6183F6-705F-4F2E-B661-772D656B0368}" type="parTrans" cxnId="{803C207A-B1E5-45FA-BAF7-93F290F6DD2B}">
      <dgm:prSet/>
      <dgm:spPr/>
      <dgm:t>
        <a:bodyPr/>
        <a:lstStyle/>
        <a:p>
          <a:endParaRPr lang="en-US"/>
        </a:p>
      </dgm:t>
    </dgm:pt>
    <dgm:pt modelId="{7C25A55D-5279-4ECC-9EE0-C40AEDB6CA20}" type="sibTrans" cxnId="{803C207A-B1E5-45FA-BAF7-93F290F6DD2B}">
      <dgm:prSet/>
      <dgm:spPr/>
      <dgm:t>
        <a:bodyPr/>
        <a:lstStyle/>
        <a:p>
          <a:endParaRPr lang="en-US"/>
        </a:p>
      </dgm:t>
    </dgm:pt>
    <dgm:pt modelId="{3AA65860-AD65-4325-8511-04D6BF04A83E}">
      <dgm:prSet custT="1"/>
      <dgm:spPr/>
      <dgm:t>
        <a:bodyPr/>
        <a:lstStyle/>
        <a:p>
          <a:r>
            <a:rPr lang="el-GR" sz="1600" b="1" i="0" baseline="0" dirty="0"/>
            <a:t>Δρομολογητής (</a:t>
          </a:r>
          <a:r>
            <a:rPr lang="el-GR" sz="1600" b="1" i="0" baseline="0" dirty="0" err="1"/>
            <a:t>Router</a:t>
          </a:r>
          <a:r>
            <a:rPr lang="el-GR" sz="1600" b="1" i="0" baseline="0" dirty="0"/>
            <a:t>): </a:t>
          </a:r>
          <a:r>
            <a:rPr lang="el-GR" sz="1600" b="0" i="0" baseline="0" dirty="0"/>
            <a:t>Λαμβάνει τις πληροφορίες και τις διαβιβάζει στους</a:t>
          </a:r>
          <a:r>
            <a:rPr lang="en-US" sz="1600" b="0" i="0" baseline="0" dirty="0"/>
            <a:t> </a:t>
          </a:r>
          <a:r>
            <a:rPr lang="el-GR" sz="1600" b="0" i="0" baseline="0" dirty="0"/>
            <a:t>προορισμούς τους χρησιμοποιώντας την πιο σύντομη και</a:t>
          </a:r>
          <a:r>
            <a:rPr lang="en-US" sz="1600" b="0" i="0" baseline="0" dirty="0"/>
            <a:t> </a:t>
          </a:r>
          <a:r>
            <a:rPr lang="el-GR" sz="1600" b="0" i="0" baseline="0" dirty="0"/>
            <a:t>διαθέσιμη διαδρομή</a:t>
          </a:r>
          <a:r>
            <a:rPr lang="en-US" sz="1600" b="0" i="0" baseline="0" dirty="0"/>
            <a:t>.</a:t>
          </a:r>
          <a:endParaRPr lang="en-US" sz="1600" dirty="0"/>
        </a:p>
      </dgm:t>
    </dgm:pt>
    <dgm:pt modelId="{8A2DB56A-AC57-4662-87F8-64C4ADE729EE}" type="parTrans" cxnId="{2075ECF3-492E-4B75-9559-5E43F15E4888}">
      <dgm:prSet/>
      <dgm:spPr/>
      <dgm:t>
        <a:bodyPr/>
        <a:lstStyle/>
        <a:p>
          <a:endParaRPr lang="en-US"/>
        </a:p>
      </dgm:t>
    </dgm:pt>
    <dgm:pt modelId="{B9A1DE26-C1DB-4DA4-B949-1358B2D2CC1E}" type="sibTrans" cxnId="{2075ECF3-492E-4B75-9559-5E43F15E4888}">
      <dgm:prSet/>
      <dgm:spPr/>
      <dgm:t>
        <a:bodyPr/>
        <a:lstStyle/>
        <a:p>
          <a:endParaRPr lang="en-US"/>
        </a:p>
      </dgm:t>
    </dgm:pt>
    <dgm:pt modelId="{BC3AFF95-F8AF-466A-A683-D6373630E1BC}">
      <dgm:prSet custT="1"/>
      <dgm:spPr/>
      <dgm:t>
        <a:bodyPr/>
        <a:lstStyle/>
        <a:p>
          <a:r>
            <a:rPr lang="el-GR" sz="1600" b="1" i="0" baseline="0" dirty="0" err="1"/>
            <a:t>Φυλλομετρητής</a:t>
          </a:r>
          <a:r>
            <a:rPr lang="el-GR" sz="1600" b="1" i="0" baseline="0" dirty="0"/>
            <a:t> Ιστού (Web </a:t>
          </a:r>
          <a:r>
            <a:rPr lang="el-GR" sz="1600" b="1" i="0" baseline="0" dirty="0" err="1"/>
            <a:t>Browser</a:t>
          </a:r>
          <a:r>
            <a:rPr lang="el-GR" sz="1600" b="1" i="0" baseline="0" dirty="0"/>
            <a:t>): </a:t>
          </a:r>
          <a:r>
            <a:rPr lang="el-GR" sz="1600" b="0" i="0" baseline="0" dirty="0"/>
            <a:t>Πρόγραμμα με το οποίο μας δίνεται η δυνατότητα να</a:t>
          </a:r>
          <a:r>
            <a:rPr lang="en-US" sz="1600" b="0" i="0" baseline="0" dirty="0"/>
            <a:t> </a:t>
          </a:r>
          <a:r>
            <a:rPr lang="el-GR" sz="1600" b="0" i="0" baseline="0" dirty="0"/>
            <a:t>ανοίξουμε σελίδες που βρίσκονται στο διαδίκτυο.</a:t>
          </a:r>
          <a:endParaRPr lang="en-US" sz="1600" dirty="0"/>
        </a:p>
      </dgm:t>
    </dgm:pt>
    <dgm:pt modelId="{4B8B90D1-8705-4998-8678-D3076914FE89}" type="parTrans" cxnId="{D943F49D-A79D-48DC-9278-9E1A32D6AF1C}">
      <dgm:prSet/>
      <dgm:spPr/>
      <dgm:t>
        <a:bodyPr/>
        <a:lstStyle/>
        <a:p>
          <a:endParaRPr lang="en-US"/>
        </a:p>
      </dgm:t>
    </dgm:pt>
    <dgm:pt modelId="{0F91F850-F494-44C8-B621-66801A5DE47E}" type="sibTrans" cxnId="{D943F49D-A79D-48DC-9278-9E1A32D6AF1C}">
      <dgm:prSet/>
      <dgm:spPr/>
      <dgm:t>
        <a:bodyPr/>
        <a:lstStyle/>
        <a:p>
          <a:endParaRPr lang="en-US"/>
        </a:p>
      </dgm:t>
    </dgm:pt>
    <dgm:pt modelId="{72164305-5EF1-45E1-9C32-059C97130664}" type="pres">
      <dgm:prSet presAssocID="{33752A77-1A3A-4C03-A5C0-D025542DA505}" presName="linear" presStyleCnt="0">
        <dgm:presLayoutVars>
          <dgm:animLvl val="lvl"/>
          <dgm:resizeHandles val="exact"/>
        </dgm:presLayoutVars>
      </dgm:prSet>
      <dgm:spPr/>
    </dgm:pt>
    <dgm:pt modelId="{BDDBE60B-1D1B-4AD3-B4D2-33E0090A280C}" type="pres">
      <dgm:prSet presAssocID="{9B51E39D-6055-4E29-BA16-82D66C91172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D1BFE1D-531A-4A70-AD6A-48C29E56835C}" type="pres">
      <dgm:prSet presAssocID="{FDFD6CF4-6D30-4230-A17B-BF6AB0E545A0}" presName="spacer" presStyleCnt="0"/>
      <dgm:spPr/>
    </dgm:pt>
    <dgm:pt modelId="{B11603A1-6B26-4A77-84DE-EFD8839DC2D1}" type="pres">
      <dgm:prSet presAssocID="{C693D07E-9624-431B-9CAE-918E6BAACD1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34607B5-06A8-4E63-8D22-8B922881BE52}" type="pres">
      <dgm:prSet presAssocID="{413B60AF-A3A3-45A3-AFD2-E2EFA8B31769}" presName="spacer" presStyleCnt="0"/>
      <dgm:spPr/>
    </dgm:pt>
    <dgm:pt modelId="{7A50782C-4ADC-4934-BBD5-CBDE9DF0F4E8}" type="pres">
      <dgm:prSet presAssocID="{B3BA226E-7AB9-4D23-9213-8A8590DF3B1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74843C2-4EF6-4AF4-A493-6B89C394ACBB}" type="pres">
      <dgm:prSet presAssocID="{54D22786-7AED-4263-B681-45989ABFBC76}" presName="spacer" presStyleCnt="0"/>
      <dgm:spPr/>
    </dgm:pt>
    <dgm:pt modelId="{3AA4ED8A-B8AD-47F6-A8DA-C880E0BC41D0}" type="pres">
      <dgm:prSet presAssocID="{64DAEE11-12F5-4AC4-8267-61918C785D1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9807297-AF38-4DF4-9086-F95B12142C53}" type="pres">
      <dgm:prSet presAssocID="{7C25A55D-5279-4ECC-9EE0-C40AEDB6CA20}" presName="spacer" presStyleCnt="0"/>
      <dgm:spPr/>
    </dgm:pt>
    <dgm:pt modelId="{654721C6-55F0-447C-8445-8A8BF0A6CFFB}" type="pres">
      <dgm:prSet presAssocID="{3AA65860-AD65-4325-8511-04D6BF04A83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1A477FD-6A8C-430F-8C67-5B15D7771704}" type="pres">
      <dgm:prSet presAssocID="{B9A1DE26-C1DB-4DA4-B949-1358B2D2CC1E}" presName="spacer" presStyleCnt="0"/>
      <dgm:spPr/>
    </dgm:pt>
    <dgm:pt modelId="{18CB0E89-2CFB-4C43-9F74-A51D4559842B}" type="pres">
      <dgm:prSet presAssocID="{BC3AFF95-F8AF-466A-A683-D6373630E1B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1DD4D0E-9257-4958-A819-99EF80A50FB5}" type="presOf" srcId="{3AA65860-AD65-4325-8511-04D6BF04A83E}" destId="{654721C6-55F0-447C-8445-8A8BF0A6CFFB}" srcOrd="0" destOrd="0" presId="urn:microsoft.com/office/officeart/2005/8/layout/vList2"/>
    <dgm:cxn modelId="{81F40F63-BFC0-453E-B184-D1C3E517D119}" type="presOf" srcId="{B3BA226E-7AB9-4D23-9213-8A8590DF3B14}" destId="{7A50782C-4ADC-4934-BBD5-CBDE9DF0F4E8}" srcOrd="0" destOrd="0" presId="urn:microsoft.com/office/officeart/2005/8/layout/vList2"/>
    <dgm:cxn modelId="{F7DC0952-69DC-403F-AA82-2B870898C656}" type="presOf" srcId="{C693D07E-9624-431B-9CAE-918E6BAACD18}" destId="{B11603A1-6B26-4A77-84DE-EFD8839DC2D1}" srcOrd="0" destOrd="0" presId="urn:microsoft.com/office/officeart/2005/8/layout/vList2"/>
    <dgm:cxn modelId="{6E072D59-06B6-400B-905D-76B9BF431C78}" type="presOf" srcId="{BC3AFF95-F8AF-466A-A683-D6373630E1BC}" destId="{18CB0E89-2CFB-4C43-9F74-A51D4559842B}" srcOrd="0" destOrd="0" presId="urn:microsoft.com/office/officeart/2005/8/layout/vList2"/>
    <dgm:cxn modelId="{803C207A-B1E5-45FA-BAF7-93F290F6DD2B}" srcId="{33752A77-1A3A-4C03-A5C0-D025542DA505}" destId="{64DAEE11-12F5-4AC4-8267-61918C785D1E}" srcOrd="3" destOrd="0" parTransId="{DE6183F6-705F-4F2E-B661-772D656B0368}" sibTransId="{7C25A55D-5279-4ECC-9EE0-C40AEDB6CA20}"/>
    <dgm:cxn modelId="{4E1CCF8C-C817-49F7-96A1-FABD42A690BD}" type="presOf" srcId="{9B51E39D-6055-4E29-BA16-82D66C911728}" destId="{BDDBE60B-1D1B-4AD3-B4D2-33E0090A280C}" srcOrd="0" destOrd="0" presId="urn:microsoft.com/office/officeart/2005/8/layout/vList2"/>
    <dgm:cxn modelId="{26613A90-496A-4A10-8083-B609D360D5CF}" srcId="{33752A77-1A3A-4C03-A5C0-D025542DA505}" destId="{C693D07E-9624-431B-9CAE-918E6BAACD18}" srcOrd="1" destOrd="0" parTransId="{86E9D31D-7022-4022-9F2A-24EB976E969E}" sibTransId="{413B60AF-A3A3-45A3-AFD2-E2EFA8B31769}"/>
    <dgm:cxn modelId="{D943F49D-A79D-48DC-9278-9E1A32D6AF1C}" srcId="{33752A77-1A3A-4C03-A5C0-D025542DA505}" destId="{BC3AFF95-F8AF-466A-A683-D6373630E1BC}" srcOrd="5" destOrd="0" parTransId="{4B8B90D1-8705-4998-8678-D3076914FE89}" sibTransId="{0F91F850-F494-44C8-B621-66801A5DE47E}"/>
    <dgm:cxn modelId="{637E44AF-BE4B-4B2C-B2D9-C7B71124DAE1}" srcId="{33752A77-1A3A-4C03-A5C0-D025542DA505}" destId="{9B51E39D-6055-4E29-BA16-82D66C911728}" srcOrd="0" destOrd="0" parTransId="{17B57465-5BBF-45D7-8B12-45FD7A99BEFE}" sibTransId="{FDFD6CF4-6D30-4230-A17B-BF6AB0E545A0}"/>
    <dgm:cxn modelId="{DDDC71B5-D1CE-4F71-8E3D-A296DB053027}" type="presOf" srcId="{64DAEE11-12F5-4AC4-8267-61918C785D1E}" destId="{3AA4ED8A-B8AD-47F6-A8DA-C880E0BC41D0}" srcOrd="0" destOrd="0" presId="urn:microsoft.com/office/officeart/2005/8/layout/vList2"/>
    <dgm:cxn modelId="{3ED816C2-9DD8-4F1B-A1DF-AE539461F2A5}" srcId="{33752A77-1A3A-4C03-A5C0-D025542DA505}" destId="{B3BA226E-7AB9-4D23-9213-8A8590DF3B14}" srcOrd="2" destOrd="0" parTransId="{BA4A4ECB-24EA-4506-90FC-44877A1CFF1C}" sibTransId="{54D22786-7AED-4263-B681-45989ABFBC76}"/>
    <dgm:cxn modelId="{1BA6B8EA-AC73-4AFD-B7E4-1E9377A6408D}" type="presOf" srcId="{33752A77-1A3A-4C03-A5C0-D025542DA505}" destId="{72164305-5EF1-45E1-9C32-059C97130664}" srcOrd="0" destOrd="0" presId="urn:microsoft.com/office/officeart/2005/8/layout/vList2"/>
    <dgm:cxn modelId="{2075ECF3-492E-4B75-9559-5E43F15E4888}" srcId="{33752A77-1A3A-4C03-A5C0-D025542DA505}" destId="{3AA65860-AD65-4325-8511-04D6BF04A83E}" srcOrd="4" destOrd="0" parTransId="{8A2DB56A-AC57-4662-87F8-64C4ADE729EE}" sibTransId="{B9A1DE26-C1DB-4DA4-B949-1358B2D2CC1E}"/>
    <dgm:cxn modelId="{F5A6787E-5492-4778-A870-6D9CBE78B309}" type="presParOf" srcId="{72164305-5EF1-45E1-9C32-059C97130664}" destId="{BDDBE60B-1D1B-4AD3-B4D2-33E0090A280C}" srcOrd="0" destOrd="0" presId="urn:microsoft.com/office/officeart/2005/8/layout/vList2"/>
    <dgm:cxn modelId="{44BA6A69-124E-43F0-948F-D2A1A10F88A6}" type="presParOf" srcId="{72164305-5EF1-45E1-9C32-059C97130664}" destId="{7D1BFE1D-531A-4A70-AD6A-48C29E56835C}" srcOrd="1" destOrd="0" presId="urn:microsoft.com/office/officeart/2005/8/layout/vList2"/>
    <dgm:cxn modelId="{8AFAC3F4-2A21-4F10-9A57-6653CED8C188}" type="presParOf" srcId="{72164305-5EF1-45E1-9C32-059C97130664}" destId="{B11603A1-6B26-4A77-84DE-EFD8839DC2D1}" srcOrd="2" destOrd="0" presId="urn:microsoft.com/office/officeart/2005/8/layout/vList2"/>
    <dgm:cxn modelId="{2E41E0A8-6EC6-4AE2-8E86-161075951FDF}" type="presParOf" srcId="{72164305-5EF1-45E1-9C32-059C97130664}" destId="{A34607B5-06A8-4E63-8D22-8B922881BE52}" srcOrd="3" destOrd="0" presId="urn:microsoft.com/office/officeart/2005/8/layout/vList2"/>
    <dgm:cxn modelId="{AB5CFD5A-219D-4C07-B940-1D9DD73C7EB7}" type="presParOf" srcId="{72164305-5EF1-45E1-9C32-059C97130664}" destId="{7A50782C-4ADC-4934-BBD5-CBDE9DF0F4E8}" srcOrd="4" destOrd="0" presId="urn:microsoft.com/office/officeart/2005/8/layout/vList2"/>
    <dgm:cxn modelId="{DB777DDF-7FB0-48A2-AE97-DB158250417A}" type="presParOf" srcId="{72164305-5EF1-45E1-9C32-059C97130664}" destId="{974843C2-4EF6-4AF4-A493-6B89C394ACBB}" srcOrd="5" destOrd="0" presId="urn:microsoft.com/office/officeart/2005/8/layout/vList2"/>
    <dgm:cxn modelId="{5D00C7E7-BBE1-4E1F-A18C-47BB688D1DA8}" type="presParOf" srcId="{72164305-5EF1-45E1-9C32-059C97130664}" destId="{3AA4ED8A-B8AD-47F6-A8DA-C880E0BC41D0}" srcOrd="6" destOrd="0" presId="urn:microsoft.com/office/officeart/2005/8/layout/vList2"/>
    <dgm:cxn modelId="{57335408-B292-4CE7-97EA-2862B538A04C}" type="presParOf" srcId="{72164305-5EF1-45E1-9C32-059C97130664}" destId="{C9807297-AF38-4DF4-9086-F95B12142C53}" srcOrd="7" destOrd="0" presId="urn:microsoft.com/office/officeart/2005/8/layout/vList2"/>
    <dgm:cxn modelId="{C04785CB-E487-44CF-9741-B51028C1601F}" type="presParOf" srcId="{72164305-5EF1-45E1-9C32-059C97130664}" destId="{654721C6-55F0-447C-8445-8A8BF0A6CFFB}" srcOrd="8" destOrd="0" presId="urn:microsoft.com/office/officeart/2005/8/layout/vList2"/>
    <dgm:cxn modelId="{84800E01-6C35-44BE-8ED1-085D9E32D140}" type="presParOf" srcId="{72164305-5EF1-45E1-9C32-059C97130664}" destId="{11A477FD-6A8C-430F-8C67-5B15D7771704}" srcOrd="9" destOrd="0" presId="urn:microsoft.com/office/officeart/2005/8/layout/vList2"/>
    <dgm:cxn modelId="{72BB6A83-7472-44ED-9A09-12F406AC21F3}" type="presParOf" srcId="{72164305-5EF1-45E1-9C32-059C97130664}" destId="{18CB0E89-2CFB-4C43-9F74-A51D4559842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BE60B-1D1B-4AD3-B4D2-33E0090A280C}">
      <dsp:nvSpPr>
        <dsp:cNvPr id="0" name=""/>
        <dsp:cNvSpPr/>
      </dsp:nvSpPr>
      <dsp:spPr>
        <a:xfrm>
          <a:off x="0" y="40584"/>
          <a:ext cx="10712569" cy="748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b="1" i="0" kern="1200" baseline="0" dirty="0"/>
            <a:t>Δίκτυο Η/Υ (</a:t>
          </a:r>
          <a:r>
            <a:rPr lang="en-US" sz="1600" b="1" i="0" kern="1200" baseline="0" dirty="0"/>
            <a:t>Network): </a:t>
          </a:r>
          <a:r>
            <a:rPr lang="el-GR" sz="1600" b="0" i="0" kern="1200" baseline="0" dirty="0"/>
            <a:t>Σύνδεση δύο ή περισσότερων Η/Υ μεταξύ τους με σκοπό την</a:t>
          </a:r>
          <a:r>
            <a:rPr lang="en-US" sz="1600" b="0" i="0" kern="1200" baseline="0" dirty="0"/>
            <a:t> </a:t>
          </a:r>
          <a:r>
            <a:rPr lang="el-GR" sz="1600" b="0" i="0" kern="1200" baseline="0" dirty="0"/>
            <a:t>ανταλλαγή πληροφοριών ή να μοιράζονται κοινές περιφερειακές</a:t>
          </a:r>
          <a:r>
            <a:rPr lang="en-US" sz="1600" b="0" i="0" kern="1200" baseline="0" dirty="0"/>
            <a:t> </a:t>
          </a:r>
          <a:r>
            <a:rPr lang="el-GR" sz="1600" b="0" i="0" kern="1200" baseline="0" dirty="0"/>
            <a:t>συσκευές και λογισμικό</a:t>
          </a:r>
          <a:r>
            <a:rPr lang="en-US" sz="1600" b="0" i="0" kern="1200" baseline="0" dirty="0"/>
            <a:t>.</a:t>
          </a:r>
          <a:endParaRPr lang="en-US" sz="1600" kern="1200" dirty="0"/>
        </a:p>
      </dsp:txBody>
      <dsp:txXfrm>
        <a:off x="36553" y="77137"/>
        <a:ext cx="10639463" cy="675694"/>
      </dsp:txXfrm>
    </dsp:sp>
    <dsp:sp modelId="{B11603A1-6B26-4A77-84DE-EFD8839DC2D1}">
      <dsp:nvSpPr>
        <dsp:cNvPr id="0" name=""/>
        <dsp:cNvSpPr/>
      </dsp:nvSpPr>
      <dsp:spPr>
        <a:xfrm>
          <a:off x="0" y="904584"/>
          <a:ext cx="10712569" cy="748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b="1" i="0" kern="1200" baseline="0" dirty="0"/>
            <a:t>Διαδίκτυο (Internet): </a:t>
          </a:r>
          <a:r>
            <a:rPr lang="el-GR" sz="1600" b="0" i="0" kern="1200" baseline="0" dirty="0"/>
            <a:t>Δίκτυο που αποτελείται από πολλά δίκτυα που βρίσκονται</a:t>
          </a:r>
          <a:r>
            <a:rPr lang="en-US" sz="1600" b="0" i="0" kern="1200" baseline="0" dirty="0"/>
            <a:t> </a:t>
          </a:r>
          <a:r>
            <a:rPr lang="el-GR" sz="1600" b="0" i="0" kern="1200" baseline="0" dirty="0"/>
            <a:t>σκορπισμένα σε όλη τη γη</a:t>
          </a:r>
          <a:r>
            <a:rPr lang="en-US" sz="1600" b="0" i="0" kern="1200" baseline="0" dirty="0"/>
            <a:t>.</a:t>
          </a:r>
          <a:endParaRPr lang="en-US" sz="1600" kern="1200" dirty="0"/>
        </a:p>
      </dsp:txBody>
      <dsp:txXfrm>
        <a:off x="36553" y="941137"/>
        <a:ext cx="10639463" cy="675694"/>
      </dsp:txXfrm>
    </dsp:sp>
    <dsp:sp modelId="{7A50782C-4ADC-4934-BBD5-CBDE9DF0F4E8}">
      <dsp:nvSpPr>
        <dsp:cNvPr id="0" name=""/>
        <dsp:cNvSpPr/>
      </dsp:nvSpPr>
      <dsp:spPr>
        <a:xfrm>
          <a:off x="0" y="1768584"/>
          <a:ext cx="10712569" cy="748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b="1" i="0" kern="1200" baseline="0" dirty="0" err="1"/>
            <a:t>Παροχέα</a:t>
          </a:r>
          <a:r>
            <a:rPr lang="el-GR" sz="1600" b="1" i="0" kern="1200" baseline="0" dirty="0"/>
            <a:t> Υπηρεσιών Διαδικτύου (ISP): </a:t>
          </a:r>
          <a:r>
            <a:rPr lang="el-GR" sz="1600" b="0" i="0" kern="1200" baseline="0" dirty="0"/>
            <a:t>Η εταιρεία που αναλαμβάνει να μας παρέχει την υπηρεσία</a:t>
          </a:r>
          <a:r>
            <a:rPr lang="en-US" sz="1600" b="0" i="0" kern="1200" baseline="0" dirty="0"/>
            <a:t> </a:t>
          </a:r>
          <a:r>
            <a:rPr lang="el-GR" sz="1600" b="0" i="0" kern="1200" baseline="0" dirty="0"/>
            <a:t>διαδικτύου, παρέχοντάς μας μια γραμμή σύνδεσης</a:t>
          </a:r>
          <a:r>
            <a:rPr lang="en-US" sz="1600" b="0" i="0" kern="1200" baseline="0" dirty="0"/>
            <a:t>, </a:t>
          </a:r>
          <a:r>
            <a:rPr lang="el-GR" sz="1600" b="0" i="0" kern="1200" baseline="0" dirty="0" err="1"/>
            <a:t>π.χ</a:t>
          </a:r>
          <a:r>
            <a:rPr lang="el-GR" sz="1600" b="0" i="0" kern="1200" baseline="0" dirty="0"/>
            <a:t> </a:t>
          </a:r>
          <a:r>
            <a:rPr lang="en-US" sz="1600" b="0" i="0" kern="1200" baseline="0" dirty="0"/>
            <a:t>CYTA</a:t>
          </a:r>
          <a:endParaRPr lang="en-US" sz="1600" kern="1200" dirty="0"/>
        </a:p>
      </dsp:txBody>
      <dsp:txXfrm>
        <a:off x="36553" y="1805137"/>
        <a:ext cx="10639463" cy="675694"/>
      </dsp:txXfrm>
    </dsp:sp>
    <dsp:sp modelId="{3AA4ED8A-B8AD-47F6-A8DA-C880E0BC41D0}">
      <dsp:nvSpPr>
        <dsp:cNvPr id="0" name=""/>
        <dsp:cNvSpPr/>
      </dsp:nvSpPr>
      <dsp:spPr>
        <a:xfrm>
          <a:off x="0" y="2632584"/>
          <a:ext cx="10712569" cy="748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b="1" i="0" kern="1200" baseline="0" dirty="0"/>
            <a:t>Διαμορφωτής/</a:t>
          </a:r>
          <a:r>
            <a:rPr lang="el-GR" sz="1600" b="1" i="0" kern="1200" baseline="0" dirty="0" err="1"/>
            <a:t>αποδιαμορφωτής</a:t>
          </a:r>
          <a:r>
            <a:rPr lang="el-GR" sz="1600" b="1" i="0" kern="1200" baseline="0" dirty="0"/>
            <a:t> (</a:t>
          </a:r>
          <a:r>
            <a:rPr lang="el-GR" sz="1600" b="1" i="0" kern="1200" baseline="0" dirty="0" err="1"/>
            <a:t>Modem</a:t>
          </a:r>
          <a:r>
            <a:rPr lang="el-GR" sz="1600" b="1" i="0" kern="1200" baseline="0" dirty="0"/>
            <a:t>): </a:t>
          </a:r>
          <a:r>
            <a:rPr lang="el-GR" sz="1600" b="0" i="0" kern="1200" baseline="0" dirty="0"/>
            <a:t>Συσκευή που είναι απαραίτητη για να γίνεται η σύνδεση του</a:t>
          </a:r>
          <a:r>
            <a:rPr lang="en-US" sz="1600" b="0" i="0" kern="1200" baseline="0" dirty="0"/>
            <a:t> </a:t>
          </a:r>
          <a:r>
            <a:rPr lang="el-GR" sz="1600" b="0" i="0" kern="1200" baseline="0" dirty="0"/>
            <a:t>Η/Υ στο διαδίκτυο μέσω της τηλεφωνικής γραμμής του</a:t>
          </a:r>
          <a:r>
            <a:rPr lang="en-US" sz="1600" b="0" i="0" kern="1200" baseline="0" dirty="0"/>
            <a:t> </a:t>
          </a:r>
          <a:r>
            <a:rPr lang="el-GR" sz="1600" b="0" i="0" kern="1200" baseline="0" dirty="0" err="1"/>
            <a:t>παροχέα</a:t>
          </a:r>
          <a:r>
            <a:rPr lang="el-GR" sz="1600" b="0" i="0" kern="1200" baseline="0" dirty="0"/>
            <a:t> ή μέσω καλωδίου οπτικών ινών</a:t>
          </a:r>
          <a:r>
            <a:rPr lang="en-US" sz="1600" b="0" i="0" kern="1200" baseline="0" dirty="0"/>
            <a:t>.</a:t>
          </a:r>
          <a:endParaRPr lang="en-US" sz="1600" kern="1200" dirty="0"/>
        </a:p>
      </dsp:txBody>
      <dsp:txXfrm>
        <a:off x="36553" y="2669137"/>
        <a:ext cx="10639463" cy="675694"/>
      </dsp:txXfrm>
    </dsp:sp>
    <dsp:sp modelId="{654721C6-55F0-447C-8445-8A8BF0A6CFFB}">
      <dsp:nvSpPr>
        <dsp:cNvPr id="0" name=""/>
        <dsp:cNvSpPr/>
      </dsp:nvSpPr>
      <dsp:spPr>
        <a:xfrm>
          <a:off x="0" y="3496584"/>
          <a:ext cx="10712569" cy="7488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b="1" i="0" kern="1200" baseline="0" dirty="0"/>
            <a:t>Δρομολογητής (</a:t>
          </a:r>
          <a:r>
            <a:rPr lang="el-GR" sz="1600" b="1" i="0" kern="1200" baseline="0" dirty="0" err="1"/>
            <a:t>Router</a:t>
          </a:r>
          <a:r>
            <a:rPr lang="el-GR" sz="1600" b="1" i="0" kern="1200" baseline="0" dirty="0"/>
            <a:t>): </a:t>
          </a:r>
          <a:r>
            <a:rPr lang="el-GR" sz="1600" b="0" i="0" kern="1200" baseline="0" dirty="0"/>
            <a:t>Λαμβάνει τις πληροφορίες και τις διαβιβάζει στους</a:t>
          </a:r>
          <a:r>
            <a:rPr lang="en-US" sz="1600" b="0" i="0" kern="1200" baseline="0" dirty="0"/>
            <a:t> </a:t>
          </a:r>
          <a:r>
            <a:rPr lang="el-GR" sz="1600" b="0" i="0" kern="1200" baseline="0" dirty="0"/>
            <a:t>προορισμούς τους χρησιμοποιώντας την πιο σύντομη και</a:t>
          </a:r>
          <a:r>
            <a:rPr lang="en-US" sz="1600" b="0" i="0" kern="1200" baseline="0" dirty="0"/>
            <a:t> </a:t>
          </a:r>
          <a:r>
            <a:rPr lang="el-GR" sz="1600" b="0" i="0" kern="1200" baseline="0" dirty="0"/>
            <a:t>διαθέσιμη διαδρομή</a:t>
          </a:r>
          <a:r>
            <a:rPr lang="en-US" sz="1600" b="0" i="0" kern="1200" baseline="0" dirty="0"/>
            <a:t>.</a:t>
          </a:r>
          <a:endParaRPr lang="en-US" sz="1600" kern="1200" dirty="0"/>
        </a:p>
      </dsp:txBody>
      <dsp:txXfrm>
        <a:off x="36553" y="3533137"/>
        <a:ext cx="10639463" cy="675694"/>
      </dsp:txXfrm>
    </dsp:sp>
    <dsp:sp modelId="{18CB0E89-2CFB-4C43-9F74-A51D4559842B}">
      <dsp:nvSpPr>
        <dsp:cNvPr id="0" name=""/>
        <dsp:cNvSpPr/>
      </dsp:nvSpPr>
      <dsp:spPr>
        <a:xfrm>
          <a:off x="0" y="4360584"/>
          <a:ext cx="10712569" cy="748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b="1" i="0" kern="1200" baseline="0" dirty="0" err="1"/>
            <a:t>Φυλλομετρητής</a:t>
          </a:r>
          <a:r>
            <a:rPr lang="el-GR" sz="1600" b="1" i="0" kern="1200" baseline="0" dirty="0"/>
            <a:t> Ιστού (Web </a:t>
          </a:r>
          <a:r>
            <a:rPr lang="el-GR" sz="1600" b="1" i="0" kern="1200" baseline="0" dirty="0" err="1"/>
            <a:t>Browser</a:t>
          </a:r>
          <a:r>
            <a:rPr lang="el-GR" sz="1600" b="1" i="0" kern="1200" baseline="0" dirty="0"/>
            <a:t>): </a:t>
          </a:r>
          <a:r>
            <a:rPr lang="el-GR" sz="1600" b="0" i="0" kern="1200" baseline="0" dirty="0"/>
            <a:t>Πρόγραμμα με το οποίο μας δίνεται η δυνατότητα να</a:t>
          </a:r>
          <a:r>
            <a:rPr lang="en-US" sz="1600" b="0" i="0" kern="1200" baseline="0" dirty="0"/>
            <a:t> </a:t>
          </a:r>
          <a:r>
            <a:rPr lang="el-GR" sz="1600" b="0" i="0" kern="1200" baseline="0" dirty="0"/>
            <a:t>ανοίξουμε σελίδες που βρίσκονται στο διαδίκτυο.</a:t>
          </a:r>
          <a:endParaRPr lang="en-US" sz="1600" kern="1200" dirty="0"/>
        </a:p>
      </dsp:txBody>
      <dsp:txXfrm>
        <a:off x="36553" y="4397137"/>
        <a:ext cx="10639463" cy="675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04C30-05E9-D826-1BCD-EBC8CA2D6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43AC7-BD79-AB76-BBB0-CE9DCBE02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905A0-CF0D-DAD0-AA35-D7E8AEC18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63A84-C261-2352-D010-454A7773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C3255-F27C-CD7D-6D70-E732FEF12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72019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0AD53-49F1-09AE-71D5-CD3D4127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F7D72-8B29-4DEE-FC7D-0880EF108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CBFE3-DEA3-6856-D514-1991833DB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04600-B069-3553-653E-03BF41476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68943-DB2F-83CC-6551-258AF4D1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06219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A085-696D-28C2-F655-0F669338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4E020-1434-0F8B-89F7-E9AF4331E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07705-CA1C-88A2-A575-DB3DAD14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B3231-7C24-3098-2FAA-1D5008679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AC68E-9449-B5C1-C1B5-854C7C7D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636147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E2EC-F155-D7EB-2AC5-983FC8D4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26D91-E35C-6E80-3C44-F2E3E9ECC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69EE7-1E85-E018-6A60-B3049DF0C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23FF9-CA5E-9848-E01F-FEDAAA475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0FB80-0D8D-B89B-B20F-3A8F18C6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E3241-D00B-F0B0-5936-F2F2B93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88750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FD72-EBAA-3AB3-AD3F-EDBD8CEA1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0E27B-8F60-DF7F-BDE4-6D4E7A430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1AC27-1C56-978A-7D6B-B055E1D66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56275-E572-8B11-5AB1-339FE39FA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F1AE2-EF4D-1A1A-9850-8346E0148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C34AC-1D49-1BAA-A568-C5F6C772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B026-E190-5F1F-FA35-D822D9485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151814-9A5A-01D3-88BA-24F6D3AA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73397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F9C3-39D3-DF2E-977F-FA04791B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E91E9-6989-7D3E-831A-9BCD5C0E5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4F9FF-FB5A-39F0-622E-79A3D0D2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D1E5D-CB67-509F-0096-C6CAE4D8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342608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4EAF9-557D-AE06-7DED-6D99647B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AB1639-0CA2-550F-03F3-86FBAAA2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CF5FD-F318-3055-DAAC-A80489E8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94888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053F-B335-6EE9-D1E8-A07B69621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5BAC9-D970-4EC5-61D4-39A1093BD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AFDB0-A5FB-6BEB-AABD-C0826D983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8D7DE-69BD-1A80-D280-9C8A9E3A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C7AC7-19F0-B116-68E0-F3DFDC27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A803D-8D3A-762D-898E-42D37EBE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17967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02B5-3CEC-9AC2-103E-BAF1BDD3D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3B0F8-0440-2E9B-AF06-2B0657A35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F39BE-6061-80A7-4C84-FF08F1D04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7A9F-D7B4-D49E-3E75-BE29BA77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CB3C4-9EAA-3BB1-E1B1-2BC3C0F9D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00772-2A98-4EF3-9A4E-109186F5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67859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7891-50A1-D827-9AFD-A85B10D2E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C6D0D-6CB4-CFDE-FB03-9B7141854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225D6-EDC3-6745-0FC2-A09D0DA98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67F3C-C6CA-9F51-BC32-84DC17CE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FE866-5B53-A76D-DD28-C207A75B6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688796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EDC629-6DB9-5CF8-91B0-DEEFBFF0F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89A09-0AF7-7E24-BA78-2EB1FB560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1B7AB-B4FC-C8DB-31FA-9ABEA7B28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83984-9610-E9C1-65D4-0CAB5191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C68A0-7CE9-63DF-0672-16175F5A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9893964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60645D-D329-DF36-5CA9-D3B20FAAF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44FB4-9F2A-A6B7-BA9B-BB795795D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16272-565B-9B03-B6C3-5AA7FD311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F989C-30E5-4DC5-997F-61FD62BB783E}" type="datetimeFigureOut">
              <a:rPr lang="en-CY" smtClean="0"/>
              <a:t>09/25/2026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EE446-8934-CDA2-0126-500D21D1A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91DA7-60C8-1B32-5829-79F78F5F9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F20F7-AE5A-4CC2-A80C-4918850978B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403934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Computer Network Computers Connected Each Other Stock Illustration  786925981 Shutterstock | woden.com.br">
            <a:extLst>
              <a:ext uri="{FF2B5EF4-FFF2-40B4-BE49-F238E27FC236}">
                <a16:creationId xmlns:a16="http://schemas.microsoft.com/office/drawing/2014/main" id="{A101C40B-631C-E452-FA90-76E942D634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0" r="13854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6E3AE4-ACBB-31DA-A5C7-61CCF6B21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775506" cy="3204134"/>
          </a:xfrm>
        </p:spPr>
        <p:txBody>
          <a:bodyPr anchor="b">
            <a:normAutofit/>
          </a:bodyPr>
          <a:lstStyle/>
          <a:p>
            <a:pPr algn="l"/>
            <a:r>
              <a:rPr lang="el-GR" sz="4800" dirty="0">
                <a:solidFill>
                  <a:schemeClr val="bg1"/>
                </a:solidFill>
              </a:rPr>
              <a:t>Α5.1 Μ1 -Βασικές Έννοιες Δικτύων και</a:t>
            </a:r>
            <a:br>
              <a:rPr lang="el-GR" sz="4800" dirty="0">
                <a:solidFill>
                  <a:schemeClr val="bg1"/>
                </a:solidFill>
              </a:rPr>
            </a:br>
            <a:r>
              <a:rPr lang="el-GR" sz="4800" dirty="0">
                <a:solidFill>
                  <a:schemeClr val="bg1"/>
                </a:solidFill>
              </a:rPr>
              <a:t>Διαδικτύου</a:t>
            </a:r>
            <a:endParaRPr lang="en-CY" sz="4800" dirty="0">
              <a:solidFill>
                <a:schemeClr val="bg1"/>
              </a:solidFill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50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6273-C861-B047-317B-851DDB1C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303"/>
            <a:ext cx="10515600" cy="1012923"/>
          </a:xfrm>
        </p:spPr>
        <p:txBody>
          <a:bodyPr>
            <a:normAutofit/>
          </a:bodyPr>
          <a:lstStyle/>
          <a:p>
            <a:r>
              <a:rPr lang="el-GR" sz="4800" dirty="0"/>
              <a:t>Βασικές Έννοιες Δικτύων και Διαδικτύου</a:t>
            </a:r>
            <a:endParaRPr lang="en-CY" sz="4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E00B58-6928-32EB-BCD8-28AB606A9A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623783"/>
              </p:ext>
            </p:extLst>
          </p:nvPr>
        </p:nvGraphicFramePr>
        <p:xfrm>
          <a:off x="838200" y="1500996"/>
          <a:ext cx="10712570" cy="5149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441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A9901-A4E0-3DB7-89B6-367C595F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Υπηρεσίες που παρέχει το Διαδίκτυο</a:t>
            </a:r>
            <a:endParaRPr lang="en-C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BCF73-5117-7689-88F4-82819A27A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l-GR" b="0" i="0" u="none" strike="noStrike" baseline="0" dirty="0">
                <a:latin typeface="Tahoma" panose="020B0604030504040204" pitchFamily="34" charset="0"/>
              </a:rPr>
              <a:t>Παγκόσμιος Ιστός Πληροφοριών (</a:t>
            </a:r>
            <a:r>
              <a:rPr lang="en-GB" b="0" i="0" u="none" strike="noStrike" baseline="0" dirty="0">
                <a:latin typeface="Tahoma" panose="020B0604030504040204" pitchFamily="34" charset="0"/>
              </a:rPr>
              <a:t>WWW)</a:t>
            </a:r>
            <a:endParaRPr lang="el-GR" b="0" i="0" u="none" strike="noStrike" baseline="0" dirty="0">
              <a:latin typeface="Tahom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l-GR" b="0" i="0" u="none" strike="noStrike" baseline="0" dirty="0">
                <a:latin typeface="Tahoma" panose="020B0604030504040204" pitchFamily="34" charset="0"/>
              </a:rPr>
              <a:t>Ηλεκτρονικό Ταχυδρομείο (</a:t>
            </a:r>
            <a:r>
              <a:rPr lang="en-GB" b="0" i="0" u="none" strike="noStrike" baseline="0" dirty="0">
                <a:latin typeface="Tahoma" panose="020B0604030504040204" pitchFamily="34" charset="0"/>
              </a:rPr>
              <a:t>e-mail)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l-GR" b="0" i="0" u="none" strike="noStrike" baseline="0" dirty="0">
                <a:latin typeface="Tahoma" panose="020B0604030504040204" pitchFamily="34" charset="0"/>
              </a:rPr>
              <a:t>Ηλεκτρονικές ομάδες συζητήσεων (</a:t>
            </a:r>
            <a:r>
              <a:rPr lang="en-GB" b="0" i="0" u="none" strike="noStrike" baseline="0" dirty="0">
                <a:latin typeface="Tahoma" panose="020B0604030504040204" pitchFamily="34" charset="0"/>
              </a:rPr>
              <a:t>newsgroups)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l-GR" b="0" i="0" u="none" strike="noStrike" baseline="0" dirty="0">
                <a:latin typeface="Tahoma" panose="020B0604030504040204" pitchFamily="34" charset="0"/>
              </a:rPr>
              <a:t>Συνομιλία σε πραγματικό χρόνο (Facebook, MSN, Skype, </a:t>
            </a:r>
            <a:r>
              <a:rPr lang="en-US" b="0" i="0" u="none" strike="noStrike" baseline="0">
                <a:latin typeface="Tahoma" panose="020B0604030504040204" pitchFamily="34" charset="0"/>
              </a:rPr>
              <a:t>Teams</a:t>
            </a:r>
            <a:r>
              <a:rPr lang="el-GR" b="0" i="0" u="none" strike="noStrike" baseline="0">
                <a:latin typeface="Tahoma" panose="020B0604030504040204" pitchFamily="34" charset="0"/>
              </a:rPr>
              <a:t>)</a:t>
            </a:r>
            <a:endParaRPr lang="el-GR" b="0" i="0" u="none" strike="noStrike" baseline="0" dirty="0">
              <a:latin typeface="Tahom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l-GR" b="0" i="0" u="none" strike="noStrike" baseline="0" dirty="0">
                <a:latin typeface="Tahoma" panose="020B0604030504040204" pitchFamily="34" charset="0"/>
              </a:rPr>
              <a:t>Ηλεκτρονικό Εμπόριο (</a:t>
            </a:r>
            <a:r>
              <a:rPr lang="en-GB" b="0" i="0" u="none" strike="noStrike" baseline="0" dirty="0">
                <a:latin typeface="Tahoma" panose="020B0604030504040204" pitchFamily="34" charset="0"/>
              </a:rPr>
              <a:t>e-commerce),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l-GR" b="0" i="0" u="none" strike="noStrike" baseline="0" dirty="0">
                <a:latin typeface="Tahoma" panose="020B0604030504040204" pitchFamily="34" charset="0"/>
              </a:rPr>
              <a:t>Εκπαίδευση και Επιμόρφωση από απόσταση (e-</a:t>
            </a:r>
            <a:r>
              <a:rPr lang="el-GR" b="0" i="0" u="none" strike="noStrike" baseline="0" dirty="0" err="1">
                <a:latin typeface="Tahoma" panose="020B0604030504040204" pitchFamily="34" charset="0"/>
              </a:rPr>
              <a:t>learning</a:t>
            </a:r>
            <a:r>
              <a:rPr lang="el-GR" b="0" i="0" u="none" strike="noStrike" baseline="0" dirty="0">
                <a:latin typeface="Tahoma" panose="020B0604030504040204" pitchFamily="34" charset="0"/>
              </a:rPr>
              <a:t> και </a:t>
            </a:r>
            <a:r>
              <a:rPr lang="en-GB" b="0" i="0" u="none" strike="noStrike" baseline="0" dirty="0">
                <a:latin typeface="Tahoma" panose="020B0604030504040204" pitchFamily="34" charset="0"/>
              </a:rPr>
              <a:t>e-training)</a:t>
            </a:r>
            <a:endParaRPr lang="en-CY" dirty="0"/>
          </a:p>
        </p:txBody>
      </p:sp>
    </p:spTree>
    <p:extLst>
      <p:ext uri="{BB962C8B-B14F-4D97-AF65-F5344CB8AC3E}">
        <p14:creationId xmlns:p14="http://schemas.microsoft.com/office/powerpoint/2010/main" val="2559048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38EF5C6-3EF0-DFCD-6F8B-7CC953195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506341"/>
            <a:ext cx="4597747" cy="1616203"/>
          </a:xfrm>
        </p:spPr>
        <p:txBody>
          <a:bodyPr anchor="b">
            <a:normAutofit/>
          </a:bodyPr>
          <a:lstStyle/>
          <a:p>
            <a:r>
              <a:rPr lang="el-GR" sz="3200" dirty="0"/>
              <a:t>Βασικές Έννοιες Ηλεκτρονικού</a:t>
            </a:r>
            <a:br>
              <a:rPr lang="el-GR" sz="3200" dirty="0"/>
            </a:br>
            <a:r>
              <a:rPr lang="el-GR" sz="3200" dirty="0"/>
              <a:t>Ταχυδρομείου</a:t>
            </a:r>
            <a:endParaRPr lang="en-CY" sz="32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14219DB-B98A-5501-55DA-EE49489A6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2078618"/>
          </a:xfrm>
        </p:spPr>
        <p:txBody>
          <a:bodyPr anchor="t">
            <a:normAutofit/>
          </a:bodyPr>
          <a:lstStyle/>
          <a:p>
            <a:pPr marL="217170" indent="-217170" defTabSz="868680">
              <a:spcBef>
                <a:spcPts val="950"/>
              </a:spcBef>
            </a:pPr>
            <a:r>
              <a:rPr lang="el-GR" sz="2000" b="1" kern="1200" dirty="0">
                <a:solidFill>
                  <a:schemeClr val="tx1"/>
                </a:solidFill>
                <a:latin typeface="Tahoma-Bold"/>
                <a:ea typeface="+mn-ea"/>
                <a:cs typeface="+mn-cs"/>
              </a:rPr>
              <a:t>Ηλεκτρονικό Ταχυδρομείο: </a:t>
            </a:r>
            <a:r>
              <a:rPr lang="el-GR" sz="2000" kern="1200" dirty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rPr>
              <a:t>Προσφέρεται μέσω του διαδικτύου, για τη συγγραφή, αποστολή, λήψη και αποθήκευση μηνυμάτων.</a:t>
            </a:r>
          </a:p>
          <a:p>
            <a:pPr marL="217170" indent="-217170" defTabSz="868680">
              <a:spcBef>
                <a:spcPts val="950"/>
              </a:spcBef>
            </a:pPr>
            <a:r>
              <a:rPr lang="el-GR" sz="2000" b="1" kern="1200" dirty="0" err="1">
                <a:solidFill>
                  <a:schemeClr val="tx1"/>
                </a:solidFill>
                <a:latin typeface="Tahoma-Bold"/>
                <a:ea typeface="+mn-ea"/>
                <a:cs typeface="+mn-cs"/>
              </a:rPr>
              <a:t>Webmail</a:t>
            </a:r>
            <a:r>
              <a:rPr lang="el-GR" sz="2000" b="1" kern="1200" dirty="0">
                <a:solidFill>
                  <a:schemeClr val="tx1"/>
                </a:solidFill>
                <a:latin typeface="Tahoma-Bold"/>
                <a:ea typeface="+mn-ea"/>
                <a:cs typeface="+mn-cs"/>
              </a:rPr>
              <a:t>: </a:t>
            </a:r>
            <a:r>
              <a:rPr lang="el-GR" sz="2000" kern="1200" dirty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rPr>
              <a:t>Ηλεκτρονικό ταχυδρομείο μέσω του παγκόσμιου ιστού.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99C452-F786-75E4-7274-A34878A86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916" y="867064"/>
            <a:ext cx="5205232" cy="5048790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0D80779-51CB-32B0-EBF5-644A38E30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17" y="4615066"/>
            <a:ext cx="3162574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7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840A2-5CE7-D450-06CA-88753E1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/>
              <a:t>Ασκήσεις</a:t>
            </a:r>
            <a:endParaRPr lang="en-US" sz="54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B012E-024D-D012-2696-C4284C6CE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7643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l-GR" sz="3200" dirty="0"/>
              <a:t>Σελίδα</a:t>
            </a:r>
            <a:r>
              <a:rPr lang="en-US" sz="3200" dirty="0"/>
              <a:t> </a:t>
            </a:r>
            <a:r>
              <a:rPr lang="el-GR" sz="3200" dirty="0"/>
              <a:t>121</a:t>
            </a:r>
            <a:endParaRPr lang="en-US" sz="3200" dirty="0"/>
          </a:p>
          <a:p>
            <a:pPr marL="0"/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F1A1F-5E69-4913-AAA2-D3861B2D0B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32" r="15756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9586038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698480" cy="914400"/>
          </a:xfrm>
        </p:spPr>
        <p:txBody>
          <a:bodyPr/>
          <a:lstStyle/>
          <a:p>
            <a:r>
              <a:rPr sz="3500">
                <a:solidFill>
                  <a:srgbClr val="1A3852"/>
                </a:solidFill>
                <a:latin typeface="Tahoma"/>
              </a:rPr>
              <a:t>Δίκτυο υπολογιστών και Διαδίκτυο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27048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Δίκτυο υπολογιστών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Δύο ή περισσότεροι υπολογιστές συνδέονται για να ανταλλάσσουν πληροφορίες και να μοιράζονται συσκευές.</a:t>
            </a:r>
          </a:p>
          <a:p>
            <a:pPr>
              <a:spcBef>
                <a:spcPts val="160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Διαδίκτυο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Παγκόσμιο δίκτυο που ενώνει πολλά μικρότερα δίκτυα.</a:t>
            </a:r>
          </a:p>
        </p:txBody>
      </p:sp>
      <p:pic>
        <p:nvPicPr>
          <p:cNvPr id="4" name="Picture 3" descr="exec-c47682d6-a91f-4279-bf2e-84f7907233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4800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698480" cy="914400"/>
          </a:xfrm>
        </p:spPr>
        <p:txBody>
          <a:bodyPr/>
          <a:lstStyle/>
          <a:p>
            <a:r>
              <a:rPr sz="3500">
                <a:solidFill>
                  <a:srgbClr val="1A3852"/>
                </a:solidFill>
                <a:latin typeface="Tahoma"/>
              </a:rPr>
              <a:t>Πώς συνδεόμαστε στο Διαδίκτυο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1527048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Πάροχος (ISP)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Η εταιρεία που μας προσφέρει σύνδεση στο Διαδίκτυο, π.χ. η CYTA.</a:t>
            </a:r>
          </a:p>
          <a:p>
            <a:pPr>
              <a:spcBef>
                <a:spcPts val="160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Modem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Η συσκευή που συνδέει το σπίτι με τη γραμμή του παρόχου.</a:t>
            </a:r>
          </a:p>
          <a:p>
            <a:pPr>
              <a:spcBef>
                <a:spcPts val="160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Δρομολογητής (router)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Κατευθύνει τα δεδομένα προς τη σωστή συσκευή ή το κατάλληλο δίκτυο.</a:t>
            </a:r>
          </a:p>
        </p:txBody>
      </p:sp>
      <p:pic>
        <p:nvPicPr>
          <p:cNvPr id="4" name="Picture 3" descr="exec-c47682d6-a91f-4279-bf2e-84f7907233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4800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698480" cy="914400"/>
          </a:xfrm>
        </p:spPr>
        <p:txBody>
          <a:bodyPr/>
          <a:lstStyle/>
          <a:p>
            <a:r>
              <a:rPr sz="3500">
                <a:solidFill>
                  <a:srgbClr val="1A3852"/>
                </a:solidFill>
                <a:latin typeface="Tahoma"/>
              </a:rPr>
              <a:t>Φυλλομετρητής και υπηρεσίες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27048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Φυλλομετρητής (browser)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Πρόγραμμα για να ανοίγουμε ιστοσελίδες.</a:t>
            </a:r>
          </a:p>
          <a:p>
            <a:pPr>
              <a:spcBef>
                <a:spcPts val="160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Παγκόσμιος Ιστός (WWW)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Ιστοσελίδες με πληροφορίες που βλέπουμε στον φυλλομετρητή.</a:t>
            </a:r>
          </a:p>
          <a:p>
            <a:pPr>
              <a:spcBef>
                <a:spcPts val="160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Ηλεκτρονικό ταχυδρομείο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Στέλνουμε και λαμβάνουμε ηλεκτρονικά μηνύματα.</a:t>
            </a:r>
          </a:p>
        </p:txBody>
      </p:sp>
      <p:pic>
        <p:nvPicPr>
          <p:cNvPr id="4" name="Picture 3" descr="exec-0e53aeb6-d1e5-491e-8645-290de90ff2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4800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698480" cy="914400"/>
          </a:xfrm>
        </p:spPr>
        <p:txBody>
          <a:bodyPr/>
          <a:lstStyle/>
          <a:p>
            <a:r>
              <a:rPr sz="3500">
                <a:solidFill>
                  <a:srgbClr val="1A3852"/>
                </a:solidFill>
                <a:latin typeface="Tahoma"/>
              </a:rPr>
              <a:t>Επικοινωνία μέσω Διαδικτύου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1527048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Ομάδες συζητήσεων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Χρήστες ανταλλάσσουν μηνύματα για ένα κοινό θέμα.</a:t>
            </a:r>
          </a:p>
          <a:p>
            <a:pPr>
              <a:spcBef>
                <a:spcPts val="160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Συνομιλία σε πραγματικό χρόνο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Μιλάμε με μηνύματα, ήχο ή βίντεο την ίδια στιγμή.</a:t>
            </a:r>
          </a:p>
        </p:txBody>
      </p:sp>
      <p:pic>
        <p:nvPicPr>
          <p:cNvPr id="4" name="Picture 3" descr="exec-0e53aeb6-d1e5-491e-8645-290de90ff2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4800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698480" cy="914400"/>
          </a:xfrm>
        </p:spPr>
        <p:txBody>
          <a:bodyPr/>
          <a:lstStyle/>
          <a:p>
            <a:r>
              <a:rPr sz="3500">
                <a:solidFill>
                  <a:srgbClr val="1A3852"/>
                </a:solidFill>
                <a:latin typeface="Tahoma"/>
              </a:rPr>
              <a:t>Αγορές και μάθηση στο Διαδίκτυο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27048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Ηλεκτρονικό εμπόριο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Βρίσκουμε και αγοράζουμε προϊόντα ή υπηρεσίες online.</a:t>
            </a:r>
          </a:p>
          <a:p>
            <a:pPr>
              <a:spcBef>
                <a:spcPts val="1600"/>
              </a:spcBef>
              <a:spcAft>
                <a:spcPts val="500"/>
              </a:spcAft>
            </a:pPr>
            <a:r>
              <a:rPr sz="2200" b="1">
                <a:solidFill>
                  <a:srgbClr val="1B4B6C"/>
                </a:solidFill>
                <a:latin typeface="Tahoma"/>
              </a:rPr>
              <a:t>Εκπαίδευση από απόσταση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D343D"/>
                </a:solidFill>
                <a:latin typeface="Tahoma"/>
              </a:rPr>
              <a:t>Παρακολουθούμε μαθήματα και εκπαιδευτικό υλικό μέσω Διαδικτύου.</a:t>
            </a:r>
          </a:p>
        </p:txBody>
      </p:sp>
      <p:pic>
        <p:nvPicPr>
          <p:cNvPr id="4" name="Picture 3" descr="exec-0e53aeb6-d1e5-491e-8645-290de90ff2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4800600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251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Tahoma</vt:lpstr>
      <vt:lpstr>Tahoma-Bold</vt:lpstr>
      <vt:lpstr>Wingdings</vt:lpstr>
      <vt:lpstr>Office Theme</vt:lpstr>
      <vt:lpstr>Α5.1 Μ1 -Βασικές Έννοιες Δικτύων και Διαδικτύου</vt:lpstr>
      <vt:lpstr>Βασικές Έννοιες Δικτύων και Διαδικτύου</vt:lpstr>
      <vt:lpstr>Υπηρεσίες που παρέχει το Διαδίκτυο</vt:lpstr>
      <vt:lpstr>Βασικές Έννοιες Ηλεκτρονικού Ταχυδρομείου</vt:lpstr>
      <vt:lpstr>Ασκήσεις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Σάββας Χειμώνας</dc:creator>
  <cp:lastModifiedBy>Άριστος Αρέστη</cp:lastModifiedBy>
  <cp:revision>11</cp:revision>
  <dcterms:created xsi:type="dcterms:W3CDTF">2023-10-04T19:49:38Z</dcterms:created>
  <dcterms:modified xsi:type="dcterms:W3CDTF">2026-09-25T18:17:08Z</dcterms:modified>
</cp:coreProperties>
</file>