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57" r:id="rId3"/>
    <p:sldId id="268" r:id="rId4"/>
    <p:sldId id="282" r:id="rId5"/>
    <p:sldId id="276" r:id="rId6"/>
    <p:sldId id="277" r:id="rId7"/>
    <p:sldId id="278" r:id="rId8"/>
    <p:sldId id="272" r:id="rId9"/>
    <p:sldId id="280" r:id="rId10"/>
    <p:sldId id="281" r:id="rId11"/>
    <p:sldId id="274" r:id="rId12"/>
    <p:sldId id="275" r:id="rId13"/>
    <p:sldId id="261" r:id="rId14"/>
  </p:sldIdLst>
  <p:sldSz cx="12192000" cy="6858000"/>
  <p:notesSz cx="6858000" cy="9144000"/>
  <p:defaultTextStyle>
    <a:defPPr>
      <a:defRPr lang="en-CY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752A77-1A3A-4C03-A5C0-D025542DA505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B51E39D-6055-4E29-BA16-82D66C911728}">
      <dgm:prSet custT="1"/>
      <dgm:spPr/>
      <dgm:t>
        <a:bodyPr/>
        <a:lstStyle/>
        <a:p>
          <a:r>
            <a:rPr lang="el-GR" sz="1600" b="1" i="0" baseline="0" dirty="0" smtClean="0"/>
            <a:t>Κακόβουλα προγράμματα</a:t>
          </a:r>
          <a:endParaRPr lang="en-US" sz="1600" dirty="0"/>
        </a:p>
      </dgm:t>
    </dgm:pt>
    <dgm:pt modelId="{17B57465-5BBF-45D7-8B12-45FD7A99BEFE}" type="parTrans" cxnId="{637E44AF-BE4B-4B2C-B2D9-C7B71124DAE1}">
      <dgm:prSet/>
      <dgm:spPr/>
      <dgm:t>
        <a:bodyPr/>
        <a:lstStyle/>
        <a:p>
          <a:endParaRPr lang="en-US"/>
        </a:p>
      </dgm:t>
    </dgm:pt>
    <dgm:pt modelId="{FDFD6CF4-6D30-4230-A17B-BF6AB0E545A0}" type="sibTrans" cxnId="{637E44AF-BE4B-4B2C-B2D9-C7B71124DAE1}">
      <dgm:prSet/>
      <dgm:spPr/>
      <dgm:t>
        <a:bodyPr/>
        <a:lstStyle/>
        <a:p>
          <a:endParaRPr lang="en-US"/>
        </a:p>
      </dgm:t>
    </dgm:pt>
    <dgm:pt modelId="{C693D07E-9624-431B-9CAE-918E6BAACD18}">
      <dgm:prSet custT="1"/>
      <dgm:spPr/>
      <dgm:t>
        <a:bodyPr/>
        <a:lstStyle/>
        <a:p>
          <a:r>
            <a:rPr lang="el-GR" sz="1600" b="1" i="0" baseline="0" dirty="0" smtClean="0"/>
            <a:t>Ανεπιθύμητα Μηνύματα (</a:t>
          </a:r>
          <a:r>
            <a:rPr lang="en-US" sz="1600" b="1" i="0" baseline="0" dirty="0" smtClean="0"/>
            <a:t>Spam)</a:t>
          </a:r>
          <a:endParaRPr lang="en-US" sz="1600" dirty="0"/>
        </a:p>
      </dgm:t>
    </dgm:pt>
    <dgm:pt modelId="{86E9D31D-7022-4022-9F2A-24EB976E969E}" type="parTrans" cxnId="{26613A90-496A-4A10-8083-B609D360D5CF}">
      <dgm:prSet/>
      <dgm:spPr/>
      <dgm:t>
        <a:bodyPr/>
        <a:lstStyle/>
        <a:p>
          <a:endParaRPr lang="en-US"/>
        </a:p>
      </dgm:t>
    </dgm:pt>
    <dgm:pt modelId="{413B60AF-A3A3-45A3-AFD2-E2EFA8B31769}" type="sibTrans" cxnId="{26613A90-496A-4A10-8083-B609D360D5CF}">
      <dgm:prSet/>
      <dgm:spPr/>
      <dgm:t>
        <a:bodyPr/>
        <a:lstStyle/>
        <a:p>
          <a:endParaRPr lang="en-US"/>
        </a:p>
      </dgm:t>
    </dgm:pt>
    <dgm:pt modelId="{64DAEE11-12F5-4AC4-8267-61918C785D1E}">
      <dgm:prSet custT="1"/>
      <dgm:spPr/>
      <dgm:t>
        <a:bodyPr/>
        <a:lstStyle/>
        <a:p>
          <a:r>
            <a:rPr lang="el-GR" sz="1600" b="1" i="0" baseline="0" dirty="0" smtClean="0"/>
            <a:t>Παραπληροφόρηση</a:t>
          </a:r>
          <a:endParaRPr lang="en-US" sz="1600" dirty="0"/>
        </a:p>
      </dgm:t>
    </dgm:pt>
    <dgm:pt modelId="{DE6183F6-705F-4F2E-B661-772D656B0368}" type="parTrans" cxnId="{803C207A-B1E5-45FA-BAF7-93F290F6DD2B}">
      <dgm:prSet/>
      <dgm:spPr/>
      <dgm:t>
        <a:bodyPr/>
        <a:lstStyle/>
        <a:p>
          <a:endParaRPr lang="en-US"/>
        </a:p>
      </dgm:t>
    </dgm:pt>
    <dgm:pt modelId="{7C25A55D-5279-4ECC-9EE0-C40AEDB6CA20}" type="sibTrans" cxnId="{803C207A-B1E5-45FA-BAF7-93F290F6DD2B}">
      <dgm:prSet/>
      <dgm:spPr/>
      <dgm:t>
        <a:bodyPr/>
        <a:lstStyle/>
        <a:p>
          <a:endParaRPr lang="en-US"/>
        </a:p>
      </dgm:t>
    </dgm:pt>
    <dgm:pt modelId="{B3BA226E-7AB9-4D23-9213-8A8590DF3B14}">
      <dgm:prSet custT="1"/>
      <dgm:spPr/>
      <dgm:t>
        <a:bodyPr/>
        <a:lstStyle/>
        <a:p>
          <a:r>
            <a:rPr lang="el-GR" sz="1600" dirty="0" smtClean="0"/>
            <a:t>Πρόσβαση σε ακατάλληλο περιεχόμενο</a:t>
          </a:r>
          <a:endParaRPr lang="en-US" sz="1600" dirty="0"/>
        </a:p>
      </dgm:t>
    </dgm:pt>
    <dgm:pt modelId="{54D22786-7AED-4263-B681-45989ABFBC76}" type="sibTrans" cxnId="{3ED816C2-9DD8-4F1B-A1DF-AE539461F2A5}">
      <dgm:prSet/>
      <dgm:spPr/>
      <dgm:t>
        <a:bodyPr/>
        <a:lstStyle/>
        <a:p>
          <a:endParaRPr lang="en-US"/>
        </a:p>
      </dgm:t>
    </dgm:pt>
    <dgm:pt modelId="{BA4A4ECB-24EA-4506-90FC-44877A1CFF1C}" type="parTrans" cxnId="{3ED816C2-9DD8-4F1B-A1DF-AE539461F2A5}">
      <dgm:prSet/>
      <dgm:spPr/>
      <dgm:t>
        <a:bodyPr/>
        <a:lstStyle/>
        <a:p>
          <a:endParaRPr lang="en-US"/>
        </a:p>
      </dgm:t>
    </dgm:pt>
    <dgm:pt modelId="{5B36C553-DA07-4ECA-AD82-1A8D1B001EE8}">
      <dgm:prSet custT="1"/>
      <dgm:spPr/>
      <dgm:t>
        <a:bodyPr/>
        <a:lstStyle/>
        <a:p>
          <a:r>
            <a:rPr lang="el-GR" sz="1600" dirty="0" smtClean="0"/>
            <a:t>Υποκλοπή Προσωπικών Δεδομένων (</a:t>
          </a:r>
          <a:r>
            <a:rPr lang="en-US" sz="1600" dirty="0" smtClean="0"/>
            <a:t>Phishing)</a:t>
          </a:r>
          <a:endParaRPr lang="en-US" sz="1600" dirty="0"/>
        </a:p>
      </dgm:t>
    </dgm:pt>
    <dgm:pt modelId="{296E6288-59AC-4EDF-A866-6B87D4172A89}" type="parTrans" cxnId="{D861E05C-65F4-4EA8-BB80-A4C49CB10DA3}">
      <dgm:prSet/>
      <dgm:spPr/>
      <dgm:t>
        <a:bodyPr/>
        <a:lstStyle/>
        <a:p>
          <a:endParaRPr lang="en-US"/>
        </a:p>
      </dgm:t>
    </dgm:pt>
    <dgm:pt modelId="{26E25E4D-9BDB-41CF-BB4A-0F4A7EBEF540}" type="sibTrans" cxnId="{D861E05C-65F4-4EA8-BB80-A4C49CB10DA3}">
      <dgm:prSet/>
      <dgm:spPr/>
      <dgm:t>
        <a:bodyPr/>
        <a:lstStyle/>
        <a:p>
          <a:endParaRPr lang="en-US"/>
        </a:p>
      </dgm:t>
    </dgm:pt>
    <dgm:pt modelId="{6C4573B7-DC5E-47ED-A759-B828B9261A2A}">
      <dgm:prSet custT="1"/>
      <dgm:spPr/>
      <dgm:t>
        <a:bodyPr/>
        <a:lstStyle/>
        <a:p>
          <a:r>
            <a:rPr lang="el-GR" sz="1600" dirty="0" smtClean="0"/>
            <a:t>Παραβίαση Πνευματικών δικαιωμάτων</a:t>
          </a:r>
          <a:endParaRPr lang="en-US" sz="1600" dirty="0"/>
        </a:p>
      </dgm:t>
    </dgm:pt>
    <dgm:pt modelId="{53C718B6-13CA-4F8C-AF98-08A2F59E1A5C}" type="parTrans" cxnId="{583B14B7-6EC8-4DEE-86B0-1582E6070648}">
      <dgm:prSet/>
      <dgm:spPr/>
      <dgm:t>
        <a:bodyPr/>
        <a:lstStyle/>
        <a:p>
          <a:endParaRPr lang="en-US"/>
        </a:p>
      </dgm:t>
    </dgm:pt>
    <dgm:pt modelId="{F08820C0-F723-4A5D-8A4F-CE2DD75FE9E5}" type="sibTrans" cxnId="{583B14B7-6EC8-4DEE-86B0-1582E6070648}">
      <dgm:prSet/>
      <dgm:spPr/>
      <dgm:t>
        <a:bodyPr/>
        <a:lstStyle/>
        <a:p>
          <a:endParaRPr lang="en-US"/>
        </a:p>
      </dgm:t>
    </dgm:pt>
    <dgm:pt modelId="{CDAB597F-802A-4421-8752-3D0A018C5D93}">
      <dgm:prSet custT="1"/>
      <dgm:spPr/>
      <dgm:t>
        <a:bodyPr/>
        <a:lstStyle/>
        <a:p>
          <a:r>
            <a:rPr lang="el-GR" sz="1600" dirty="0" smtClean="0"/>
            <a:t>Εθισμός στο Διαδίκτυο</a:t>
          </a:r>
          <a:endParaRPr lang="en-US" sz="1600" dirty="0"/>
        </a:p>
      </dgm:t>
    </dgm:pt>
    <dgm:pt modelId="{1C3AB063-2809-4DF8-A09E-A5FDA5549E5C}" type="parTrans" cxnId="{3359F9AD-002D-4EE5-BB47-3FDAF06002CB}">
      <dgm:prSet/>
      <dgm:spPr/>
      <dgm:t>
        <a:bodyPr/>
        <a:lstStyle/>
        <a:p>
          <a:endParaRPr lang="en-US"/>
        </a:p>
      </dgm:t>
    </dgm:pt>
    <dgm:pt modelId="{779CBD61-0619-4276-B267-8C9F3E162731}" type="sibTrans" cxnId="{3359F9AD-002D-4EE5-BB47-3FDAF06002CB}">
      <dgm:prSet/>
      <dgm:spPr/>
      <dgm:t>
        <a:bodyPr/>
        <a:lstStyle/>
        <a:p>
          <a:endParaRPr lang="en-US"/>
        </a:p>
      </dgm:t>
    </dgm:pt>
    <dgm:pt modelId="{D77D07D3-E4E2-47AA-8B91-7ABE3E073BCC}">
      <dgm:prSet custT="1"/>
      <dgm:spPr/>
      <dgm:t>
        <a:bodyPr/>
        <a:lstStyle/>
        <a:p>
          <a:r>
            <a:rPr lang="el-GR" sz="1600" smtClean="0"/>
            <a:t>Φυσικές Παθήσεις</a:t>
          </a:r>
          <a:endParaRPr lang="en-US" sz="1600" dirty="0"/>
        </a:p>
      </dgm:t>
    </dgm:pt>
    <dgm:pt modelId="{199B9402-D7DE-4B77-A821-960073F6BF8F}" type="parTrans" cxnId="{063EA417-F8AD-43E9-B52B-7D5C4A03F774}">
      <dgm:prSet/>
      <dgm:spPr/>
      <dgm:t>
        <a:bodyPr/>
        <a:lstStyle/>
        <a:p>
          <a:endParaRPr lang="en-US"/>
        </a:p>
      </dgm:t>
    </dgm:pt>
    <dgm:pt modelId="{10B1AB2E-0B98-45C0-8457-47C0B99D99A9}" type="sibTrans" cxnId="{063EA417-F8AD-43E9-B52B-7D5C4A03F774}">
      <dgm:prSet/>
      <dgm:spPr/>
      <dgm:t>
        <a:bodyPr/>
        <a:lstStyle/>
        <a:p>
          <a:endParaRPr lang="en-US"/>
        </a:p>
      </dgm:t>
    </dgm:pt>
    <dgm:pt modelId="{72164305-5EF1-45E1-9C32-059C97130664}" type="pres">
      <dgm:prSet presAssocID="{33752A77-1A3A-4C03-A5C0-D025542DA505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BDDBE60B-1D1B-4AD3-B4D2-33E0090A280C}" type="pres">
      <dgm:prSet presAssocID="{9B51E39D-6055-4E29-BA16-82D66C911728}" presName="parentText" presStyleLbl="node1" presStyleIdx="0" presStyleCnt="8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D1BFE1D-531A-4A70-AD6A-48C29E56835C}" type="pres">
      <dgm:prSet presAssocID="{FDFD6CF4-6D30-4230-A17B-BF6AB0E545A0}" presName="spacer" presStyleCnt="0"/>
      <dgm:spPr/>
    </dgm:pt>
    <dgm:pt modelId="{B11603A1-6B26-4A77-84DE-EFD8839DC2D1}" type="pres">
      <dgm:prSet presAssocID="{C693D07E-9624-431B-9CAE-918E6BAACD18}" presName="parentText" presStyleLbl="node1" presStyleIdx="1" presStyleCnt="8" custLinFactNeighborY="-83632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34607B5-06A8-4E63-8D22-8B922881BE52}" type="pres">
      <dgm:prSet presAssocID="{413B60AF-A3A3-45A3-AFD2-E2EFA8B31769}" presName="spacer" presStyleCnt="0"/>
      <dgm:spPr/>
    </dgm:pt>
    <dgm:pt modelId="{450C3316-8D6A-4766-918D-9BAEF14CA95E}" type="pres">
      <dgm:prSet presAssocID="{5B36C553-DA07-4ECA-AD82-1A8D1B001EE8}" presName="parentText" presStyleLbl="node1" presStyleIdx="2" presStyleCnt="8" custLinFactY="-8078" custLinFactNeighborY="-100000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0B20BAE-F6FE-4BCB-9364-8DA5D5D380D2}" type="pres">
      <dgm:prSet presAssocID="{26E25E4D-9BDB-41CF-BB4A-0F4A7EBEF540}" presName="spacer" presStyleCnt="0"/>
      <dgm:spPr/>
    </dgm:pt>
    <dgm:pt modelId="{7A50782C-4ADC-4934-BBD5-CBDE9DF0F4E8}" type="pres">
      <dgm:prSet presAssocID="{B3BA226E-7AB9-4D23-9213-8A8590DF3B14}" presName="parentText" presStyleLbl="node1" presStyleIdx="3" presStyleCnt="8" custLinFactY="-17367" custLinFactNeighborY="-100000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74843C2-4EF6-4AF4-A493-6B89C394ACBB}" type="pres">
      <dgm:prSet presAssocID="{54D22786-7AED-4263-B681-45989ABFBC76}" presName="spacer" presStyleCnt="0"/>
      <dgm:spPr/>
    </dgm:pt>
    <dgm:pt modelId="{3AA4ED8A-B8AD-47F6-A8DA-C880E0BC41D0}" type="pres">
      <dgm:prSet presAssocID="{64DAEE11-12F5-4AC4-8267-61918C785D1E}" presName="parentText" presStyleLbl="node1" presStyleIdx="4" presStyleCnt="8" custLinFactY="-25555" custLinFactNeighborY="-100000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9807297-AF38-4DF4-9086-F95B12142C53}" type="pres">
      <dgm:prSet presAssocID="{7C25A55D-5279-4ECC-9EE0-C40AEDB6CA20}" presName="spacer" presStyleCnt="0"/>
      <dgm:spPr/>
    </dgm:pt>
    <dgm:pt modelId="{68B71824-C2AB-47A0-B626-A2E9E5D72AD8}" type="pres">
      <dgm:prSet presAssocID="{6C4573B7-DC5E-47ED-A759-B828B9261A2A}" presName="parentText" presStyleLbl="node1" presStyleIdx="5" presStyleCnt="8" custLinFactY="-31403" custLinFactNeighborY="-100000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B790DC3-E339-41E7-8354-452A54ADAF94}" type="pres">
      <dgm:prSet presAssocID="{F08820C0-F723-4A5D-8A4F-CE2DD75FE9E5}" presName="spacer" presStyleCnt="0"/>
      <dgm:spPr/>
    </dgm:pt>
    <dgm:pt modelId="{1FCDF6E2-ADC5-43CF-A27C-E28AB7968E2A}" type="pres">
      <dgm:prSet presAssocID="{CDAB597F-802A-4421-8752-3D0A018C5D93}" presName="parentText" presStyleLbl="node1" presStyleIdx="6" presStyleCnt="8" custLinFactY="-43100" custLinFactNeighborY="-100000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CEF2F3BC-3B26-42C4-ACA4-ED6BEC4797A1}" type="pres">
      <dgm:prSet presAssocID="{779CBD61-0619-4276-B267-8C9F3E162731}" presName="spacer" presStyleCnt="0"/>
      <dgm:spPr/>
    </dgm:pt>
    <dgm:pt modelId="{AF97AC84-D7F2-48D5-897B-0632D36A752E}" type="pres">
      <dgm:prSet presAssocID="{D77D07D3-E4E2-47AA-8B91-7ABE3E073BCC}" presName="parentText" presStyleLbl="node1" presStyleIdx="7" presStyleCnt="8" custLinFactY="-54796" custLinFactNeighborY="-100000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F7DC0952-69DC-403F-AA82-2B870898C656}" type="presOf" srcId="{C693D07E-9624-431B-9CAE-918E6BAACD18}" destId="{B11603A1-6B26-4A77-84DE-EFD8839DC2D1}" srcOrd="0" destOrd="0" presId="urn:microsoft.com/office/officeart/2005/8/layout/vList2"/>
    <dgm:cxn modelId="{3ED816C2-9DD8-4F1B-A1DF-AE539461F2A5}" srcId="{33752A77-1A3A-4C03-A5C0-D025542DA505}" destId="{B3BA226E-7AB9-4D23-9213-8A8590DF3B14}" srcOrd="3" destOrd="0" parTransId="{BA4A4ECB-24EA-4506-90FC-44877A1CFF1C}" sibTransId="{54D22786-7AED-4263-B681-45989ABFBC76}"/>
    <dgm:cxn modelId="{47C7F78D-36F4-45E4-8A3F-3F9596FC44BD}" type="presOf" srcId="{5B36C553-DA07-4ECA-AD82-1A8D1B001EE8}" destId="{450C3316-8D6A-4766-918D-9BAEF14CA95E}" srcOrd="0" destOrd="0" presId="urn:microsoft.com/office/officeart/2005/8/layout/vList2"/>
    <dgm:cxn modelId="{803C207A-B1E5-45FA-BAF7-93F290F6DD2B}" srcId="{33752A77-1A3A-4C03-A5C0-D025542DA505}" destId="{64DAEE11-12F5-4AC4-8267-61918C785D1E}" srcOrd="4" destOrd="0" parTransId="{DE6183F6-705F-4F2E-B661-772D656B0368}" sibTransId="{7C25A55D-5279-4ECC-9EE0-C40AEDB6CA20}"/>
    <dgm:cxn modelId="{637E44AF-BE4B-4B2C-B2D9-C7B71124DAE1}" srcId="{33752A77-1A3A-4C03-A5C0-D025542DA505}" destId="{9B51E39D-6055-4E29-BA16-82D66C911728}" srcOrd="0" destOrd="0" parTransId="{17B57465-5BBF-45D7-8B12-45FD7A99BEFE}" sibTransId="{FDFD6CF4-6D30-4230-A17B-BF6AB0E545A0}"/>
    <dgm:cxn modelId="{97E6E61B-CF5F-42B4-9ECB-6496E540231D}" type="presOf" srcId="{6C4573B7-DC5E-47ED-A759-B828B9261A2A}" destId="{68B71824-C2AB-47A0-B626-A2E9E5D72AD8}" srcOrd="0" destOrd="0" presId="urn:microsoft.com/office/officeart/2005/8/layout/vList2"/>
    <dgm:cxn modelId="{3359F9AD-002D-4EE5-BB47-3FDAF06002CB}" srcId="{33752A77-1A3A-4C03-A5C0-D025542DA505}" destId="{CDAB597F-802A-4421-8752-3D0A018C5D93}" srcOrd="6" destOrd="0" parTransId="{1C3AB063-2809-4DF8-A09E-A5FDA5549E5C}" sibTransId="{779CBD61-0619-4276-B267-8C9F3E162731}"/>
    <dgm:cxn modelId="{1BA6B8EA-AC73-4AFD-B7E4-1E9377A6408D}" type="presOf" srcId="{33752A77-1A3A-4C03-A5C0-D025542DA505}" destId="{72164305-5EF1-45E1-9C32-059C97130664}" srcOrd="0" destOrd="0" presId="urn:microsoft.com/office/officeart/2005/8/layout/vList2"/>
    <dgm:cxn modelId="{DDDC71B5-D1CE-4F71-8E3D-A296DB053027}" type="presOf" srcId="{64DAEE11-12F5-4AC4-8267-61918C785D1E}" destId="{3AA4ED8A-B8AD-47F6-A8DA-C880E0BC41D0}" srcOrd="0" destOrd="0" presId="urn:microsoft.com/office/officeart/2005/8/layout/vList2"/>
    <dgm:cxn modelId="{81F40F63-BFC0-453E-B184-D1C3E517D119}" type="presOf" srcId="{B3BA226E-7AB9-4D23-9213-8A8590DF3B14}" destId="{7A50782C-4ADC-4934-BBD5-CBDE9DF0F4E8}" srcOrd="0" destOrd="0" presId="urn:microsoft.com/office/officeart/2005/8/layout/vList2"/>
    <dgm:cxn modelId="{583B14B7-6EC8-4DEE-86B0-1582E6070648}" srcId="{33752A77-1A3A-4C03-A5C0-D025542DA505}" destId="{6C4573B7-DC5E-47ED-A759-B828B9261A2A}" srcOrd="5" destOrd="0" parTransId="{53C718B6-13CA-4F8C-AF98-08A2F59E1A5C}" sibTransId="{F08820C0-F723-4A5D-8A4F-CE2DD75FE9E5}"/>
    <dgm:cxn modelId="{063EA417-F8AD-43E9-B52B-7D5C4A03F774}" srcId="{33752A77-1A3A-4C03-A5C0-D025542DA505}" destId="{D77D07D3-E4E2-47AA-8B91-7ABE3E073BCC}" srcOrd="7" destOrd="0" parTransId="{199B9402-D7DE-4B77-A821-960073F6BF8F}" sibTransId="{10B1AB2E-0B98-45C0-8457-47C0B99D99A9}"/>
    <dgm:cxn modelId="{D861E05C-65F4-4EA8-BB80-A4C49CB10DA3}" srcId="{33752A77-1A3A-4C03-A5C0-D025542DA505}" destId="{5B36C553-DA07-4ECA-AD82-1A8D1B001EE8}" srcOrd="2" destOrd="0" parTransId="{296E6288-59AC-4EDF-A866-6B87D4172A89}" sibTransId="{26E25E4D-9BDB-41CF-BB4A-0F4A7EBEF540}"/>
    <dgm:cxn modelId="{26613A90-496A-4A10-8083-B609D360D5CF}" srcId="{33752A77-1A3A-4C03-A5C0-D025542DA505}" destId="{C693D07E-9624-431B-9CAE-918E6BAACD18}" srcOrd="1" destOrd="0" parTransId="{86E9D31D-7022-4022-9F2A-24EB976E969E}" sibTransId="{413B60AF-A3A3-45A3-AFD2-E2EFA8B31769}"/>
    <dgm:cxn modelId="{AF6D1CE7-EBB8-40E7-A367-C9358EE6D704}" type="presOf" srcId="{CDAB597F-802A-4421-8752-3D0A018C5D93}" destId="{1FCDF6E2-ADC5-43CF-A27C-E28AB7968E2A}" srcOrd="0" destOrd="0" presId="urn:microsoft.com/office/officeart/2005/8/layout/vList2"/>
    <dgm:cxn modelId="{4E1CCF8C-C817-49F7-96A1-FABD42A690BD}" type="presOf" srcId="{9B51E39D-6055-4E29-BA16-82D66C911728}" destId="{BDDBE60B-1D1B-4AD3-B4D2-33E0090A280C}" srcOrd="0" destOrd="0" presId="urn:microsoft.com/office/officeart/2005/8/layout/vList2"/>
    <dgm:cxn modelId="{89907ACB-8AE7-4DDD-8F5E-2FDF86E686AA}" type="presOf" srcId="{D77D07D3-E4E2-47AA-8B91-7ABE3E073BCC}" destId="{AF97AC84-D7F2-48D5-897B-0632D36A752E}" srcOrd="0" destOrd="0" presId="urn:microsoft.com/office/officeart/2005/8/layout/vList2"/>
    <dgm:cxn modelId="{F5A6787E-5492-4778-A870-6D9CBE78B309}" type="presParOf" srcId="{72164305-5EF1-45E1-9C32-059C97130664}" destId="{BDDBE60B-1D1B-4AD3-B4D2-33E0090A280C}" srcOrd="0" destOrd="0" presId="urn:microsoft.com/office/officeart/2005/8/layout/vList2"/>
    <dgm:cxn modelId="{44BA6A69-124E-43F0-948F-D2A1A10F88A6}" type="presParOf" srcId="{72164305-5EF1-45E1-9C32-059C97130664}" destId="{7D1BFE1D-531A-4A70-AD6A-48C29E56835C}" srcOrd="1" destOrd="0" presId="urn:microsoft.com/office/officeart/2005/8/layout/vList2"/>
    <dgm:cxn modelId="{8AFAC3F4-2A21-4F10-9A57-6653CED8C188}" type="presParOf" srcId="{72164305-5EF1-45E1-9C32-059C97130664}" destId="{B11603A1-6B26-4A77-84DE-EFD8839DC2D1}" srcOrd="2" destOrd="0" presId="urn:microsoft.com/office/officeart/2005/8/layout/vList2"/>
    <dgm:cxn modelId="{2E41E0A8-6EC6-4AE2-8E86-161075951FDF}" type="presParOf" srcId="{72164305-5EF1-45E1-9C32-059C97130664}" destId="{A34607B5-06A8-4E63-8D22-8B922881BE52}" srcOrd="3" destOrd="0" presId="urn:microsoft.com/office/officeart/2005/8/layout/vList2"/>
    <dgm:cxn modelId="{4A48C009-A138-4A7D-9443-8AC661691F35}" type="presParOf" srcId="{72164305-5EF1-45E1-9C32-059C97130664}" destId="{450C3316-8D6A-4766-918D-9BAEF14CA95E}" srcOrd="4" destOrd="0" presId="urn:microsoft.com/office/officeart/2005/8/layout/vList2"/>
    <dgm:cxn modelId="{7CAD59A6-6FD9-463A-97E4-CF4EC54230C3}" type="presParOf" srcId="{72164305-5EF1-45E1-9C32-059C97130664}" destId="{B0B20BAE-F6FE-4BCB-9364-8DA5D5D380D2}" srcOrd="5" destOrd="0" presId="urn:microsoft.com/office/officeart/2005/8/layout/vList2"/>
    <dgm:cxn modelId="{AB5CFD5A-219D-4C07-B940-1D9DD73C7EB7}" type="presParOf" srcId="{72164305-5EF1-45E1-9C32-059C97130664}" destId="{7A50782C-4ADC-4934-BBD5-CBDE9DF0F4E8}" srcOrd="6" destOrd="0" presId="urn:microsoft.com/office/officeart/2005/8/layout/vList2"/>
    <dgm:cxn modelId="{DB777DDF-7FB0-48A2-AE97-DB158250417A}" type="presParOf" srcId="{72164305-5EF1-45E1-9C32-059C97130664}" destId="{974843C2-4EF6-4AF4-A493-6B89C394ACBB}" srcOrd="7" destOrd="0" presId="urn:microsoft.com/office/officeart/2005/8/layout/vList2"/>
    <dgm:cxn modelId="{5D00C7E7-BBE1-4E1F-A18C-47BB688D1DA8}" type="presParOf" srcId="{72164305-5EF1-45E1-9C32-059C97130664}" destId="{3AA4ED8A-B8AD-47F6-A8DA-C880E0BC41D0}" srcOrd="8" destOrd="0" presId="urn:microsoft.com/office/officeart/2005/8/layout/vList2"/>
    <dgm:cxn modelId="{6CDFC018-2E8D-4EFB-93D1-6EC7FF60D0B5}" type="presParOf" srcId="{72164305-5EF1-45E1-9C32-059C97130664}" destId="{C9807297-AF38-4DF4-9086-F95B12142C53}" srcOrd="9" destOrd="0" presId="urn:microsoft.com/office/officeart/2005/8/layout/vList2"/>
    <dgm:cxn modelId="{3FA51E79-BFD9-4BB6-88AB-559B7B625372}" type="presParOf" srcId="{72164305-5EF1-45E1-9C32-059C97130664}" destId="{68B71824-C2AB-47A0-B626-A2E9E5D72AD8}" srcOrd="10" destOrd="0" presId="urn:microsoft.com/office/officeart/2005/8/layout/vList2"/>
    <dgm:cxn modelId="{AF464EA4-8617-45A2-B4D6-DEB15DA636F5}" type="presParOf" srcId="{72164305-5EF1-45E1-9C32-059C97130664}" destId="{6B790DC3-E339-41E7-8354-452A54ADAF94}" srcOrd="11" destOrd="0" presId="urn:microsoft.com/office/officeart/2005/8/layout/vList2"/>
    <dgm:cxn modelId="{A3838EE3-B8DF-4EC5-89D7-E8497C8D1305}" type="presParOf" srcId="{72164305-5EF1-45E1-9C32-059C97130664}" destId="{1FCDF6E2-ADC5-43CF-A27C-E28AB7968E2A}" srcOrd="12" destOrd="0" presId="urn:microsoft.com/office/officeart/2005/8/layout/vList2"/>
    <dgm:cxn modelId="{FC9C24E4-C3B8-40B4-8E26-BB927B776A18}" type="presParOf" srcId="{72164305-5EF1-45E1-9C32-059C97130664}" destId="{CEF2F3BC-3B26-42C4-ACA4-ED6BEC4797A1}" srcOrd="13" destOrd="0" presId="urn:microsoft.com/office/officeart/2005/8/layout/vList2"/>
    <dgm:cxn modelId="{BB8A72EF-B8C7-487D-9CE9-01C251FB50D6}" type="presParOf" srcId="{72164305-5EF1-45E1-9C32-059C97130664}" destId="{AF97AC84-D7F2-48D5-897B-0632D36A752E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DBE60B-1D1B-4AD3-B4D2-33E0090A280C}">
      <dsp:nvSpPr>
        <dsp:cNvPr id="0" name=""/>
        <dsp:cNvSpPr/>
      </dsp:nvSpPr>
      <dsp:spPr>
        <a:xfrm>
          <a:off x="0" y="26184"/>
          <a:ext cx="10712569" cy="5616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sz="1600" b="1" i="0" kern="1200" baseline="0" dirty="0" smtClean="0"/>
            <a:t>Κακόβουλα προγράμματα</a:t>
          </a:r>
          <a:endParaRPr lang="en-US" sz="1600" kern="1200" dirty="0"/>
        </a:p>
      </dsp:txBody>
      <dsp:txXfrm>
        <a:off x="27415" y="53599"/>
        <a:ext cx="10657739" cy="506770"/>
      </dsp:txXfrm>
    </dsp:sp>
    <dsp:sp modelId="{B11603A1-6B26-4A77-84DE-EFD8839DC2D1}">
      <dsp:nvSpPr>
        <dsp:cNvPr id="0" name=""/>
        <dsp:cNvSpPr/>
      </dsp:nvSpPr>
      <dsp:spPr>
        <a:xfrm>
          <a:off x="0" y="601926"/>
          <a:ext cx="10712569" cy="56160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sz="1600" b="1" i="0" kern="1200" baseline="0" dirty="0" smtClean="0"/>
            <a:t>Ανεπιθύμητα Μηνύματα (</a:t>
          </a:r>
          <a:r>
            <a:rPr lang="en-US" sz="1600" b="1" i="0" kern="1200" baseline="0" dirty="0" smtClean="0"/>
            <a:t>Spam)</a:t>
          </a:r>
          <a:endParaRPr lang="en-US" sz="1600" kern="1200" dirty="0"/>
        </a:p>
      </dsp:txBody>
      <dsp:txXfrm>
        <a:off x="27415" y="629341"/>
        <a:ext cx="10657739" cy="506770"/>
      </dsp:txXfrm>
    </dsp:sp>
    <dsp:sp modelId="{450C3316-8D6A-4766-918D-9BAEF14CA95E}">
      <dsp:nvSpPr>
        <dsp:cNvPr id="0" name=""/>
        <dsp:cNvSpPr/>
      </dsp:nvSpPr>
      <dsp:spPr>
        <a:xfrm>
          <a:off x="0" y="1190418"/>
          <a:ext cx="10712569" cy="5616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sz="1600" kern="1200" dirty="0" smtClean="0"/>
            <a:t>Υποκλοπή Προσωπικών Δεδομένων (</a:t>
          </a:r>
          <a:r>
            <a:rPr lang="en-US" sz="1600" kern="1200" dirty="0" smtClean="0"/>
            <a:t>Phishing)</a:t>
          </a:r>
          <a:endParaRPr lang="en-US" sz="1600" kern="1200" dirty="0"/>
        </a:p>
      </dsp:txBody>
      <dsp:txXfrm>
        <a:off x="27415" y="1217833"/>
        <a:ext cx="10657739" cy="506770"/>
      </dsp:txXfrm>
    </dsp:sp>
    <dsp:sp modelId="{7A50782C-4ADC-4934-BBD5-CBDE9DF0F4E8}">
      <dsp:nvSpPr>
        <dsp:cNvPr id="0" name=""/>
        <dsp:cNvSpPr/>
      </dsp:nvSpPr>
      <dsp:spPr>
        <a:xfrm>
          <a:off x="0" y="1786251"/>
          <a:ext cx="10712569" cy="561600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sz="1600" kern="1200" dirty="0" smtClean="0"/>
            <a:t>Πρόσβαση σε ακατάλληλο περιεχόμενο</a:t>
          </a:r>
          <a:endParaRPr lang="en-US" sz="1600" kern="1200" dirty="0"/>
        </a:p>
      </dsp:txBody>
      <dsp:txXfrm>
        <a:off x="27415" y="1813666"/>
        <a:ext cx="10657739" cy="506770"/>
      </dsp:txXfrm>
    </dsp:sp>
    <dsp:sp modelId="{3AA4ED8A-B8AD-47F6-A8DA-C880E0BC41D0}">
      <dsp:nvSpPr>
        <dsp:cNvPr id="0" name=""/>
        <dsp:cNvSpPr/>
      </dsp:nvSpPr>
      <dsp:spPr>
        <a:xfrm>
          <a:off x="0" y="2388268"/>
          <a:ext cx="10712569" cy="561600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sz="1600" b="1" i="0" kern="1200" baseline="0" dirty="0" smtClean="0"/>
            <a:t>Παραπληροφόρηση</a:t>
          </a:r>
          <a:endParaRPr lang="en-US" sz="1600" kern="1200" dirty="0"/>
        </a:p>
      </dsp:txBody>
      <dsp:txXfrm>
        <a:off x="27415" y="2415683"/>
        <a:ext cx="10657739" cy="506770"/>
      </dsp:txXfrm>
    </dsp:sp>
    <dsp:sp modelId="{68B71824-C2AB-47A0-B626-A2E9E5D72AD8}">
      <dsp:nvSpPr>
        <dsp:cNvPr id="0" name=""/>
        <dsp:cNvSpPr/>
      </dsp:nvSpPr>
      <dsp:spPr>
        <a:xfrm>
          <a:off x="0" y="3003425"/>
          <a:ext cx="10712569" cy="5616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sz="1600" kern="1200" dirty="0" smtClean="0"/>
            <a:t>Παραβίαση Πνευματικών δικαιωμάτων</a:t>
          </a:r>
          <a:endParaRPr lang="en-US" sz="1600" kern="1200" dirty="0"/>
        </a:p>
      </dsp:txBody>
      <dsp:txXfrm>
        <a:off x="27415" y="3030840"/>
        <a:ext cx="10657739" cy="506770"/>
      </dsp:txXfrm>
    </dsp:sp>
    <dsp:sp modelId="{1FCDF6E2-ADC5-43CF-A27C-E28AB7968E2A}">
      <dsp:nvSpPr>
        <dsp:cNvPr id="0" name=""/>
        <dsp:cNvSpPr/>
      </dsp:nvSpPr>
      <dsp:spPr>
        <a:xfrm>
          <a:off x="0" y="3585735"/>
          <a:ext cx="10712569" cy="56160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sz="1600" kern="1200" dirty="0" smtClean="0"/>
            <a:t>Εθισμός στο Διαδίκτυο</a:t>
          </a:r>
          <a:endParaRPr lang="en-US" sz="1600" kern="1200" dirty="0"/>
        </a:p>
      </dsp:txBody>
      <dsp:txXfrm>
        <a:off x="27415" y="3613150"/>
        <a:ext cx="10657739" cy="506770"/>
      </dsp:txXfrm>
    </dsp:sp>
    <dsp:sp modelId="{AF97AC84-D7F2-48D5-897B-0632D36A752E}">
      <dsp:nvSpPr>
        <dsp:cNvPr id="0" name=""/>
        <dsp:cNvSpPr/>
      </dsp:nvSpPr>
      <dsp:spPr>
        <a:xfrm>
          <a:off x="0" y="4168050"/>
          <a:ext cx="10712569" cy="5616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l-GR" sz="1600" kern="1200" smtClean="0"/>
            <a:t>Φυσικές Παθήσεις</a:t>
          </a:r>
          <a:endParaRPr lang="en-US" sz="1600" kern="1200" dirty="0"/>
        </a:p>
      </dsp:txBody>
      <dsp:txXfrm>
        <a:off x="27415" y="4195465"/>
        <a:ext cx="10657739" cy="5067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04C30-05E9-D826-1BCD-EBC8CA2D6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B43AC7-BD79-AB76-BBB0-CE9DCBE027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6905A0-CF0D-DAD0-AA35-D7E8AEC18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63A84-C261-2352-D010-454A777336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3255-F27C-CD7D-6D70-E732FEF12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372019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0AD53-49F1-09AE-71D5-CD3D41272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F7D72-8B29-4DEE-FC7D-0880EF108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CBFE3-DEA3-6856-D514-1991833DB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04600-B069-3553-653E-03BF41476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568943-DB2F-83CC-6551-258AF4D1F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3062193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0A085-696D-28C2-F655-0F6693383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4E020-1434-0F8B-89F7-E9AF4331EE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07705-CA1C-88A2-A575-DB3DAD14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B3231-7C24-3098-2FAA-1D5008679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AC68E-9449-B5C1-C1B5-854C7C7D9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636147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BE2EC-F155-D7EB-2AC5-983FC8D4A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726D91-E35C-6E80-3C44-F2E3E9ECC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69EE7-1E85-E018-6A60-B3049DF0CE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23FF9-CA5E-9848-E01F-FEDAAA475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30FB80-0D8D-B89B-B20F-3A8F18C64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E3241-D00B-F0B0-5936-F2F2B93EE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3887500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FFD72-EBAA-3AB3-AD3F-EDBD8CEA1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50E27B-8F60-DF7F-BDE4-6D4E7A4303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E1AC27-1C56-978A-7D6B-B055E1D660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B56275-E572-8B11-5AB1-339FE39FAB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4F1AE2-EF4D-1A1A-9850-8346E0148D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CC34AC-1D49-1BAA-A568-C5F6C772A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5FB026-E190-5F1F-FA35-D822D9485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7151814-9A5A-01D3-88BA-24F6D3AAC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733970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DF9C3-39D3-DF2E-977F-FA04791BE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7E91E9-6989-7D3E-831A-9BCD5C0E5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4F9FF-FB5A-39F0-622E-79A3D0D2F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1D1E5D-CB67-509F-0096-C6CAE4D85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342608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D4EAF9-557D-AE06-7DED-6D99647BD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AB1639-0CA2-550F-03F3-86FBAAA22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CF5FD-F318-3055-DAAC-A80489E88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394888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1053F-B335-6EE9-D1E8-A07B69621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5BAC9-D970-4EC5-61D4-39A1093BD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EAFDB0-A5FB-6BEB-AABD-C0826D983D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18D7DE-69BD-1A80-D280-9C8A9E3AB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8C7AC7-19F0-B116-68E0-F3DFDC27C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8A803D-8D3A-762D-898E-42D37EBE8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179678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02B5-3CEC-9AC2-103E-BAF1BDD3D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13B0F8-0440-2E9B-AF06-2B0657A358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2F39BE-6061-80A7-4C84-FF08F1D044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7A9F-D7B4-D49E-3E75-BE29BA772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CB3C4-9EAA-3BB1-E1B1-2BC3C0F9D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100772-2A98-4EF3-9A4E-109186F5F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678593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C7891-50A1-D827-9AFD-A85B10D2E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CC6D0D-6CB4-CFDE-FB03-9B71418549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225D6-EDC3-6745-0FC2-A09D0DA98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67F3C-C6CA-9F51-BC32-84DC17CEAC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AFE866-5B53-A76D-DD28-C207A75B6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688796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EDC629-6DB9-5CF8-91B0-DEEFBFF0F1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489A09-0AF7-7E24-BA78-2EB1FB560D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91B7AB-B4FC-C8DB-31FA-9ABEA7B28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83984-9610-E9C1-65D4-0CAB51914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EC68A0-7CE9-63DF-0672-16175F5AF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2989396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60645D-D329-DF36-5CA9-D3B20FAAF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44FB4-9F2A-A6B7-BA9B-BB795795D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B16272-565B-9B03-B6C3-5AA7FD3110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7F989C-30E5-4DC5-997F-61FD62BB783E}" type="datetimeFigureOut">
              <a:rPr lang="en-CY" smtClean="0"/>
              <a:t>12/16/2024</a:t>
            </a:fld>
            <a:endParaRPr lang="en-C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EE446-8934-CDA2-0126-500D21D1A9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91DA7-60C8-1B32-5829-79F78F5F9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5F20F7-AE5A-4CC2-A80C-4918850978B3}" type="slidenum">
              <a:rPr lang="en-CY" smtClean="0"/>
              <a:t>‹#›</a:t>
            </a:fld>
            <a:endParaRPr lang="en-CY"/>
          </a:p>
        </p:txBody>
      </p:sp>
    </p:spTree>
    <p:extLst>
      <p:ext uri="{BB962C8B-B14F-4D97-AF65-F5344CB8AC3E}">
        <p14:creationId xmlns:p14="http://schemas.microsoft.com/office/powerpoint/2010/main" val="1403934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Y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28" name="Picture 4" descr="Computer Network Computers Connected Each Other Stock Illustration  786925981 Shutterstock | woden.com.br">
            <a:extLst>
              <a:ext uri="{FF2B5EF4-FFF2-40B4-BE49-F238E27FC236}">
                <a16:creationId xmlns:a16="http://schemas.microsoft.com/office/drawing/2014/main" id="{A101C40B-631C-E452-FA90-76E942D634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10" r="13854"/>
          <a:stretch/>
        </p:blipFill>
        <p:spPr bwMode="auto">
          <a:xfrm>
            <a:off x="3951890" y="10"/>
            <a:ext cx="824011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Rectangle 1034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6E3AE4-ACBB-31DA-A5C7-61CCF6B21D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775506" cy="3204134"/>
          </a:xfrm>
        </p:spPr>
        <p:txBody>
          <a:bodyPr anchor="b">
            <a:normAutofit/>
          </a:bodyPr>
          <a:lstStyle/>
          <a:p>
            <a:pPr algn="l"/>
            <a:r>
              <a:rPr lang="el-GR" sz="4800" dirty="0" smtClean="0">
                <a:solidFill>
                  <a:schemeClr val="bg1"/>
                </a:solidFill>
              </a:rPr>
              <a:t>Α5.3.1 </a:t>
            </a:r>
            <a:r>
              <a:rPr lang="el-GR" sz="4800" dirty="0">
                <a:solidFill>
                  <a:schemeClr val="bg1"/>
                </a:solidFill>
              </a:rPr>
              <a:t>Μ1 </a:t>
            </a:r>
            <a:r>
              <a:rPr lang="el-GR" sz="4800" dirty="0" smtClean="0">
                <a:solidFill>
                  <a:schemeClr val="bg1"/>
                </a:solidFill>
              </a:rPr>
              <a:t>–Κίνδυνοι στο Διαδίκτυο</a:t>
            </a:r>
            <a:endParaRPr lang="en-CY" sz="4800" dirty="0">
              <a:solidFill>
                <a:schemeClr val="bg1"/>
              </a:solidFill>
            </a:endParaRP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0504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46273-C861-B047-317B-851DDB1C6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7303"/>
            <a:ext cx="10515600" cy="101292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Κίνδυνοι που προκύπτουν από τη χρήση του </a:t>
            </a:r>
            <a:r>
              <a:rPr lang="el-GR" b="1" dirty="0" smtClean="0"/>
              <a:t>Διαδικτύου</a:t>
            </a:r>
            <a:endParaRPr lang="en-CY" sz="4800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3E00B58-6928-32EB-BCD8-28AB606A9A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3556022"/>
              </p:ext>
            </p:extLst>
          </p:nvPr>
        </p:nvGraphicFramePr>
        <p:xfrm>
          <a:off x="838200" y="1500996"/>
          <a:ext cx="10712570" cy="51499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34411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A9901-A4E0-3DB7-89B6-367C595F1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Κακόβουλα </a:t>
            </a:r>
            <a:r>
              <a:rPr lang="el-GR" b="1" dirty="0" smtClean="0"/>
              <a:t>Προγράμματα</a:t>
            </a:r>
            <a:endParaRPr lang="en-CY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BCF73-5117-7689-88F4-82819A27A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l-GR" b="1" dirty="0" smtClean="0"/>
              <a:t>Ιούς</a:t>
            </a:r>
            <a:r>
              <a:rPr lang="el-GR" dirty="0" smtClean="0"/>
              <a:t> - </a:t>
            </a:r>
            <a:r>
              <a:rPr lang="en-US" dirty="0" smtClean="0"/>
              <a:t>viruses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b="1" dirty="0"/>
              <a:t>Δ</a:t>
            </a:r>
            <a:r>
              <a:rPr lang="el-GR" b="1" dirty="0" smtClean="0"/>
              <a:t>ούρειους ίππους </a:t>
            </a:r>
            <a:r>
              <a:rPr lang="el-GR" dirty="0" smtClean="0"/>
              <a:t>- </a:t>
            </a:r>
            <a:r>
              <a:rPr lang="en-US" dirty="0"/>
              <a:t>Trojan horses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b="1" dirty="0" smtClean="0"/>
              <a:t>Σκουλήκια</a:t>
            </a:r>
            <a:r>
              <a:rPr lang="el-GR" dirty="0" smtClean="0"/>
              <a:t> – </a:t>
            </a:r>
            <a:r>
              <a:rPr lang="en-US" dirty="0" smtClean="0"/>
              <a:t>worms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dirty="0"/>
              <a:t>«Μολύνουν» άλλα προγράμματα του υπολογιστή μας.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Διαγράφουν </a:t>
            </a:r>
            <a:r>
              <a:rPr lang="el-GR" dirty="0"/>
              <a:t>ή αλλάζουν αρχεία στον υπολογιστή μας χωρίς να το καταλάβουμε.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Μεταφέρουν </a:t>
            </a:r>
            <a:r>
              <a:rPr lang="el-GR" dirty="0"/>
              <a:t>στον υπολογιστή μας άλλα επιβλαβή προγράμματα.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Γεμίζουν </a:t>
            </a:r>
            <a:r>
              <a:rPr lang="el-GR" dirty="0"/>
              <a:t>τον υπολογιστή μας με άχρηστα προγράμματα, τα οποία επιβραδύνουν </a:t>
            </a:r>
            <a:r>
              <a:rPr lang="el-GR" dirty="0" smtClean="0"/>
              <a:t>ή ακόμα </a:t>
            </a:r>
            <a:r>
              <a:rPr lang="el-GR" dirty="0"/>
              <a:t>σταματούν εντελώς τη λειτουργία του.</a:t>
            </a:r>
            <a:endParaRPr lang="en-CY" dirty="0"/>
          </a:p>
        </p:txBody>
      </p:sp>
    </p:spTree>
    <p:extLst>
      <p:ext uri="{BB962C8B-B14F-4D97-AF65-F5344CB8AC3E}">
        <p14:creationId xmlns:p14="http://schemas.microsoft.com/office/powerpoint/2010/main" val="2559048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A9901-A4E0-3DB7-89B6-367C595F1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 smtClean="0"/>
              <a:t>Προστασία από Κακόβουλα </a:t>
            </a:r>
            <a:r>
              <a:rPr lang="el-GR" b="1" dirty="0" smtClean="0"/>
              <a:t>Προγράμματα</a:t>
            </a:r>
            <a:endParaRPr lang="en-CY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BCF73-5117-7689-88F4-82819A27A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l-GR" dirty="0"/>
              <a:t>Επιλογή ενός καλού προγράμματος καταπολέμησης ιών 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Συνεχής </a:t>
            </a:r>
            <a:r>
              <a:rPr lang="el-GR" dirty="0"/>
              <a:t>ανανέωση (</a:t>
            </a:r>
            <a:r>
              <a:rPr lang="el-GR" dirty="0" err="1"/>
              <a:t>update</a:t>
            </a:r>
            <a:r>
              <a:rPr lang="el-GR" dirty="0"/>
              <a:t>) του προγράμματος </a:t>
            </a:r>
            <a:r>
              <a:rPr lang="el-GR" dirty="0" smtClean="0"/>
              <a:t>καταπολέμησης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Τήρηση </a:t>
            </a:r>
            <a:r>
              <a:rPr lang="el-GR" dirty="0"/>
              <a:t>αντιγράφων ασφαλείας (</a:t>
            </a:r>
            <a:r>
              <a:rPr lang="el-GR" dirty="0" err="1"/>
              <a:t>back</a:t>
            </a:r>
            <a:r>
              <a:rPr lang="el-GR" dirty="0"/>
              <a:t> </a:t>
            </a:r>
            <a:r>
              <a:rPr lang="el-GR" dirty="0" err="1"/>
              <a:t>up</a:t>
            </a:r>
            <a:r>
              <a:rPr lang="el-GR" dirty="0"/>
              <a:t>) όλων των αρχείων σας</a:t>
            </a:r>
            <a:r>
              <a:rPr lang="el-GR" dirty="0" smtClean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Επιλογή </a:t>
            </a:r>
            <a:r>
              <a:rPr lang="el-GR" dirty="0"/>
              <a:t>της πλήρους εμφάνισης των τύπων αρχείων στον Η/Υ σας. Ίσως κάποιος να σας στείλει μια «φωτογραφία» ως photo.jpg.vbs. Αν δεν έχετε την παραπάνω επιλογή ενεργοποιημένη, θα εκτελέσετε το αρχείο το οποίο θα περιέχει οτιδήποτε άλλο παρά φωτογραφία. </a:t>
            </a:r>
            <a:endParaRPr lang="el-GR" dirty="0" smtClean="0"/>
          </a:p>
        </p:txBody>
      </p:sp>
    </p:spTree>
    <p:extLst>
      <p:ext uri="{BB962C8B-B14F-4D97-AF65-F5344CB8AC3E}">
        <p14:creationId xmlns:p14="http://schemas.microsoft.com/office/powerpoint/2010/main" val="3548186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Ανεπιθύμητα μηνύματα (</a:t>
            </a:r>
            <a:r>
              <a:rPr lang="en-US" b="1" dirty="0"/>
              <a:t>Spam)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 lnSpcReduction="10000"/>
          </a:bodyPr>
          <a:lstStyle/>
          <a:p>
            <a:r>
              <a:rPr lang="el-GR" dirty="0"/>
              <a:t>Τα ανεπιθύμητα μηνύματα είναι μηνύματα τα οποία αποστέλλονται μαζικά, </a:t>
            </a:r>
            <a:r>
              <a:rPr lang="el-GR" dirty="0" smtClean="0"/>
              <a:t>συνήθως αφορούν </a:t>
            </a:r>
            <a:r>
              <a:rPr lang="el-GR" dirty="0"/>
              <a:t>τυχερά παιχνίδια και διαφημίσεις προϊόντων ή </a:t>
            </a:r>
            <a:r>
              <a:rPr lang="el-GR" dirty="0" smtClean="0"/>
              <a:t>υπηρεσιών.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lnSpcReduction="10000"/>
          </a:bodyPr>
          <a:lstStyle/>
          <a:p>
            <a:r>
              <a:rPr lang="el-GR" dirty="0"/>
              <a:t>Δεν δίνουμε ποτέ την ηλεκτρονική μας διεύθυνση σε οργανισμούς που </a:t>
            </a:r>
            <a:r>
              <a:rPr lang="el-GR" dirty="0" smtClean="0"/>
              <a:t>δεν εμπιστευόμαστε</a:t>
            </a:r>
            <a:r>
              <a:rPr lang="el-GR" dirty="0"/>
              <a:t>.</a:t>
            </a:r>
          </a:p>
          <a:p>
            <a:r>
              <a:rPr lang="el-GR" dirty="0" smtClean="0"/>
              <a:t>Δεν </a:t>
            </a:r>
            <a:r>
              <a:rPr lang="el-GR" dirty="0"/>
              <a:t>απαντούμε ποτέ σε τέτοια μηνύματα.</a:t>
            </a:r>
          </a:p>
          <a:p>
            <a:r>
              <a:rPr lang="el-GR" dirty="0" smtClean="0"/>
              <a:t>Ρυθμίζουμε </a:t>
            </a:r>
            <a:r>
              <a:rPr lang="el-GR" dirty="0"/>
              <a:t>την υπηρεσία φιλτραρίσματος του ηλεκτρονικού μας ταχυδρομείου </a:t>
            </a:r>
            <a:r>
              <a:rPr lang="el-GR" dirty="0" smtClean="0"/>
              <a:t>έτσι  ώστε </a:t>
            </a:r>
            <a:r>
              <a:rPr lang="el-GR" dirty="0"/>
              <a:t>να απορρίπτει αυτόματα τέτοια μηνύματα.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34004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Υποκλοπή Προσωπικών Δεδομένων (</a:t>
            </a:r>
            <a:r>
              <a:rPr lang="en-US" b="1" dirty="0"/>
              <a:t>Phishing)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l-GR" dirty="0"/>
              <a:t>Η εξαπάτηση ενός χρήστη πείθοντάς τον να δώσει προσωπικές </a:t>
            </a:r>
            <a:r>
              <a:rPr lang="el-GR" dirty="0" smtClean="0"/>
              <a:t>πληροφορίες </a:t>
            </a:r>
            <a:r>
              <a:rPr lang="el-GR" dirty="0"/>
              <a:t>μέσω διαδικτύου 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l-GR" dirty="0"/>
              <a:t>Ελέγχουμε πάντοτε τον αποστολέα οποιουδήποτε μηνύματος που μας ζητά να δώσουμε προσωπικές πληροφορίες. </a:t>
            </a:r>
            <a:endParaRPr lang="en-US" dirty="0" smtClean="0"/>
          </a:p>
          <a:p>
            <a:r>
              <a:rPr lang="el-GR" dirty="0"/>
              <a:t>Δεν δίνουμε ποτέ προσωπικές πληροφορίες μέσω ηλεκτρονικού ταχυδρομείου.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2515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Πρόσβαση σε Ακατάλληλο Περιεχόμενο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r>
              <a:rPr lang="el-GR" dirty="0"/>
              <a:t>Στο ακατάλληλο περιεχόμενο συμπεριλαμβάνονται οποιεσδήποτε πληροφορίες οι οποίες προάγουν το </a:t>
            </a:r>
            <a:r>
              <a:rPr lang="el-GR" dirty="0" smtClean="0"/>
              <a:t>ρατσισμό</a:t>
            </a:r>
            <a:r>
              <a:rPr lang="el-GR" dirty="0"/>
              <a:t>, τη ξενοφοβία, την πορνογραφία, τη βία, τα τυχερά παιχνίδια και άλλες επιβλαβείς </a:t>
            </a:r>
            <a:r>
              <a:rPr lang="el-GR" dirty="0" smtClean="0"/>
              <a:t>συμπεριφορές</a:t>
            </a:r>
            <a:r>
              <a:rPr lang="el-GR" dirty="0"/>
              <a:t>. 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92500" lnSpcReduction="20000"/>
          </a:bodyPr>
          <a:lstStyle/>
          <a:p>
            <a:r>
              <a:rPr lang="el-GR" dirty="0"/>
              <a:t>Καταγγέλλουμε ιστοσελίδες με ακατάλληλο περιεχόμενο στην ιστοσελίδα www.cyberethics.info ή στο τηλέφωνο 1480 (Γραμμή Βοήθειας και Καταγγελιών) ή/και στην αστυνομία. </a:t>
            </a:r>
            <a:endParaRPr lang="el-GR" dirty="0" smtClean="0"/>
          </a:p>
          <a:p>
            <a:r>
              <a:rPr lang="el-GR" dirty="0"/>
              <a:t>Εγκαθιστούμε λογισμικό φιλτραρίσματος πληροφοριών σε υπολογιστές που χρησιμοποιούνται από </a:t>
            </a:r>
            <a:r>
              <a:rPr lang="el-GR" dirty="0" smtClean="0"/>
              <a:t>παιδιά.</a:t>
            </a:r>
          </a:p>
          <a:p>
            <a:r>
              <a:rPr lang="el-GR" dirty="0"/>
              <a:t>Συμβουλευόμαστε τις ενδείξεις του συστήματος ηλικιακών διαβαθμίσεων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9926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A9901-A4E0-3DB7-89B6-367C595F1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60500"/>
          </a:xfrm>
        </p:spPr>
        <p:txBody>
          <a:bodyPr>
            <a:noAutofit/>
          </a:bodyPr>
          <a:lstStyle/>
          <a:p>
            <a:r>
              <a:rPr lang="el-GR" b="1" dirty="0"/>
              <a:t>Πανευρωπαϊκό Σύστημα Πληροφόρησης για τα Ηλεκτρονικά Παιχνίδια (</a:t>
            </a:r>
            <a:r>
              <a:rPr lang="el-GR" b="1" dirty="0" err="1"/>
              <a:t>Pan</a:t>
            </a:r>
            <a:r>
              <a:rPr lang="el-GR" b="1" dirty="0"/>
              <a:t> European </a:t>
            </a:r>
            <a:r>
              <a:rPr lang="el-GR" b="1" dirty="0" err="1"/>
              <a:t>Game</a:t>
            </a:r>
            <a:r>
              <a:rPr lang="el-GR" b="1" dirty="0"/>
              <a:t> Information – PEGI</a:t>
            </a:r>
            <a:r>
              <a:rPr lang="el-GR" b="1" dirty="0"/>
              <a:t>) </a:t>
            </a:r>
            <a:endParaRPr lang="en-CY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BCF73-5117-7689-88F4-82819A27A8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86495"/>
            <a:ext cx="10515600" cy="4090468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l-GR" dirty="0"/>
              <a:t>Οι επισημάνσεις PEGI εμφανίζονται στο εμπρός και στο πίσω μέρος της συσκευασίας προσδιορίζοντας ένα από τα ακόλουθα ηλικιακά επίπεδα: 3, 7, 12, 16 και 18. 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dirty="0"/>
              <a:t>Οι περιγραφικές ενδείξεις στο πίσω μέρος της συσκευασίας αναφέρουν τους κύριους λόγους για τους οποίους ένα παιχνίδι έλαβε μια ορισμένη ηλικιακή διαβάθμιση (βία, χυδαία γλώσσα, φόβος, ναρκωτικά, σεξ, διακρίσεις, τζόγος και </a:t>
            </a:r>
            <a:r>
              <a:rPr lang="el-GR" dirty="0" err="1"/>
              <a:t>online</a:t>
            </a:r>
            <a:r>
              <a:rPr lang="el-GR" dirty="0"/>
              <a:t> παιχνίδι με άλλα </a:t>
            </a:r>
            <a:r>
              <a:rPr lang="el-GR" dirty="0" smtClean="0"/>
              <a:t>άτομα). </a:t>
            </a:r>
            <a:endParaRPr lang="en-CY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862" y="5404937"/>
            <a:ext cx="4487480" cy="95263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085" y="5404936"/>
            <a:ext cx="4591691" cy="87948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67" y="5404936"/>
            <a:ext cx="794404" cy="772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949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Παραπληροφόρηση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r>
              <a:rPr lang="el-GR" dirty="0"/>
              <a:t>Παραπληροφόρηση στο Διαδίκτυο είναι δυνατό να συμβεί με την παρουσίαση διαφόρων ψευδών ή αναληθών ή τροποποιημένων πληροφοριών σε ιστοσελίδες, με πιθανό σκοπό την παραπλάνησή μας. </a:t>
            </a:r>
            <a:endParaRPr lang="el-GR" dirty="0" smtClean="0"/>
          </a:p>
          <a:p>
            <a:r>
              <a:rPr lang="el-GR" dirty="0" smtClean="0"/>
              <a:t>Παραπληροφόρηση </a:t>
            </a:r>
            <a:r>
              <a:rPr lang="el-GR" dirty="0"/>
              <a:t>συμβαίνει και όταν οι πληροφορίες είναι ελλιπείς, με αποτέλεσμα να οδηγήσουν σε λανθασμένα συμπεράσματα.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r>
              <a:rPr lang="el-GR" dirty="0"/>
              <a:t>Αξιολογούμε τις πληροφορίες που </a:t>
            </a:r>
            <a:r>
              <a:rPr lang="el-GR" dirty="0" smtClean="0"/>
              <a:t>β</a:t>
            </a:r>
            <a:r>
              <a:rPr lang="el-GR" dirty="0"/>
              <a:t>ρίσκουμε στο Διαδίκτυο</a:t>
            </a:r>
            <a:endParaRPr lang="en-US" dirty="0"/>
          </a:p>
          <a:p>
            <a:r>
              <a:rPr lang="el-GR" dirty="0" smtClean="0"/>
              <a:t>Χρησιμοποιούμε </a:t>
            </a:r>
            <a:r>
              <a:rPr lang="el-GR" dirty="0"/>
              <a:t>πολλαπλές πηγές πληροφοριών και </a:t>
            </a:r>
            <a:r>
              <a:rPr lang="el-GR" dirty="0" smtClean="0"/>
              <a:t>διασταυρώνουμε </a:t>
            </a:r>
            <a:r>
              <a:rPr lang="el-GR" dirty="0"/>
              <a:t>τις </a:t>
            </a:r>
            <a:r>
              <a:rPr lang="el-GR" dirty="0" smtClean="0"/>
              <a:t>πληροφορίες</a:t>
            </a:r>
          </a:p>
          <a:p>
            <a:r>
              <a:rPr lang="el-GR" dirty="0"/>
              <a:t>Επισκεπτόμαστε βιβλιοθήκες, όχι μόνο το Διαδίκτυο, και χρησιμοποιούμε ποικιλία πηγών, όπως εφημερίδες, περιοδικά και </a:t>
            </a:r>
            <a:r>
              <a:rPr lang="el-GR" dirty="0" smtClean="0"/>
              <a:t>βιβλία</a:t>
            </a:r>
          </a:p>
          <a:p>
            <a:r>
              <a:rPr lang="el-GR" dirty="0" smtClean="0"/>
              <a:t>Μαθαίνουμε </a:t>
            </a:r>
            <a:r>
              <a:rPr lang="el-GR" dirty="0"/>
              <a:t>πώς λειτουργεί το Διαδίκτυο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2346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Παραβίαση Πνευματικών Δικαιωμάτων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l-GR" dirty="0" smtClean="0"/>
              <a:t>Η </a:t>
            </a:r>
            <a:r>
              <a:rPr lang="el-GR" dirty="0"/>
              <a:t>παραβίαση πνευματικών δικαιωμάτων έχει σχέση με την αντιγραφή της εργασίας άλλου ατόμου χωρίς την άδειά του. </a:t>
            </a:r>
            <a:endParaRPr lang="el-GR" dirty="0" smtClean="0"/>
          </a:p>
          <a:p>
            <a:r>
              <a:rPr lang="el-GR" dirty="0" smtClean="0"/>
              <a:t>Η </a:t>
            </a:r>
            <a:r>
              <a:rPr lang="el-GR" dirty="0"/>
              <a:t>παραβίαση των πνευματικών δικαιωμάτων ενός ατόμου ή εταιρείας αποτελεί ποινικό αδίκημα και οι ένοχοι διώκονται ποινικά. 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l-GR" dirty="0"/>
              <a:t>Χρήση παράνομων προγραμμάτων (αντιγραμμένα προγράμματα – όχι γνήσια ) </a:t>
            </a:r>
            <a:endParaRPr lang="el-GR" dirty="0" smtClean="0"/>
          </a:p>
          <a:p>
            <a:r>
              <a:rPr lang="el-GR" dirty="0" smtClean="0"/>
              <a:t>Παράνομη </a:t>
            </a:r>
            <a:r>
              <a:rPr lang="el-GR" dirty="0"/>
              <a:t>αντιγραφή αρχείων μουσικής και βίντεο. </a:t>
            </a:r>
            <a:endParaRPr lang="el-GR" dirty="0" smtClean="0"/>
          </a:p>
          <a:p>
            <a:r>
              <a:rPr lang="el-GR" dirty="0" smtClean="0"/>
              <a:t>Παράνομη </a:t>
            </a:r>
            <a:r>
              <a:rPr lang="el-GR" dirty="0"/>
              <a:t>αντιγραφή και χρήση ηλεκτρονικών βιβλίων.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0992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A9901-A4E0-3DB7-89B6-367C595F1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Εθισμός στο </a:t>
            </a:r>
            <a:r>
              <a:rPr lang="el-GR" b="1" dirty="0" smtClean="0"/>
              <a:t>Διαδίκτυο - </a:t>
            </a:r>
            <a:r>
              <a:rPr lang="el-GR" b="1" dirty="0"/>
              <a:t>Ψυχολογικά συμπτώματα</a:t>
            </a:r>
            <a:endParaRPr lang="en-CY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BCF73-5117-7689-88F4-82819A27A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l-GR" dirty="0"/>
              <a:t>Ο Εθισμός στο Διαδίκτυο (</a:t>
            </a:r>
            <a:r>
              <a:rPr lang="el-GR" dirty="0" err="1"/>
              <a:t>internet</a:t>
            </a:r>
            <a:r>
              <a:rPr lang="el-GR" dirty="0"/>
              <a:t> </a:t>
            </a:r>
            <a:r>
              <a:rPr lang="el-GR" dirty="0" err="1"/>
              <a:t>addiction</a:t>
            </a:r>
            <a:r>
              <a:rPr lang="el-GR" dirty="0"/>
              <a:t>) μπορεί να προκύψει με την πολύωρη ενασχόληση ατόμων σε διαδικτυακές δραστηριότητες όπως είναι τα παιχνίδια, δωμάτια συζητήσεων, ηλεκτρονικός τζόγος και άλλα. 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dirty="0"/>
              <a:t>Νιώθουμε μια αίσθηση ευφορίας όταν βρισκόμαστε στον </a:t>
            </a:r>
            <a:r>
              <a:rPr lang="el-GR" dirty="0" smtClean="0"/>
              <a:t>υπολογιστή.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Είμαστε </a:t>
            </a:r>
            <a:r>
              <a:rPr lang="el-GR" dirty="0"/>
              <a:t>ανίκανοι να σταματήσουμε τη δραστηριότητά μας στον υπολογιστή.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Αποζητούμε </a:t>
            </a:r>
            <a:r>
              <a:rPr lang="el-GR" dirty="0"/>
              <a:t>όλο και περισσότερο χρόνο στον υπολογιστή. 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Παραμελούμε </a:t>
            </a:r>
            <a:r>
              <a:rPr lang="el-GR" dirty="0"/>
              <a:t>την οικογένεια, τους φίλους και τα μαθήματά μας. 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Νιώθουμε </a:t>
            </a:r>
            <a:r>
              <a:rPr lang="el-GR" dirty="0"/>
              <a:t>κενοί, θλιμμένοι και οξύθυμοι όταν δεν βρισκόμαστε στον υπολογιστή. </a:t>
            </a:r>
            <a:endParaRPr lang="en-CY" dirty="0"/>
          </a:p>
        </p:txBody>
      </p:sp>
    </p:spTree>
    <p:extLst>
      <p:ext uri="{BB962C8B-B14F-4D97-AF65-F5344CB8AC3E}">
        <p14:creationId xmlns:p14="http://schemas.microsoft.com/office/powerpoint/2010/main" val="3809344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A9901-A4E0-3DB7-89B6-367C595F1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l-GR" b="1" dirty="0"/>
              <a:t>Σωματικά </a:t>
            </a:r>
            <a:r>
              <a:rPr lang="el-GR" b="1" dirty="0"/>
              <a:t>συμπτώματα </a:t>
            </a:r>
            <a:r>
              <a:rPr lang="el-GR" b="1" dirty="0" smtClean="0"/>
              <a:t>Εθισμού </a:t>
            </a:r>
            <a:r>
              <a:rPr lang="el-GR" b="1" dirty="0"/>
              <a:t>στο Διαδίκτυο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BCF73-5117-7689-88F4-82819A27A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l-GR" dirty="0"/>
              <a:t>Διατροφικές διαταραχές.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Διαταραχές </a:t>
            </a:r>
            <a:r>
              <a:rPr lang="el-GR" dirty="0"/>
              <a:t>του ύπνου και αλλαγή των συνηθειών ύπνου. </a:t>
            </a:r>
            <a:endParaRPr lang="el-GR" dirty="0" smtClean="0"/>
          </a:p>
          <a:p>
            <a:pPr>
              <a:buFont typeface="Wingdings" panose="05000000000000000000" pitchFamily="2" charset="2"/>
              <a:buChar char="Ø"/>
            </a:pPr>
            <a:r>
              <a:rPr lang="el-GR" dirty="0" err="1" smtClean="0"/>
              <a:t>Μυοσκελετικές</a:t>
            </a:r>
            <a:r>
              <a:rPr lang="el-GR" dirty="0" smtClean="0"/>
              <a:t> </a:t>
            </a:r>
            <a:r>
              <a:rPr lang="el-GR" dirty="0"/>
              <a:t>παθήσεις (π.χ. σκολίωση).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Μειωμένη </a:t>
            </a:r>
            <a:r>
              <a:rPr lang="el-GR" dirty="0"/>
              <a:t>αθλητική δραστηριότητα.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Ξηρά </a:t>
            </a:r>
            <a:r>
              <a:rPr lang="el-GR" dirty="0"/>
              <a:t>μάτια - μυωπία.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Ημικρανίες</a:t>
            </a:r>
            <a:r>
              <a:rPr lang="el-GR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l-GR" dirty="0" smtClean="0"/>
              <a:t>Παραμέληση </a:t>
            </a:r>
            <a:r>
              <a:rPr lang="el-GR" dirty="0"/>
              <a:t>προσωπικής υγιεινής. </a:t>
            </a:r>
            <a:endParaRPr lang="en-CY" dirty="0"/>
          </a:p>
        </p:txBody>
      </p:sp>
    </p:spTree>
    <p:extLst>
      <p:ext uri="{BB962C8B-B14F-4D97-AF65-F5344CB8AC3E}">
        <p14:creationId xmlns:p14="http://schemas.microsoft.com/office/powerpoint/2010/main" val="2631301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3840A2-5CE7-D450-06CA-88753E131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l-GR" sz="5400" dirty="0" smtClean="0"/>
              <a:t>Ασκήσεις</a:t>
            </a:r>
            <a:endParaRPr lang="en-US" sz="54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=""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B012E-024D-D012-2696-C4284C6CE2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872899"/>
            <a:ext cx="4670097" cy="358609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l-GR" sz="3200" dirty="0"/>
              <a:t>Σελίδα</a:t>
            </a:r>
            <a:r>
              <a:rPr lang="en-US" sz="3200" dirty="0"/>
              <a:t> </a:t>
            </a:r>
            <a:r>
              <a:rPr lang="el-GR" sz="3200" dirty="0" smtClean="0"/>
              <a:t>145 – Ασκήσεις 1-6 ή </a:t>
            </a:r>
            <a:r>
              <a:rPr lang="el-GR" sz="3200" b="1" dirty="0"/>
              <a:t>Α.5.3.</a:t>
            </a:r>
            <a:r>
              <a:rPr lang="en-US" sz="3200" b="1" dirty="0" smtClean="0"/>
              <a:t>M1-Quiz.htm</a:t>
            </a:r>
            <a:endParaRPr lang="el-GR" sz="3200" b="1" dirty="0" smtClean="0"/>
          </a:p>
          <a:p>
            <a:r>
              <a:rPr lang="el-GR" sz="3200" dirty="0"/>
              <a:t>Σελίδα</a:t>
            </a:r>
            <a:r>
              <a:rPr lang="en-US" sz="3200" dirty="0"/>
              <a:t> </a:t>
            </a:r>
            <a:r>
              <a:rPr lang="el-GR" sz="3200" dirty="0" smtClean="0"/>
              <a:t>149 </a:t>
            </a:r>
            <a:r>
              <a:rPr lang="el-GR" sz="3200" dirty="0"/>
              <a:t>– Ασκήσεις </a:t>
            </a:r>
            <a:r>
              <a:rPr lang="el-GR" sz="3200" dirty="0" smtClean="0"/>
              <a:t>1, 2-11 </a:t>
            </a:r>
            <a:r>
              <a:rPr lang="el-GR" sz="3200" dirty="0"/>
              <a:t>ή </a:t>
            </a:r>
            <a:r>
              <a:rPr lang="el-GR" sz="3200" b="1" dirty="0" smtClean="0"/>
              <a:t>Α.5.3.</a:t>
            </a:r>
            <a:r>
              <a:rPr lang="en-US" sz="3200" b="1" dirty="0" smtClean="0"/>
              <a:t>M</a:t>
            </a:r>
            <a:r>
              <a:rPr lang="el-GR" sz="3200" b="1" dirty="0" smtClean="0"/>
              <a:t>2</a:t>
            </a:r>
            <a:r>
              <a:rPr lang="en-US" sz="3200" b="1" dirty="0" smtClean="0"/>
              <a:t>-Quiz.htm</a:t>
            </a:r>
            <a:endParaRPr lang="el-GR" sz="3200" b="1" dirty="0"/>
          </a:p>
          <a:p>
            <a:r>
              <a:rPr lang="el-GR" sz="3200" dirty="0"/>
              <a:t>Σελίδα</a:t>
            </a:r>
            <a:r>
              <a:rPr lang="en-US" sz="3200" dirty="0"/>
              <a:t> </a:t>
            </a:r>
            <a:r>
              <a:rPr lang="el-GR" sz="3200" dirty="0" smtClean="0"/>
              <a:t>152 </a:t>
            </a:r>
            <a:r>
              <a:rPr lang="el-GR" sz="3200" dirty="0"/>
              <a:t>– </a:t>
            </a:r>
            <a:r>
              <a:rPr lang="el-GR" sz="3200" dirty="0" smtClean="0"/>
              <a:t>Άσκηση 15</a:t>
            </a:r>
            <a:endParaRPr lang="en-US" sz="3200" b="1" dirty="0"/>
          </a:p>
          <a:p>
            <a:pPr marL="0"/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0F1A1F-5E69-4913-AAA2-D3861B2D0BA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32" r="15756" b="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95860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1661</TotalTime>
  <Words>739</Words>
  <Application>Microsoft Office PowerPoint</Application>
  <PresentationFormat>Widescreen</PresentationFormat>
  <Paragraphs>72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Wingdings</vt:lpstr>
      <vt:lpstr>Office Theme</vt:lpstr>
      <vt:lpstr>Α5.3.1 Μ1 –Κίνδυνοι στο Διαδίκτυο</vt:lpstr>
      <vt:lpstr>Κίνδυνοι που προκύπτουν από τη χρήση του Διαδικτύου</vt:lpstr>
      <vt:lpstr>Κακόβουλα Προγράμματα</vt:lpstr>
      <vt:lpstr>Προστασία από Κακόβουλα Προγράμματα</vt:lpstr>
      <vt:lpstr>Ανεπιθύμητα μηνύματα (Spam)</vt:lpstr>
      <vt:lpstr>Υποκλοπή Προσωπικών Δεδομένων (Phishing)</vt:lpstr>
      <vt:lpstr>Πρόσβαση σε Ακατάλληλο Περιεχόμενο</vt:lpstr>
      <vt:lpstr>Πανευρωπαϊκό Σύστημα Πληροφόρησης για τα Ηλεκτρονικά Παιχνίδια (Pan European Game Information – PEGI) </vt:lpstr>
      <vt:lpstr>Παραπληροφόρηση</vt:lpstr>
      <vt:lpstr>Παραβίαση Πνευματικών Δικαιωμάτων</vt:lpstr>
      <vt:lpstr>Εθισμός στο Διαδίκτυο - Ψυχολογικά συμπτώματα</vt:lpstr>
      <vt:lpstr>Σωματικά συμπτώματα Εθισμού στο Διαδίκτυο</vt:lpstr>
      <vt:lpstr>Ασκήσεις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Σάββας Χειμώνας</dc:creator>
  <cp:lastModifiedBy>Teacher</cp:lastModifiedBy>
  <cp:revision>23</cp:revision>
  <dcterms:created xsi:type="dcterms:W3CDTF">2023-10-04T19:49:38Z</dcterms:created>
  <dcterms:modified xsi:type="dcterms:W3CDTF">2024-12-16T10:03:41Z</dcterms:modified>
</cp:coreProperties>
</file>