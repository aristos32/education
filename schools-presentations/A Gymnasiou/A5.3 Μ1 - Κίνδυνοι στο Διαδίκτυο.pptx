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7" r:id="rId7"/>
    <p:sldId id="266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168ACD-6D0E-4064-9F3B-5F0E32B5A205}" v="1" dt="2026-10-23T18:49:45.0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custSel addSld delSld modSld">
      <pc:chgData name="Άριστος Αρέστη" userId="813aa191-2d4c-464f-9d05-0a7e494d859f" providerId="ADAL" clId="{49C7B61D-1ACF-4AFF-A04E-A3B433E32474}" dt="2026-10-23T19:58:37.439" v="11" actId="47"/>
      <pc:docMkLst>
        <pc:docMk/>
      </pc:docMkLst>
      <pc:sldChg chg="del">
        <pc:chgData name="Άριστος Αρέστη" userId="813aa191-2d4c-464f-9d05-0a7e494d859f" providerId="ADAL" clId="{49C7B61D-1ACF-4AFF-A04E-A3B433E32474}" dt="2026-10-23T18:49:55.272" v="3" actId="47"/>
        <pc:sldMkLst>
          <pc:docMk/>
          <pc:sldMk cId="1106983610" sldId="261"/>
        </pc:sldMkLst>
      </pc:sldChg>
      <pc:sldChg chg="del">
        <pc:chgData name="Άριστος Αρέστη" userId="813aa191-2d4c-464f-9d05-0a7e494d859f" providerId="ADAL" clId="{49C7B61D-1ACF-4AFF-A04E-A3B433E32474}" dt="2026-10-23T19:58:37.439" v="11" actId="47"/>
        <pc:sldMkLst>
          <pc:docMk/>
          <pc:sldMk cId="2866385" sldId="263"/>
        </pc:sldMkLst>
      </pc:sldChg>
      <pc:sldChg chg="modSp mod">
        <pc:chgData name="Άριστος Αρέστη" userId="813aa191-2d4c-464f-9d05-0a7e494d859f" providerId="ADAL" clId="{49C7B61D-1ACF-4AFF-A04E-A3B433E32474}" dt="2026-10-23T18:49:45.309" v="2" actId="27636"/>
        <pc:sldMkLst>
          <pc:docMk/>
          <pc:sldMk cId="776132989" sldId="265"/>
        </pc:sldMkLst>
        <pc:spChg chg="mod">
          <ac:chgData name="Άριστος Αρέστη" userId="813aa191-2d4c-464f-9d05-0a7e494d859f" providerId="ADAL" clId="{49C7B61D-1ACF-4AFF-A04E-A3B433E32474}" dt="2026-10-23T18:49:45.309" v="2" actId="27636"/>
          <ac:spMkLst>
            <pc:docMk/>
            <pc:sldMk cId="776132989" sldId="265"/>
            <ac:spMk id="11" creationId="{5912BAC7-EADD-4A79-9D37-740340ADC499}"/>
          </ac:spMkLst>
        </pc:spChg>
        <pc:spChg chg="mod">
          <ac:chgData name="Άριστος Αρέστη" userId="813aa191-2d4c-464f-9d05-0a7e494d859f" providerId="ADAL" clId="{49C7B61D-1ACF-4AFF-A04E-A3B433E32474}" dt="2026-10-23T18:49:45.305" v="1" actId="27636"/>
          <ac:spMkLst>
            <pc:docMk/>
            <pc:sldMk cId="776132989" sldId="265"/>
            <ac:spMk id="14" creationId="{CAB7ABCB-4E2C-4122-9936-64445BF463D4}"/>
          </ac:spMkLst>
        </pc:spChg>
      </pc:sldChg>
      <pc:sldChg chg="add setBg">
        <pc:chgData name="Άριστος Αρέστη" userId="813aa191-2d4c-464f-9d05-0a7e494d859f" providerId="ADAL" clId="{49C7B61D-1ACF-4AFF-A04E-A3B433E32474}" dt="2026-10-23T18:49:45.058" v="0"/>
        <pc:sldMkLst>
          <pc:docMk/>
          <pc:sldMk cId="1459875993" sldId="266"/>
        </pc:sldMkLst>
      </pc:sldChg>
      <pc:sldChg chg="addSp modSp new mod">
        <pc:chgData name="Άριστος Αρέστη" userId="813aa191-2d4c-464f-9d05-0a7e494d859f" providerId="ADAL" clId="{49C7B61D-1ACF-4AFF-A04E-A3B433E32474}" dt="2026-10-23T19:57:56.433" v="10" actId="1076"/>
        <pc:sldMkLst>
          <pc:docMk/>
          <pc:sldMk cId="4290348720" sldId="267"/>
        </pc:sldMkLst>
        <pc:picChg chg="add mod">
          <ac:chgData name="Άριστος Αρέστη" userId="813aa191-2d4c-464f-9d05-0a7e494d859f" providerId="ADAL" clId="{49C7B61D-1ACF-4AFF-A04E-A3B433E32474}" dt="2026-10-23T19:57:56.433" v="10" actId="1076"/>
          <ac:picMkLst>
            <pc:docMk/>
            <pc:sldMk cId="4290348720" sldId="267"/>
            <ac:picMk id="2" creationId="{98409D9F-DC0B-92B6-3834-CA0438891DD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σχολικό βιβλίο θεωρίας και Φύλλα Εργασίας Πληροφορικής Α΄ Γυμνασίου, ενότητα Α.5.3.Μ1.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σχολικό βιβλίο θεωρίας και Φύλλα Εργασίας Πληροφορικής Α΄ Γυμνασίου, ενότητα Α.5.3.Μ1.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σχολικό βιβλίο θεωρίας και Φύλλα Εργασίας Πληροφορικής Α΄ Γυμνασίου, ενότητα Α.5.3.Μ1.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σχολικό βιβλίο θεωρίας και Φύλλα Εργασίας Πληροφορικής Α΄ Γυμνασίου, ενότητα Α.5.3.Μ1.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σχολικό βιβλίο θεωρίας και Φύλλα Εργασίας Πληροφορικής Α΄ Γυμνασίου, ενότητα Α.5.3.Μ1.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Τετράδιο Εργασιών Πληροφορικής Α΄ Λυκείου, A.5.M5, Δραστηριότητες Εμπέδωσης, σελ. 105–108</a:t>
            </a:r>
          </a:p>
          <a:p>
            <a:r>
              <a:t>- Σημειώσεις Πληροφορικής Α΄ Λυκείου, ενότητα Α.5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σχολικό βιβλίο θεωρίας και Φύλλα Εργασίας Πληροφορικής Α΄ Γυμνασίου, ενότητα Α.5.3.Μ1.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σχολικό βιβλίο θεωρίας και Φύλλα Εργασίας Πληροφορικής Α΄ Γυμνασίου, ενότητα Α.5.3.Μ1.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σχολικό βιβλίο θεωρίας και Φύλλα Εργασίας Πληροφορικής Α΄ Γυμνασίου, ενότητα Α.5.3.Μ1.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65E740E6-E13E-473B-A081-73FE3453142B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C27A8EB-9F25-44B5-8C3F-3B66FA1A7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5BFB5A1-9487-4ABB-AC1D-68C471443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B273C24D-2461-497A-9D95-4AD847244185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8B0BC538-1A2A-44B5-B358-20F3CD866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F83B7223-094D-4C19-967B-A83C65305A14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D562E19-1EB6-45D6-9C50-1A196F032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F922428D-2C11-42A3-B11E-7401A0562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B1074656-3348-40C9-9420-CD171E55E9A7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C1DE56B-9E3A-475C-A149-A35478CCC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5CE014BC-161E-4994-81F0-D050A13A6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A2AFAA3F-66F3-43BF-B5BC-CAE674ACCAD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F91233CA-57F3-46F0-B8E9-62AAFF97A49F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089AAF3-09F2-4800-BD82-250335FAC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A2F66D88-0390-48E2-8BAC-000A37BF0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23-Oct-26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21195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2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t="7529" b="752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B459813-6FC3-43FF-B508-C9699B83FE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493161-6AC8-4BE9-AA6C-AB576ADB051F}"/>
              </a:ext>
            </a:extLst>
          </p:cNvPr>
          <p:cNvSpPr>
            <a:spLocks noGrp="1"/>
          </p:cNvSpPr>
          <p:nvPr/>
        </p:nvSpPr>
        <p:spPr>
          <a:xfrm>
            <a:off x="838200" y="1666875"/>
            <a:ext cx="72390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Α.5.3.Μ1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94B59C-760A-407B-9B40-14CBA962B998}"/>
              </a:ext>
            </a:extLst>
          </p:cNvPr>
          <p:cNvSpPr>
            <a:spLocks noGrp="1"/>
          </p:cNvSpPr>
          <p:nvPr/>
        </p:nvSpPr>
        <p:spPr>
          <a:xfrm>
            <a:off x="819150" y="2333625"/>
            <a:ext cx="7524750" cy="1476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Κίνδυνοι στο Διαδίκτυο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581CE7-727B-44F1-ADBD-51318B0A1E7C}"/>
              </a:ext>
            </a:extLst>
          </p:cNvPr>
          <p:cNvSpPr>
            <a:spLocks noGrp="1"/>
          </p:cNvSpPr>
          <p:nvPr/>
        </p:nvSpPr>
        <p:spPr>
          <a:xfrm>
            <a:off x="838200" y="4333875"/>
            <a:ext cx="952500" cy="66675"/>
          </a:xfrm>
          <a:prstGeom prst="rect">
            <a:avLst/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7830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309E742-DBAE-4377-9277-8DFBB7DB4158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Τρεις βασικοί κίνδυνοι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87BC83-B409-419B-BC0F-F8BE9B40DBF1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C46E77A-42DD-4AC4-820A-189CB2A9E444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3476625" cy="3333750"/>
          </a:xfrm>
          <a:prstGeom prst="roundRect">
            <a:avLst>
              <a:gd name="adj" fmla="val 2286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1631572-B351-4C9B-841F-C56BE5334E62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4300" cy="3333750"/>
          </a:xfrm>
          <a:prstGeom prst="roundRect">
            <a:avLst>
              <a:gd name="adj" fmla="val 50000"/>
            </a:avLst>
          </a:prstGeom>
          <a:solidFill>
            <a:srgbClr val="C94C4C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2D9A25-C6A0-465B-A5C9-FF13686F3019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C94C4C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C94C4C"/>
                </a:solidFill>
                <a:latin typeface="Inter"/>
                <a:ea typeface="Inter"/>
                <a:cs typeface="Inter"/>
              </a:rPr>
              <a:t>Κακόβουλα προγράμματα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66F18A-DAF9-4FEB-92AC-0CC2921BDCBB}"/>
              </a:ext>
            </a:extLst>
          </p:cNvPr>
          <p:cNvSpPr>
            <a:spLocks noGrp="1"/>
          </p:cNvSpPr>
          <p:nvPr/>
        </p:nvSpPr>
        <p:spPr>
          <a:xfrm>
            <a:off x="857250" y="2343150"/>
            <a:ext cx="2952750" cy="2476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Ιοί, δούρειοι ίπποι και σκουλήκια που προκαλούν προβλήματα στη λειτουργία του υπολογιστή.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077F5A2-3F5A-4ECE-84FF-6A60B41A2FDD}"/>
              </a:ext>
            </a:extLst>
          </p:cNvPr>
          <p:cNvSpPr>
            <a:spLocks noGrp="1"/>
          </p:cNvSpPr>
          <p:nvPr/>
        </p:nvSpPr>
        <p:spPr>
          <a:xfrm>
            <a:off x="4362450" y="1619250"/>
            <a:ext cx="3476625" cy="3333750"/>
          </a:xfrm>
          <a:prstGeom prst="roundRect">
            <a:avLst>
              <a:gd name="adj" fmla="val 2286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A8740A6-12AF-427B-8CDD-AA9981960CBB}"/>
              </a:ext>
            </a:extLst>
          </p:cNvPr>
          <p:cNvSpPr>
            <a:spLocks noGrp="1"/>
          </p:cNvSpPr>
          <p:nvPr/>
        </p:nvSpPr>
        <p:spPr>
          <a:xfrm>
            <a:off x="4362450" y="1619250"/>
            <a:ext cx="114300" cy="3333750"/>
          </a:xfrm>
          <a:prstGeom prst="roundRect">
            <a:avLst>
              <a:gd name="adj" fmla="val 50000"/>
            </a:avLst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D19D25-F47C-4B78-8163-236C97AAFD20}"/>
              </a:ext>
            </a:extLst>
          </p:cNvPr>
          <p:cNvSpPr>
            <a:spLocks noGrp="1"/>
          </p:cNvSpPr>
          <p:nvPr/>
        </p:nvSpPr>
        <p:spPr>
          <a:xfrm>
            <a:off x="4648200" y="1809750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F47C2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47C27"/>
                </a:solidFill>
                <a:latin typeface="Inter"/>
                <a:ea typeface="Inter"/>
                <a:cs typeface="Inter"/>
              </a:rPr>
              <a:t>Spam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75A3E3-4984-4258-B400-74141150E629}"/>
              </a:ext>
            </a:extLst>
          </p:cNvPr>
          <p:cNvSpPr>
            <a:spLocks noGrp="1"/>
          </p:cNvSpPr>
          <p:nvPr/>
        </p:nvSpPr>
        <p:spPr>
          <a:xfrm>
            <a:off x="4648200" y="2343150"/>
            <a:ext cx="2952750" cy="2476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Μαζικά ανεπιθύμητα μηνύματα, συνήθως για διαφημίσεις, προϊόντα, υπηρεσίες ή τυχερά παιχνίδια.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BE40DB5-5617-473B-B4C7-C5CDEAD4E931}"/>
              </a:ext>
            </a:extLst>
          </p:cNvPr>
          <p:cNvSpPr>
            <a:spLocks noGrp="1"/>
          </p:cNvSpPr>
          <p:nvPr/>
        </p:nvSpPr>
        <p:spPr>
          <a:xfrm>
            <a:off x="8153400" y="1619250"/>
            <a:ext cx="3476625" cy="3333750"/>
          </a:xfrm>
          <a:prstGeom prst="roundRect">
            <a:avLst>
              <a:gd name="adj" fmla="val 2286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46C5217-717D-4C8D-983F-2C89965E32F3}"/>
              </a:ext>
            </a:extLst>
          </p:cNvPr>
          <p:cNvSpPr>
            <a:spLocks noGrp="1"/>
          </p:cNvSpPr>
          <p:nvPr/>
        </p:nvSpPr>
        <p:spPr>
          <a:xfrm>
            <a:off x="8153400" y="1619250"/>
            <a:ext cx="114300" cy="3333750"/>
          </a:xfrm>
          <a:prstGeom prst="roundRect">
            <a:avLst>
              <a:gd name="adj" fmla="val 50000"/>
            </a:avLst>
          </a:prstGeom>
          <a:solidFill>
            <a:srgbClr val="5A58C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F29587-ED8B-469E-822E-06B9A3E77727}"/>
              </a:ext>
            </a:extLst>
          </p:cNvPr>
          <p:cNvSpPr>
            <a:spLocks noGrp="1"/>
          </p:cNvSpPr>
          <p:nvPr/>
        </p:nvSpPr>
        <p:spPr>
          <a:xfrm>
            <a:off x="8439150" y="1809750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Phishing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059033-94FE-469D-8D68-B690E557D282}"/>
              </a:ext>
            </a:extLst>
          </p:cNvPr>
          <p:cNvSpPr>
            <a:spLocks noGrp="1"/>
          </p:cNvSpPr>
          <p:nvPr/>
        </p:nvSpPr>
        <p:spPr>
          <a:xfrm>
            <a:off x="8439150" y="2343150"/>
            <a:ext cx="2952750" cy="2476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Παραπλάνηση ώστε ο χρήστης να δώσει προσωπικά στοιχεία, τραπεζικούς αριθμούς ή κωδικούς.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9810BF-C97C-4662-9A46-0F7FE713B3B3}"/>
              </a:ext>
            </a:extLst>
          </p:cNvPr>
          <p:cNvSpPr>
            <a:spLocks noGrp="1"/>
          </p:cNvSpPr>
          <p:nvPr/>
        </p:nvSpPr>
        <p:spPr>
          <a:xfrm>
            <a:off x="1714500" y="5334000"/>
            <a:ext cx="87630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650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Αναγνωρίζω τον κίνδυνο → δεν αντιδρώ βιαστικά → προστατεύω τα στοιχεία μου.</a:t>
            </a:r>
          </a:p>
        </p:txBody>
      </p:sp>
    </p:spTree>
    <p:extLst>
      <p:ext uri="{BB962C8B-B14F-4D97-AF65-F5344CB8AC3E}">
        <p14:creationId xmlns:p14="http://schemas.microsoft.com/office/powerpoint/2010/main" val="2007384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5B0661E-6EA0-4917-9622-DF81B7F9CE48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Κακόβουλα προγράμματα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F62F7F-A64F-4DB7-867C-3490930F3DD9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39F9D0-9F46-46B7-8700-CD25760D24E3}"/>
              </a:ext>
            </a:extLst>
          </p:cNvPr>
          <p:cNvSpPr>
            <a:spLocks noGrp="1"/>
          </p:cNvSpPr>
          <p:nvPr/>
        </p:nvSpPr>
        <p:spPr>
          <a:xfrm>
            <a:off x="714375" y="1571625"/>
            <a:ext cx="400050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95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Μπορούν να: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9BA152-BD47-4591-AE16-689B6F5FAC27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5238750" cy="2571750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79400" indent="-165100" algn="l">
              <a:spcAft>
                <a:spcPts val="40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διαγράφουν ή αλλοιώνουν αρχεία</a:t>
            </a:r>
          </a:p>
          <a:p>
            <a:pPr marL="279400" indent="-165100" algn="l">
              <a:spcAft>
                <a:spcPts val="40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κλέβουν προσωπικές πληροφορίες</a:t>
            </a:r>
          </a:p>
          <a:p>
            <a:pPr marL="279400" indent="-165100" algn="l">
              <a:spcAft>
                <a:spcPts val="40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εγκαθιστούν άλλα επιβλαβή προγράμματα</a:t>
            </a:r>
          </a:p>
          <a:p>
            <a:pPr marL="279400" indent="-165100" algn="l">
              <a:spcAft>
                <a:spcPts val="40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επιβραδύνουν ή σταματούν τον υπολογιστή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BE7C020-12A5-46AF-8CC6-BD83FA9DA4C4}"/>
              </a:ext>
            </a:extLst>
          </p:cNvPr>
          <p:cNvSpPr>
            <a:spLocks noGrp="1"/>
          </p:cNvSpPr>
          <p:nvPr/>
        </p:nvSpPr>
        <p:spPr>
          <a:xfrm>
            <a:off x="6477000" y="1619250"/>
            <a:ext cx="4953000" cy="3048000"/>
          </a:xfrm>
          <a:prstGeom prst="roundRect">
            <a:avLst>
              <a:gd name="adj" fmla="val 2500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FC2C4B4-D60D-402D-A030-E6E25AAFEC9D}"/>
              </a:ext>
            </a:extLst>
          </p:cNvPr>
          <p:cNvSpPr>
            <a:spLocks noGrp="1"/>
          </p:cNvSpPr>
          <p:nvPr/>
        </p:nvSpPr>
        <p:spPr>
          <a:xfrm>
            <a:off x="6477000" y="1619250"/>
            <a:ext cx="114300" cy="3048000"/>
          </a:xfrm>
          <a:prstGeom prst="roundRect">
            <a:avLst>
              <a:gd name="adj" fmla="val 50000"/>
            </a:avLst>
          </a:prstGeom>
          <a:solidFill>
            <a:srgbClr val="C94C4C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83EFB4-D86B-4587-815C-3A24570A9E31}"/>
              </a:ext>
            </a:extLst>
          </p:cNvPr>
          <p:cNvSpPr>
            <a:spLocks noGrp="1"/>
          </p:cNvSpPr>
          <p:nvPr/>
        </p:nvSpPr>
        <p:spPr>
          <a:xfrm>
            <a:off x="6762750" y="1809750"/>
            <a:ext cx="447675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C94C4C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C94C4C"/>
                </a:solidFill>
                <a:latin typeface="Inter"/>
                <a:ea typeface="Inter"/>
                <a:cs typeface="Inter"/>
              </a:rPr>
              <a:t>Πώς μπορεί να φτάσουν;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7F7190-8F10-4C19-85EC-C075D955DB77}"/>
              </a:ext>
            </a:extLst>
          </p:cNvPr>
          <p:cNvSpPr>
            <a:spLocks noGrp="1"/>
          </p:cNvSpPr>
          <p:nvPr/>
        </p:nvSpPr>
        <p:spPr>
          <a:xfrm>
            <a:off x="6762750" y="2343150"/>
            <a:ext cx="4429125" cy="2190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Συχνά κρύβονται σε επισυναπτόμενα αρχεία ή σε αρχεία που κατεβάζουμε. Ένα αρχείο μπορεί να φαίνεται ως εικόνα, αλλά να έχει δεύτερη, επικίνδυνη επέκταση.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06994B-A547-4B75-9232-D5A299B933D5}"/>
              </a:ext>
            </a:extLst>
          </p:cNvPr>
          <p:cNvSpPr>
            <a:spLocks noGrp="1"/>
          </p:cNvSpPr>
          <p:nvPr/>
        </p:nvSpPr>
        <p:spPr>
          <a:xfrm>
            <a:off x="6572250" y="5048250"/>
            <a:ext cx="47625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75" b="1">
                <a:solidFill>
                  <a:srgbClr val="C94C4C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C94C4C"/>
                </a:solidFill>
                <a:latin typeface="Inter"/>
                <a:ea typeface="Inter"/>
                <a:cs typeface="Inter"/>
              </a:rPr>
              <a:t>Άγνωστος αποστολέας + ύποπτο συνημμένο = δεν το ανοίγουμε.</a:t>
            </a:r>
          </a:p>
        </p:txBody>
      </p:sp>
    </p:spTree>
    <p:extLst>
      <p:ext uri="{BB962C8B-B14F-4D97-AF65-F5344CB8AC3E}">
        <p14:creationId xmlns:p14="http://schemas.microsoft.com/office/powerpoint/2010/main" val="2047862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169C311-9476-469B-8B2B-7E7147C02204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Προστασία από κακόβουλα προγράμματα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2DD22A-BCE9-4E45-A943-E9553776B9ED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3B189A8-D122-444F-8615-20A056CB23F8}"/>
              </a:ext>
            </a:extLst>
          </p:cNvPr>
          <p:cNvSpPr>
            <a:spLocks noGrp="1"/>
          </p:cNvSpPr>
          <p:nvPr/>
        </p:nvSpPr>
        <p:spPr>
          <a:xfrm>
            <a:off x="714375" y="1524000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46650E1-9662-49F3-8179-3A6AC6C7D1AA}"/>
              </a:ext>
            </a:extLst>
          </p:cNvPr>
          <p:cNvSpPr>
            <a:spLocks noGrp="1"/>
          </p:cNvSpPr>
          <p:nvPr/>
        </p:nvSpPr>
        <p:spPr>
          <a:xfrm>
            <a:off x="714375" y="1524000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C94C4C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8BD61C-13BC-4AE9-8566-0997FB0F848E}"/>
              </a:ext>
            </a:extLst>
          </p:cNvPr>
          <p:cNvSpPr>
            <a:spLocks noGrp="1"/>
          </p:cNvSpPr>
          <p:nvPr/>
        </p:nvSpPr>
        <p:spPr>
          <a:xfrm>
            <a:off x="838200" y="1695450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Antivirus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E1EE05-7EDE-42F2-BB12-DC2F097AC3EE}"/>
              </a:ext>
            </a:extLst>
          </p:cNvPr>
          <p:cNvSpPr>
            <a:spLocks noGrp="1"/>
          </p:cNvSpPr>
          <p:nvPr/>
        </p:nvSpPr>
        <p:spPr>
          <a:xfrm>
            <a:off x="3286125" y="1666875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Εγκαθιστούμε αξιόπιστο πρόγραμμα προστασίας.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499EAA5-065B-4F52-9F61-567B5F3D1C6E}"/>
              </a:ext>
            </a:extLst>
          </p:cNvPr>
          <p:cNvSpPr>
            <a:spLocks noGrp="1"/>
          </p:cNvSpPr>
          <p:nvPr/>
        </p:nvSpPr>
        <p:spPr>
          <a:xfrm>
            <a:off x="714375" y="2524125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8F63555-7B8D-446D-B0C6-8B9369511D5B}"/>
              </a:ext>
            </a:extLst>
          </p:cNvPr>
          <p:cNvSpPr>
            <a:spLocks noGrp="1"/>
          </p:cNvSpPr>
          <p:nvPr/>
        </p:nvSpPr>
        <p:spPr>
          <a:xfrm>
            <a:off x="714375" y="2524125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DC6D84-0349-4979-BBAC-46A34C9CFCDA}"/>
              </a:ext>
            </a:extLst>
          </p:cNvPr>
          <p:cNvSpPr>
            <a:spLocks noGrp="1"/>
          </p:cNvSpPr>
          <p:nvPr/>
        </p:nvSpPr>
        <p:spPr>
          <a:xfrm>
            <a:off x="838200" y="269557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Ενημέρωση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DF1910-C42C-42A4-BB14-B3BF56DC4D9E}"/>
              </a:ext>
            </a:extLst>
          </p:cNvPr>
          <p:cNvSpPr>
            <a:spLocks noGrp="1"/>
          </p:cNvSpPr>
          <p:nvPr/>
        </p:nvSpPr>
        <p:spPr>
          <a:xfrm>
            <a:off x="3286125" y="266700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Ανανεώνουμε συχνά το antivirus για νέες απειλές.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36E20D4-7D32-421C-9FE6-0C3AAF68C100}"/>
              </a:ext>
            </a:extLst>
          </p:cNvPr>
          <p:cNvSpPr>
            <a:spLocks noGrp="1"/>
          </p:cNvSpPr>
          <p:nvPr/>
        </p:nvSpPr>
        <p:spPr>
          <a:xfrm>
            <a:off x="714375" y="3524250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E160B6B-6813-422C-AFCD-1680F6408375}"/>
              </a:ext>
            </a:extLst>
          </p:cNvPr>
          <p:cNvSpPr>
            <a:spLocks noGrp="1"/>
          </p:cNvSpPr>
          <p:nvPr/>
        </p:nvSpPr>
        <p:spPr>
          <a:xfrm>
            <a:off x="714375" y="3524250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4B76C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01F6D6-5D2C-4FCA-A3C5-F663E8B305BD}"/>
              </a:ext>
            </a:extLst>
          </p:cNvPr>
          <p:cNvSpPr>
            <a:spLocks noGrp="1"/>
          </p:cNvSpPr>
          <p:nvPr/>
        </p:nvSpPr>
        <p:spPr>
          <a:xfrm>
            <a:off x="838200" y="3695700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96207"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Αντίγραφα ασφαλείας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9F6BD1-22BA-4CFB-A85F-0CF019290C56}"/>
              </a:ext>
            </a:extLst>
          </p:cNvPr>
          <p:cNvSpPr>
            <a:spLocks noGrp="1"/>
          </p:cNvSpPr>
          <p:nvPr/>
        </p:nvSpPr>
        <p:spPr>
          <a:xfrm>
            <a:off x="3286125" y="3667125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Κρατούμε backup των σημαντικών αρχείων.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C1FD8AE-4BC0-44B7-A203-A6A1C6BEC72C}"/>
              </a:ext>
            </a:extLst>
          </p:cNvPr>
          <p:cNvSpPr>
            <a:spLocks noGrp="1"/>
          </p:cNvSpPr>
          <p:nvPr/>
        </p:nvSpPr>
        <p:spPr>
          <a:xfrm>
            <a:off x="714375" y="4524375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6EA2648-3C68-4399-AE56-AE8F673EC18F}"/>
              </a:ext>
            </a:extLst>
          </p:cNvPr>
          <p:cNvSpPr>
            <a:spLocks noGrp="1"/>
          </p:cNvSpPr>
          <p:nvPr/>
        </p:nvSpPr>
        <p:spPr>
          <a:xfrm>
            <a:off x="714375" y="4524375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5A58C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6B294D-C3E2-47EF-8E77-C8DBA3061305}"/>
              </a:ext>
            </a:extLst>
          </p:cNvPr>
          <p:cNvSpPr>
            <a:spLocks noGrp="1"/>
          </p:cNvSpPr>
          <p:nvPr/>
        </p:nvSpPr>
        <p:spPr>
          <a:xfrm>
            <a:off x="838200" y="469582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Πλήρης έλεγχος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26F672-A255-43CC-84E4-D72A75468AB3}"/>
              </a:ext>
            </a:extLst>
          </p:cNvPr>
          <p:cNvSpPr>
            <a:spLocks noGrp="1"/>
          </p:cNvSpPr>
          <p:nvPr/>
        </p:nvSpPr>
        <p:spPr>
          <a:xfrm>
            <a:off x="3286125" y="466725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Σε πιθανή μόλυνση εκτελούμε full system scan.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92CA78-AB01-4543-B60B-9E491B01834A}"/>
              </a:ext>
            </a:extLst>
          </p:cNvPr>
          <p:cNvSpPr>
            <a:spLocks noGrp="1"/>
          </p:cNvSpPr>
          <p:nvPr/>
        </p:nvSpPr>
        <p:spPr>
          <a:xfrm>
            <a:off x="2238375" y="5572125"/>
            <a:ext cx="771525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7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Το antivirus μπορεί να διαγράψει ή να απομονώσει ένα μολυσμένο αρχείο.</a:t>
            </a:r>
          </a:p>
        </p:txBody>
      </p:sp>
    </p:spTree>
    <p:extLst>
      <p:ext uri="{BB962C8B-B14F-4D97-AF65-F5344CB8AC3E}">
        <p14:creationId xmlns:p14="http://schemas.microsoft.com/office/powerpoint/2010/main" val="460180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ED3CC06-41A9-44F3-A167-654937B683A0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Ανεπιθύμητα μηνύματα — Spam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0BD770-3AE3-40C9-991F-EB9D4813B9D1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9BDBF1-38D6-4D25-8FB4-3A4ECA3E8840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4953000" cy="3190875"/>
          </a:xfrm>
          <a:prstGeom prst="roundRect">
            <a:avLst>
              <a:gd name="adj" fmla="val 2388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C6164FB-51DD-4F6C-8E44-21153444C17D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114300" cy="3190875"/>
          </a:xfrm>
          <a:prstGeom prst="roundRect">
            <a:avLst>
              <a:gd name="adj" fmla="val 50000"/>
            </a:avLst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36B1E3-9085-4003-B1D4-0A67A785D143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447675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F47C2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47C27"/>
                </a:solidFill>
                <a:latin typeface="Inter"/>
                <a:ea typeface="Inter"/>
                <a:cs typeface="Inter"/>
              </a:rPr>
              <a:t>Πώς τα αναγνωρίζουμε;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D5848F-CA6E-46B4-96A5-E31D4BF96D90}"/>
              </a:ext>
            </a:extLst>
          </p:cNvPr>
          <p:cNvSpPr>
            <a:spLocks noGrp="1"/>
          </p:cNvSpPr>
          <p:nvPr/>
        </p:nvSpPr>
        <p:spPr>
          <a:xfrm>
            <a:off x="952500" y="2343150"/>
            <a:ext cx="4429125" cy="2333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Αποστέλλονται μαζικά χωρίς να τα έχουμε ζητήσει. Συχνά υπόσχονται δώρα, κέρδη ή προωθούν προϊόντα, υπηρεσίες και τυχερά παιχνίδια.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ABFECEE-8EEF-4AD3-B7ED-E402409C5267}"/>
              </a:ext>
            </a:extLst>
          </p:cNvPr>
          <p:cNvSpPr>
            <a:spLocks noGrp="1"/>
          </p:cNvSpPr>
          <p:nvPr/>
        </p:nvSpPr>
        <p:spPr>
          <a:xfrm>
            <a:off x="6477000" y="1619250"/>
            <a:ext cx="4953000" cy="3190875"/>
          </a:xfrm>
          <a:prstGeom prst="roundRect">
            <a:avLst>
              <a:gd name="adj" fmla="val 2388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DDE8A57-9D95-4C69-8072-83396E04C571}"/>
              </a:ext>
            </a:extLst>
          </p:cNvPr>
          <p:cNvSpPr>
            <a:spLocks noGrp="1"/>
          </p:cNvSpPr>
          <p:nvPr/>
        </p:nvSpPr>
        <p:spPr>
          <a:xfrm>
            <a:off x="6477000" y="1619250"/>
            <a:ext cx="114300" cy="3190875"/>
          </a:xfrm>
          <a:prstGeom prst="roundRect">
            <a:avLst>
              <a:gd name="adj" fmla="val 50000"/>
            </a:avLst>
          </a:prstGeom>
          <a:solidFill>
            <a:srgbClr val="4B76C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BAA89A-99B7-45B5-B87E-DF43A1AECF94}"/>
              </a:ext>
            </a:extLst>
          </p:cNvPr>
          <p:cNvSpPr>
            <a:spLocks noGrp="1"/>
          </p:cNvSpPr>
          <p:nvPr/>
        </p:nvSpPr>
        <p:spPr>
          <a:xfrm>
            <a:off x="6762750" y="1809750"/>
            <a:ext cx="447675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Πώς προστατευόμαστε;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F6D92E-DE2F-4FDC-BAE7-F50ED10AF82D}"/>
              </a:ext>
            </a:extLst>
          </p:cNvPr>
          <p:cNvSpPr>
            <a:spLocks noGrp="1"/>
          </p:cNvSpPr>
          <p:nvPr/>
        </p:nvSpPr>
        <p:spPr>
          <a:xfrm>
            <a:off x="6762750" y="2343150"/>
            <a:ext cx="4429125" cy="2333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Δεν δίνουμε το e-mail μας σε οργανισμούς που δεν εμπιστευόμαστε, δεν απαντούμε και ενεργοποιούμε φίλτρα ανεπιθύμητης αλληλογραφίας.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FF55C9-A4BE-4F4F-8B2F-4ACE89278B78}"/>
              </a:ext>
            </a:extLst>
          </p:cNvPr>
          <p:cNvSpPr>
            <a:spLocks noGrp="1"/>
          </p:cNvSpPr>
          <p:nvPr/>
        </p:nvSpPr>
        <p:spPr>
          <a:xfrm>
            <a:off x="1333500" y="5191125"/>
            <a:ext cx="95250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0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Αποστολή σε πολλούς παραλήπτες δεν σημαίνει πάντα spam — κριτήριο είναι αν το ζητήσαμε και αν εμπιστευόμαστε τον αποστολέα.</a:t>
            </a:r>
          </a:p>
        </p:txBody>
      </p:sp>
    </p:spTree>
    <p:extLst>
      <p:ext uri="{BB962C8B-B14F-4D97-AF65-F5344CB8AC3E}">
        <p14:creationId xmlns:p14="http://schemas.microsoft.com/office/powerpoint/2010/main" val="121036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hishing email that looks as though it's from PayPal">
            <a:extLst>
              <a:ext uri="{FF2B5EF4-FFF2-40B4-BE49-F238E27FC236}">
                <a16:creationId xmlns:a16="http://schemas.microsoft.com/office/drawing/2014/main" id="{98409D9F-DC0B-92B6-3834-CA0438891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145" y="224982"/>
            <a:ext cx="5623560" cy="640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348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23" y="609600"/>
            <a:ext cx="8572500" cy="78105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Phishing (υποκλοπή στοιχείων)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9" name="Clean content area">
            <a:extLst>
              <a:ext uri="{FF2B5EF4-FFF2-40B4-BE49-F238E27FC236}">
                <a16:creationId xmlns:a16="http://schemas.microsoft.com/office/drawing/2014/main" id="{C226B8F1-56F9-450F-90F1-3BE4CB4FACBA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81D5CEB-A548-4A6E-AF66-8D9E83EAD345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650" b="0">
                <a:solidFill>
                  <a:srgbClr val="333333"/>
                </a:solidFill>
              </a:defRPr>
            </a:defPPr>
          </a:lstStyle>
          <a:p>
            <a:pPr algn="l">
              <a:defRPr sz="1650" b="0">
                <a:solidFill>
                  <a:srgbClr val="333333"/>
                </a:solidFill>
              </a:defRPr>
            </a:pPr>
            <a:r>
              <a:rPr sz="1650" b="0">
                <a:solidFill>
                  <a:srgbClr val="333333"/>
                </a:solidFill>
              </a:rPr>
              <a:t>Απατηλό μήνυμα που προσπαθεί να κλέψει κωδικούς, τραπεζικά στοιχεία ή άλλες προσωπικές πληροφορίες.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6402F73-FAA2-4400-A6C4-907F59E3AEC2}"/>
              </a:ext>
            </a:extLst>
          </p:cNvPr>
          <p:cNvSpPr>
            <a:spLocks noGrp="1"/>
          </p:cNvSpPr>
          <p:nvPr/>
        </p:nvSpPr>
        <p:spPr>
          <a:xfrm>
            <a:off x="781050" y="2190750"/>
            <a:ext cx="5810250" cy="3000375"/>
          </a:xfrm>
          <a:prstGeom prst="roundRect">
            <a:avLst>
              <a:gd name="adj" fmla="val 3175"/>
            </a:avLst>
          </a:prstGeom>
          <a:solidFill>
            <a:srgbClr val="FFF5F4"/>
          </a:solidFill>
          <a:ln w="19050">
            <a:solidFill>
              <a:srgbClr val="D95C52"/>
            </a:solidFill>
            <a:prstDash val="solid"/>
          </a:ln>
        </p:spPr>
        <p:txBody>
          <a:bodyPr anchor="ctr"/>
          <a:lstStyle>
            <a:defPPr algn="l">
              <a:defRPr sz="1500" b="0">
                <a:solidFill>
                  <a:srgbClr val="6D2420"/>
                </a:solidFill>
              </a:defRPr>
            </a:defPPr>
          </a:lstStyle>
          <a:p>
            <a:pPr algn="l">
              <a:defRPr sz="1500" b="0">
                <a:solidFill>
                  <a:srgbClr val="6D2420"/>
                </a:solidFill>
              </a:defRPr>
            </a:pPr>
            <a:r>
              <a:rPr sz="1500" b="0">
                <a:solidFill>
                  <a:srgbClr val="6D2420"/>
                </a:solidFill>
              </a:rPr>
              <a:t>ΥΠΟΠΤΟ ΜΗΝΥΜΑ</a:t>
            </a:r>
          </a:p>
          <a:p>
            <a:endParaRPr sz="1500" b="0">
              <a:solidFill>
                <a:srgbClr val="6D2420"/>
              </a:solidFill>
            </a:endParaRPr>
          </a:p>
          <a:p>
            <a:pPr algn="l">
              <a:defRPr sz="1500" b="0">
                <a:solidFill>
                  <a:srgbClr val="6D2420"/>
                </a:solidFill>
              </a:defRPr>
            </a:pPr>
            <a:r>
              <a:rPr sz="1500" b="0">
                <a:solidFill>
                  <a:srgbClr val="6D2420"/>
                </a:solidFill>
              </a:rPr>
              <a:t>Από: support@my-bank-security.com</a:t>
            </a:r>
          </a:p>
          <a:p>
            <a:pPr algn="l">
              <a:defRPr sz="1500" b="0">
                <a:solidFill>
                  <a:srgbClr val="6D2420"/>
                </a:solidFill>
              </a:defRPr>
            </a:pPr>
            <a:r>
              <a:rPr sz="1500" b="0">
                <a:solidFill>
                  <a:srgbClr val="6D2420"/>
                </a:solidFill>
              </a:rPr>
              <a:t>Θέμα: ΕΠΕΙΓΟΝ: Ο λογαριασμός σας θα κλειδωθεί</a:t>
            </a:r>
          </a:p>
          <a:p>
            <a:endParaRPr sz="1500" b="0">
              <a:solidFill>
                <a:srgbClr val="6D2420"/>
              </a:solidFill>
            </a:endParaRPr>
          </a:p>
          <a:p>
            <a:pPr algn="l">
              <a:defRPr sz="1500" b="0">
                <a:solidFill>
                  <a:srgbClr val="6D2420"/>
                </a:solidFill>
              </a:defRPr>
            </a:pPr>
            <a:r>
              <a:rPr sz="1500" b="0">
                <a:solidFill>
                  <a:srgbClr val="6D2420"/>
                </a:solidFill>
              </a:rPr>
              <a:t>Πατήστε στον σύνδεσμο και γράψτε τον κωδικό σας:</a:t>
            </a:r>
          </a:p>
          <a:p>
            <a:pPr algn="l">
              <a:defRPr sz="1500" b="0">
                <a:solidFill>
                  <a:srgbClr val="6D2420"/>
                </a:solidFill>
              </a:defRPr>
            </a:pPr>
            <a:r>
              <a:rPr sz="1500" b="0">
                <a:solidFill>
                  <a:srgbClr val="6D2420"/>
                </a:solidFill>
              </a:rPr>
              <a:t>http://my-bank-secure-login.example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7A83928-1764-4D92-B6BB-2F2D5EB8698A}"/>
              </a:ext>
            </a:extLst>
          </p:cNvPr>
          <p:cNvSpPr>
            <a:spLocks noGrp="1"/>
          </p:cNvSpPr>
          <p:nvPr/>
        </p:nvSpPr>
        <p:spPr>
          <a:xfrm>
            <a:off x="6953250" y="214312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5C52"/>
          </a:solidFill>
          <a:ln w="9525">
            <a:solidFill>
              <a:srgbClr val="D95C52"/>
            </a:solidFill>
          </a:ln>
        </p:spPr>
        <p:txBody>
          <a:bodyPr anchor="ctr"/>
          <a:lstStyle>
            <a:defPPr algn="ctr"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1985930-26AC-4F0C-814A-B742ECAADDB4}"/>
              </a:ext>
            </a:extLst>
          </p:cNvPr>
          <p:cNvSpPr>
            <a:spLocks noGrp="1"/>
          </p:cNvSpPr>
          <p:nvPr/>
        </p:nvSpPr>
        <p:spPr>
          <a:xfrm>
            <a:off x="7543800" y="2124075"/>
            <a:ext cx="3238500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500" b="1">
                <a:solidFill>
                  <a:srgbClr val="A12B25"/>
                </a:solidFill>
              </a:defRPr>
            </a:defPPr>
          </a:lstStyle>
          <a:p>
            <a:pPr algn="l">
              <a:defRPr sz="1500" b="1">
                <a:solidFill>
                  <a:srgbClr val="A12B25"/>
                </a:solidFill>
              </a:defRPr>
            </a:pPr>
            <a:r>
              <a:rPr sz="1500" b="1">
                <a:solidFill>
                  <a:srgbClr val="A12B25"/>
                </a:solidFill>
              </a:rPr>
              <a:t>Ύποπτος αποστολέας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73FCECD-1D03-4F36-AA55-6E1AC2C499EA}"/>
              </a:ext>
            </a:extLst>
          </p:cNvPr>
          <p:cNvSpPr>
            <a:spLocks noGrp="1"/>
          </p:cNvSpPr>
          <p:nvPr/>
        </p:nvSpPr>
        <p:spPr>
          <a:xfrm>
            <a:off x="7543800" y="2400300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275" b="0">
                <a:solidFill>
                  <a:srgbClr val="333333"/>
                </a:solidFill>
              </a:defRPr>
            </a:defPPr>
          </a:lstStyle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Η διεύθυνση μοιάζει επίσημη, αλλά δεν είναι η πραγματική.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1487245-D778-401A-97A4-FA837FC36CAF}"/>
              </a:ext>
            </a:extLst>
          </p:cNvPr>
          <p:cNvSpPr>
            <a:spLocks noGrp="1"/>
          </p:cNvSpPr>
          <p:nvPr/>
        </p:nvSpPr>
        <p:spPr>
          <a:xfrm>
            <a:off x="6953250" y="29337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5C52"/>
          </a:solidFill>
          <a:ln w="9525">
            <a:solidFill>
              <a:srgbClr val="D95C52"/>
            </a:solidFill>
          </a:ln>
        </p:spPr>
        <p:txBody>
          <a:bodyPr anchor="ctr"/>
          <a:lstStyle>
            <a:defPPr algn="ctr"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DE2AA24-D4C6-41DE-9AB3-FB6D3E864428}"/>
              </a:ext>
            </a:extLst>
          </p:cNvPr>
          <p:cNvSpPr>
            <a:spLocks noGrp="1"/>
          </p:cNvSpPr>
          <p:nvPr/>
        </p:nvSpPr>
        <p:spPr>
          <a:xfrm>
            <a:off x="7543800" y="2914650"/>
            <a:ext cx="3238500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500" b="1">
                <a:solidFill>
                  <a:srgbClr val="A12B25"/>
                </a:solidFill>
              </a:defRPr>
            </a:defPPr>
          </a:lstStyle>
          <a:p>
            <a:pPr algn="l">
              <a:defRPr sz="1500" b="1">
                <a:solidFill>
                  <a:srgbClr val="A12B25"/>
                </a:solidFill>
              </a:defRPr>
            </a:pPr>
            <a:r>
              <a:rPr sz="1500" b="1">
                <a:solidFill>
                  <a:srgbClr val="A12B25"/>
                </a:solidFill>
              </a:rPr>
              <a:t>Πίεση και επείγον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27CED2D-5465-40C6-AEFD-DF7C3F5236E7}"/>
              </a:ext>
            </a:extLst>
          </p:cNvPr>
          <p:cNvSpPr>
            <a:spLocks noGrp="1"/>
          </p:cNvSpPr>
          <p:nvPr/>
        </p:nvSpPr>
        <p:spPr>
          <a:xfrm>
            <a:off x="7543800" y="3190875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275" b="0">
                <a:solidFill>
                  <a:srgbClr val="333333"/>
                </a:solidFill>
              </a:defRPr>
            </a:defPPr>
          </a:lstStyle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Το μήνυμα προκαλεί φόβο για να ενεργήσεις γρήγορα.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11E84FE5-65AB-47A9-94EF-F8348FAEB4E8}"/>
              </a:ext>
            </a:extLst>
          </p:cNvPr>
          <p:cNvSpPr>
            <a:spLocks noGrp="1"/>
          </p:cNvSpPr>
          <p:nvPr/>
        </p:nvSpPr>
        <p:spPr>
          <a:xfrm>
            <a:off x="6953250" y="372427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5C52"/>
          </a:solidFill>
          <a:ln w="9525">
            <a:solidFill>
              <a:srgbClr val="D95C52"/>
            </a:solidFill>
          </a:ln>
        </p:spPr>
        <p:txBody>
          <a:bodyPr anchor="ctr"/>
          <a:lstStyle>
            <a:defPPr algn="ctr"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B805998-7D02-493D-93B6-D12D71538E6A}"/>
              </a:ext>
            </a:extLst>
          </p:cNvPr>
          <p:cNvSpPr>
            <a:spLocks noGrp="1"/>
          </p:cNvSpPr>
          <p:nvPr/>
        </p:nvSpPr>
        <p:spPr>
          <a:xfrm>
            <a:off x="7543800" y="3705225"/>
            <a:ext cx="3238500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500" b="1">
                <a:solidFill>
                  <a:srgbClr val="A12B25"/>
                </a:solidFill>
              </a:defRPr>
            </a:defPPr>
          </a:lstStyle>
          <a:p>
            <a:pPr algn="l">
              <a:defRPr sz="1500" b="1">
                <a:solidFill>
                  <a:srgbClr val="A12B25"/>
                </a:solidFill>
              </a:defRPr>
            </a:pPr>
            <a:r>
              <a:rPr sz="1500" b="1">
                <a:solidFill>
                  <a:srgbClr val="A12B25"/>
                </a:solidFill>
              </a:rPr>
              <a:t>Ζητά ευαίσθητα στοιχεία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CDF4D18-775C-4E6D-8B70-C6D138543816}"/>
              </a:ext>
            </a:extLst>
          </p:cNvPr>
          <p:cNvSpPr>
            <a:spLocks noGrp="1"/>
          </p:cNvSpPr>
          <p:nvPr/>
        </p:nvSpPr>
        <p:spPr>
          <a:xfrm>
            <a:off x="7543800" y="3981450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275" b="0">
                <a:solidFill>
                  <a:srgbClr val="333333"/>
                </a:solidFill>
              </a:defRPr>
            </a:defPPr>
          </a:lstStyle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Μια νόμιμη υπηρεσία δεν ζητά τον κωδικό μέσω συνδέσμου.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8E9B2DA5-B177-4474-8748-4DEE52B626B1}"/>
              </a:ext>
            </a:extLst>
          </p:cNvPr>
          <p:cNvSpPr>
            <a:spLocks noGrp="1"/>
          </p:cNvSpPr>
          <p:nvPr/>
        </p:nvSpPr>
        <p:spPr>
          <a:xfrm>
            <a:off x="6953250" y="45148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5C52"/>
          </a:solidFill>
          <a:ln w="9525">
            <a:solidFill>
              <a:srgbClr val="D95C52"/>
            </a:solidFill>
          </a:ln>
        </p:spPr>
        <p:txBody>
          <a:bodyPr anchor="ctr"/>
          <a:lstStyle>
            <a:defPPr algn="ctr"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D62254C-CC31-423A-B69D-8D5F3EEE3C6B}"/>
              </a:ext>
            </a:extLst>
          </p:cNvPr>
          <p:cNvSpPr>
            <a:spLocks noGrp="1"/>
          </p:cNvSpPr>
          <p:nvPr/>
        </p:nvSpPr>
        <p:spPr>
          <a:xfrm>
            <a:off x="7543800" y="4495800"/>
            <a:ext cx="3238500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500" b="1">
                <a:solidFill>
                  <a:srgbClr val="A12B25"/>
                </a:solidFill>
              </a:defRPr>
            </a:defPPr>
          </a:lstStyle>
          <a:p>
            <a:pPr algn="l">
              <a:defRPr sz="1500" b="1">
                <a:solidFill>
                  <a:srgbClr val="A12B25"/>
                </a:solidFill>
              </a:defRPr>
            </a:pPr>
            <a:r>
              <a:rPr sz="1500" b="1">
                <a:solidFill>
                  <a:srgbClr val="A12B25"/>
                </a:solidFill>
              </a:rPr>
              <a:t>Παράξενος σύνδεσμος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5990304-A092-4F52-8509-49E0AF334FB1}"/>
              </a:ext>
            </a:extLst>
          </p:cNvPr>
          <p:cNvSpPr>
            <a:spLocks noGrp="1"/>
          </p:cNvSpPr>
          <p:nvPr/>
        </p:nvSpPr>
        <p:spPr>
          <a:xfrm>
            <a:off x="7543800" y="4772025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275" b="0">
                <a:solidFill>
                  <a:srgbClr val="333333"/>
                </a:solidFill>
              </a:defRPr>
            </a:defPPr>
          </a:lstStyle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Ελέγχουμε προσεκτικά το πραγματικό domain πριν πατήσουμε.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BDAEB006-ED05-4A7B-A568-CFB33E95E7B8}"/>
              </a:ext>
            </a:extLst>
          </p:cNvPr>
          <p:cNvSpPr>
            <a:spLocks noGrp="1"/>
          </p:cNvSpPr>
          <p:nvPr/>
        </p:nvSpPr>
        <p:spPr>
          <a:xfrm>
            <a:off x="781050" y="5495925"/>
            <a:ext cx="10096500" cy="590550"/>
          </a:xfrm>
          <a:prstGeom prst="roundRect">
            <a:avLst>
              <a:gd name="adj" fmla="val 12903"/>
            </a:avLst>
          </a:prstGeom>
          <a:solidFill>
            <a:srgbClr val="E6F4EA"/>
          </a:solidFill>
          <a:ln w="11906">
            <a:solidFill>
              <a:srgbClr val="B7DDEB"/>
            </a:solidFill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26733D"/>
                </a:solidFill>
              </a:defRPr>
            </a:defPPr>
          </a:lstStyle>
          <a:p>
            <a:pPr algn="ctr">
              <a:defRPr sz="1500" b="1">
                <a:solidFill>
                  <a:srgbClr val="26733D"/>
                </a:solidFill>
              </a:defRPr>
            </a:pPr>
            <a:r>
              <a:rPr sz="1500" b="1">
                <a:solidFill>
                  <a:srgbClr val="26733D"/>
                </a:solidFill>
              </a:rPr>
              <a:t>Δεν πατάμε τον σύνδεσμο. Ανοίγουμε μόνοι μας την επίσημη εφαρμογή ή ιστοσελίδα.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E479D54-7747-4255-8C7E-A87F8BF16A8E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Πώς ελέγχουμε ένα ύποπτο μήνυμα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87EE98-6BC7-4E5C-BBE3-56A9AC2BF0E6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1EBA5E6-5A1F-458E-90E6-18C581469C21}"/>
              </a:ext>
            </a:extLst>
          </p:cNvPr>
          <p:cNvSpPr>
            <a:spLocks noGrp="1"/>
          </p:cNvSpPr>
          <p:nvPr/>
        </p:nvSpPr>
        <p:spPr>
          <a:xfrm>
            <a:off x="714375" y="1476375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F51546F-2A36-4820-9D7A-6A87B895C1FC}"/>
              </a:ext>
            </a:extLst>
          </p:cNvPr>
          <p:cNvSpPr>
            <a:spLocks noGrp="1"/>
          </p:cNvSpPr>
          <p:nvPr/>
        </p:nvSpPr>
        <p:spPr>
          <a:xfrm>
            <a:off x="714375" y="1476375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4B76C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38BBFD-ABCD-41E5-8302-98FD1CE2A7E7}"/>
              </a:ext>
            </a:extLst>
          </p:cNvPr>
          <p:cNvSpPr>
            <a:spLocks noGrp="1"/>
          </p:cNvSpPr>
          <p:nvPr/>
        </p:nvSpPr>
        <p:spPr>
          <a:xfrm>
            <a:off x="838200" y="164782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1. Αποστολέας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3EA4CB-A6DB-4CBF-8FC4-901D64EE6C33}"/>
              </a:ext>
            </a:extLst>
          </p:cNvPr>
          <p:cNvSpPr>
            <a:spLocks noGrp="1"/>
          </p:cNvSpPr>
          <p:nvPr/>
        </p:nvSpPr>
        <p:spPr>
          <a:xfrm>
            <a:off x="3286125" y="161925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Γνωρίζω και εμπιστεύομαι τη διεύθυνση;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88FC77-D620-4F77-B65E-E945B91A7EB3}"/>
              </a:ext>
            </a:extLst>
          </p:cNvPr>
          <p:cNvSpPr>
            <a:spLocks noGrp="1"/>
          </p:cNvSpPr>
          <p:nvPr/>
        </p:nvSpPr>
        <p:spPr>
          <a:xfrm>
            <a:off x="714375" y="2428875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2B31182-5CB1-42BA-9FAD-F64B3A5F974D}"/>
              </a:ext>
            </a:extLst>
          </p:cNvPr>
          <p:cNvSpPr>
            <a:spLocks noGrp="1"/>
          </p:cNvSpPr>
          <p:nvPr/>
        </p:nvSpPr>
        <p:spPr>
          <a:xfrm>
            <a:off x="714375" y="2428875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C94C4C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9DBC26-755B-4769-87DB-A11B57A470C1}"/>
              </a:ext>
            </a:extLst>
          </p:cNvPr>
          <p:cNvSpPr>
            <a:spLocks noGrp="1"/>
          </p:cNvSpPr>
          <p:nvPr/>
        </p:nvSpPr>
        <p:spPr>
          <a:xfrm>
            <a:off x="838200" y="260032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2. Αίτημα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A77C53-731A-456A-A44F-FDEF882A239C}"/>
              </a:ext>
            </a:extLst>
          </p:cNvPr>
          <p:cNvSpPr>
            <a:spLocks noGrp="1"/>
          </p:cNvSpPr>
          <p:nvPr/>
        </p:nvSpPr>
        <p:spPr>
          <a:xfrm>
            <a:off x="3286125" y="257175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Ζητά κωδικούς, χρήματα ή προσωπικά στοιχεία;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885983D-8D70-47A6-B276-7F2282C0A0CC}"/>
              </a:ext>
            </a:extLst>
          </p:cNvPr>
          <p:cNvSpPr>
            <a:spLocks noGrp="1"/>
          </p:cNvSpPr>
          <p:nvPr/>
        </p:nvSpPr>
        <p:spPr>
          <a:xfrm>
            <a:off x="714375" y="3381375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1D0600A-0A20-4503-BF1B-E2B767573609}"/>
              </a:ext>
            </a:extLst>
          </p:cNvPr>
          <p:cNvSpPr>
            <a:spLocks noGrp="1"/>
          </p:cNvSpPr>
          <p:nvPr/>
        </p:nvSpPr>
        <p:spPr>
          <a:xfrm>
            <a:off x="714375" y="3381375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C85860-6F52-414D-822A-473257CE77D7}"/>
              </a:ext>
            </a:extLst>
          </p:cNvPr>
          <p:cNvSpPr>
            <a:spLocks noGrp="1"/>
          </p:cNvSpPr>
          <p:nvPr/>
        </p:nvSpPr>
        <p:spPr>
          <a:xfrm>
            <a:off x="838200" y="355282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3. Συνημμένο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3BD240-AEE8-40D2-A051-A048373C2817}"/>
              </a:ext>
            </a:extLst>
          </p:cNvPr>
          <p:cNvSpPr>
            <a:spLocks noGrp="1"/>
          </p:cNvSpPr>
          <p:nvPr/>
        </p:nvSpPr>
        <p:spPr>
          <a:xfrm>
            <a:off x="3286125" y="352425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Περίμενα αυτό το αρχείο και γνωρίζω τον τύπο του;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E5CCDA7-2909-4746-91AD-37FC625CF352}"/>
              </a:ext>
            </a:extLst>
          </p:cNvPr>
          <p:cNvSpPr>
            <a:spLocks noGrp="1"/>
          </p:cNvSpPr>
          <p:nvPr/>
        </p:nvSpPr>
        <p:spPr>
          <a:xfrm>
            <a:off x="714375" y="4333875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9A9F0CA-2B80-41BE-9A89-790161BE1094}"/>
              </a:ext>
            </a:extLst>
          </p:cNvPr>
          <p:cNvSpPr>
            <a:spLocks noGrp="1"/>
          </p:cNvSpPr>
          <p:nvPr/>
        </p:nvSpPr>
        <p:spPr>
          <a:xfrm>
            <a:off x="714375" y="4333875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5A58C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4AF2C2-BC8F-4D0A-9A4F-3E2CF861A421}"/>
              </a:ext>
            </a:extLst>
          </p:cNvPr>
          <p:cNvSpPr>
            <a:spLocks noGrp="1"/>
          </p:cNvSpPr>
          <p:nvPr/>
        </p:nvSpPr>
        <p:spPr>
          <a:xfrm>
            <a:off x="838200" y="450532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4. Ενέργεια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659464-BD3B-4141-B867-5AEF6520470B}"/>
              </a:ext>
            </a:extLst>
          </p:cNvPr>
          <p:cNvSpPr>
            <a:spLocks noGrp="1"/>
          </p:cNvSpPr>
          <p:nvPr/>
        </p:nvSpPr>
        <p:spPr>
          <a:xfrm>
            <a:off x="3286125" y="447675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Δεν πατώ σύνδεσμο· ενημερώνω ενήλικα ή υπεύθυνο.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E3A9C8-F98E-43A6-8CAF-0C411B0E6587}"/>
              </a:ext>
            </a:extLst>
          </p:cNvPr>
          <p:cNvSpPr>
            <a:spLocks noGrp="1"/>
          </p:cNvSpPr>
          <p:nvPr/>
        </p:nvSpPr>
        <p:spPr>
          <a:xfrm>
            <a:off x="2381250" y="5476875"/>
            <a:ext cx="742950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7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Η περιέργεια δεν είναι λόγος για να ανοίξουμε ένα άγνωστο αρχείο.</a:t>
            </a:r>
          </a:p>
        </p:txBody>
      </p:sp>
    </p:spTree>
    <p:extLst>
      <p:ext uri="{BB962C8B-B14F-4D97-AF65-F5344CB8AC3E}">
        <p14:creationId xmlns:p14="http://schemas.microsoft.com/office/powerpoint/2010/main" val="690790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5F402D3-6D75-458D-A619-206705506E80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Γρήγορη ανακεφαλαίωση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E6A0AD-3544-4454-9982-BB0A99C538D1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DC0EA89-1C3A-462B-B78A-5219A382DA29}"/>
              </a:ext>
            </a:extLst>
          </p:cNvPr>
          <p:cNvSpPr>
            <a:spLocks noGrp="1"/>
          </p:cNvSpPr>
          <p:nvPr/>
        </p:nvSpPr>
        <p:spPr>
          <a:xfrm>
            <a:off x="714375" y="1524000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661B32E-FA9B-4CDA-8F01-0A6564E87577}"/>
              </a:ext>
            </a:extLst>
          </p:cNvPr>
          <p:cNvSpPr>
            <a:spLocks noGrp="1"/>
          </p:cNvSpPr>
          <p:nvPr/>
        </p:nvSpPr>
        <p:spPr>
          <a:xfrm>
            <a:off x="714375" y="1524000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C94C4C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34BECC-B600-4A66-B216-41ED8B80D8DD}"/>
              </a:ext>
            </a:extLst>
          </p:cNvPr>
          <p:cNvSpPr>
            <a:spLocks noGrp="1"/>
          </p:cNvSpPr>
          <p:nvPr/>
        </p:nvSpPr>
        <p:spPr>
          <a:xfrm>
            <a:off x="838200" y="1695450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Virus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62BBCF-42FB-4199-B129-B2948741492F}"/>
              </a:ext>
            </a:extLst>
          </p:cNvPr>
          <p:cNvSpPr>
            <a:spLocks noGrp="1"/>
          </p:cNvSpPr>
          <p:nvPr/>
        </p:nvSpPr>
        <p:spPr>
          <a:xfrm>
            <a:off x="3286125" y="1666875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Antivirus, ενημερώσεις, backup, προσοχή στα συνημμένα.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743E453-3E63-48EA-8628-84DFAA63420B}"/>
              </a:ext>
            </a:extLst>
          </p:cNvPr>
          <p:cNvSpPr>
            <a:spLocks noGrp="1"/>
          </p:cNvSpPr>
          <p:nvPr/>
        </p:nvSpPr>
        <p:spPr>
          <a:xfrm>
            <a:off x="714375" y="2571750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E4C6EBE-3247-42F1-AB71-44DC35D7405B}"/>
              </a:ext>
            </a:extLst>
          </p:cNvPr>
          <p:cNvSpPr>
            <a:spLocks noGrp="1"/>
          </p:cNvSpPr>
          <p:nvPr/>
        </p:nvSpPr>
        <p:spPr>
          <a:xfrm>
            <a:off x="714375" y="2571750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524960-427F-4448-A502-69E5C1A472E4}"/>
              </a:ext>
            </a:extLst>
          </p:cNvPr>
          <p:cNvSpPr>
            <a:spLocks noGrp="1"/>
          </p:cNvSpPr>
          <p:nvPr/>
        </p:nvSpPr>
        <p:spPr>
          <a:xfrm>
            <a:off x="838200" y="2743200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Spam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71FE3E-1404-4576-8092-6707A3F66F41}"/>
              </a:ext>
            </a:extLst>
          </p:cNvPr>
          <p:cNvSpPr>
            <a:spLocks noGrp="1"/>
          </p:cNvSpPr>
          <p:nvPr/>
        </p:nvSpPr>
        <p:spPr>
          <a:xfrm>
            <a:off x="3286125" y="2714625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Δεν απαντώ, δεν δίνω εύκολα το e-mail μου, ενεργοποιώ φίλτρα.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C58827B-4DAA-44DC-B1C1-5D59D6760B6B}"/>
              </a:ext>
            </a:extLst>
          </p:cNvPr>
          <p:cNvSpPr>
            <a:spLocks noGrp="1"/>
          </p:cNvSpPr>
          <p:nvPr/>
        </p:nvSpPr>
        <p:spPr>
          <a:xfrm>
            <a:off x="714375" y="3619500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1005A85-4201-4551-B224-1DF707CBDF0A}"/>
              </a:ext>
            </a:extLst>
          </p:cNvPr>
          <p:cNvSpPr>
            <a:spLocks noGrp="1"/>
          </p:cNvSpPr>
          <p:nvPr/>
        </p:nvSpPr>
        <p:spPr>
          <a:xfrm>
            <a:off x="714375" y="3619500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5A58C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423C47-A95A-4A3C-B474-CAADEE86B0B5}"/>
              </a:ext>
            </a:extLst>
          </p:cNvPr>
          <p:cNvSpPr>
            <a:spLocks noGrp="1"/>
          </p:cNvSpPr>
          <p:nvPr/>
        </p:nvSpPr>
        <p:spPr>
          <a:xfrm>
            <a:off x="838200" y="3790950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Phishing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326774-2AF9-4205-B14B-11B824156C3C}"/>
              </a:ext>
            </a:extLst>
          </p:cNvPr>
          <p:cNvSpPr>
            <a:spLocks noGrp="1"/>
          </p:cNvSpPr>
          <p:nvPr/>
        </p:nvSpPr>
        <p:spPr>
          <a:xfrm>
            <a:off x="3286125" y="3762375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Ελέγχω τον αποστολέα και δεν δίνω προσωπικά στοιχεία.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A2EC96F-233B-4D1C-AA99-D3626FF8C638}"/>
              </a:ext>
            </a:extLst>
          </p:cNvPr>
          <p:cNvSpPr>
            <a:spLocks noGrp="1"/>
          </p:cNvSpPr>
          <p:nvPr/>
        </p:nvSpPr>
        <p:spPr>
          <a:xfrm>
            <a:off x="714375" y="4667250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ADF5778-DBB6-4654-A2D1-151718F276CD}"/>
              </a:ext>
            </a:extLst>
          </p:cNvPr>
          <p:cNvSpPr>
            <a:spLocks noGrp="1"/>
          </p:cNvSpPr>
          <p:nvPr/>
        </p:nvSpPr>
        <p:spPr>
          <a:xfrm>
            <a:off x="714375" y="4667250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4B76C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CC3ADF-24AD-4D63-84A3-36D388F0C480}"/>
              </a:ext>
            </a:extLst>
          </p:cNvPr>
          <p:cNvSpPr>
            <a:spLocks noGrp="1"/>
          </p:cNvSpPr>
          <p:nvPr/>
        </p:nvSpPr>
        <p:spPr>
          <a:xfrm>
            <a:off x="838200" y="4838700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Ύποπτο μήνυμα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2B6F8F-8B93-49D8-9A06-DFBBCADCF2D6}"/>
              </a:ext>
            </a:extLst>
          </p:cNvPr>
          <p:cNvSpPr>
            <a:spLocks noGrp="1"/>
          </p:cNvSpPr>
          <p:nvPr/>
        </p:nvSpPr>
        <p:spPr>
          <a:xfrm>
            <a:off x="3286125" y="4810125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Δεν ανοίγω συνδέσμους/αρχεία και ενημερώνω ενήλικα.</a:t>
            </a:r>
          </a:p>
        </p:txBody>
      </p:sp>
    </p:spTree>
    <p:extLst>
      <p:ext uri="{BB962C8B-B14F-4D97-AF65-F5344CB8AC3E}">
        <p14:creationId xmlns:p14="http://schemas.microsoft.com/office/powerpoint/2010/main" val="292727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BE8B2C4-4652-4C3D-9091-DFE221653C1C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Ερωτήσεις του Φύλλου Εργασίας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0ECDC6-8EB9-4B33-B6E4-62A61A7309EB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EF4A56-B520-4185-B9FA-AD4B2103E01C}"/>
              </a:ext>
            </a:extLst>
          </p:cNvPr>
          <p:cNvSpPr>
            <a:spLocks noGrp="1"/>
          </p:cNvSpPr>
          <p:nvPr/>
        </p:nvSpPr>
        <p:spPr>
          <a:xfrm>
            <a:off x="714375" y="1476375"/>
            <a:ext cx="723900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Η θεωρία καλύπτει τις δραστηριότητες του Α.5.3.Μ1: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2B4A0C9-CA03-425F-B9F0-4A90AE6879C7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609600" cy="438150"/>
          </a:xfrm>
          <a:prstGeom prst="roundRect">
            <a:avLst>
              <a:gd name="adj" fmla="val 17391"/>
            </a:avLst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ED7DCE-38A8-4559-912F-83BB18B79D98}"/>
              </a:ext>
            </a:extLst>
          </p:cNvPr>
          <p:cNvSpPr>
            <a:spLocks noGrp="1"/>
          </p:cNvSpPr>
          <p:nvPr/>
        </p:nvSpPr>
        <p:spPr>
          <a:xfrm>
            <a:off x="800100" y="2133600"/>
            <a:ext cx="5334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1–6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7BA7EC-6208-4043-A000-557155EE4247}"/>
              </a:ext>
            </a:extLst>
          </p:cNvPr>
          <p:cNvSpPr>
            <a:spLocks noGrp="1"/>
          </p:cNvSpPr>
          <p:nvPr/>
        </p:nvSpPr>
        <p:spPr>
          <a:xfrm>
            <a:off x="1571625" y="2095500"/>
            <a:ext cx="67627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Αναγνώριση ιών, antivirus, spam και phishing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C2EE93-3C0E-4523-9050-2F15CCCBFEA2}"/>
              </a:ext>
            </a:extLst>
          </p:cNvPr>
          <p:cNvSpPr>
            <a:spLocks noGrp="1"/>
          </p:cNvSpPr>
          <p:nvPr/>
        </p:nvSpPr>
        <p:spPr>
          <a:xfrm>
            <a:off x="762000" y="2724150"/>
            <a:ext cx="609600" cy="438150"/>
          </a:xfrm>
          <a:prstGeom prst="roundRect">
            <a:avLst>
              <a:gd name="adj" fmla="val 17391"/>
            </a:avLst>
          </a:prstGeom>
          <a:solidFill>
            <a:srgbClr val="4B76C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02CDE3-2BE4-443B-8387-BFC01D5E97D8}"/>
              </a:ext>
            </a:extLst>
          </p:cNvPr>
          <p:cNvSpPr>
            <a:spLocks noGrp="1"/>
          </p:cNvSpPr>
          <p:nvPr/>
        </p:nvSpPr>
        <p:spPr>
          <a:xfrm>
            <a:off x="800100" y="2762250"/>
            <a:ext cx="5334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7–13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5A2047-30C1-48F4-B3A7-2CB9C61DD265}"/>
              </a:ext>
            </a:extLst>
          </p:cNvPr>
          <p:cNvSpPr>
            <a:spLocks noGrp="1"/>
          </p:cNvSpPr>
          <p:nvPr/>
        </p:nvSpPr>
        <p:spPr>
          <a:xfrm>
            <a:off x="1571625" y="2724150"/>
            <a:ext cx="67627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Αντιμετώπιση ύποπτων μηνυμάτων και αιτημάτων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5981AE3-BA7B-49E1-BC4E-03B223330AB5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609600" cy="438150"/>
          </a:xfrm>
          <a:prstGeom prst="roundRect">
            <a:avLst>
              <a:gd name="adj" fmla="val 17391"/>
            </a:avLst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12BAC7-EADD-4A79-9D37-740340ADC499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5334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98292"/>
          </a:bodyPr>
          <a:lstStyle/>
          <a:p>
            <a:pPr algn="ctr">
              <a:defRPr sz="14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14–16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ECCEC3-8D62-4CB8-9BEC-59095F2EA007}"/>
              </a:ext>
            </a:extLst>
          </p:cNvPr>
          <p:cNvSpPr>
            <a:spLocks noGrp="1"/>
          </p:cNvSpPr>
          <p:nvPr/>
        </p:nvSpPr>
        <p:spPr>
          <a:xfrm>
            <a:off x="1571625" y="3352800"/>
            <a:ext cx="67627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Βίντεο, εικόνα κινδύνου και προγράμματα antivirus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DC147FF-88D5-49AB-9EC1-0584C1E8D04E}"/>
              </a:ext>
            </a:extLst>
          </p:cNvPr>
          <p:cNvSpPr>
            <a:spLocks noGrp="1"/>
          </p:cNvSpPr>
          <p:nvPr/>
        </p:nvSpPr>
        <p:spPr>
          <a:xfrm>
            <a:off x="762000" y="3981450"/>
            <a:ext cx="609600" cy="438150"/>
          </a:xfrm>
          <a:prstGeom prst="roundRect">
            <a:avLst>
              <a:gd name="adj" fmla="val 17391"/>
            </a:avLst>
          </a:prstGeom>
          <a:solidFill>
            <a:srgbClr val="4B76C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B7ABCB-4E2C-4122-9936-64445BF463D4}"/>
              </a:ext>
            </a:extLst>
          </p:cNvPr>
          <p:cNvSpPr>
            <a:spLocks noGrp="1"/>
          </p:cNvSpPr>
          <p:nvPr/>
        </p:nvSpPr>
        <p:spPr>
          <a:xfrm>
            <a:off x="800100" y="4019550"/>
            <a:ext cx="5334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98292"/>
          </a:bodyPr>
          <a:lstStyle/>
          <a:p>
            <a:pPr algn="ctr">
              <a:defRPr sz="14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17–19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E16203-2A1B-4F90-97B7-301DBC47C36F}"/>
              </a:ext>
            </a:extLst>
          </p:cNvPr>
          <p:cNvSpPr>
            <a:spLocks noGrp="1"/>
          </p:cNvSpPr>
          <p:nvPr/>
        </p:nvSpPr>
        <p:spPr>
          <a:xfrm>
            <a:off x="1571625" y="3981450"/>
            <a:ext cx="67627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Προστασία από ιούς, spam και phishing στο σπίτι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0B1413-6E0D-4304-B6C5-F026877E95B5}"/>
              </a:ext>
            </a:extLst>
          </p:cNvPr>
          <p:cNvSpPr>
            <a:spLocks noGrp="1"/>
          </p:cNvSpPr>
          <p:nvPr/>
        </p:nvSpPr>
        <p:spPr>
          <a:xfrm>
            <a:off x="8572500" y="5191125"/>
            <a:ext cx="266700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0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Σελίδες 145–148</a:t>
            </a:r>
          </a:p>
        </p:txBody>
      </p:sp>
    </p:spTree>
    <p:extLst>
      <p:ext uri="{BB962C8B-B14F-4D97-AF65-F5344CB8AC3E}">
        <p14:creationId xmlns:p14="http://schemas.microsoft.com/office/powerpoint/2010/main" val="77613298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819</Words>
  <Application>Microsoft Office PowerPoint</Application>
  <DocSecurity>0</DocSecurity>
  <PresentationFormat>Widescreen</PresentationFormat>
  <Paragraphs>99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Inter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Phishing (υποκλοπή στοιχείων)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2026-10-03T07:25:42Z</dcterms:created>
  <dcterms:modified xsi:type="dcterms:W3CDTF">2026-10-23T19:58:47Z</dcterms:modified>
</cp:coreProperties>
</file>