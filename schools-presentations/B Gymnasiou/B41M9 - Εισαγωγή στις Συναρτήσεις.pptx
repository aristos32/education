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custSel delSld modSld">
      <pc:chgData name="Άριστος Αρέστη" userId="813aa191-2d4c-464f-9d05-0a7e494d859f" providerId="ADAL" clId="{49C7B61D-1ACF-4AFF-A04E-A3B433E32474}" dt="2026-10-11T12:38:58.951" v="39" actId="47"/>
      <pc:docMkLst>
        <pc:docMk/>
      </pc:docMkLst>
      <pc:sldChg chg="modSp mod">
        <pc:chgData name="Άριστος Αρέστη" userId="813aa191-2d4c-464f-9d05-0a7e494d859f" providerId="ADAL" clId="{49C7B61D-1ACF-4AFF-A04E-A3B433E32474}" dt="2026-10-11T12:38:17.145" v="37" actId="20577"/>
        <pc:sldMkLst>
          <pc:docMk/>
          <pc:sldMk cId="2133937481" sldId="258"/>
        </pc:sldMkLst>
        <pc:spChg chg="mod">
          <ac:chgData name="Άριστος Αρέστη" userId="813aa191-2d4c-464f-9d05-0a7e494d859f" providerId="ADAL" clId="{49C7B61D-1ACF-4AFF-A04E-A3B433E32474}" dt="2026-10-11T12:38:17.145" v="37" actId="20577"/>
          <ac:spMkLst>
            <pc:docMk/>
            <pc:sldMk cId="2133937481" sldId="258"/>
            <ac:spMk id="2" creationId="{306B42F3-B610-4689-A278-F00049F4378F}"/>
          </ac:spMkLst>
        </pc:spChg>
      </pc:sldChg>
      <pc:sldChg chg="modSp mod">
        <pc:chgData name="Άριστος Αρέστη" userId="813aa191-2d4c-464f-9d05-0a7e494d859f" providerId="ADAL" clId="{49C7B61D-1ACF-4AFF-A04E-A3B433E32474}" dt="2026-10-06T18:18:16.964" v="3" actId="6549"/>
        <pc:sldMkLst>
          <pc:docMk/>
          <pc:sldMk cId="1720723223" sldId="260"/>
        </pc:sldMkLst>
        <pc:spChg chg="mod">
          <ac:chgData name="Άριστος Αρέστη" userId="813aa191-2d4c-464f-9d05-0a7e494d859f" providerId="ADAL" clId="{49C7B61D-1ACF-4AFF-A04E-A3B433E32474}" dt="2026-10-06T18:18:16.964" v="3" actId="6549"/>
          <ac:spMkLst>
            <pc:docMk/>
            <pc:sldMk cId="1720723223" sldId="260"/>
            <ac:spMk id="3" creationId="{0FD8DC59-79A8-42F4-AA7E-860D887215F1}"/>
          </ac:spMkLst>
        </pc:spChg>
      </pc:sldChg>
      <pc:sldChg chg="del">
        <pc:chgData name="Άριστος Αρέστη" userId="813aa191-2d4c-464f-9d05-0a7e494d859f" providerId="ADAL" clId="{49C7B61D-1ACF-4AFF-A04E-A3B433E32474}" dt="2026-10-11T12:38:57.669" v="38" actId="47"/>
        <pc:sldMkLst>
          <pc:docMk/>
          <pc:sldMk cId="3815878654" sldId="262"/>
        </pc:sldMkLst>
      </pc:sldChg>
      <pc:sldChg chg="del">
        <pc:chgData name="Άριστος Αρέστη" userId="813aa191-2d4c-464f-9d05-0a7e494d859f" providerId="ADAL" clId="{49C7B61D-1ACF-4AFF-A04E-A3B433E32474}" dt="2026-10-11T12:38:58.951" v="39" actId="47"/>
        <pc:sldMkLst>
          <pc:docMk/>
          <pc:sldMk cId="608684808" sldId="2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https://www.howtoexcel.org/shift-cells-down/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https://500rockets.io/excel/the-excel-move-column-tutorial-59/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https://smallbiztrends.com/how-to-delete-your-twitter-account/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https://excelinsights.net/web/find-replace-data/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85AB-590D-2940-F9D8-91A2DEA70A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41E1D7-50E5-605C-ACD7-89AFACCFD5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EE8DB3-D225-FB0F-4A95-87FE121ACE4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11-Oct-26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F4E33A-D01E-EAC3-6198-75DCE67E4BA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783C2F-F6A4-CF68-E054-91D3A8A6FC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58505-B11D-1416-6D6F-42532E02D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57602-7C8E-F65F-3DCB-CA7DA659D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13BDD-A3BD-F0FA-C970-7CE1AFD2115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11-Oct-26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A8432-C7E6-45F5-17B8-825C34C7B69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DBF15-3DC3-0F8C-B5EC-8D7DEA727D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48EAB-F365-E770-1C52-96B2FFEDB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5EF05D-0555-A1C8-D595-C855A03CE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5151F-7E9E-AD94-792E-FA61FDA2DA6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11-Oct-26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E9C9E-7194-E1C7-7588-B038C3405E6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68C605-454F-8B7B-3D33-D05911EDD8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05F7B-A0AC-1293-82D4-9C86467F1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EC535-A3DE-99E7-ABC8-9CC4CE6E3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EDD5AB-35E0-87E1-275F-04606C697E9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510989-7939-77EB-0752-100DC7AFE1E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11-Oct-26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A337F-EF84-36B2-1842-7E5CFCFDF3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313D7F-1250-5155-CC8F-1D7F74BF58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F6333-8C0F-A01D-5F86-7F6CB2076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B0F6EB-5092-BB38-AE7A-D8A53CBE12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2B800C-4EB4-5C42-1D78-6D44443DC87B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E5F6E3-A638-F3AA-A0D8-8243AE1143A5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606B9C-947E-6E0E-3FB7-6409CA1AA08B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49EA02-9727-20CE-6F2F-AEE77719031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11-Oct-26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455506-EB11-CC08-A287-4C40A1068BE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29B98D-1ABA-F8A4-E267-33AA94C814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44A6F-AB0F-F2C2-8460-CD823A4D0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BB32F1-CA42-21EF-BB3D-FD9E4BF810F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11-Oct-26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D18139-25BA-A607-F49E-FAC8B9FF80F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1A14D5-22B8-8B31-2F15-3327A9172A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651FDA-FADC-718F-3679-DD1D82038C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11-Oct-26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6CFA23-F762-DAC7-F055-34BBBEEA1B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E4845E-D252-E586-D35F-F6971F010B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CC88C-4219-7229-D578-F248CEBE5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FCADE-8154-624B-6907-062ADFA18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788E2C-3D70-2723-B03E-3E54F428E71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F4CF5D-DB9F-46BD-AA7E-99259ABBDFB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11-Oct-26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D966BC-122D-0C34-66A6-82641A0F33C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D53ED-CC38-27CB-CE75-0363724E29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D30A6-B84A-5729-409B-EECAD2538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8942B2-A346-D722-B157-F50399986B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D48F45-61CA-44E0-DBAE-9D36F6365D3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7F642F-E08C-B0D6-DCF9-FC1121C3A7D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11-Oct-26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CD439-5831-B89F-A032-126BDC3BCCD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F8F52A-1268-BF36-C904-53855E60D1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DC5F4-D20C-2DB3-8411-B320533B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0EA972-BBB4-2124-F72C-ECCD00634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44EE25-5808-5EF9-D529-A97D9A5F4E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11-Oct-26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2F814-6E03-DA7E-994E-BD8357BF20F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8E29C-8AD9-8F1D-C539-6DC238A4F7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9B99B6-549F-E1E7-9083-8BA3B57D8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435A8-2F0B-810A-E41D-C6ABD4CC4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877F48-282A-7BEC-513D-DD66A962A5D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11-Oct-26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748BA-3A52-EFDE-3B83-2A4BC456874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26422-6EB7-6DF1-340C-059F624216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F3D97B-511D-E64B-9F91-7097B8212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5744D8-7A9E-E0ED-82DF-9733866DD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6EFA3-0111-31E5-4E51-7B8F9DEA332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B99004-FBBF-4BCC-9BC3-88F554ADE514}" type="datetimeFigureOut">
              <a:t>11-Oct-26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4E89-7CB4-43E2-759A-8B18BC095A8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A3C9D-A059-CF8F-49C2-BF85966941A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21C89F-AE7A-4C3B-889F-FA429D0A7F9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</a:extLst>
          </p:cNvPr>
          <p:cNvSpPr>
            <a:spLocks noGrp="1"/>
          </p:cNvSpPr>
          <p:nvPr/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</a:extLst>
          </p:cNvPr>
          <p:cNvSpPr>
            <a:spLocks noGrp="1"/>
          </p:cNvSpPr>
          <p:nvPr/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571B63-82A4-FC3D-9860-20F38F1238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93338"/>
            <a:ext cx="9144000" cy="3274592"/>
          </a:xfrm>
        </p:spPr>
        <p:txBody>
          <a:bodyPr anchor="ctr">
            <a:normAutofit/>
          </a:bodyPr>
          <a:lstStyle/>
          <a:p>
            <a:pPr>
              <a:def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Εισαγωγή στις Συναρτήσεις</a:t>
            </a:r>
            <a:endParaRPr sz="720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01352E-A170-144A-523B-B61C8AE33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14052"/>
            <a:ext cx="9144000" cy="651910"/>
          </a:xfr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A1AC1523-E1AC-4F39-9B08-B5CD71D4B0FD}"/>
              </a:ext>
            </a:extLst>
          </p:cNvPr>
          <p:cNvSpPr>
            <a:spLocks noGrp="1"/>
          </p:cNvSpPr>
          <p:nvPr/>
        </p:nv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9854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965D0BB-4883-4422-904A-4451A294C247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Τι είναι συνάρτηση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3D25E44-7303-44A0-AFEA-68DFD805B6F0}"/>
              </a:ext>
            </a:extLst>
          </p:cNvPr>
          <p:cNvSpPr>
            <a:spLocks noGrp="1"/>
          </p:cNvSpPr>
          <p:nvPr/>
        </p:nvSpPr>
        <p:spPr>
          <a:xfrm>
            <a:off x="857250" y="1381125"/>
            <a:ext cx="54292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Μια συνάρτηση είναι έτοιμος τύπος για συγκεκριμένο υπολογισμό.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996827-C49D-4606-8BAC-FDCCADD1EA68}"/>
              </a:ext>
            </a:extLst>
          </p:cNvPr>
          <p:cNvSpPr>
            <a:spLocks noGrp="1"/>
          </p:cNvSpPr>
          <p:nvPr/>
        </p:nvSpPr>
        <p:spPr>
          <a:xfrm>
            <a:off x="857250" y="2333625"/>
            <a:ext cx="5429250" cy="3143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Αρχίζει με =, ακολουθεί το όνομα και τα ορίσματα σε παρένθεση.</a:t>
            </a:r>
          </a:p>
          <a:p>
            <a:endParaRPr sz="1950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Παράδειγμα: =SUM(B3:B22)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031601" y="1571625"/>
            <a:ext cx="3653298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847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B849D6E-A604-481C-924F-76C530322B0E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SUM και AVERAGE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6B42F3-B610-4689-A278-F00049F4378F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SUM: υπ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ολογίζει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το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άθροισμ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=SUM(B3:B22)</a:t>
            </a:r>
            <a:endParaRPr lang="en-US" sz="1950" b="0" dirty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lang="en-US" sz="195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 B3 + B4 + B5 + … + B22</a:t>
            </a:r>
            <a:endParaRPr sz="1950" b="0" dirty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endParaRPr sz="1950" b="0" dirty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AVERAGE: υπ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ολογίζει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τον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μέσο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όρο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=AVERAGE(B3:B22)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762750" y="2512219"/>
            <a:ext cx="4191000" cy="202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9374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EB1352-3966-4AA9-BBBE-CE7A2176D263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MAX και MIN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1E5A4C-DD7C-4793-81B1-FA9E6125D862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MAX: επιστρέφει τη μεγαλύτερη τιμή.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=MAX(B3:B22)</a:t>
            </a:r>
          </a:p>
          <a:p>
            <a:endParaRPr sz="1950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MIN: επιστρέφει τη μικρότερη τιμή.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=MIN(B3:B22)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9FEEB-79F6-446D-A180-DAABBBB53C12}"/>
              </a:ext>
            </a:extLst>
          </p:cNvPr>
          <p:cNvSpPr>
            <a:spLocks noGrp="1"/>
          </p:cNvSpPr>
          <p:nvPr/>
        </p:nvSpPr>
        <p:spPr>
          <a:xfrm>
            <a:off x="6667500" y="2095500"/>
            <a:ext cx="4095750" cy="2190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MAX = μεγαλύτερο</a:t>
            </a:r>
          </a:p>
          <a:p>
            <a:endParaRPr sz="2250" b="1">
              <a:solidFill>
                <a:srgbClr val="D84B00"/>
              </a:solidFill>
              <a:latin typeface="Arial"/>
              <a:ea typeface="Arial"/>
              <a:cs typeface="Arial"/>
            </a:endParaRP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MIN = μικρότερο</a:t>
            </a:r>
          </a:p>
        </p:txBody>
      </p:sp>
    </p:spTree>
    <p:extLst>
      <p:ext uri="{BB962C8B-B14F-4D97-AF65-F5344CB8AC3E}">
        <p14:creationId xmlns:p14="http://schemas.microsoft.com/office/powerpoint/2010/main" val="2484230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3182B1-113F-4B37-A66F-C86A530AA2A0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ROUND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FCA40C-3A4D-4835-BA45-BC0C72BBA00C}"/>
              </a:ext>
            </a:extLst>
          </p:cNvPr>
          <p:cNvSpPr>
            <a:spLocks noGrp="1"/>
          </p:cNvSpPr>
          <p:nvPr/>
        </p:nvSpPr>
        <p:spPr>
          <a:xfrm>
            <a:off x="857250" y="1381125"/>
            <a:ext cx="54292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Η ROUND στρογγυλοποιεί έναν αριθμό.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D8DC59-79A8-42F4-AA7E-860D887215F1}"/>
              </a:ext>
            </a:extLst>
          </p:cNvPr>
          <p:cNvSpPr>
            <a:spLocks noGrp="1"/>
          </p:cNvSpPr>
          <p:nvPr/>
        </p:nvSpPr>
        <p:spPr>
          <a:xfrm>
            <a:off x="857250" y="2333625"/>
            <a:ext cx="5429250" cy="3143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Σύντ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αξη: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=ROUND(α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ριθμός</a:t>
            </a:r>
            <a:r>
              <a:rPr lang="en-US"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,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δεκ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αδικά)</a:t>
            </a:r>
          </a:p>
          <a:p>
            <a:endParaRPr sz="1950" b="0" dirty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Χωρίς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δεκ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αδικά ψηφία: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=ROUND(B27</a:t>
            </a:r>
            <a:r>
              <a:rPr lang="en-US"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,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0)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D36C20-1344-48AE-AC3A-F40D5F764620}"/>
              </a:ext>
            </a:extLst>
          </p:cNvPr>
          <p:cNvSpPr>
            <a:spLocks noGrp="1"/>
          </p:cNvSpPr>
          <p:nvPr/>
        </p:nvSpPr>
        <p:spPr>
          <a:xfrm>
            <a:off x="6667500" y="2095500"/>
            <a:ext cx="4095750" cy="2190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=ROUND(B27;0)</a:t>
            </a:r>
          </a:p>
        </p:txBody>
      </p:sp>
    </p:spTree>
    <p:extLst>
      <p:ext uri="{BB962C8B-B14F-4D97-AF65-F5344CB8AC3E}">
        <p14:creationId xmlns:p14="http://schemas.microsoft.com/office/powerpoint/2010/main" val="1720723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1296595-E404-4E3C-905F-D75073D58290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Αντιγραφή συναρτήσεων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67A685E-D5A8-4E2E-8FC1-FB68055434E7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1. Δημιουργούμε σωστά τη συνάρτηση στο πρώτο κελί.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2. Αντιγράφουμε το κελί.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 Επικολλούμε στην υπόλοιπη περιοχή.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 Ελέγχουμε ότι οι περιοχές προσαρμόστηκαν σωστά.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762750" y="2740103"/>
            <a:ext cx="4191000" cy="1568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053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225</Words>
  <Application>Microsoft Office PowerPoint</Application>
  <DocSecurity>0</DocSecurity>
  <PresentationFormat>Widescreen</PresentationFormat>
  <Paragraphs>39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Εισαγωγή στις Συναρτήσεις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</cp:revision>
  <dcterms:created xsi:type="dcterms:W3CDTF">2026-09-12T06:34:11Z</dcterms:created>
  <dcterms:modified xsi:type="dcterms:W3CDTF">2026-10-11T12:39:06Z</dcterms:modified>
</cp:coreProperties>
</file>