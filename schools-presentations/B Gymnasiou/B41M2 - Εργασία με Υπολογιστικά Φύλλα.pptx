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9" r:id="rId4"/>
    <p:sldId id="265" r:id="rId5"/>
    <p:sldId id="266" r:id="rId6"/>
    <p:sldId id="267" r:id="rId7"/>
    <p:sldId id="268" r:id="rId8"/>
    <p:sldId id="260" r:id="rId9"/>
  </p:sldIdLst>
  <p:sldSz cx="12192000" cy="6858000"/>
  <p:notesSz cx="6858000" cy="9144000"/>
  <p:defaultTextStyle>
    <a:defPPr>
      <a:defRPr lang="en-C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22T18:37:17.437" v="0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22T18:37:17.437" v="0" actId="47"/>
        <pc:sldMkLst>
          <pc:docMk/>
          <pc:sldMk cId="608684808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97113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71883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20539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14403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02388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47386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22965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26029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4436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30379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70384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rPr lang="en-CY" smtClean="0"/>
              <a:t>10/22/2026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48092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l-GR" sz="7200" dirty="0">
                <a:solidFill>
                  <a:schemeClr val="accent2">
                    <a:lumMod val="50000"/>
                  </a:schemeClr>
                </a:solidFill>
              </a:rPr>
              <a:t>Υπολογιστικά φύλλα (</a:t>
            </a:r>
            <a:r>
              <a:rPr lang="en-US" sz="7200" dirty="0">
                <a:solidFill>
                  <a:schemeClr val="accent2">
                    <a:lumMod val="50000"/>
                  </a:schemeClr>
                </a:solidFill>
              </a:rPr>
              <a:t>excel)</a:t>
            </a:r>
            <a:endParaRPr lang="en-CY" sz="7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n-CY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D01A9A-B9EB-11DC-9526-69AE5BCF2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63" y="729674"/>
            <a:ext cx="9457219" cy="527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6894423" cy="1113037"/>
          </a:xfrm>
        </p:spPr>
        <p:txBody>
          <a:bodyPr anchor="b">
            <a:noAutofit/>
          </a:bodyPr>
          <a:lstStyle/>
          <a:p>
            <a:r>
              <a:rPr lang="el-GR" sz="3600" b="1" dirty="0">
                <a:solidFill>
                  <a:schemeClr val="accent2">
                    <a:lumMod val="50000"/>
                  </a:schemeClr>
                </a:solidFill>
              </a:rPr>
              <a:t>Ξεκίνημα του Υπολογιστικού Φύλλου</a:t>
            </a:r>
            <a:endParaRPr lang="en-CY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Picture 7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CD170797-3798-34CF-9D41-28BD780D5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820" y="2243240"/>
            <a:ext cx="9523782" cy="2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47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7826076" cy="854244"/>
          </a:xfrm>
        </p:spPr>
        <p:txBody>
          <a:bodyPr anchor="b">
            <a:noAutofit/>
          </a:bodyPr>
          <a:lstStyle/>
          <a:p>
            <a:r>
              <a:rPr lang="el-GR" sz="3600" b="1" dirty="0">
                <a:solidFill>
                  <a:schemeClr val="accent2">
                    <a:lumMod val="50000"/>
                  </a:schemeClr>
                </a:solidFill>
              </a:rPr>
              <a:t>Άνοιγμα βιβλίου εργασίας (</a:t>
            </a:r>
            <a:r>
              <a:rPr lang="en-GB" sz="3600" b="1" dirty="0">
                <a:solidFill>
                  <a:schemeClr val="accent2">
                    <a:lumMod val="50000"/>
                  </a:schemeClr>
                </a:solidFill>
              </a:rPr>
              <a:t>Open) - </a:t>
            </a:r>
            <a:r>
              <a:rPr lang="el-GR" sz="3600" b="1" dirty="0">
                <a:solidFill>
                  <a:schemeClr val="accent2">
                    <a:lumMod val="50000"/>
                  </a:schemeClr>
                </a:solidFill>
              </a:rPr>
              <a:t>Αποθήκευση βιβλίου εργασίας (</a:t>
            </a:r>
            <a:r>
              <a:rPr lang="en-GB" sz="3600" b="1" dirty="0">
                <a:solidFill>
                  <a:schemeClr val="accent2">
                    <a:lumMod val="50000"/>
                  </a:schemeClr>
                </a:solidFill>
              </a:rPr>
              <a:t>Save) </a:t>
            </a:r>
            <a:endParaRPr lang="en-CY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660A0-3084-F669-0D34-4095C6B78CD7}"/>
              </a:ext>
            </a:extLst>
          </p:cNvPr>
          <p:cNvSpPr txBox="1"/>
          <p:nvPr/>
        </p:nvSpPr>
        <p:spPr>
          <a:xfrm>
            <a:off x="976940" y="4023694"/>
            <a:ext cx="73044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Από την καρτέλα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Tahoma-Bold"/>
              </a:rPr>
              <a:t>File 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επιλέγουμε την εντολή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Tahoma-Bold"/>
              </a:rPr>
              <a:t>Save As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, για να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αποθηκεύσουμε το βιβλίο εργασίας μας για πρώτη φορά, ή όταν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θέλουμε να την αποθηκεύσουμε με άλλο όνομα ή σε άλλη θέση ή με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άλλο τύπο </a:t>
            </a:r>
            <a:endParaRPr lang="en-US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(συνδυασμό πλήκτρων </a:t>
            </a:r>
            <a:r>
              <a:rPr lang="el-GR" sz="1800" b="1" i="0" u="none" strike="noStrike" baseline="0" dirty="0">
                <a:solidFill>
                  <a:srgbClr val="17365D"/>
                </a:solidFill>
                <a:latin typeface="Tahoma-Bold"/>
              </a:rPr>
              <a:t>ALT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Tahoma-Bold"/>
              </a:rPr>
              <a:t>+ </a:t>
            </a:r>
            <a:r>
              <a:rPr lang="el-GR" sz="1800" b="1" i="0" u="none" strike="noStrike" baseline="0" dirty="0">
                <a:solidFill>
                  <a:srgbClr val="17365D"/>
                </a:solidFill>
                <a:latin typeface="Tahoma-Bold"/>
              </a:rPr>
              <a:t>F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Tahoma-Bold"/>
              </a:rPr>
              <a:t>, </a:t>
            </a:r>
            <a:r>
              <a:rPr lang="el-GR" sz="1800" b="1" i="0" u="none" strike="noStrike" baseline="0" dirty="0">
                <a:solidFill>
                  <a:srgbClr val="17365D"/>
                </a:solidFill>
                <a:latin typeface="Tahoma-Bold"/>
              </a:rPr>
              <a:t>A 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).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1DA27B-5F72-79C9-2E6C-00CAC4BB7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024" y="2032500"/>
            <a:ext cx="2641799" cy="2729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0756F2-0DD1-ADD7-62D1-E0CEEBB17EA7}"/>
              </a:ext>
            </a:extLst>
          </p:cNvPr>
          <p:cNvSpPr txBox="1"/>
          <p:nvPr/>
        </p:nvSpPr>
        <p:spPr>
          <a:xfrm>
            <a:off x="1081177" y="181275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Από την καρτέλα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Tahoma-Bold"/>
              </a:rPr>
              <a:t>File 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επιλέγουμε την εντολή </a:t>
            </a:r>
            <a:r>
              <a:rPr lang="el-GR" sz="1800" b="1" i="0" u="none" strike="noStrike" baseline="0" dirty="0">
                <a:solidFill>
                  <a:srgbClr val="000000"/>
                </a:solidFill>
                <a:latin typeface="Tahoma-Bold"/>
              </a:rPr>
              <a:t>Open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endParaRPr lang="en-US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Μπορούμε, επίσης, να χρησιμοποιήσουμε τον συνδυασμό πλήκτρων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17365D"/>
                </a:solidFill>
                <a:latin typeface="Tahoma-Bold"/>
              </a:rPr>
              <a:t>CTRL </a:t>
            </a:r>
            <a:r>
              <a:rPr lang="en-GB" sz="1800" b="1" i="0" u="none" strike="noStrike" baseline="0" dirty="0">
                <a:solidFill>
                  <a:srgbClr val="000000"/>
                </a:solidFill>
                <a:latin typeface="Tahoma-Bold"/>
              </a:rPr>
              <a:t>+ </a:t>
            </a:r>
            <a:r>
              <a:rPr lang="en-GB" sz="1800" b="1" i="0" u="none" strike="noStrike" baseline="0" dirty="0">
                <a:solidFill>
                  <a:srgbClr val="17365D"/>
                </a:solidFill>
                <a:latin typeface="Tahoma-Bold"/>
              </a:rPr>
              <a:t>O 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3" y="525982"/>
            <a:ext cx="7524151" cy="99226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l-GR" sz="3600" b="1" dirty="0">
                <a:solidFill>
                  <a:schemeClr val="accent2">
                    <a:lumMod val="50000"/>
                  </a:schemeClr>
                </a:solidFill>
              </a:rPr>
              <a:t>Εναλλαγή μεταξύ ανοικτών αρχείων βιβλίων εργασίας (Switch Windows)</a:t>
            </a:r>
            <a:endParaRPr lang="en-CY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5" name="Picture 4" descr="A black and white text&#10;&#10;Description automatically generated">
            <a:extLst>
              <a:ext uri="{FF2B5EF4-FFF2-40B4-BE49-F238E27FC236}">
                <a16:creationId xmlns:a16="http://schemas.microsoft.com/office/drawing/2014/main" id="{F5473A42-2367-FB19-C65A-741944CC7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00" y="2375012"/>
            <a:ext cx="11084700" cy="210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5635420" cy="59234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l-GR" sz="3600" b="1">
                <a:solidFill>
                  <a:schemeClr val="accent2">
                    <a:lumMod val="50000"/>
                  </a:schemeClr>
                </a:solidFill>
              </a:rPr>
              <a:t>Βοήθεια (</a:t>
            </a:r>
            <a:r>
              <a:rPr lang="en-GB" sz="3600" b="1">
                <a:solidFill>
                  <a:schemeClr val="accent2">
                    <a:lumMod val="50000"/>
                  </a:schemeClr>
                </a:solidFill>
              </a:rPr>
              <a:t>Help)</a:t>
            </a:r>
            <a:endParaRPr lang="en-CY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C35DC-53FD-41F8-34FA-B18274898A83}"/>
              </a:ext>
            </a:extLst>
          </p:cNvPr>
          <p:cNvSpPr txBox="1"/>
          <p:nvPr/>
        </p:nvSpPr>
        <p:spPr>
          <a:xfrm>
            <a:off x="739942" y="1449805"/>
            <a:ext cx="9071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Από την καρτέλα Help πατάμε το εικονίδιο Help.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Πληκτρολογούμε τις λέξεις κλειδιά και πατάμε τον φακό.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Μπορούμε, επίσης να πατήσουμε το πλήκτρο F1.</a:t>
            </a:r>
            <a:endParaRPr lang="en-GB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E9D3171-64DA-8381-8D04-09A224A65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14" y="2550221"/>
            <a:ext cx="3895753" cy="3581426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1F21FEA4-0482-7E2C-C273-A8ABB575C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37" y="2618206"/>
            <a:ext cx="5013315" cy="274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3" y="525982"/>
            <a:ext cx="8823789" cy="592349"/>
          </a:xfrm>
        </p:spPr>
        <p:txBody>
          <a:bodyPr anchor="b">
            <a:noAutofit/>
          </a:bodyPr>
          <a:lstStyle/>
          <a:p>
            <a:r>
              <a:rPr lang="el-GR" sz="3600" b="1" dirty="0">
                <a:solidFill>
                  <a:schemeClr val="accent2">
                    <a:lumMod val="50000"/>
                  </a:schemeClr>
                </a:solidFill>
              </a:rPr>
              <a:t>Αλλαγή των βασικών επιλογών της εφαρμογής </a:t>
            </a:r>
            <a:endParaRPr lang="en-CY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C35DC-53FD-41F8-34FA-B18274898A83}"/>
              </a:ext>
            </a:extLst>
          </p:cNvPr>
          <p:cNvSpPr txBox="1"/>
          <p:nvPr/>
        </p:nvSpPr>
        <p:spPr>
          <a:xfrm>
            <a:off x="739942" y="1449805"/>
            <a:ext cx="90718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Οι βασικές επιλογές/προτιμήσεις της Excel, όπως το όνομα του χρήστη και ο προκαθορισμένος φάκελος για το άνοιγμα και την αποθήκευση των εγγράφων, μπορούν να αλλάξουν, ακολουθώντας τα πιο κάτω βήματα:</a:t>
            </a:r>
            <a:endParaRPr lang="en-US" dirty="0"/>
          </a:p>
          <a:p>
            <a:r>
              <a:rPr lang="el-GR" dirty="0"/>
              <a:t>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2400" dirty="0"/>
              <a:t>Από την καρτέλα File επιλέγουμε </a:t>
            </a:r>
            <a:r>
              <a:rPr lang="el-GR" sz="2400" b="1" dirty="0"/>
              <a:t>Options</a:t>
            </a:r>
            <a:r>
              <a:rPr lang="el-GR" sz="2400" dirty="0"/>
              <a:t>. 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2400" dirty="0"/>
              <a:t>Κάνουμε κλικ στην επιλογή </a:t>
            </a:r>
            <a:r>
              <a:rPr lang="el-GR" sz="2400" b="1" dirty="0"/>
              <a:t>General</a:t>
            </a:r>
            <a:r>
              <a:rPr lang="el-GR" sz="2400" dirty="0"/>
              <a:t> για αλλαγή του ονόματος του χρήστη (</a:t>
            </a:r>
            <a:r>
              <a:rPr lang="el-GR" sz="2400" b="1" dirty="0"/>
              <a:t>User Name</a:t>
            </a:r>
            <a:r>
              <a:rPr lang="el-GR" sz="2400" dirty="0"/>
              <a:t>). Στο πλαίσιο User name πληκτρολογούμε το νέο όνομα χρήστη. 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2400" dirty="0"/>
              <a:t>Κάνουμε κλικ στην επιλογή </a:t>
            </a:r>
            <a:r>
              <a:rPr lang="el-GR" sz="2400" b="1" dirty="0"/>
              <a:t>Save</a:t>
            </a:r>
            <a:r>
              <a:rPr lang="el-GR" sz="2400" dirty="0"/>
              <a:t> για αλλαγή του προκαθορισμένου φακέλου αποθήκευσης και ανοίγματος των αρχείων. </a:t>
            </a:r>
            <a:endParaRPr lang="en-US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l-GR" sz="2400" dirty="0"/>
              <a:t>Ακολούθως, πατάμε το κουμπί Browse και επιλέγουμε τον φάκελο που θέλουμε. 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2400" dirty="0"/>
              <a:t>Πατάμε ΟΚ.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E7BB-CB22-80D1-6F93-1729B773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l-GR" sz="3600" b="1" dirty="0">
                <a:solidFill>
                  <a:schemeClr val="accent2">
                    <a:lumMod val="50000"/>
                  </a:schemeClr>
                </a:solidFill>
              </a:rPr>
              <a:t>Ασκήσεις</a:t>
            </a:r>
            <a:endParaRPr lang="en-CY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06FC5-E736-C4C3-A851-1BF6C398A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l-GR" sz="2000" dirty="0"/>
              <a:t>Σελίδα </a:t>
            </a:r>
            <a:r>
              <a:rPr lang="en-US" sz="2000" dirty="0"/>
              <a:t>17</a:t>
            </a:r>
            <a:r>
              <a:rPr lang="el-GR" sz="2000" dirty="0"/>
              <a:t> και </a:t>
            </a:r>
            <a:r>
              <a:rPr lang="en-US" sz="2000" dirty="0"/>
              <a:t>18</a:t>
            </a:r>
            <a:r>
              <a:rPr lang="el-GR" sz="2000" dirty="0"/>
              <a:t>, ασκήσεις 1-</a:t>
            </a:r>
            <a:r>
              <a:rPr lang="en-US" sz="2000" dirty="0"/>
              <a:t>13</a:t>
            </a:r>
            <a:r>
              <a:rPr lang="el-GR" sz="2000" dirty="0"/>
              <a:t>, με την καθοδήγηση του καθηγητή σας.</a:t>
            </a:r>
          </a:p>
          <a:p>
            <a:pPr marL="0" indent="0">
              <a:buNone/>
            </a:pPr>
            <a:endParaRPr lang="el-GR" sz="2000" dirty="0"/>
          </a:p>
          <a:p>
            <a:pPr marL="0" indent="0">
              <a:buNone/>
            </a:pPr>
            <a:endParaRPr lang="en-CY" sz="2000" dirty="0"/>
          </a:p>
        </p:txBody>
      </p:sp>
      <p:pic>
        <p:nvPicPr>
          <p:cNvPr id="1028" name="Picture 4" descr="teacher and student computer clip art - Clip Art Library">
            <a:extLst>
              <a:ext uri="{FF2B5EF4-FFF2-40B4-BE49-F238E27FC236}">
                <a16:creationId xmlns:a16="http://schemas.microsoft.com/office/drawing/2014/main" id="{43F8529F-65E5-998B-753C-92E8AF53A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4" r="16307" b="1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d Violet">
    <a:dk1>
      <a:sysClr val="windowText" lastClr="000000"/>
    </a:dk1>
    <a:lt1>
      <a:sysClr val="window" lastClr="FFFFFF"/>
    </a:lt1>
    <a:dk2>
      <a:srgbClr val="454551"/>
    </a:dk2>
    <a:lt2>
      <a:srgbClr val="D8D9DC"/>
    </a:lt2>
    <a:accent1>
      <a:srgbClr val="E32D91"/>
    </a:accent1>
    <a:accent2>
      <a:srgbClr val="C830CC"/>
    </a:accent2>
    <a:accent3>
      <a:srgbClr val="4EA6DC"/>
    </a:accent3>
    <a:accent4>
      <a:srgbClr val="4775E7"/>
    </a:accent4>
    <a:accent5>
      <a:srgbClr val="8971E1"/>
    </a:accent5>
    <a:accent6>
      <a:srgbClr val="D54773"/>
    </a:accent6>
    <a:hlink>
      <a:srgbClr val="6B9F25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256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Tahoma-Bold</vt:lpstr>
      <vt:lpstr>Wingdings</vt:lpstr>
      <vt:lpstr>Office Theme</vt:lpstr>
      <vt:lpstr>Υπολογιστικά φύλλα (excel)</vt:lpstr>
      <vt:lpstr>PowerPoint Presentation</vt:lpstr>
      <vt:lpstr>Ξεκίνημα του Υπολογιστικού Φύλλου</vt:lpstr>
      <vt:lpstr>Άνοιγμα βιβλίου εργασίας (Open) - Αποθήκευση βιβλίου εργασίας (Save) </vt:lpstr>
      <vt:lpstr>Εναλλαγή μεταξύ ανοικτών αρχείων βιβλίων εργασίας (Switch Windows)</vt:lpstr>
      <vt:lpstr>Βοήθεια (Help)</vt:lpstr>
      <vt:lpstr>Αλλαγή των βασικών επιλογών της εφαρμογής </vt:lpstr>
      <vt:lpstr>Ασκήσεις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Αρχεία</dc:title>
  <dc:creator>Σπύρος Σπύρου</dc:creator>
  <cp:lastModifiedBy>Άριστος Αρέστη</cp:lastModifiedBy>
  <cp:revision>2</cp:revision>
  <dcterms:created xsi:type="dcterms:W3CDTF">2023-09-26T19:26:33Z</dcterms:created>
  <dcterms:modified xsi:type="dcterms:W3CDTF">2026-10-22T18:37:21Z</dcterms:modified>
</cp:coreProperties>
</file>