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2D52F0-F9FB-4CD3-B642-9525B918AF9B}" v="1" dt="2026-09-27T19:10:01.0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custSel modSld">
      <pc:chgData name="Άριστος Αρέστη" userId="813aa191-2d4c-464f-9d05-0a7e494d859f" providerId="ADAL" clId="{49C7B61D-1ACF-4AFF-A04E-A3B433E32474}" dt="2026-09-27T19:10:11.412" v="142" actId="27636"/>
      <pc:docMkLst>
        <pc:docMk/>
      </pc:docMkLst>
      <pc:sldChg chg="addSp delSp modSp mod">
        <pc:chgData name="Άριστος Αρέστη" userId="813aa191-2d4c-464f-9d05-0a7e494d859f" providerId="ADAL" clId="{49C7B61D-1ACF-4AFF-A04E-A3B433E32474}" dt="2026-09-27T19:10:11.412" v="142" actId="27636"/>
        <pc:sldMkLst>
          <pc:docMk/>
          <pc:sldMk cId="2026847565" sldId="257"/>
        </pc:sldMkLst>
        <pc:spChg chg="mod">
          <ac:chgData name="Άριστος Αρέστη" userId="813aa191-2d4c-464f-9d05-0a7e494d859f" providerId="ADAL" clId="{49C7B61D-1ACF-4AFF-A04E-A3B433E32474}" dt="2026-09-27T19:10:11.412" v="142" actId="27636"/>
          <ac:spMkLst>
            <pc:docMk/>
            <pc:sldMk cId="2026847565" sldId="257"/>
            <ac:spMk id="2" creationId="{B670F860-790B-48CE-84DA-E170F9837FB4}"/>
          </ac:spMkLst>
        </pc:spChg>
        <pc:spChg chg="mod">
          <ac:chgData name="Άριστος Αρέστη" userId="813aa191-2d4c-464f-9d05-0a7e494d859f" providerId="ADAL" clId="{49C7B61D-1ACF-4AFF-A04E-A3B433E32474}" dt="2026-09-27T19:10:07.600" v="140" actId="1076"/>
          <ac:spMkLst>
            <pc:docMk/>
            <pc:sldMk cId="2026847565" sldId="257"/>
            <ac:spMk id="3" creationId="{B285477B-7429-4651-A7A8-810929596830}"/>
          </ac:spMkLst>
        </pc:spChg>
        <pc:picChg chg="add mod">
          <ac:chgData name="Άριστος Αρέστη" userId="813aa191-2d4c-464f-9d05-0a7e494d859f" providerId="ADAL" clId="{49C7B61D-1ACF-4AFF-A04E-A3B433E32474}" dt="2026-09-27T19:06:23.587" v="4" actId="14100"/>
          <ac:picMkLst>
            <pc:docMk/>
            <pc:sldMk cId="2026847565" sldId="257"/>
            <ac:picMk id="6" creationId="{253A2219-ED46-C092-9494-61964B3CBA6E}"/>
          </ac:picMkLst>
        </pc:picChg>
        <pc:picChg chg="del">
          <ac:chgData name="Άριστος Αρέστη" userId="813aa191-2d4c-464f-9d05-0a7e494d859f" providerId="ADAL" clId="{49C7B61D-1ACF-4AFF-A04E-A3B433E32474}" dt="2026-09-27T19:06:10.992" v="0" actId="478"/>
          <ac:picMkLst>
            <pc:docMk/>
            <pc:sldMk cId="2026847565" sldId="257"/>
            <ac:picMk id="8" creationId="{00000000-0000-0000-0000-000000000000}"/>
          </ac:picMkLst>
        </pc:picChg>
      </pc:sldChg>
      <pc:sldChg chg="modSp mod">
        <pc:chgData name="Άριστος Αρέστη" userId="813aa191-2d4c-464f-9d05-0a7e494d859f" providerId="ADAL" clId="{49C7B61D-1ACF-4AFF-A04E-A3B433E32474}" dt="2026-09-27T19:10:01.092" v="138" actId="27636"/>
        <pc:sldMkLst>
          <pc:docMk/>
          <pc:sldMk cId="3815878654" sldId="262"/>
        </pc:sldMkLst>
        <pc:spChg chg="mod">
          <ac:chgData name="Άριστος Αρέστη" userId="813aa191-2d4c-464f-9d05-0a7e494d859f" providerId="ADAL" clId="{49C7B61D-1ACF-4AFF-A04E-A3B433E32474}" dt="2026-09-27T19:10:01.092" v="138" actId="27636"/>
          <ac:spMkLst>
            <pc:docMk/>
            <pc:sldMk cId="3815878654" sldId="262"/>
            <ac:spMk id="5" creationId="{AE633118-CBE8-48A2-BBC3-A4E5914ACDD1}"/>
          </ac:spMkLst>
        </pc:spChg>
      </pc:sldChg>
      <pc:sldChg chg="modSp mod">
        <pc:chgData name="Άριστος Αρέστη" userId="813aa191-2d4c-464f-9d05-0a7e494d859f" providerId="ADAL" clId="{49C7B61D-1ACF-4AFF-A04E-A3B433E32474}" dt="2026-09-27T19:10:01.092" v="139" actId="27636"/>
        <pc:sldMkLst>
          <pc:docMk/>
          <pc:sldMk cId="608684808" sldId="263"/>
        </pc:sldMkLst>
        <pc:spChg chg="mod">
          <ac:chgData name="Άριστος Αρέστη" userId="813aa191-2d4c-464f-9d05-0a7e494d859f" providerId="ADAL" clId="{49C7B61D-1ACF-4AFF-A04E-A3B433E32474}" dt="2026-09-27T19:10:01.092" v="139" actId="27636"/>
          <ac:spMkLst>
            <pc:docMk/>
            <pc:sldMk cId="608684808" sldId="263"/>
            <ac:spMk id="5" creationId="{2E284A61-5B03-4365-9943-863FF495F1D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Screenshot: https://www.howtoexcel.org/shift-cells-down/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Screenshot: https://500rockets.io/excel/the-excel-move-column-tutorial-59/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Screenshot: https://smallbiztrends.com/how-to-delete-your-twitter-account/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Screenshot: https://excelinsights.net/web/find-replace-data/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85AB-590D-2940-F9D8-91A2DEA70A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1E1D7-50E5-605C-ACD7-89AFACCFD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E8DB3-D225-FB0F-4A95-87FE121ACE4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27-Sep-26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4E33A-D01E-EAC3-6198-75DCE67E4BA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83C2F-F6A4-CF68-E054-91D3A8A6FC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8505-B11D-1416-6D6F-42532E02D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57602-7C8E-F65F-3DCB-CA7DA659D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13BDD-A3BD-F0FA-C970-7CE1AFD2115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27-Sep-26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A8432-C7E6-45F5-17B8-825C34C7B69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DBF15-3DC3-0F8C-B5EC-8D7DEA727D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48EAB-F365-E770-1C52-96B2FFED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EF05D-0555-A1C8-D595-C855A03CE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5151F-7E9E-AD94-792E-FA61FDA2DA6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27-Sep-26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E9C9E-7194-E1C7-7588-B038C3405E6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8C605-454F-8B7B-3D33-D05911EDD8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05F7B-A0AC-1293-82D4-9C86467F1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EC535-A3DE-99E7-ABC8-9CC4CE6E3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DD5AB-35E0-87E1-275F-04606C697E9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10989-7939-77EB-0752-100DC7AFE1E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27-Sep-26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AA337F-EF84-36B2-1842-7E5CFCFDF36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13D7F-1250-5155-CC8F-1D7F74BF58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F6333-8C0F-A01D-5F86-7F6CB2076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0F6EB-5092-BB38-AE7A-D8A53CBE1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B800C-4EB4-5C42-1D78-6D44443DC87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E5F6E3-A638-F3AA-A0D8-8243AE1143A5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606B9C-947E-6E0E-3FB7-6409CA1AA08B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49EA02-9727-20CE-6F2F-AEE77719031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27-Sep-26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455506-EB11-CC08-A287-4C40A1068BE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29B98D-1ABA-F8A4-E267-33AA94C814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44A6F-AB0F-F2C2-8460-CD823A4D0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BB32F1-CA42-21EF-BB3D-FD9E4BF810F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27-Sep-26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D18139-25BA-A607-F49E-FAC8B9FF80F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A14D5-22B8-8B31-2F15-3327A9172A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651FDA-FADC-718F-3679-DD1D82038C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27-Sep-26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6CFA23-F762-DAC7-F055-34BBBEEA1BE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4845E-D252-E586-D35F-F6971F010B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CC88C-4219-7229-D578-F248CEBE5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FCADE-8154-624B-6907-062ADFA18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788E2C-3D70-2723-B03E-3E54F428E71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4CF5D-DB9F-46BD-AA7E-99259ABBDFB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27-Sep-26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966BC-122D-0C34-66A6-82641A0F33C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0D53ED-CC38-27CB-CE75-0363724E29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D30A6-B84A-5729-409B-EECAD2538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8942B2-A346-D722-B157-F50399986B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D48F45-61CA-44E0-DBAE-9D36F6365D3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7F642F-E08C-B0D6-DCF9-FC1121C3A7D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27-Sep-26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CD439-5831-B89F-A032-126BDC3BCCD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8F52A-1268-BF36-C904-53855E60D1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DC5F4-D20C-2DB3-8411-B320533BB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0EA972-BBB4-2124-F72C-ECCD006349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4EE25-5808-5EF9-D529-A97D9A5F4E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27-Sep-26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2F814-6E03-DA7E-994E-BD8357BF20F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8E29C-8AD9-8F1D-C539-6DC238A4F7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9B99B6-549F-E1E7-9083-8BA3B57D8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6435A8-2F0B-810A-E41D-C6ABD4CC4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77F48-282A-7BEC-513D-DD66A962A5D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27-Sep-26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748BA-3A52-EFDE-3B83-2A4BC45687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26422-6EB7-6DF1-340C-059F624216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F3D97B-511D-E64B-9F91-7097B8212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744D8-7A9E-E0ED-82DF-9733866DD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6EFA3-0111-31E5-4E51-7B8F9DEA332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99004-FBBF-4BCC-9BC3-88F554ADE514}" type="datetimeFigureOut">
              <a:t>27-Sep-26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04E89-7CB4-43E2-759A-8B18BC095A8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A3C9D-A059-CF8F-49C2-BF85966941A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1C89F-AE7A-4C3B-889F-FA429D0A7F9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</a:extLst>
          </p:cNvPr>
          <p:cNvSpPr>
            <a:spLocks noGrp="1"/>
          </p:cNvSpPr>
          <p:nvPr/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</a:extLst>
          </p:cNvPr>
          <p:cNvSpPr>
            <a:spLocks noGrp="1"/>
          </p:cNvSpPr>
          <p:nvPr/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571B63-82A4-FC3D-9860-20F38F123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sz="7200">
                <a:solidFill>
                  <a:schemeClr val="accent2">
                    <a:lumMod val="50000"/>
                  </a:schemeClr>
                </a:solidFill>
              </a:rPr>
              <a:t>Διαχείριση Υπολογιστικών Φύλλων (2)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01352E-A170-144A-523B-B61C8AE338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A1AC1523-E1AC-4F39-9B08-B5CD71D4B0FD}"/>
              </a:ext>
            </a:extLst>
          </p:cNvPr>
          <p:cNvSpPr>
            <a:spLocks noGrp="1"/>
          </p:cNvSpPr>
          <p:nvPr/>
        </p:nv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9854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C4A398-B03B-46BC-AD33-C0A5D6AB71C5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001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Βιβλίο και φύλλα εργασίας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70F860-790B-48CE-84DA-E170F9837FB4}"/>
              </a:ext>
            </a:extLst>
          </p:cNvPr>
          <p:cNvSpPr>
            <a:spLocks noGrp="1"/>
          </p:cNvSpPr>
          <p:nvPr/>
        </p:nvSpPr>
        <p:spPr>
          <a:xfrm>
            <a:off x="857250" y="1476374"/>
            <a:ext cx="5340350" cy="16541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321"/>
          </a:bodyPr>
          <a:lstStyle/>
          <a:p>
            <a:pPr>
              <a:defRPr sz="2100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lang="el-GR" sz="2100" dirty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Βιβλίο(</a:t>
            </a:r>
            <a:r>
              <a:rPr lang="en-US" sz="2100" dirty="0">
                <a:solidFill>
                  <a:srgbClr val="6B1E72"/>
                </a:solidFill>
                <a:latin typeface="Arial"/>
                <a:ea typeface="Arial"/>
                <a:cs typeface="Arial"/>
              </a:rPr>
              <a:t>workbook</a:t>
            </a:r>
            <a:r>
              <a:rPr lang="el-GR" sz="2100" dirty="0">
                <a:solidFill>
                  <a:srgbClr val="6B1E72"/>
                </a:solidFill>
                <a:latin typeface="Arial"/>
                <a:ea typeface="Arial"/>
                <a:cs typeface="Arial"/>
              </a:rPr>
              <a:t>) = ένα αρχείο </a:t>
            </a:r>
            <a:r>
              <a:rPr lang="en-US" sz="2100" dirty="0">
                <a:solidFill>
                  <a:srgbClr val="6B1E72"/>
                </a:solidFill>
                <a:latin typeface="Arial"/>
                <a:ea typeface="Arial"/>
                <a:cs typeface="Arial"/>
              </a:rPr>
              <a:t>excel</a:t>
            </a:r>
            <a:endParaRPr lang="en-US" sz="2100" b="0" dirty="0">
              <a:solidFill>
                <a:srgbClr val="6B1E72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lang="el-GR" sz="2100" dirty="0">
                <a:solidFill>
                  <a:srgbClr val="6B1E72"/>
                </a:solidFill>
                <a:latin typeface="Arial"/>
                <a:ea typeface="Arial"/>
                <a:cs typeface="Arial"/>
              </a:rPr>
              <a:t>Φύλλο εργασίας</a:t>
            </a:r>
            <a:r>
              <a:rPr lang="en-US" sz="2100" dirty="0">
                <a:solidFill>
                  <a:srgbClr val="6B1E72"/>
                </a:solidFill>
                <a:latin typeface="Arial"/>
                <a:ea typeface="Arial"/>
                <a:cs typeface="Arial"/>
              </a:rPr>
              <a:t>(Worksheet)</a:t>
            </a:r>
            <a:r>
              <a:rPr lang="el-GR" sz="2100" dirty="0">
                <a:solidFill>
                  <a:srgbClr val="6B1E72"/>
                </a:solidFill>
                <a:latin typeface="Arial"/>
                <a:ea typeface="Arial"/>
                <a:cs typeface="Arial"/>
              </a:rPr>
              <a:t> = μια σελίδα στο βιβλίο</a:t>
            </a:r>
          </a:p>
          <a:p>
            <a:pPr>
              <a:defRPr sz="2100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lang="el-GR" sz="2100" dirty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Ένα βιβλίο Excel μπορεί να περιέχει πολλά φύλλα εργασίας.</a:t>
            </a:r>
          </a:p>
          <a:p>
            <a:pPr>
              <a:defRPr sz="2100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endParaRPr sz="2100" b="0" dirty="0">
              <a:solidFill>
                <a:srgbClr val="6B1E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85477B-7429-4651-A7A8-810929596830}"/>
              </a:ext>
            </a:extLst>
          </p:cNvPr>
          <p:cNvSpPr>
            <a:spLocks noGrp="1"/>
          </p:cNvSpPr>
          <p:nvPr/>
        </p:nvSpPr>
        <p:spPr>
          <a:xfrm>
            <a:off x="812800" y="3429000"/>
            <a:ext cx="5619750" cy="2000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• </a:t>
            </a:r>
            <a:r>
              <a:rPr sz="2025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Κάθε</a:t>
            </a:r>
            <a:r>
              <a:rPr sz="2025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φύλλο</a:t>
            </a:r>
            <a:r>
              <a:rPr sz="2025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εμφ</a:t>
            </a:r>
            <a:r>
              <a:rPr sz="2025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ανίζεται σε ξεχωριστή καρτέλα.</a:t>
            </a:r>
          </a:p>
          <a:p>
            <a:pPr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• </a:t>
            </a:r>
            <a:r>
              <a:rPr sz="2025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Κλικ</a:t>
            </a:r>
            <a:r>
              <a:rPr sz="2025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στην</a:t>
            </a:r>
            <a:r>
              <a:rPr sz="2025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κα</a:t>
            </a:r>
            <a:r>
              <a:rPr sz="2025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ρτέλ</a:t>
            </a:r>
            <a:r>
              <a:rPr sz="2025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 για μετάβαση.</a:t>
            </a:r>
          </a:p>
          <a:p>
            <a:pPr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• Τα </a:t>
            </a:r>
            <a:r>
              <a:rPr sz="2025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ονόμ</a:t>
            </a:r>
            <a:r>
              <a:rPr sz="2025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ατα πρέπει να δείχνουν καθαρά το περιεχόμενο.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3A2219-ED46-C092-9494-61964B3CB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973" y="1476374"/>
            <a:ext cx="5475458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47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F496A25-B3E8-462A-AD11-F44500C5BAE3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001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Εισαγωγή και διαγραφή φύλλου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37AF8A-DD25-4E90-A9F0-56BD108115ED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476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428"/>
          </a:bodyPr>
          <a:lstStyle/>
          <a:p>
            <a:pPr>
              <a:defRPr sz="210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Νέο φύλλο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3AFDFB-2EF4-4E7A-89EF-38217C5A0AAB}"/>
              </a:ext>
            </a:extLst>
          </p:cNvPr>
          <p:cNvSpPr>
            <a:spLocks noGrp="1"/>
          </p:cNvSpPr>
          <p:nvPr/>
        </p:nvSpPr>
        <p:spPr>
          <a:xfrm>
            <a:off x="857250" y="2047875"/>
            <a:ext cx="4524375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Home &gt; Cells &gt; Insert &gt; Insert Sheet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0DBBD4-CE8E-4CC4-8A39-6F2A48E66A4B}"/>
              </a:ext>
            </a:extLst>
          </p:cNvPr>
          <p:cNvSpPr>
            <a:spLocks noGrp="1"/>
          </p:cNvSpPr>
          <p:nvPr/>
        </p:nvSpPr>
        <p:spPr>
          <a:xfrm>
            <a:off x="857250" y="371475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428"/>
          </a:bodyPr>
          <a:lstStyle/>
          <a:p>
            <a:pPr>
              <a:defRPr sz="210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Διαγραφή φύλλου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FED6EB-3DAB-4D6C-93C8-CB05906B7D30}"/>
              </a:ext>
            </a:extLst>
          </p:cNvPr>
          <p:cNvSpPr>
            <a:spLocks noGrp="1"/>
          </p:cNvSpPr>
          <p:nvPr/>
        </p:nvSpPr>
        <p:spPr>
          <a:xfrm>
            <a:off x="857250" y="4286250"/>
            <a:ext cx="4524375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Home &gt; Cells &gt; Delete &gt; Delete Sheet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34125" y="2361946"/>
            <a:ext cx="2238375" cy="132448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810625" y="2377258"/>
            <a:ext cx="2238375" cy="1293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37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6C83902-DB3A-4C65-9D1D-D3E401993D32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001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Μετονομασία φύλλου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78FDC8-390E-44DE-8870-67712705CA3D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428"/>
          </a:bodyPr>
          <a:lstStyle/>
          <a:p>
            <a:pPr>
              <a:defRPr sz="210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Γρήγορος τρόπος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8F0DE4-30DA-4B75-BF59-369E82AA547F}"/>
              </a:ext>
            </a:extLst>
          </p:cNvPr>
          <p:cNvSpPr>
            <a:spLocks noGrp="1"/>
          </p:cNvSpPr>
          <p:nvPr/>
        </p:nvSpPr>
        <p:spPr>
          <a:xfrm>
            <a:off x="857250" y="2047875"/>
            <a:ext cx="495300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Διπλό κλικ στην καρτέλα, γράφουμε το νέο όνομα και πατάμε Enter.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976E9E-6DB7-4271-B6AF-39D039E442E6}"/>
              </a:ext>
            </a:extLst>
          </p:cNvPr>
          <p:cNvSpPr>
            <a:spLocks noGrp="1"/>
          </p:cNvSpPr>
          <p:nvPr/>
        </p:nvSpPr>
        <p:spPr>
          <a:xfrm>
            <a:off x="857250" y="3857625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428"/>
          </a:bodyPr>
          <a:lstStyle/>
          <a:p>
            <a:pPr>
              <a:defRPr sz="210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Από την κορδέλα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C42FD4-B839-478D-9DF8-5F2870A8DEDF}"/>
              </a:ext>
            </a:extLst>
          </p:cNvPr>
          <p:cNvSpPr>
            <a:spLocks noGrp="1"/>
          </p:cNvSpPr>
          <p:nvPr/>
        </p:nvSpPr>
        <p:spPr>
          <a:xfrm>
            <a:off x="857250" y="4429125"/>
            <a:ext cx="4953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Home &gt; Cells &gt; Format &gt; Rename Sheet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20025" y="1381125"/>
            <a:ext cx="188595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230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5D917A9-D6D4-4FA5-A526-016CD57AAACD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001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Μετακίνηση και αντιγραφή φύλλου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87C322-33A8-4BE2-824E-9907E0762593}"/>
              </a:ext>
            </a:extLst>
          </p:cNvPr>
          <p:cNvSpPr>
            <a:spLocks noGrp="1"/>
          </p:cNvSpPr>
          <p:nvPr/>
        </p:nvSpPr>
        <p:spPr>
          <a:xfrm>
            <a:off x="857250" y="1666875"/>
            <a:ext cx="5429250" cy="3000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1. Δεξί κλικ στην καρτέλα.</a:t>
            </a:r>
          </a:p>
          <a:p>
            <a:pPr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2. Επιλέγουμε Move or Copy.</a:t>
            </a:r>
          </a:p>
          <a:p>
            <a:pPr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3. Ορίζουμε τη νέα θέση.</a:t>
            </a:r>
          </a:p>
          <a:p>
            <a:pPr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4. Για αντίγραφο ενεργοποιούμε Create a copy.</a:t>
            </a:r>
          </a:p>
          <a:p>
            <a:pPr>
              <a:defRPr sz="20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5. Για μετακίνηση το αφήνουμε ανενεργό.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E3BAD3-BD0E-46BF-9AFD-A1FD18C98824}"/>
              </a:ext>
            </a:extLst>
          </p:cNvPr>
          <p:cNvSpPr>
            <a:spLocks noGrp="1"/>
          </p:cNvSpPr>
          <p:nvPr/>
        </p:nvSpPr>
        <p:spPr>
          <a:xfrm>
            <a:off x="857250" y="5095875"/>
            <a:ext cx="54292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725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Η αντιγραφή κρατά το αρχικό φύλλο. Η μετακίνηση αλλάζει μόνο τη θέση του.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43750" y="1611849"/>
            <a:ext cx="3429000" cy="3967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3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A339537-6558-47C9-977C-5E261B586541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001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Οργάνωση φύλλων εργασίας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B3430F-4289-4337-8186-EF03F460EC7A}"/>
              </a:ext>
            </a:extLst>
          </p:cNvPr>
          <p:cNvSpPr>
            <a:spLocks noGrp="1"/>
          </p:cNvSpPr>
          <p:nvPr/>
        </p:nvSpPr>
        <p:spPr>
          <a:xfrm>
            <a:off x="1000125" y="1619250"/>
            <a:ext cx="2381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428"/>
          </a:bodyPr>
          <a:lstStyle/>
          <a:p>
            <a:pPr>
              <a:defRPr sz="210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Μετονομασία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B694B8-031F-48DA-8F00-693A55C4EB62}"/>
              </a:ext>
            </a:extLst>
          </p:cNvPr>
          <p:cNvSpPr>
            <a:spLocks noGrp="1"/>
          </p:cNvSpPr>
          <p:nvPr/>
        </p:nvSpPr>
        <p:spPr>
          <a:xfrm>
            <a:off x="1000125" y="2143125"/>
            <a:ext cx="28575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8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Δίνει σαφή τίτλο στο φύλλο.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A59897-59B7-41E4-9F28-8561EE6BAAEA}"/>
              </a:ext>
            </a:extLst>
          </p:cNvPr>
          <p:cNvSpPr>
            <a:spLocks noGrp="1"/>
          </p:cNvSpPr>
          <p:nvPr/>
        </p:nvSpPr>
        <p:spPr>
          <a:xfrm>
            <a:off x="4476750" y="1619250"/>
            <a:ext cx="2381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428"/>
          </a:bodyPr>
          <a:lstStyle/>
          <a:p>
            <a:pPr>
              <a:defRPr sz="210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Μετακίνηση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1AF18D-DBA0-4156-B5ED-8F305F13ED5E}"/>
              </a:ext>
            </a:extLst>
          </p:cNvPr>
          <p:cNvSpPr>
            <a:spLocks noGrp="1"/>
          </p:cNvSpPr>
          <p:nvPr/>
        </p:nvSpPr>
        <p:spPr>
          <a:xfrm>
            <a:off x="4476750" y="2143125"/>
            <a:ext cx="28575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8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Αλλάζει τη σειρά των καρτελών.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5CEB8C-0057-46F0-94F2-CE1137B270F1}"/>
              </a:ext>
            </a:extLst>
          </p:cNvPr>
          <p:cNvSpPr>
            <a:spLocks noGrp="1"/>
          </p:cNvSpPr>
          <p:nvPr/>
        </p:nvSpPr>
        <p:spPr>
          <a:xfrm>
            <a:off x="7953375" y="1619250"/>
            <a:ext cx="2381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428"/>
          </a:bodyPr>
          <a:lstStyle/>
          <a:p>
            <a:pPr>
              <a:defRPr sz="210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Αντιγραφή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F28D36-3C2F-44A1-A0AC-658C5D079725}"/>
              </a:ext>
            </a:extLst>
          </p:cNvPr>
          <p:cNvSpPr>
            <a:spLocks noGrp="1"/>
          </p:cNvSpPr>
          <p:nvPr/>
        </p:nvSpPr>
        <p:spPr>
          <a:xfrm>
            <a:off x="7953375" y="2143125"/>
            <a:ext cx="2857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8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Δημιουργεί ίδιο φύλλο για επεξεργασία.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A3A35F-C65D-44F2-ABCF-4C91909BBD8B}"/>
              </a:ext>
            </a:extLst>
          </p:cNvPr>
          <p:cNvSpPr>
            <a:spLocks noGrp="1"/>
          </p:cNvSpPr>
          <p:nvPr/>
        </p:nvSpPr>
        <p:spPr>
          <a:xfrm>
            <a:off x="1000125" y="3714750"/>
            <a:ext cx="2381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428"/>
          </a:bodyPr>
          <a:lstStyle/>
          <a:p>
            <a:pPr>
              <a:defRPr sz="210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Διαγραφή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4FD5EA-D17B-4988-93C3-C78634631EC4}"/>
              </a:ext>
            </a:extLst>
          </p:cNvPr>
          <p:cNvSpPr>
            <a:spLocks noGrp="1"/>
          </p:cNvSpPr>
          <p:nvPr/>
        </p:nvSpPr>
        <p:spPr>
          <a:xfrm>
            <a:off x="1000125" y="4238625"/>
            <a:ext cx="2857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8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Αφαιρεί ένα φύλλο που δεν χρειάζεται.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A34F45-E7B9-4064-A6D2-5A247EC8B823}"/>
              </a:ext>
            </a:extLst>
          </p:cNvPr>
          <p:cNvSpPr>
            <a:spLocks noGrp="1"/>
          </p:cNvSpPr>
          <p:nvPr/>
        </p:nvSpPr>
        <p:spPr>
          <a:xfrm>
            <a:off x="4476750" y="3905250"/>
            <a:ext cx="6191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B1E72"/>
                </a:solidFill>
                <a:latin typeface="Arial"/>
                <a:ea typeface="Arial"/>
                <a:cs typeface="Arial"/>
              </a:rPr>
              <a:t>Χρησιμοποιούμε σύντομα, μοναδικά και περιγραφικά ονόματα.</a:t>
            </a:r>
          </a:p>
        </p:txBody>
      </p:sp>
    </p:spTree>
    <p:extLst>
      <p:ext uri="{BB962C8B-B14F-4D97-AF65-F5344CB8AC3E}">
        <p14:creationId xmlns:p14="http://schemas.microsoft.com/office/powerpoint/2010/main" val="2654053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633118-CBE8-48A2-BBC3-A4E5914ACDD1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49530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543"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Εμπέδωσης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1DF1E1-9A5D-4D09-923D-5B749C17CC0D}"/>
              </a:ext>
            </a:extLst>
          </p:cNvPr>
          <p:cNvSpPr>
            <a:spLocks noGrp="1"/>
          </p:cNvSpPr>
          <p:nvPr/>
        </p:nvSpPr>
        <p:spPr>
          <a:xfrm>
            <a:off x="5905500" y="1190625"/>
            <a:ext cx="5334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Β.4.1.M6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A16D27-62AA-417C-9A48-7CDD717C5C3A}"/>
              </a:ext>
            </a:extLst>
          </p:cNvPr>
          <p:cNvSpPr>
            <a:spLocks noGrp="1"/>
          </p:cNvSpPr>
          <p:nvPr/>
        </p:nvSpPr>
        <p:spPr>
          <a:xfrm>
            <a:off x="5905500" y="2095500"/>
            <a:ext cx="5143500" cy="2190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Σελίδα 31</a:t>
            </a:r>
          </a:p>
          <a:p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1–12</a:t>
            </a:r>
          </a:p>
          <a:p>
            <a:endParaRPr sz="2175" b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Όμιλοι.xlsx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CE4B3C-9F2D-49B2-A62B-217DADF2DBD2}"/>
              </a:ext>
            </a:extLst>
          </p:cNvPr>
          <p:cNvSpPr>
            <a:spLocks noGrp="1"/>
          </p:cNvSpPr>
          <p:nvPr/>
        </p:nvSpPr>
        <p:spPr>
          <a:xfrm>
            <a:off x="5905500" y="4810125"/>
            <a:ext cx="49530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800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Εξάσκηση σε μετονομασία, εισαγωγή, αντιγραφή, διαγραφή και μετακίνηση φύλλων.</a:t>
            </a:r>
          </a:p>
        </p:txBody>
      </p:sp>
    </p:spTree>
    <p:extLst>
      <p:ext uri="{BB962C8B-B14F-4D97-AF65-F5344CB8AC3E}">
        <p14:creationId xmlns:p14="http://schemas.microsoft.com/office/powerpoint/2010/main" val="3815878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E284A61-5B03-4365-9943-863FF495F1D4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3905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407" lnSpcReduction="20000"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Αξιολόγησης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ED35FE-1D5E-445C-B32B-7C1959E74E94}"/>
              </a:ext>
            </a:extLst>
          </p:cNvPr>
          <p:cNvSpPr>
            <a:spLocks noGrp="1"/>
          </p:cNvSpPr>
          <p:nvPr/>
        </p:nvSpPr>
        <p:spPr>
          <a:xfrm>
            <a:off x="4762500" y="1857375"/>
            <a:ext cx="6191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Β.4.1.M6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54F7CE-DB69-4D50-83D2-04526EFBB762}"/>
              </a:ext>
            </a:extLst>
          </p:cNvPr>
          <p:cNvSpPr>
            <a:spLocks noGrp="1"/>
          </p:cNvSpPr>
          <p:nvPr/>
        </p:nvSpPr>
        <p:spPr>
          <a:xfrm>
            <a:off x="4762500" y="2857500"/>
            <a:ext cx="6191250" cy="1714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2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Σελίδα 32</a:t>
            </a:r>
          </a:p>
          <a:p>
            <a:pPr>
              <a:defRPr sz="22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13–24</a:t>
            </a:r>
          </a:p>
          <a:p>
            <a:endParaRPr sz="2250" b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22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Κέρδος.xlsx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06282F-BE8E-4E51-B22A-EF5BB5E568D1}"/>
              </a:ext>
            </a:extLst>
          </p:cNvPr>
          <p:cNvSpPr>
            <a:spLocks noGrp="1"/>
          </p:cNvSpPr>
          <p:nvPr/>
        </p:nvSpPr>
        <p:spPr>
          <a:xfrm>
            <a:off x="4762500" y="5000625"/>
            <a:ext cx="6191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800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Οργάνωσε τα φύλλα και ολοκλήρωσε τις αλλαγές στο αντίγραφο του αρχείου.</a:t>
            </a:r>
          </a:p>
        </p:txBody>
      </p:sp>
    </p:spTree>
    <p:extLst>
      <p:ext uri="{BB962C8B-B14F-4D97-AF65-F5344CB8AC3E}">
        <p14:creationId xmlns:p14="http://schemas.microsoft.com/office/powerpoint/2010/main" val="608684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</Words>
  <Application>Microsoft Office PowerPoint</Application>
  <DocSecurity>0</DocSecurity>
  <PresentationFormat>Widescreen</PresentationFormat>
  <Paragraphs>53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Διαχείριση Υπολογιστικών Φύλλων (2)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2026-09-12T06:11:22Z</dcterms:created>
  <dcterms:modified xsi:type="dcterms:W3CDTF">2026-09-27T19:10:18Z</dcterms:modified>
</cp:coreProperties>
</file>