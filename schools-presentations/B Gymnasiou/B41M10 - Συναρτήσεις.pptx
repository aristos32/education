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F78818-B250-4307-8B45-383A7F4CAB91}" v="1" dt="2026-10-17T05:40:05.7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delSld modSld">
      <pc:chgData name="Άριστος Αρέστη" userId="813aa191-2d4c-464f-9d05-0a7e494d859f" providerId="ADAL" clId="{49C7B61D-1ACF-4AFF-A04E-A3B433E32474}" dt="2026-10-17T05:40:16.207" v="22"/>
      <pc:docMkLst>
        <pc:docMk/>
      </pc:docMkLst>
      <pc:sldChg chg="addSp delSp modSp mod">
        <pc:chgData name="Άριστος Αρέστη" userId="813aa191-2d4c-464f-9d05-0a7e494d859f" providerId="ADAL" clId="{49C7B61D-1ACF-4AFF-A04E-A3B433E32474}" dt="2026-10-17T05:40:16.207" v="22"/>
        <pc:sldMkLst>
          <pc:docMk/>
          <pc:sldMk cId="1720723223" sldId="260"/>
        </pc:sldMkLst>
        <pc:spChg chg="mod">
          <ac:chgData name="Άριστος Αρέστη" userId="813aa191-2d4c-464f-9d05-0a7e494d859f" providerId="ADAL" clId="{49C7B61D-1ACF-4AFF-A04E-A3B433E32474}" dt="2026-10-17T05:39:39.197" v="7" actId="20577"/>
          <ac:spMkLst>
            <pc:docMk/>
            <pc:sldMk cId="1720723223" sldId="260"/>
            <ac:spMk id="3" creationId="{84D7A9B1-F751-4FA8-9793-425E844FD25D}"/>
          </ac:spMkLst>
        </pc:spChg>
        <pc:spChg chg="mod">
          <ac:chgData name="Άριστος Αρέστη" userId="813aa191-2d4c-464f-9d05-0a7e494d859f" providerId="ADAL" clId="{49C7B61D-1ACF-4AFF-A04E-A3B433E32474}" dt="2026-10-17T05:40:15.780" v="20" actId="14100"/>
          <ac:spMkLst>
            <pc:docMk/>
            <pc:sldMk cId="1720723223" sldId="260"/>
            <ac:spMk id="4" creationId="{C337567A-A122-4255-AFFC-EA0A5774D686}"/>
          </ac:spMkLst>
        </pc:spChg>
        <pc:spChg chg="add del mod">
          <ac:chgData name="Άριστος Αρέστη" userId="813aa191-2d4c-464f-9d05-0a7e494d859f" providerId="ADAL" clId="{49C7B61D-1ACF-4AFF-A04E-A3B433E32474}" dt="2026-10-17T05:40:16.207" v="22"/>
          <ac:spMkLst>
            <pc:docMk/>
            <pc:sldMk cId="1720723223" sldId="260"/>
            <ac:spMk id="6" creationId="{8F2B8305-43EC-C1C7-D21F-51A8AAC1D29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https://www.howtoexcel.org/shift-cells-down/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https://500rockets.io/excel/the-excel-move-column-tutorial-59/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https://smallbiztrends.com/how-to-delete-your-twitter-account/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Screenshot: https://excelinsights.net/web/find-replace-data/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585AB-590D-2940-F9D8-91A2DEA70A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41E1D7-50E5-605C-ACD7-89AFACCFD5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EE8DB3-D225-FB0F-4A95-87FE121ACE4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4E33A-D01E-EAC3-6198-75DCE67E4BA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83C2F-F6A4-CF68-E054-91D3A8A6FC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8505-B11D-1416-6D6F-42532E02D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E57602-7C8E-F65F-3DCB-CA7DA659D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E13BDD-A3BD-F0FA-C970-7CE1AFD2115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9A8432-C7E6-45F5-17B8-825C34C7B69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DBF15-3DC3-0F8C-B5EC-8D7DEA727D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48EAB-F365-E770-1C52-96B2FFEDB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EF05D-0555-A1C8-D595-C855A03CE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5151F-7E9E-AD94-792E-FA61FDA2DA6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E9C9E-7194-E1C7-7588-B038C3405E6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8C605-454F-8B7B-3D33-D05911EDD8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05F7B-A0AC-1293-82D4-9C86467F1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EC535-A3DE-99E7-ABC8-9CC4CE6E3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EDD5AB-35E0-87E1-275F-04606C697E9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510989-7939-77EB-0752-100DC7AFE1E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A337F-EF84-36B2-1842-7E5CFCFDF3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313D7F-1250-5155-CC8F-1D7F74BF58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F6333-8C0F-A01D-5F86-7F6CB2076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B0F6EB-5092-BB38-AE7A-D8A53CBE12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2B800C-4EB4-5C42-1D78-6D44443DC87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E5F6E3-A638-F3AA-A0D8-8243AE1143A5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606B9C-947E-6E0E-3FB7-6409CA1AA08B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49EA02-9727-20CE-6F2F-AEE77719031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55506-EB11-CC08-A287-4C40A1068BE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729B98D-1ABA-F8A4-E267-33AA94C8147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A6F-AB0F-F2C2-8460-CD823A4D0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BB32F1-CA42-21EF-BB3D-FD9E4BF810F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D18139-25BA-A607-F49E-FAC8B9FF8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1A14D5-22B8-8B31-2F15-3327A9172AE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51FDA-FADC-718F-3679-DD1D82038C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FA23-F762-DAC7-F055-34BBBEEA1B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4845E-D252-E586-D35F-F6971F010B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CC88C-4219-7229-D578-F248CEBE5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8FCADE-8154-624B-6907-062ADFA18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8E2C-3D70-2723-B03E-3E54F428E71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F4CF5D-DB9F-46BD-AA7E-99259ABBDFB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D966BC-122D-0C34-66A6-82641A0F33C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0D53ED-CC38-27CB-CE75-0363724E29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D30A6-B84A-5729-409B-EECAD2538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8942B2-A346-D722-B157-F50399986B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D48F45-61CA-44E0-DBAE-9D36F6365D3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F642F-E08C-B0D6-DCF9-FC1121C3A7D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5CD439-5831-B89F-A032-126BDC3BCCD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8F52A-1268-BF36-C904-53855E60D1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DC5F4-D20C-2DB3-8411-B320533B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0EA972-BBB4-2124-F72C-ECCD006349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EE25-5808-5EF9-D529-A97D9A5F4E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2F814-6E03-DA7E-994E-BD8357BF20F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8E29C-8AD9-8F1D-C539-6DC238A4F7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9B99B6-549F-E1E7-9083-8BA3B57D8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435A8-2F0B-810A-E41D-C6ABD4CC49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77F48-282A-7BEC-513D-DD66A962A5D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748BA-3A52-EFDE-3B83-2A4BC45687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D26422-6EB7-6DF1-340C-059F624216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721C89F-AE7A-4C3B-889F-FA429D0A7F97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F3D97B-511D-E64B-9F91-7097B8212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5744D8-7A9E-E0ED-82DF-9733866D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6EFA3-0111-31E5-4E51-7B8F9DEA332C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B99004-FBBF-4BCC-9BC3-88F554ADE514}" type="datetimeFigureOut">
              <a:t>17-Oct-26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4E89-7CB4-43E2-759A-8B18BC095A8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3A3C9D-A059-CF8F-49C2-BF85966941AF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21C89F-AE7A-4C3B-889F-FA429D0A7F97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</a:extLst>
          </p:cNvPr>
          <p:cNvSpPr>
            <a:spLocks noGrp="1"/>
          </p:cNvSpPr>
          <p:nvPr/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</a:extLst>
          </p:cNvPr>
          <p:cNvSpPr>
            <a:spLocks noGrp="1"/>
          </p:cNvSpPr>
          <p:nvPr/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571B63-82A4-FC3D-9860-20F38F12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pPr>
              <a:def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825" dirty="0" err="1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Συν</a:t>
            </a:r>
            <a:r>
              <a:rPr sz="3825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αρτήσεις</a:t>
            </a:r>
            <a:endParaRPr sz="720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01352E-A170-144A-523B-B61C8AE33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A1AC1523-E1AC-4F39-9B08-B5CD71D4B0FD}"/>
              </a:ext>
            </a:extLst>
          </p:cNvPr>
          <p:cNvSpPr>
            <a:spLocks noGrp="1"/>
          </p:cNvSpPr>
          <p:nvPr/>
        </p:nv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98546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255C63-DABB-4E4D-9420-630D557A1C1F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COUNT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6FE033-6C02-4123-BFB1-4F585036D8C6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Μετρά μόνο τα κελιά που περιέχουν αριθμούς.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97EDAE-2AE2-4BBF-A897-04BA6B26F194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5429250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Σύνταξη: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=COUNT(B3:B22)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Κείμενο, σύμβολα και κενά κελιά δεν υπολογίζονται.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31601" y="1571625"/>
            <a:ext cx="3653298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847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6CBEB1E-7ADE-4865-88AD-FD0347D35128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COUNTA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A5C949C-37CC-4879-9B69-1F977DE0EDB1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Μετρά όλα τα μη κενά κελιά.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8DC03D-C69C-4C9B-984C-1538D40B7893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5429250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Σύνταξη: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=COUNTA(B3:B22)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Μετρά αριθμούς, κείμενο και σύμβολα όπως το -.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006EEC-74F8-4B32-B172-8C20E5013A8C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Αριθμός ✓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Κείμενο ✓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Σύμβολο ✓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Κενό ✗</a:t>
            </a:r>
          </a:p>
        </p:txBody>
      </p:sp>
    </p:spTree>
    <p:extLst>
      <p:ext uri="{BB962C8B-B14F-4D97-AF65-F5344CB8AC3E}">
        <p14:creationId xmlns:p14="http://schemas.microsoft.com/office/powerpoint/2010/main" val="21339374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87D8BA5-D60F-45F9-A055-8F0C4E8D2717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COUNT ή COUNTA;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A9D8CA3-676B-4F3F-9862-634808CE8D66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COUNT: όταν θέλουμε να μετρήσουμε αριθμητικές εγγραφές.</a:t>
            </a:r>
          </a:p>
          <a:p>
            <a:endParaRPr sz="1950" b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COUNTA: όταν θέλουμε να μετρήσουμε κάθε κελί που περιέχει κάτι.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F17224-005F-4A9F-89EE-7FE7EFE52B64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095750" cy="2190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COUNT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μόνο αριθμοί</a:t>
            </a:r>
          </a:p>
          <a:p>
            <a:endParaRPr sz="2250" b="1">
              <a:solidFill>
                <a:srgbClr val="D84B00"/>
              </a:solidFill>
              <a:latin typeface="Arial"/>
              <a:ea typeface="Arial"/>
              <a:cs typeface="Arial"/>
            </a:endParaRP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COUNTA</a:t>
            </a:r>
          </a:p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84B00"/>
                </a:solidFill>
                <a:latin typeface="Arial"/>
                <a:ea typeface="Arial"/>
                <a:cs typeface="Arial"/>
              </a:rPr>
              <a:t>όλα τα μη κενά</a:t>
            </a:r>
          </a:p>
        </p:txBody>
      </p:sp>
    </p:spTree>
    <p:extLst>
      <p:ext uri="{BB962C8B-B14F-4D97-AF65-F5344CB8AC3E}">
        <p14:creationId xmlns:p14="http://schemas.microsoft.com/office/powerpoint/2010/main" val="2484230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4B221B8-C730-4980-A36B-0826AA7BB2A6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 dirty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Η </a:t>
            </a:r>
            <a:r>
              <a:rPr sz="3225" b="0" dirty="0" err="1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συνάρτηση</a:t>
            </a:r>
            <a:r>
              <a:rPr sz="3225" b="0" dirty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 IF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00CCA0-E88B-4E35-872E-1CE37462EF39}"/>
              </a:ext>
            </a:extLst>
          </p:cNvPr>
          <p:cNvSpPr>
            <a:spLocks noGrp="1"/>
          </p:cNvSpPr>
          <p:nvPr/>
        </p:nvSpPr>
        <p:spPr>
          <a:xfrm>
            <a:off x="857250" y="1381125"/>
            <a:ext cx="5429250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6B1E72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6B1E72"/>
                </a:solidFill>
                <a:latin typeface="Arial"/>
                <a:ea typeface="Arial"/>
                <a:cs typeface="Arial"/>
              </a:rPr>
              <a:t>Ελέγχει</a:t>
            </a:r>
            <a:r>
              <a:rPr sz="1950" b="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6B1E72"/>
                </a:solidFill>
                <a:latin typeface="Arial"/>
                <a:ea typeface="Arial"/>
                <a:cs typeface="Arial"/>
              </a:rPr>
              <a:t>μι</a:t>
            </a:r>
            <a:r>
              <a:rPr sz="1950" b="0" dirty="0">
                <a:solidFill>
                  <a:srgbClr val="6B1E72"/>
                </a:solidFill>
                <a:latin typeface="Arial"/>
                <a:ea typeface="Arial"/>
                <a:cs typeface="Arial"/>
              </a:rPr>
              <a:t>α συνθήκη και επιστρέφει ένα από δύο αποτελέσματα.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D7A9B1-F751-4FA8-9793-425E844FD25D}"/>
              </a:ext>
            </a:extLst>
          </p:cNvPr>
          <p:cNvSpPr>
            <a:spLocks noGrp="1"/>
          </p:cNvSpPr>
          <p:nvPr/>
        </p:nvSpPr>
        <p:spPr>
          <a:xfrm>
            <a:off x="857250" y="2333625"/>
            <a:ext cx="6238494" cy="3143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Σύντ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αξη:</a:t>
            </a:r>
            <a:endParaRPr lang="en-US"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endParaRPr sz="1950" b="0" dirty="0">
              <a:solidFill>
                <a:srgbClr val="151515"/>
              </a:solidFill>
              <a:latin typeface="Arial"/>
              <a:ea typeface="Arial"/>
              <a:cs typeface="Arial"/>
            </a:endParaRP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=IF(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συνθήκη</a:t>
            </a:r>
            <a:r>
              <a:rPr lang="en-US"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,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τιμή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_αν_α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ληθής</a:t>
            </a:r>
            <a:r>
              <a:rPr lang="en-US" sz="195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,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τιμή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_α</a:t>
            </a:r>
            <a:r>
              <a:rPr sz="1950" b="0" dirty="0" err="1">
                <a:solidFill>
                  <a:srgbClr val="151515"/>
                </a:solidFill>
                <a:latin typeface="Arial"/>
                <a:ea typeface="Arial"/>
                <a:cs typeface="Arial"/>
              </a:rPr>
              <a:t>ν_ψευδής</a:t>
            </a:r>
            <a:r>
              <a:rPr sz="1950" b="0" dirty="0">
                <a:solidFill>
                  <a:srgbClr val="151515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37567A-A122-4255-AFFC-EA0A5774D686}"/>
              </a:ext>
            </a:extLst>
          </p:cNvPr>
          <p:cNvSpPr>
            <a:spLocks noGrp="1"/>
          </p:cNvSpPr>
          <p:nvPr/>
        </p:nvSpPr>
        <p:spPr>
          <a:xfrm>
            <a:off x="857250" y="4038600"/>
            <a:ext cx="4660900" cy="636032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2250" b="1">
                <a:solidFill>
                  <a:srgbClr val="D84B00"/>
                </a:solidFill>
                <a:latin typeface="Arial"/>
                <a:ea typeface="Arial"/>
                <a:cs typeface="Arial"/>
              </a:defRPr>
            </a:pPr>
            <a:r>
              <a:rPr sz="2250" b="1" dirty="0">
                <a:solidFill>
                  <a:srgbClr val="D84B00"/>
                </a:solidFill>
                <a:latin typeface="Arial"/>
                <a:ea typeface="Arial"/>
                <a:cs typeface="Arial"/>
              </a:rPr>
              <a:t>=IF(B24&gt;100000</a:t>
            </a:r>
            <a:r>
              <a:rPr lang="en-US" sz="2250" b="1" dirty="0">
                <a:solidFill>
                  <a:srgbClr val="D84B00"/>
                </a:solidFill>
                <a:latin typeface="Arial"/>
                <a:ea typeface="Arial"/>
                <a:cs typeface="Arial"/>
              </a:rPr>
              <a:t>, </a:t>
            </a:r>
            <a:r>
              <a:rPr sz="2250" b="1" dirty="0">
                <a:solidFill>
                  <a:srgbClr val="D84B00"/>
                </a:solidFill>
                <a:latin typeface="Arial"/>
                <a:ea typeface="Arial"/>
                <a:cs typeface="Arial"/>
              </a:rPr>
              <a:t>"ΝΑΙ"</a:t>
            </a:r>
            <a:r>
              <a:rPr lang="en-US" sz="2250" b="1" dirty="0">
                <a:solidFill>
                  <a:srgbClr val="D84B00"/>
                </a:solidFill>
                <a:latin typeface="Arial"/>
                <a:ea typeface="Arial"/>
                <a:cs typeface="Arial"/>
              </a:rPr>
              <a:t>,</a:t>
            </a:r>
            <a:r>
              <a:rPr sz="2250" b="1" dirty="0">
                <a:solidFill>
                  <a:srgbClr val="D84B00"/>
                </a:solidFill>
                <a:latin typeface="Arial"/>
                <a:ea typeface="Arial"/>
                <a:cs typeface="Arial"/>
              </a:rPr>
              <a:t>"ΟΧΙ")</a:t>
            </a:r>
          </a:p>
        </p:txBody>
      </p:sp>
    </p:spTree>
    <p:extLst>
      <p:ext uri="{BB962C8B-B14F-4D97-AF65-F5344CB8AC3E}">
        <p14:creationId xmlns:p14="http://schemas.microsoft.com/office/powerpoint/2010/main" val="172072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7100E-61EB-461C-A47A-6966E648F88C}"/>
              </a:ext>
            </a:extLst>
          </p:cNvPr>
          <p:cNvSpPr>
            <a:spLocks noGrp="1"/>
          </p:cNvSpPr>
          <p:nvPr/>
        </p:nvSpPr>
        <p:spPr>
          <a:xfrm>
            <a:off x="742950" y="476250"/>
            <a:ext cx="1038225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defRPr>
            </a:pPr>
            <a:r>
              <a:rPr sz="3225" b="0">
                <a:solidFill>
                  <a:srgbClr val="6B1E72"/>
                </a:solidFill>
                <a:latin typeface="Calibri Light"/>
                <a:ea typeface="Calibri Light"/>
                <a:cs typeface="Calibri Light"/>
              </a:rPr>
              <a:t>Αντιγραφή και έλεγχος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8396D3-7A0F-44A8-A4BD-D27FDDA0C42E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5429250" cy="3714750"/>
          </a:xfrm>
          <a:prstGeom prst="rect">
            <a:avLst/>
          </a:prstGeom>
          <a:noFill/>
          <a:ln w="0">
            <a:noFill/>
          </a:ln>
        </p:spPr>
        <p:txBody>
          <a:bodyPr>
            <a:normAutofit/>
          </a:bodyPr>
          <a:lstStyle/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Δημιουργούμε τη συνάρτηση στο πρώτο κελί.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Αντιγράφουμε στην υπόλοιπη περιοχή.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Ελέγχουμε τις αναφορές.</a:t>
            </a:r>
          </a:p>
          <a:p>
            <a:pPr>
              <a:defRPr sz="195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• Συγκρίνουμε COUNT και COUNTA όταν υπάρχουν σύμβολα ή κείμενο.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0" y="2512219"/>
            <a:ext cx="4191000" cy="202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053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Red Violet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Red Viole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218</Words>
  <Application>Microsoft Office PowerPoint</Application>
  <DocSecurity>0</DocSecurity>
  <PresentationFormat>Widescreen</PresentationFormat>
  <Paragraphs>41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Συναρτήσεις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</cp:revision>
  <dcterms:created xsi:type="dcterms:W3CDTF">2026-09-12T06:34:14Z</dcterms:created>
  <dcterms:modified xsi:type="dcterms:W3CDTF">2026-10-17T05:40:31Z</dcterms:modified>
</cp:coreProperties>
</file>