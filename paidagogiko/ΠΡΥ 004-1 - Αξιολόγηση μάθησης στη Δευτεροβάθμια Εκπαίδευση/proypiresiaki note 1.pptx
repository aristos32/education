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60" r:id="rId2"/>
    <p:sldMasterId id="2147483698" r:id="rId3"/>
  </p:sldMasterIdLst>
  <p:notesMasterIdLst>
    <p:notesMasterId r:id="rId42"/>
  </p:notesMasterIdLst>
  <p:handoutMasterIdLst>
    <p:handoutMasterId r:id="rId43"/>
  </p:handoutMasterIdLst>
  <p:sldIdLst>
    <p:sldId id="256" r:id="rId4"/>
    <p:sldId id="257" r:id="rId5"/>
    <p:sldId id="553" r:id="rId6"/>
    <p:sldId id="551" r:id="rId7"/>
    <p:sldId id="276" r:id="rId8"/>
    <p:sldId id="263" r:id="rId9"/>
    <p:sldId id="528" r:id="rId10"/>
    <p:sldId id="540" r:id="rId11"/>
    <p:sldId id="541" r:id="rId12"/>
    <p:sldId id="544" r:id="rId13"/>
    <p:sldId id="542" r:id="rId14"/>
    <p:sldId id="549" r:id="rId15"/>
    <p:sldId id="543" r:id="rId16"/>
    <p:sldId id="259" r:id="rId17"/>
    <p:sldId id="260" r:id="rId18"/>
    <p:sldId id="261" r:id="rId19"/>
    <p:sldId id="529" r:id="rId20"/>
    <p:sldId id="554" r:id="rId21"/>
    <p:sldId id="555" r:id="rId22"/>
    <p:sldId id="556" r:id="rId23"/>
    <p:sldId id="557" r:id="rId24"/>
    <p:sldId id="550" r:id="rId25"/>
    <p:sldId id="558" r:id="rId26"/>
    <p:sldId id="559" r:id="rId27"/>
    <p:sldId id="560" r:id="rId28"/>
    <p:sldId id="561" r:id="rId29"/>
    <p:sldId id="562" r:id="rId30"/>
    <p:sldId id="563" r:id="rId31"/>
    <p:sldId id="564" r:id="rId32"/>
    <p:sldId id="565" r:id="rId33"/>
    <p:sldId id="566" r:id="rId34"/>
    <p:sldId id="567" r:id="rId35"/>
    <p:sldId id="568" r:id="rId36"/>
    <p:sldId id="569" r:id="rId37"/>
    <p:sldId id="570" r:id="rId38"/>
    <p:sldId id="571" r:id="rId39"/>
    <p:sldId id="572" r:id="rId40"/>
    <p:sldId id="573" r:id="rId41"/>
  </p:sldIdLst>
  <p:sldSz cx="9144000" cy="6858000" type="screen4x3"/>
  <p:notesSz cx="7086600" cy="93726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2">
          <p15:clr>
            <a:srgbClr val="A4A3A4"/>
          </p15:clr>
        </p15:guide>
        <p15:guide id="2" pos="223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818" autoAdjust="0"/>
  </p:normalViewPr>
  <p:slideViewPr>
    <p:cSldViewPr>
      <p:cViewPr varScale="1">
        <p:scale>
          <a:sx n="51" d="100"/>
          <a:sy n="51" d="100"/>
        </p:scale>
        <p:origin x="172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2" d="100"/>
          <a:sy n="82" d="100"/>
        </p:scale>
        <p:origin x="-2064" y="-90"/>
      </p:cViewPr>
      <p:guideLst>
        <p:guide orient="horz" pos="2952"/>
        <p:guide pos="223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0860" cy="4686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r>
              <a:rPr lang="el-GR"/>
              <a:t>Πανεπιστήμιο Κύπρου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14100" y="0"/>
            <a:ext cx="3070860" cy="4686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fld id="{BA45DFB7-83FB-44C6-9FCE-AD0D0C313115}" type="datetimeFigureOut">
              <a:rPr lang="el-GR" smtClean="0"/>
              <a:pPr/>
              <a:t>12/9/2025</a:t>
            </a:fld>
            <a:endParaRPr lang="el-G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902343"/>
            <a:ext cx="3070860" cy="4686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14100" y="8902343"/>
            <a:ext cx="3070860" cy="4686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fld id="{E07916FF-FDBD-4C09-8027-6A28DCFA5F6B}" type="slidenum">
              <a:rPr lang="el-GR" smtClean="0"/>
              <a:pPr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0860" cy="4686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r>
              <a:rPr lang="el-GR"/>
              <a:t>Πανεπιστήμιο Κύπρου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14100" y="0"/>
            <a:ext cx="3070860" cy="4686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fld id="{2A983513-E7BE-4C0A-B9EB-D39F627DF45B}" type="datetimeFigureOut">
              <a:rPr lang="el-GR" smtClean="0"/>
              <a:pPr/>
              <a:t>12/9/2025</a:t>
            </a:fld>
            <a:endParaRPr lang="el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3263"/>
            <a:ext cx="4686300" cy="3514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46" tIns="47023" rIns="94046" bIns="47023" rtlCol="0" anchor="ctr"/>
          <a:lstStyle/>
          <a:p>
            <a:endParaRPr lang="el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8660" y="4451985"/>
            <a:ext cx="5669280" cy="4217670"/>
          </a:xfrm>
          <a:prstGeom prst="rect">
            <a:avLst/>
          </a:prstGeom>
        </p:spPr>
        <p:txBody>
          <a:bodyPr vert="horz" lIns="94046" tIns="47023" rIns="94046" bIns="4702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02343"/>
            <a:ext cx="3070860" cy="4686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14100" y="8902343"/>
            <a:ext cx="3070860" cy="4686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fld id="{B57EB55F-327A-4FFA-BC29-0E77CB2BF4F2}" type="slidenum">
              <a:rPr lang="el-GR" smtClean="0"/>
              <a:pPr/>
              <a:t>‹#›</a:t>
            </a:fld>
            <a:endParaRPr lang="el-G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7EB55F-327A-4FFA-BC29-0E77CB2BF4F2}" type="slidenum">
              <a:rPr lang="el-GR" smtClean="0"/>
              <a:pPr/>
              <a:t>1</a:t>
            </a:fld>
            <a:endParaRPr lang="el-GR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l-GR"/>
              <a:t>Πανεπιστήμιο Κύπρου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l-GR"/>
              <a:t>Πανεπιστήμιο Κύπρου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7EB55F-327A-4FFA-BC29-0E77CB2BF4F2}" type="slidenum">
              <a:rPr lang="el-GR" smtClean="0"/>
              <a:pPr/>
              <a:t>2</a:t>
            </a:fld>
            <a:endParaRPr lang="el-G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l-GR"/>
              <a:t>Πανεπιστήμιο Κύπρου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7EB55F-327A-4FFA-BC29-0E77CB2BF4F2}" type="slidenum">
              <a:rPr lang="el-GR" smtClean="0"/>
              <a:pPr/>
              <a:t>3</a:t>
            </a:fld>
            <a:endParaRPr lang="el-G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l-GR"/>
              <a:t>Πανεπιστήμιο Κύπρου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7EB55F-327A-4FFA-BC29-0E77CB2BF4F2}" type="slidenum">
              <a:rPr lang="el-GR" smtClean="0"/>
              <a:pPr/>
              <a:t>5</a:t>
            </a:fld>
            <a:endParaRPr lang="el-G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None/>
            </a:pPr>
            <a:endParaRPr lang="el-G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l-GR"/>
              <a:t>Πανεπιστήμιο Κύπρου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7EB55F-327A-4FFA-BC29-0E77CB2BF4F2}" type="slidenum">
              <a:rPr lang="el-GR" smtClean="0"/>
              <a:pPr/>
              <a:t>6</a:t>
            </a:fld>
            <a:endParaRPr lang="el-G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l-GR"/>
              <a:t>Πανεπιστήμιο Κύπρου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7EB55F-327A-4FFA-BC29-0E77CB2BF4F2}" type="slidenum">
              <a:rPr lang="el-GR" smtClean="0"/>
              <a:pPr/>
              <a:t>7</a:t>
            </a:fld>
            <a:endParaRPr lang="el-G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l-GR"/>
              <a:t>Πανεπιστήμιο Κύπρου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7EB55F-327A-4FFA-BC29-0E77CB2BF4F2}" type="slidenum">
              <a:rPr lang="el-GR" smtClean="0"/>
              <a:pPr/>
              <a:t>8</a:t>
            </a:fld>
            <a:endParaRPr lang="el-G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l-GR"/>
              <a:t>Πανεπιστήμιο Κύπρου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7EB55F-327A-4FFA-BC29-0E77CB2BF4F2}" type="slidenum">
              <a:rPr lang="el-GR" smtClean="0"/>
              <a:pPr/>
              <a:t>12</a:t>
            </a:fld>
            <a:endParaRPr lang="el-G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Char char="à"/>
              <a:tabLst/>
              <a:defRPr/>
            </a:pPr>
            <a:endParaRPr lang="el-GR" sz="1200" dirty="0"/>
          </a:p>
          <a:p>
            <a:endParaRPr lang="el-G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l-GR"/>
              <a:t>Πανεπιστήμιο Κύπρου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7EB55F-327A-4FFA-BC29-0E77CB2BF4F2}" type="slidenum">
              <a:rPr lang="el-GR" smtClean="0"/>
              <a:pPr/>
              <a:t>13</a:t>
            </a:fld>
            <a:endParaRPr lang="el-G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l-GR"/>
              <a:t>Πανεπιστήμιο Κύπρου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7EB55F-327A-4FFA-BC29-0E77CB2BF4F2}" type="slidenum">
              <a:rPr lang="el-GR" smtClean="0"/>
              <a:pPr/>
              <a:t>17</a:t>
            </a:fld>
            <a:endParaRPr lang="el-G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l-GR"/>
              <a:t>Πανεπιστήμιο Κύπρου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7EB55F-327A-4FFA-BC29-0E77CB2BF4F2}" type="slidenum">
              <a:rPr lang="el-GR" smtClean="0"/>
              <a:pPr/>
              <a:t>19</a:t>
            </a:fld>
            <a:endParaRPr lang="el-G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l-GR"/>
              <a:t>Πανεπιστήμιο Κύπρου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7EB55F-327A-4FFA-BC29-0E77CB2BF4F2}" type="slidenum">
              <a:rPr lang="el-GR" smtClean="0"/>
              <a:pPr/>
              <a:t>20</a:t>
            </a:fld>
            <a:endParaRPr lang="el-G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l-GR"/>
              <a:t>Πανεπιστήμιο Κύπρου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7EB55F-327A-4FFA-BC29-0E77CB2BF4F2}" type="slidenum">
              <a:rPr lang="el-GR" smtClean="0"/>
              <a:pPr/>
              <a:t>21</a:t>
            </a:fld>
            <a:endParaRPr lang="el-G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l-GR"/>
              <a:t>Πανεπιστήμιο Κύπρου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7EB55F-327A-4FFA-BC29-0E77CB2BF4F2}" type="slidenum">
              <a:rPr lang="el-GR" smtClean="0"/>
              <a:pPr/>
              <a:t>22</a:t>
            </a:fld>
            <a:endParaRPr lang="el-G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l-G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l-GR"/>
              <a:t>Πανεπιστήμιο Κύπρου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7EB55F-327A-4FFA-BC29-0E77CB2BF4F2}" type="slidenum">
              <a:rPr lang="el-GR" smtClean="0"/>
              <a:pPr/>
              <a:t>28</a:t>
            </a:fld>
            <a:endParaRPr lang="el-G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l-GR" dirty="0"/>
              <a:t>Όλοι</a:t>
            </a:r>
            <a:r>
              <a:rPr lang="el-GR" baseline="0" dirty="0"/>
              <a:t> έχουν δυνατά και αδύνατα σημεία, η σωστή αξιολόγηση μπορεί να μας βοηθήσει να δούμε τι μπορεί να κάνει κάποιος και τι όχι και να προσαρμόσουμε ανάλογα τις προσδοκίες και τις δράσεις μας. </a:t>
            </a:r>
            <a:endParaRPr lang="el-G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l-GR"/>
              <a:t>Πανεπιστήμιο Κύπρου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7EB55F-327A-4FFA-BC29-0E77CB2BF4F2}" type="slidenum">
              <a:rPr lang="el-GR" smtClean="0"/>
              <a:pPr/>
              <a:t>32</a:t>
            </a:fld>
            <a:endParaRPr lang="el-G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l-GR"/>
              <a:t>Πανεπιστήμιο Κύπρου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7EB55F-327A-4FFA-BC29-0E77CB2BF4F2}" type="slidenum">
              <a:rPr lang="el-GR" smtClean="0"/>
              <a:pPr/>
              <a:t>35</a:t>
            </a:fld>
            <a:endParaRPr lang="el-G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2EB40-6915-4CDE-8D7F-2613013208F9}" type="datetime1">
              <a:rPr lang="el-GR" smtClean="0"/>
              <a:pPr/>
              <a:t>12/9/2025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EA8A-993A-44B3-8A9B-1DA3CD4A7CD6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03E4-A0D5-49E7-A3FE-E3D4F3CE508B}" type="datetime1">
              <a:rPr lang="el-GR" smtClean="0"/>
              <a:pPr/>
              <a:t>12/9/2025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EA8A-993A-44B3-8A9B-1DA3CD4A7CD6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EFE7F-C528-48C4-8FFF-C58A635B88A5}" type="datetime1">
              <a:rPr lang="el-GR" smtClean="0"/>
              <a:pPr/>
              <a:t>12/9/2025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EA8A-993A-44B3-8A9B-1DA3CD4A7CD6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B569D-704F-48D2-BF6B-E498BA495C53}" type="datetime1">
              <a:rPr lang="el-GR" smtClean="0"/>
              <a:pPr/>
              <a:t>12/9/2025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EA8A-993A-44B3-8A9B-1DA3CD4A7CD6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AD555-7D90-4363-8034-76F802B22D0A}" type="datetime1">
              <a:rPr lang="el-GR" smtClean="0"/>
              <a:pPr/>
              <a:t>12/9/2025</a:t>
            </a:fld>
            <a:endParaRPr lang="el-G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EA8A-993A-44B3-8A9B-1DA3CD4A7CD6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F7D9B-EDBF-4FF4-956D-3153DFD48705}" type="datetime1">
              <a:rPr lang="el-GR" smtClean="0"/>
              <a:pPr/>
              <a:t>12/9/2025</a:t>
            </a:fld>
            <a:endParaRPr lang="el-G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EA8A-993A-44B3-8A9B-1DA3CD4A7CD6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66EE3-F381-4C38-AC81-93FA487C1F80}" type="datetime1">
              <a:rPr lang="el-GR" smtClean="0"/>
              <a:pPr/>
              <a:t>12/9/2025</a:t>
            </a:fld>
            <a:endParaRPr lang="el-G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EA8A-993A-44B3-8A9B-1DA3CD4A7CD6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CB2F4-5F83-4451-BCF1-51EAC2F08DF2}" type="datetime1">
              <a:rPr lang="el-GR" smtClean="0"/>
              <a:pPr/>
              <a:t>12/9/2025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EA8A-993A-44B3-8A9B-1DA3CD4A7CD6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A4120-2FE7-449D-B937-D939E079CD7C}" type="datetime1">
              <a:rPr lang="el-GR" smtClean="0"/>
              <a:pPr/>
              <a:t>12/9/2025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EA8A-993A-44B3-8A9B-1DA3CD4A7CD6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5CCFF-50AF-4D42-828F-23E55564D38C}" type="datetime1">
              <a:rPr lang="el-GR" smtClean="0"/>
              <a:pPr/>
              <a:t>12/9/2025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EA8A-993A-44B3-8A9B-1DA3CD4A7CD6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DCDC7-7622-4AE5-B6D6-133A574BE6AD}" type="datetime1">
              <a:rPr lang="el-GR" smtClean="0"/>
              <a:pPr/>
              <a:t>12/9/2025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EA8A-993A-44B3-8A9B-1DA3CD4A7CD6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B7943-18F6-43D0-9D60-BEA541DFEE20}" type="datetime1">
              <a:rPr lang="el-GR" smtClean="0"/>
              <a:pPr/>
              <a:t>12/9/2025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CCF9D-F6B4-4190-9654-4654D3321FDC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6812F-02EB-4B75-95DB-1ECC7312BBBB}" type="datetime1">
              <a:rPr lang="el-GR" smtClean="0"/>
              <a:pPr/>
              <a:t>12/9/2025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CCF9D-F6B4-4190-9654-4654D3321FDC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7CC61-2B8E-4DF7-9581-41DAB7030C13}" type="datetime1">
              <a:rPr lang="el-GR" smtClean="0"/>
              <a:pPr/>
              <a:t>12/9/2025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CCF9D-F6B4-4190-9654-4654D3321FDC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78E38-7D0D-4481-87E4-09A085112B80}" type="datetime1">
              <a:rPr lang="el-GR" smtClean="0"/>
              <a:pPr/>
              <a:t>12/9/2025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CCF9D-F6B4-4190-9654-4654D3321FDC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35FF-0850-43D7-9C26-03699985D73C}" type="datetime1">
              <a:rPr lang="el-GR" smtClean="0"/>
              <a:pPr/>
              <a:t>12/9/2025</a:t>
            </a:fld>
            <a:endParaRPr lang="el-G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CCF9D-F6B4-4190-9654-4654D3321FDC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83121-4790-40B0-89E0-EC564D0883CA}" type="datetime1">
              <a:rPr lang="el-GR" smtClean="0"/>
              <a:pPr/>
              <a:t>12/9/2025</a:t>
            </a:fld>
            <a:endParaRPr lang="el-G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CCF9D-F6B4-4190-9654-4654D3321FDC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FC1CA-7965-4D69-A6F9-E2B6F4ED7C40}" type="datetime1">
              <a:rPr lang="el-GR" smtClean="0"/>
              <a:pPr/>
              <a:t>12/9/2025</a:t>
            </a:fld>
            <a:endParaRPr lang="el-G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CCF9D-F6B4-4190-9654-4654D3321FDC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2E8B6-FC98-41EE-B970-EDD3D6AFD464}" type="datetime1">
              <a:rPr lang="el-GR" smtClean="0"/>
              <a:pPr/>
              <a:t>12/9/2025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CCF9D-F6B4-4190-9654-4654D3321FDC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A8D13-F210-4C68-9FA1-DD66224D8F12}" type="datetime1">
              <a:rPr lang="el-GR" smtClean="0"/>
              <a:pPr/>
              <a:t>12/9/2025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CCF9D-F6B4-4190-9654-4654D3321FDC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1DDFB-F982-46F1-9763-09BBED590EE2}" type="datetime1">
              <a:rPr lang="el-GR" smtClean="0"/>
              <a:pPr/>
              <a:t>12/9/2025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CCF9D-F6B4-4190-9654-4654D3321FDC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097AE-E933-4BA0-AC1D-789310B86A2E}" type="datetime1">
              <a:rPr lang="el-GR" smtClean="0"/>
              <a:pPr/>
              <a:t>12/9/2025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CCF9D-F6B4-4190-9654-4654D3321FDC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D164A0DB-D085-44D6-BD98-104C6541C373}" type="datetime1">
              <a:rPr lang="el-GR" smtClean="0"/>
              <a:pPr/>
              <a:t>12/9/2025</a:t>
            </a:fld>
            <a:endParaRPr lang="el-GR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  <a:endParaRPr lang="el-GR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r>
              <a:rPr lang="el-GR"/>
              <a:t>1 </a:t>
            </a:r>
          </a:p>
          <a:p>
            <a:r>
              <a:rPr lang="el-GR"/>
              <a:t>Αναστασία Παναγιώτου</a:t>
            </a:r>
            <a:endParaRPr lang="el-GR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C6C0A-8B12-4FC3-B93A-B30D87696C89}" type="datetime1">
              <a:rPr lang="el-GR" smtClean="0"/>
              <a:pPr/>
              <a:t>12/9/2025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‹#›</a:t>
            </a:fld>
            <a:endParaRPr lang="el-GR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B52D9DA7-761D-47A8-9EA2-A13EA5642AB3}" type="datetime1">
              <a:rPr lang="el-GR" smtClean="0"/>
              <a:pPr/>
              <a:t>12/9/2025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9F9C4326-6C27-4F6D-A14F-6946318585D3}" type="slidenum">
              <a:rPr lang="el-GR" smtClean="0"/>
              <a:pPr/>
              <a:t>‹#›</a:t>
            </a:fld>
            <a:endParaRPr lang="el-GR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7F1EC-FAEA-4048-9612-84F093FDE440}" type="datetime1">
              <a:rPr lang="el-GR" smtClean="0"/>
              <a:pPr/>
              <a:t>12/9/2025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‹#›</a:t>
            </a:fld>
            <a:endParaRPr lang="el-GR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95488-7143-4A62-9722-4F33A2F21588}" type="datetime1">
              <a:rPr lang="el-GR" smtClean="0"/>
              <a:pPr/>
              <a:t>12/9/2025</a:t>
            </a:fld>
            <a:endParaRPr lang="el-G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‹#›</a:t>
            </a:fld>
            <a:endParaRPr lang="el-GR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04C54-1DF6-4C2A-A5D4-E63324041ACD}" type="datetime1">
              <a:rPr lang="el-GR" smtClean="0"/>
              <a:pPr/>
              <a:t>12/9/2025</a:t>
            </a:fld>
            <a:endParaRPr lang="el-G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‹#›</a:t>
            </a:fld>
            <a:endParaRPr lang="el-GR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1E8AB-03F6-4160-8972-B1FB68939573}" type="datetime1">
              <a:rPr lang="el-GR" smtClean="0"/>
              <a:pPr/>
              <a:t>12/9/2025</a:t>
            </a:fld>
            <a:endParaRPr lang="el-G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‹#›</a:t>
            </a:fld>
            <a:endParaRPr lang="el-GR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CEA98-2755-4194-BC12-6E801B56B4B0}" type="datetime1">
              <a:rPr lang="el-GR" smtClean="0"/>
              <a:pPr/>
              <a:t>12/9/2025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‹#›</a:t>
            </a:fld>
            <a:endParaRPr lang="el-GR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5536D-64D6-4DAA-8D78-82CEBFE70CE8}" type="datetime1">
              <a:rPr lang="el-GR" smtClean="0"/>
              <a:pPr/>
              <a:t>12/9/2025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‹#›</a:t>
            </a:fld>
            <a:endParaRPr lang="el-GR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63C6C-41FA-4A83-A837-5B66B48C1741}" type="datetime1">
              <a:rPr lang="el-GR" smtClean="0"/>
              <a:pPr/>
              <a:t>12/9/2025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1AA2-D821-4BAE-8328-0B15479A0595}" type="datetime1">
              <a:rPr lang="el-GR" smtClean="0"/>
              <a:pPr/>
              <a:t>12/9/2025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‹#›</a:t>
            </a:fld>
            <a:endParaRPr lang="el-GR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3359C-AE47-4A93-83CF-A11221F281F3}" type="datetime1">
              <a:rPr lang="el-GR" smtClean="0"/>
              <a:pPr/>
              <a:t>12/9/2025</a:t>
            </a:fld>
            <a:endParaRPr lang="el-G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  <a:endParaRPr lang="el-G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‹#›</a:t>
            </a:fld>
            <a:endParaRPr lang="el-GR"/>
          </a:p>
          <a:p>
            <a:r>
              <a:rPr lang="el-GR"/>
              <a:t>Α. Παναγιώτου</a:t>
            </a:r>
            <a:endParaRPr lang="el-GR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5A43-14D2-40E0-BE4A-D414131791CC}" type="datetime1">
              <a:rPr lang="el-GR" smtClean="0"/>
              <a:pPr/>
              <a:t>12/9/2025</a:t>
            </a:fld>
            <a:endParaRPr lang="el-G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  <a:endParaRPr lang="el-G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‹#›</a:t>
            </a:fld>
            <a:endParaRPr lang="el-GR"/>
          </a:p>
          <a:p>
            <a:r>
              <a:rPr lang="el-GR"/>
              <a:t>Α. Παναγιώτου</a:t>
            </a:r>
            <a:endParaRPr lang="el-G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6D28C-1FFF-4BA8-8EC7-0153C95EC979}" type="datetime1">
              <a:rPr lang="el-GR" smtClean="0"/>
              <a:pPr/>
              <a:t>12/9/2025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0EA8A-993A-44B3-8A9B-1DA3CD4A7CD6}" type="slidenum">
              <a:rPr lang="el-GR" smtClean="0"/>
              <a:pPr/>
              <a:t>‹#›</a:t>
            </a:fld>
            <a:endParaRPr lang="el-G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1778A-207F-44D4-947D-602BA6EBB835}" type="datetime1">
              <a:rPr lang="el-GR" smtClean="0"/>
              <a:pPr/>
              <a:t>12/9/2025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CCF9D-F6B4-4190-9654-4654D3321FDC}" type="slidenum">
              <a:rPr lang="el-GR" smtClean="0"/>
              <a:pPr/>
              <a:t>‹#›</a:t>
            </a:fld>
            <a:endParaRPr lang="el-G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26AC9EC7-4DAE-4644-AE7F-891074F8480F}" type="datetime1">
              <a:rPr lang="el-GR" smtClean="0"/>
              <a:pPr/>
              <a:t>12/9/2025</a:t>
            </a:fld>
            <a:endParaRPr lang="el-G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08A0EA8A-993A-44B3-8A9B-1DA3CD4A7CD6}" type="slidenum">
              <a:rPr lang="el-GR" smtClean="0"/>
              <a:pPr/>
              <a:t>‹#›</a:t>
            </a:fld>
            <a:endParaRPr lang="el-GR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672" r:id="rId12"/>
    <p:sldLayoutId id="2147483673" r:id="rId13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l-GR" dirty="0" err="1"/>
              <a:t>ΠΡΥ</a:t>
            </a:r>
            <a:r>
              <a:rPr lang="el-GR" dirty="0"/>
              <a:t> 004: Αξιολόγηση του Μαθητή</a:t>
            </a:r>
            <a:br>
              <a:rPr lang="el-GR" dirty="0"/>
            </a:br>
            <a:endParaRPr lang="el-G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endParaRPr lang="el-GR" sz="105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07904" y="6381328"/>
            <a:ext cx="5201744" cy="365760"/>
          </a:xfrm>
        </p:spPr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67544" y="6237312"/>
            <a:ext cx="1967808" cy="483528"/>
          </a:xfrm>
        </p:spPr>
        <p:txBody>
          <a:bodyPr/>
          <a:lstStyle/>
          <a:p>
            <a:r>
              <a:rPr lang="el-GR" dirty="0"/>
              <a:t>1 </a:t>
            </a:r>
          </a:p>
        </p:txBody>
      </p:sp>
      <p:pic>
        <p:nvPicPr>
          <p:cNvPr id="6" name="Picture 2" descr="http://www.ripe.net/lir-services/training/previous-hosts/ucy-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48264" y="188640"/>
            <a:ext cx="1944216" cy="6480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Διάγραμμα 1</a:t>
            </a:r>
            <a:r>
              <a:rPr lang="el-GR" baseline="30000" dirty="0"/>
              <a:t>ης</a:t>
            </a:r>
            <a:r>
              <a:rPr lang="el-GR" dirty="0"/>
              <a:t> Συνάντησης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2</a:t>
            </a:fld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l-GR" dirty="0"/>
              <a:t>Ορισμός αξιολόγησης και βασικές έννοιες</a:t>
            </a:r>
          </a:p>
          <a:p>
            <a:r>
              <a:rPr lang="el-GR" dirty="0"/>
              <a:t>Διερεύνηση αρχικών αντιλήψεων αναφορικά με τους σκοπούς της αξιολόγησης του μαθητή</a:t>
            </a:r>
          </a:p>
          <a:p>
            <a:r>
              <a:rPr lang="el-GR" dirty="0"/>
              <a:t>Σκοποί της αξιολόγησης του μαθητή</a:t>
            </a:r>
          </a:p>
          <a:p>
            <a:r>
              <a:rPr lang="el-GR" dirty="0"/>
              <a:t>Είδη αξιολόγησης του μαθητή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r>
              <a:rPr lang="el-G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Ξεκινώντας από τα βασικά…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7664" y="1700808"/>
            <a:ext cx="5832648" cy="363604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l-GR" sz="2800" b="1" dirty="0"/>
              <a:t>Όλα τα παιδιά μαθαίνουν το ίδιο;;;</a:t>
            </a:r>
            <a:endParaRPr lang="en-US" sz="2800" b="1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3</a:t>
            </a:fld>
            <a:endParaRPr lang="el-GR"/>
          </a:p>
        </p:txBody>
      </p:sp>
      <p:sp>
        <p:nvSpPr>
          <p:cNvPr id="78850" name="AutoShape 2" descr="data:image/jpeg;base64,/9j/4AAQSkZJRgABAQAAAQABAAD/2wCEAAkGBxQSEhUUExQWFBUUFxgYFxcWGBwaHRgYGBYcHBgYGh0ZHCggGxsmHB0aITEhKCorLi4uGCAzODMsNygtLisBCgoKDg0OGxAQGiwkICY0LC8wMjQsLDQ0Ly0sLCwsLCwsLCwsLCwsNCwsLCwsNCwsLSwsLCwsLCwsLCwsLCwsLP/AABEIAMsA+AMBIgACEQEDEQH/xAAcAAABBQEBAQAAAAAAAAAAAAAAAQQFBgcDAgj/xABJEAACAQMCAwUDBQ4EBgIDAQABAgMABBESIQUxQQYTIlFhMnGBFEJSkaEHFSNTVGJykpOiscHR0zOC0vAWQ2OywuEkVUSUozT/xAAbAQACAwEBAQAAAAAAAAAAAAAABAIDBQEGB//EADIRAAEEAQMCBAMIAgMAAAAAAAEAAgMRBAUSITFBExQiUWFxoQYyQoGRwdHwUrEVFiP/2gAMAwEAAhEDEQA/ANxNFJRQhLRSUUIRS0lFCEtFJRQhLRSUUIS0UlBoQuc8oRSx5KCTjyAyapy9r5lx3sCAzxd5bhJCdTl0VYpCVGknvEORkYD+Qy+7QdonSRoIIg7juw8shAjj744XIzqc430jHMb71V+KcHmSGxKyRu1ncIrMx0B4tYXc4OkjSufVare+jSsaywrn2f4hNJJLHN3ZaIRnVEGC5cMSmGJ3UBTnqHGwqdqjcO4vLaSN38cbQXFwoE0Mmoo8uiNFkVlG2rSupScAjI2q8VJhsKLhRS0UlFSUUpopKKEIooooQiiiihCKKKKEIooooQilpKKEJaKSihCKWiihCSilooQkopaKEJKKj+OcQNvC8gAYjAUE6QWdgqgnBwNRGTg4FVHjnaGZ1S1OIJpZY1LxMTmFgxdkJAKt4Sh6jUCDuK4SApBpPRX4UVA9ihi3KgsypLMil2Z2wsrDBZiScHI3NT9ANrhFGklBqF7RdqLeyA71iXYZWNBqdh546L+ccD1qnXP3UZc/g7IY85bgKfqSNh9tBIRRXT7oE/c3cfc5Z7iMi5iyAjQpqCOWKtofWdIwNxq+iCGFrx+dFCKsKoM4UiSQ7nJy7SAsck7mobjHaWW5nEz2yx4jEZCTaycOWB8UaY9o+dNJ+JtkaEO251Y335DB+30p2BmIWbpeqxs2TUfF2QCm+/Csg7Sf/Jt5LqNfk8RP+GThZWKhJnQj2UGoczjVnptqqnNfPl5f95G0UgCGQ6M520swXO5z1519Aw4CgA5AAwfSqp2QtI8LomsGTIcw+YHqBXuoLtB2iFuyxRxmedwWWMNpAUba5HIOhc7ZwSTyB3pr2g7QSpN8ntY0eQKHkeUkJGrEhRhd3c4OwxgDJO4BrMYuVnmmuApaURqrwKzBFjBwhRiW5lmyMjLHlWPmZ7IQWtI39h/f1WpFEXGz0UzH2wuIvFd2qrEOclvKZdA83Ro1bSOpXPuq4wyh1DKQysAQQcgg8iD1FU21ZiilxhiNx6/WfqqN4c99a64YDbi3JJhMmtmhB3KhRgMuc4XUMZxnGKztP1sPLmZBAI79irpcauWLRs0VnknAxKdVxLNcMeeuRlX/ACxoQg+rPrTMQ/JyzWE5EkXia3MxkjcDmjIzHuyeQZcEHHPlTEeu40kmwX864UDivAtagKKZ8G4gtxBFOnsyorrnyYA09raSyKSlooQkopaKEJKKWihCSilooQiikpaEIopKKEJaKSloQqZ294gJMcPR9MlwCJG0Fu6jKvpbOyq7MuFyehODiq5xjhzymylaRFmt5jmXSWRl0kNlQQV1EDYnYg7nrMdv7OSEzXaJHNEYlE0TuY2DREmN4mAOXOQMbHIXBBqO4fdyrEAgKk+ItOdTFiBnKqR9rZ896gY3vPpCahDSKU32Xlmt51tmZZo5e+lBC6XiJfWdW5DRkuVB2IOPa3xbri4VFZ3IVVBZiegAyT9VZ92XuriK+Ad0lW7J1YjKtH3cWVKnUfwe2Cp+dJnO9Wbt5ad7w66TWY8xMSwGdl8RGOoIGk+hNT2lvDuqokHqWQcZvxcXc13llSbSERjvpUaVJyMrnno5DUeuabJFnBfBI5Y6A9PWi0B0LqIZgBk7e1jflyqVsOCO+1xqhiaNpO9GMBDjSA24VsEbHfY++lyVY0eyYg9K8zShVLHkBmpXhnZzv3DRTq6YKyPpIKlWyoVGwfEpzknGV67U/MtjaS6W1zOmzM2CEON/DsCceQJFRsKYYe6rU6BlwVDA9DuCPqOa7cC4rPa4a1lMY6wvloj6FCfB710nlz5VZ+0/AY1jM8ChNI1Oq7KydWA5Agb7cxnNVCOLSzHbxYPx3zn7Kk13cKL2UaKu3AeKPcPPdSFULKivAoJ0GMNh9Zxq1A+Q5AcwalrWEkl3AyTlcMThcbD091Z3wPiPcymYaipGiVNyCoOcqD84Hf13HXIv1vfPlC6qEkBKlWJK+EuNfT2Qdx1+uvJavjS+OXj8X5dOybge3bSdXFyFB5sQCdKgsx+AGfjXm1UPGhbD5UHOBglhuQPia5Wd5JH3YSLUZQskrHYkvvpUkgHSuPPAAFPLvhXd63jlMS7sysuuMdSQMhl9wOPSg6MRF/5u9Xe/2KkJeeVwtldcKcMoA8XIj0I6++oji1hOqP8AJ1RmKsqktpZFdsyaQRpZ+oJIGQM9Se3DpLi41d1cQDTg+K3fcHkcd/8A+66SrewyBWNvMrAkFVeIkjGV3dxnByPPB5YquPCyYQZfRXcX1pdc9ruOVKcH7W2kEccDrLaCNFRRPGQoCjA/CLmP96rfFIGAIIIIyCDkEdCDVJs7oSqcqVI8Lo2MqccjzBGDzGQa59nXNldJAu1tdau7TpDOqliqDojoGOnkCm3OtzA1jx5fBlbtd9Ck5cfaNwKvtFeRS1upVLRSUUIS0UlFCEtFJRQhFFLSUIRRS0UISUUtFCFVfuk4+QyHOHV42iH05UkDIh9CRv5DJ6VQ5rl39pio+ihx+9zP2VbPuo5xaHfT37A+jGF9JP2j3kVUadxgNtpmEcLiYMMHVnSRM6JFY6lzzwTnI2GQcg43BrTuy9/8tsgZ1BY64pgBgMVJRiBnYMPFjpqrNqsH3PeMCKeW1kOnvz3sLE7MwQCSMfnAKGA6gt5GjJZxuCJmirVE4rw4WUs1oRp0F2jHPVC7MUZepAGVPqpq69uePC0tWcRLPpCZVvYAZwqlvjyHXSfKpjtgTBcLOymSOdY7fCkalfW5QYPNHL4ONxpBOR7MW8ChHs7iD5QJ4YF1ElE1RKwcM4BK4IDDAJy/vrLIG7lDCQy2r3wnvLZ5UuDbkiJJ9VuuAEOoaSOZwVJB6hqgUur/AIheywWpghFqAZVlXUGZ+UTYzqPMEjGCCATzMlwjs0ttHcLBAImdVC/hTIH0A4yzAEbnTjAAAFQXH+BRNcy31lxQWpuFzLED+E1EeJBgjxFuh5HO9daGkkoe54aArbxO51WEj6dOqF1K9FJUqR7gf4Vn4lUkgEEjmM8vfWl2HD0itUgbDIsYRtXJhpw2c+e9VjtNNaxwrBE0ZfKlQCrFArZZiw3y2433OT5GqgaKtkbYtVa25vvk58uW3+/qq7dmbCSe2hDRlS0QSSY4GY87rGAxJ28IJxgb9MVT2Ut4V9piFXr4mOF+0itd4TZmCGKHOru0VS2w1EDc49/T1qqeJr63dlBlrIe1vEeHzwTXJkY8RiudEMWpvCI5cIioNtGgatQ31E79Boh4gbCC8MxLx2mChLZdg0asqMcbtqbTnfJ3rxa8Ft4rmSU8N72SN9cU6d2NWrxYw7jxqSRqxyC75zjrxfgL3NuyOYwZ5BLOsisQcacRgoykAKqrq/NzTLiwgBVNDrJUNBf3NveyiS5juwLU3JihRFVIwyhgDu2RqDKSfENXI4zZ+JS94kJU41klTjlmJt8H4VC9mOGWFrbtHZrpnu0IcFi7qmMO2SM92udttyV86c8Qj0t+CYott+CjQacO7qr+IFSSD4RkEEeM+5TPYDE4NrorISb5Xq0hKGSWUqpYIDhvCFjBwSzAbksxJ93vpeCf/NuYZIwTb2zNJ3vzZJDGyKkZ+eAGYlhtyG++I/iFmyXHfvCLyEAH5OTgxsOckat4JW2GFbGMHBya0LhV7HPEksRzG6hlOMbEeXTyx0rL0jCikcMkv3OHYduK+ankSuA2UnYooor0ySRRRRQhFFLSUIRRRS0IRRRRQhFFFIaEIzQDWece7X/KFFvGssHymREhmyB3sQkHfNGVOpDoBxnBwwI9J7sOhVLhNTMkdwyx63Zyq93GSNTksRqLYydqjuF0pbTVrt27gjewue9B0pE8gK+0rRrqRl/ODAEVj0MJdFMrFmIBOCVGSOgUj66vP3TeM63FnGzAaS1zpOMqy4SJmG/iBLEDoBnY70gQaV0J4QBgEknHljJ/nWbn5JFRsdXut7R8S2mR4sdl5UFTiN2Ho2XU+ni3HwNSMHBTfQSFwAYnUAZyhIAOWyM4OQPTnvTZEAGAMU4sbx4WLJghsa0bOlscjtuD60n5+fYYw79U1qGneJHcQ5UPLHpl7mbLaAQqyOXWPr+DJJGlh5eQ5cqd3l0rlRLJr0ABVc6tI9B5/nHf1p5bcWKFwIYpFEhfR7Olyg2DYOenQcz57O+DdmopIQwcIxyx7o7MWbOArZAIJ8gehFEklDc4nsFmMyJMSMMfGCexTO04hMigQzsqDdVGll/eUnHpn6qsd12nzaGSMoJQQrI5I0seelcZfzA5H66qxjRWcRklNWxY5zhQGOfIsGPxpvEFJLHBcj4qvQennVuPI6yDyAnMsRmFkgFOK8XU+vDSlnJxs++PcPZUe7ApGG+AgxjrikkuYo2Oc5O5wGb6wAcV1S7QgHkDuNQK5HmNQGRV1OPKzbHRc2skJB0gEEEFfCQQcggrjBB3zU9Z9qLuPbve8HlKob7Rhj8TUSkinkR8DXO4nVOZHoOp9AOZNFuRwnknGbkM7iViWkErICQCV5KPFnTgAacgedX/ALP8biuolVpEeXTmSMqUOevgbcqOWeRxWaQ50jV7WN/fSXESsPFyHXy9QeldD+xXNvstZtL0yyuugGNQNMqnIJ+cvIbjzBI+IIqPvYVF3qA3WEZ8hlzp9M4Db+VMuzfapWjEcu8yjCqox3oHIqBsCPndBz5U7kDBXdipdvE2RkcsBAPIDA+3rWdquS1kXhg8u4+vVSibz8k0n4vFbxs8jeHUdIxufFgAD37Z5daYWnELiwgeWSbRHazqJYFVWDC4ZZZctjUWXvsLpIHgHPNTV3aLMrRSeGJo21hRkldgVGx2wegz5Uzh4NFIJkeWSSBpLeXW5A8cWkCMtpGsYSPfnvgnNS0NjWRGXu4/QKGRbjSm+C8cuWuo4p0jVZ4ZJlVNWqHQ0Y0SEnDkiTmAMFSN+dWl5QvMge84qhWvGEs7+Y3skaidNUUmSBHHFyhbIwC3jkB5sQw+aKbXXErXiN2v4Fp1jtpD3c0LKAe8TDIJQASwJGfzema9AHem0psJNBTXazjM8busEkcYt7ZriQumvUct3acxpU6HyRvyxU/ZcXikYRiSPvdIZow4LLkDOVznbNZ1LweDu7pFd4bV+5aR27zUEGrVbJr8SqMA4HLvWAG4qx9lbRJu4nhiEdtGGaDIw8pkGDIeoXST7XiYtk4xvxryShzKCuVFIKWrFWiiiihCKKSorj/aO2sl1XMyxg+yDuzY+ioyzfAUIUrUH2m7V2liv/ypljLA6V3LMBzwqgnHrVF4592aII62kEjyYwjygIgP0iNWsgc8YGeW1ZQ92ZpxNdFpS7qZjvlk1DWoxyGnIAHLpQhazBwqWWyjV43iktXV7V8qXKJ/h6gCQH7s6WXkT9icUkitbeW+t5rhXD5OXkxLLrClHik8OTjScKMY2xjZ72ev1llUW84nhjQgnDal5aEkJ2LDcg7Ngb+dNu06pdxyRO3d26N4nGAWdGySCdgobbluc9OefJOIjbzSbeWhnKr/ABvjNtdXHyi0di0+O/hdCpiKIFD6uRyAq6RnOMg86ZSWjSOFALFtKoA7L4icb46ct+mKhuBRtFPJHjKlchiCupQ2FYA9Dn4VaeG3axTRyOcKjbnyBBXJ9BnPwpLIcDkiu9LewHXg7gbq0+vOC29mqK/ymaQgs3dsSAOpwcgDoBz2qZteytu6q4eV0YAjxAZB3G6gH7akZ4DcyyQtI0MEcQeV0Yoxy2V0vgaB4WyQTtjlvTXs7eoRLHBcreJFgxyawx0tnCSMObKVI1Y3BX304YRt30FmebdewE/qq/xyCCKXStg7RpgNIplQHqSAgw+B848yKZ8d4VFBcMkYIVkR8FifaLDBJOWHhzvnnU7Y23D7+RYru4D3hJeKNJCjQZUEBChHj0qHIJO+cbCpP7xxXAjknBkkRNBbJUPpJ9pQcEZycH6RomhO3r1XYMpu8W26+qowQYx0qOhdFdkGzE8vQKMEn3fzrQZeztsrtI0YMYHsH2EAyWYKOvL3Y251SJYFYbZAySh6qMnTv6A4+ukq8DqeD/bWi4+cBDRRH9pSnZbh6PcAOMgAyFTyJGAAfMb5x6VcYuLubowusQTScLqXXgcm06s6TuMYqB4DFEipOpJkVXWTJPMIWfw8gMhcEdDUC15cW800clo00008UkV1jIVCy4wcHCgbAA9SD66UcYIWFI4tNFXntJa6V1RQW4ABZ5ZVTCgcgNicnzpmeHrd2IMQhDHDBodJTWp+knzSM+7PpTHt32iFpNaGaJpbNSWudI1DLBlg1A7FQwLYOxKjqBlj2GmMt5c3VvCbexuge7jI06miCBpgo2UEtjbn8K6I/TutRL/VShZFKsUcFHX2lbYj+o8iNjSVqfFuDxXMelxuB4XGzIfMH+XI9aol/wBnTb2/eSyHv8p4BpKEu3sLtqyFyc56HpSxj9leHKF4Zdd0ySKCxjfl1Izhhv6Ej31c5+ORDJkaRVG5Xum9/iYAg/AiqhbRanVfM6j7gcn7cD41K3pDMF548Z/8ftyf8tEejx5zgXWD0v4KWRO3GxX5D+g+pTDjfbeQzr8mcIiYKl4zljpOrOrHhwcY299TXBu2q3QEF5iJ3I7uaPIXUpBQkHOg5A5kqeXXFR9zbrINLqGB6EZqp8R4ayuYQC4kB09WI6qegxtudsGvRM0eDGgEbRwO/wDK8nia1JlS8dT2/hXu4lMuA4VhG5bVq1mWRQV73JAwMZ0qBgA7dKUXBiKyjnGdXvX56/Fc/HB6V4tkIRQeYUA+8Df7a8XrYQjmWGlR5k7Af79aTIaxhvovoTIWti20rNxTjPczOJJo4lZVMRdvmkANoixmWTV6/OUY3OZ7sTaSQ2UUcgII14DABghkYprxtr0kasbZzWc3/DI5dJmT5QyAKGkwSAB06Dl0FeuHo0X/APnmmt256NZZNj+Lclce7B35isOLVoAehr3/ALysuTT5T0pbDRVX7IdpWuC0NwqpcRjV4c6JUzjvEzy32ZckqSOYINWcVsMe17Q5psFZrmlp2u6paKKKkoqp/dG7W/e621IA08pKQqeWcZLt+ao+skDrXzzd3Mk0jSzO0sr7s7nJPp6DyA2FXj7tl2X4ksZ9mK3TSPWRmLH91fqqhZ5DqSAANySeQAG5PpQhFeUbnnoat3DOxbAxteyLbRuwAVmHeP8AmgDZfeeWelaDxHgsFvH3lvZxSTLpWMBBzJwGJPkNySenOq3SAGlc2EkWsn4Nxu6swzwEqrDxakJQ45H0O/MEVe7ghiqf8uEKAPpOFBLHzxn68nyqb4Zx+OUG2umhjn3RoRIh1DHMAMcbZ2PLFQUVq0WqNzlldsnzyxIPxBBrNzuadXT9+6T1HcyIbSud1bB8dGHst5f1HmK58Ku44pgLpBpYBVYrrQMWGSc+Y25ZG/Q5p3XG7GUcYzlW289qSik2kWLSeFqU2ODGDbT2Urx2GU2Lwxq0hn720AXGrCSP3LZYgYAXDZO4JPTeR7J8BFuzyCCO2EkUKGKNtfjj1anZsAZOrH+XOd6fTpEtvEGcoo7vTID7LAeFiTkYzzLbHODzp7axSA5eQOOgVAo953JJ92B6VqmQltL0LWDduWcp2U7i4hNtau0tvemZ7vICtExJEektqYrlQdI+ad98VpltCEVVHJQBvzOOp9aZ3tw5dY4mQPszhlLYj89mGnOCB8fI1IVF7y4C1JjA0mlEccvGhhldQrFSAQ4OCGOk8vfWfRpgAeQA+qrh2xutEZi6ysD7lU6ifrwPjVNM2GIx0zny94/3ypDKtxDQtnTaY1zyrn2c4Rpt2mz4pAxx+aAQAM7ZOM8vLyp9wrghaCFXuJJEURsFBUA6cMoyFB0g42z0GajexnEC0IRvaXJHqjHK/VnB9w869yzwRPiQtb6iToZysb77ld9PqQMHfcb1pMa5jdqxJnb5C4+6sV3bSGRHhZEwrK+tC4ZDgqNIYDIO+c7bjG+3KO2mDu80kcg0BECRmPQAckY1MDnbfb2QMVCXHHFmK28LOe9ODJHlQgCliQwwScKQNPmM7VYUbwBF1nAAyxycDzPU+tFuApQ2i7pOoQcb+Q/37uVZx2w4os84C6gIQ6MGGAJNWCRv4tgN/Lbzq+cX4mlrCZH30jAUc2bGygeZ/hmsdlv0kLqXy76ixUE5Z9zjHPnUNpPQKW4N5JpS3BriPuzJqBLdAdwPmrjnk88eZpzGp3Y+0xyfTyHwH86juHWOWM0iKHJ8OF3UaVXmd9wvLpnHnUrXq9PxfDZucOV437Q6z5mseP7revxKK4Sth4zgk6iMKCxIKNkYAyeQPwrtUtwWIRo13JhURTo1HAORu+TyGNgfU9MVbnzNjhN9T0WdocUj8xjmfhNlNoo3dwgUKx/GMF5+gy2ceYFdZOC3ETF2UT88GNlTQPILIw39dRz6cqbCW9N5bmSK1RblWmhQLmWQIA2h3z4JtBBGMqSCM1P9oL/UkcUMIuZbgExRMwVSqrqZ2J5KBj4sBXkchsko2P6H2X0zzxdzfRRJWYIX+TS6VBOxiY4HPAWQk+4U1tblJSGUkMACQRg6Ty5jdfUbVJ9huJiRAGj7qSRS5RWLJ4XaNtJO4YMpDDoQOeRUYYMyArsqST7/AJpdgFHpyP8AlFYWXhRQsuqPz46JrHyHSH3CccK708TswgXSO9dmzghBGVZfzgS6EDzWtWArMewcxuL/AFqjhLaOdGZlIBdpVQBTyb/DY7cuuK08Vu6dG5mO1rhRWRmuDpiQiilop5KrG/u6cCYPDeqMrp7mX83cmJj6ZLLnzK1n/ZCRUv7dn9nvFGTyGRgH08RB+FfTt5apKjRyKHRwVZWGQwI3BrJuNfcX3Js7rSOYjnUsB6CRTqAHqCa4RYXQaNp790IRpbmdo+8kiSTugRqUEgMWZT4SAFzvnAzsaOy3HdTi3kuYLqQwLMrwAKNJ2aNlBIDLtyxseQxunALiaW2h74RvOo7xDzVwhw0bkr4WKnSdvnE9CK78H4ZZhg9hbC3Cy6pnbIfIRgYlVs+Hx8wQuwIzsaXAG0gpsudvBHQrNrTjVyPlNrJYma8vpElgmxumcGNl8J8C7MCCAN88jWn8QsTNDHKo/CaFJHPUCM49SM/Gn8YmUFY7ju7cgsukKXXVksFdsqI+RGxO53AAplxWB2sWWzkJdUHdOrAk6CNgw2yQCvxqM22QBqgcfc1zX9Cq4DS1QrHj8sTsWJfLEur7HUTvz3Vs+nwq3WHF45cYOlj81tj8Oh+FZc2K+M+4XnpcGVtuaCWjv/KsnAOMCJe5m/w+SOeQB/5b+Q8jyxsemfHGOETQMWtWfuXGSiu5EZx8xV5Iefh5HoQdosMM4yM9R6GhJpYh+AkZBkZTZkIzuArAhSRnljfGathyeacnsTU9tMlH5qz9kuGmJZHf25NOcjDaVBxqyxOSSx3OcYqU4lxBIFyx3PsqObe7+vSqy/aBgmI28RHLuNGk+rFyp/yg1FKG5u7SOfadtyf6D0Gwqc0wb803lakyNvo5JTG4v3nkkdyM6iAByVVJAX3cz8abYJZWGDnbbqD6+n86cXVmhZiRzxnBIB94BwfjTdIGU4QKwPs5YjTncgjHIZOMUq4BxLgeVqYGvQljY5PTQ6/FduGzPDLlDo2yuDsCM6hjyI6cjirJxPjkd3EscrC2cHKyn2Aw2PiyNKkZBBI57HO9VC5tzHiTvTIUyChGNWfo4HteWc88eoeCNn06sqCD4Rzx6kfwH116DAh8xEB3HdZmdq+K0mRpI+HdW/sxwkQymV2RjpYoVyR4ufidiSMDAA2HrUmO0Qd+7iKSykE6EOcAcy5Bwo9+/oaz6Ph0S5Tu0xjIGkY+r/fKoKzkktXzGxiYasYxpZSc8iMEcqadpTv8uVmxa6yU9Crf90iCVXt5GmIk/CaVXZF8Kjwg89iQWO/i6cqacMC92pVQobcj1J3yepzneoSeea6k1O5lfGNR5KPLYYA/3vVht4gqhRyAxWpg43gto9Vh61meNQaTXt+66V4mlVAWYhQOZJwBTaa7YFwqElNJJJ2w3Xbc432A6U9ThyspJYSMQdLfNGRzUDYe/n60tqetQ4IAIsn+8lc0v7O5GaQ4+lvv7/JTPBOBd4BJMpCHdYzsWHm46D836/Kp3jVsZbeaNebxOox6qQMV64TeiaJXAwSMMv0WGzL8CDXLiHEVSSKJkJ78soOVC5CliDk5JwCcDyrAmyZJ37nFe2xcKLFj2RhVnsT2NW3ljv5eIG7jt4j8nTf8GrLjByxwcHTpGN8e6mnaPgCTywiS9awlghTQ4zhhIX75VIIOoYXkeR3FXn5FHse7TK8vCNseW1eZL4qxXu5D5FVyG2884U528WKPHs3SkIKBFqAVYIIlWwZJu4iWCN9QOZZn1szsOR3DnbqRUX3NyZBbW0SPMqCRiznQIzkBi+nOpmBwCN8E9Kmr6RLdFaXCNPdI2AMnOQ2PCMsdKZOOpNWPsNYlLYSOpWadmkkLDDHLHuwQfZATSAvT66g/HZkOt44CkJnQNpp5Uj2e4YLa3jhBzoXxN9Jzu7fFiT8akaKKeApJJaKSihCKKKKELGOz/HYbrirmKD5OALnOljpmOuII5XOBIcSk4A2YbnerRxW3g16pUk8QAZk7zSwHzZBEcH/MMfwrP+0nYW+s7tpLWKSWMyNJFJDuyam1aWXORjJHUEfVVuh7R3FtDE3ErcwGUlVKEMSVGfGgJKEjfAJ+HKqJWm9ybx3X6O698S7VQLGyw4lOCoCqSgI2wdsHGPZXJ25CpvhUemGMddCk+ZYgFifUnJquXN/wuZu9Z4w/m2tM/pL4dfxzXHiH3QLcI4gkBdV2ZlYAtjYKuAXOfcB1PnT16JwxubwQoj7pU8LTLGiR94vikkCjVkjwoWxnkckeq1UCK8RSM+WclmYksxOSSTua9Nyqlxsr2OBjthxhx15KtPZ21CRZxvIdR93JfsxUnXO2GEXH0R/CutZkji5xJXxrKk8Sd7vcleJZNIz/AOtycCvAlO2dG5x4X1Y+GB5UXUWtcddiM+h6+lcLe1OoMwUY5Y33PXOPsrgqlW0t2m12uLtEIDHGc9DyHMnA2Hqa9tIoXVkYAznpimpuAJH+c+FUKOeMasnyG/M+VeVg06VPz3LMB7OQCcAdBkD37nrTcOMJHMZfJpWzxMihD93PWk4hjydbDfoPoj/Uev1e9xSVxltlY5IOfQkfwNfQoIGwRhkY6LyskvivLnldNY1ac74zjrjzokjDDDAEeRGaaJwqENqCeI8ySxP2mmPGrt4NIjYBWB9rfBGOp6b/AGV0uLRbgrYoWyPDYnG/jx/pTKIFGAAB5AYr1UjwfgUlxbRzrKg7xA2kocZxuurV55GcVH924ZUMbiVhtFjLH3Y2IH0gdPrVUWbC+wDVK3I0vKjpzm3ftymd7ESy4YrqBjJU4I1DKn3hh9prrw6R0JjSIEBhrfU25IBLeIHJx0yamm7HXkijCxRnUrDXISfCwbcIpHTHOi87IXAOowhz17qXn79WjNef1eODL4a4fWl7j7Oukx8fZNwQePkvNjxdbeY9Y23lxv3ZA2kPw2I54APTd52zh71IHQqVVywfOwLIdDBh7O+AG5ZIqFkiEI0uhh9HQoM+8jB94JzXnh148KCOB0AGwBOpCnkY/pY21Ky55kGlIsExRta124hbcjtztzVP9n+LXMoIMSsEwO8du7y3lhVZWOObKcfHIqYueILEo7wjUfmrkkn80c8ep291VS74zdafC0YAx4Y00kjqAWY4Ply8vWktZ0fLKck+1nOrPk2d8++kNQkfigHb1/RWRQ73c8Lrb9oTFdNcXNvI+AI7VYmQqveEBshmBMzNgbAjGw5nOqLWM2XDmnv4jaySd4rq0pGl4okBGsnWpCSMvhAUht88s1rt/wAQigQvNIkSDmzsFA+Jp3CkdJCHO/1SzctjWykNTrNVLjnayW3uSvcq9tGYUmk14dXmYBdKacMq6kJ3B8R8qjuLdplup4ktL3REY5Wd4AjPrTRhW7xW0rpZm9nfHOofiNjdussWtJpJbiCUykBAIEC6HIBwWDxDIGxz0B2vc8A0qmRk8rU1kGSMjI5jPKiqB2O4bGbvvrdSY4kdJbk87mViMgsd5NOCS24BbA5HBUwbCg4UaWh0UUV1cSGsY+7Jf67yKLpBFqP6Urf6UH1+tbOa+d+205k4jeE9JdA9yIqj+FUzmmLY0KLxMxt9rKhRXh4FPT6q914LH6PxyKRFr3cwjr1i/wAl7AxyHoB/IetW607DMyAvLoYjddGrGemdQ3rp2H4ETi4lXH4pT5fTP8vr8quSW7TSLEuQvtSspwQg5KD0Zjt7gx6V1rSXbR1XmtT1Y3thNNH1UDD2flVQvfIdIAyYjk46n8LXo8Dm/Gx/sm/uVeDwCDGNLftHz9erNeDwCP5ryqPIPq/7wxq44B+C8eYsYmyxUd+CzAE97FsM/wCE/wDcqPu+HXscXekRFCocGNWbCnGS2X2IU52DDb69MXgqfSc+8j+QqH4Auk3Ea6jFFMY4tRzsEXWAceyHLKPLBHIVF2LsbbgFJuLjPNBqrHErBIVV0XAGRIepDY8bHruB8G9KazxahzwQcg+R/p/WrDxKP5MDrGbc7BuYjB20OPo9A3wPmYCeMKQLciYEj8GpyVz+dy0j87HvOwrHh8aN4Dr3A8H3SGXhOJ9ITf5YFOJMITsMnZv0T/I705qb4TwlgQCFeZwRj5qrtn/KNsnrsPIVYoeyloqaNI1ZJLaiuSeey7AeQxgV7HF1pwaBMOfcLKn+zpItjqPsqFiq52pmGpBzKAkgEZGrGNj54rXx2QtwckSMPIOf5AH7akouGwIV0Rwgp7IZBkeoJ3B9aun1iMimtK7haHJFJve4fkobsq0a20USusjRRqHCsCdWPFkDlvUdxLiMcZE0UiZhYtojYKT0aN4mORnkSuDnBwcYq0cctElQIyKZHJWNsZKEg5dTjK6Rk59w61zZIrdQqrsCcFvGxb5zFmOfjmsIuFlxXqQ/japRxk+yx+P/AL515wPNk9/L7dqa2/EFfbUB6MMfaDinSkAdce/UN6rq+QoLoAeRAI/30NUP7oWhDH3aKqwsJJiqqMghlGT9FQdR96VfHZUUscKqgk+gAyapPF59Fu9w4w+8mD9Jto0PuOj9SuGYxkEKTLu1XgabX3D4phiRA22M8iPcRuKj+zEWFkx7Orl+dpBY+85FTVbrCJGAkLWB3DlcbYzxqEiu7iOMckUpgfEpq+2uKWyrOkzlpWLBC0zGQjWcKVLHwnVgeHGx9BTyuNxHq0AczJH9kgY/YCa7saOgUDEwcgKcWBVnhm0jUD3ZON9Em2P19B+uu7LHqniEAZAAhjEfhfKhss58CoNXs8+Z32FNL0uXhihKiWWZAhYFgAh7x2IBGQFU9RuR51ZbTsZH4jPJLcGRtUis2mJjgDHdptpwAMEnON80lkR7n2EvPI1jqR9zRT97YM8jrKgHKhTI2gITuU040nyxRVnRAAABgDYAcgB0ooWeUtFFFdQkNYJ90nhpg4jKT7NxiZD57ASD3hhn3MK3yortD2fgvYu7nTUoOVIJVkb6SsNwf49c1CRm5tJ3T8w4k4lAtfOZqe7J8B+UvrcfgUO/57D5vuHX6vOpTjnYFYblIYbppM4eVWRcxRb4JdSBqYjCgr0J6VcLKz0qsUKjYYVegA6k+Xmf5mkHMIO3uvR5mttlhqKxfW10RSxCoMseQ5D3nyUVYuHWQiXA3YnLN9I/yHQCvPDOHiFeepz7THr6DyUdB/PJLytHHgEYs9V5GWXefgloptxG67qJ5NJbQpbA5nFQlj2ztnQl5FV1JGlSX1Y5mMgAyAHYkDYgg4pjvSoJoWVNcUu+5ieTGSqnA+kx2VR6liB8ahOFYiiVHcllXLl9IPqxC7Lk5PxqL7Q9o0nVESJ2TVqfXpUEKPCMEk+1g7j5tQMlwMaRbjRnVp79wurOc6QuM5qqfFnk4DSoxaniR/ekFq1X82ubTnKRqCR07wk8/UKM4/Opve3awoXbOBgAKMlmY4VQBzJJAA9aiIuO6AAYGCj8UQ2Ph4SfgDTu84nA9uzltUbeA4B1ajtpxzDehxjFZsuPLG71tIWjDlwzi4nAqz8HdYkJKTGR93YRN05KoYA6R7tzk9afRcYiJCmQox5LMhjJ92sDV8M1UIVubqytjZzJE+jMhyyHVttpAYe8nPpUZL2l4jY+G/gFxCdu8wMEfpKNHwZVz51XuPThSZjul5BF+3dahqxzGn1G4/8AVdV38vhVJ4D2jt5iBaTd1If/AMabZW8wgPL3oceampXiPaKKNe7kYWssh0/hCF/SZG5PgZxjfJUEAnFSabNKh7HMNOHKkbZtbNL744v0QfE/xYfUi+dNLqxZyTrQdAC3T19evxrp37kBYYFCJsplfTgAbYVVY4x54NehPdD5kD+gd0/ihB+ygyMPBK4AVETQMhwwx/A+41O8LttKKDzPjP8A4j+fwpnJxVF/xo3g8y6ao/eXTKj3krUpYzrIutHWQNvqRgw9MEV1jQLIQSmfHnyFi+mct+gpBI+JwPcTVA+6Rf6UjiHUmRgOoXZR8Sf3aubTd5I79M6F/RQkH621fDFZ3r+W8QL844zn0IQ4T63y3uBpa98vwCuiavH/AA33Rt3M0kCsAlwUwwEj7rKyuCCoY6CdjhgcjTVmuOxd6vsSW836WuI/YHFOZ4ldSrAMrAgg8iDsQal+xXEWKtbSnMkGNLHnJCfYf1Yew3qufnCtLGyD921KRz4+WlVk9l778TFnz77b/sz9ldbLsXes6tJJbwhc7JrmO+2QWVADjI5Eb1pFFNmRxVJyJD3UPwXs7FbnWC0kpGDLJgsR5DACovooAqYooqCqJJ5KKKKKFxFFLRQhJUL2m458mQBV1zSErDHy1N1Zj0RRux+HMgVL3EgVSx2Cgk+4DJrI7fjsksjXMkep5R4PHtHFnKRqNO2xyx6t6AAVSybG2rI2bipyytdAJZtcjnXJIebueZ9B0A6AAVzlvJklxFqAZRqYRq2kAnYM7AZPu2xnyFMvv4fxX74/pS/fw/ij+sKQbIWu3JxzAW7VMR8WuFO7MR5tGjfZG6n6gadwdpujqm30ZAD7ykoQj6z76rv38/6TfrLXl+NA84SfeVNMtzXfiCodjN7K2R9qLcnALZ8gur/tyKzGXjStc3BkXuyZpMbbBQ2FBHzSQAx6EtnrU999U/J/+yo6+gt5SWNsysebIyqT78HDfHNNY+otjfuISWbpvjxbLXMXcZ+en6w/rSNeRjnIn6w/rUdLwVPmmUfpd2f4EV5Tgi9TL8FiH8WNa3/MQV1+i89/1uS+qczcbhXk2s+SDP28h8a99lLFrl55JFxDIAMZOC64Csh23UAgsOrY6V7teHWy7tBNL+myEfFQwU/EVPpxtQABC4A2AGjA/erMztTEzdjQtrTNHGI7ffKYS9k8bxS4/TUE/rKR9eDQkV/DnS7Op5gSd4MeWmYcvQVIjjw/FSfuf66X7+r+Ll/c/wBdZFnut0gKP4R2iW0JR7VIi53eNRE+fMK4Kt8CAKofarj9w0kPdyOSQTNrXODqx4iQQExy3xitKfjSEYMUhHkQh/8AOmV29rINL2hI/QjB+sPmrI3BhulU9m7lWDsPOJLfu45cYdiro8bnSG2XS2oqOY3HICq8fukTQzSRsqXMaSMquPwbFQ2M7ZUnn0GfSoy6sIDugnQjlkK+PcS4b96q6/B5EOAsjrnYqqqQPUMx/iagY2uJKaw2Y7XHx7Irivdbd2f7RJdxrIkcqhiR4l2yDgjKkjnTTtPbRxoZESFJGZF1nKN43VNYZCCdOc4Plzqkdme1BsI+67kFSSx1s6HJAyctqXpyGBU5xPtZbXcDRSJLHqGzaVkAPMN4SScHB5VT4Za/jok5GcnaOOyecevFt7NjGfmiOPffJ2zvuSNyfdUH2Is9EJkI3lOR+guyfA7n/NVf7QcbM6xQ5LFObKrAOzHSGRXCsQF3OQN2NWm24zCiKirIFVQoHdtyAwKk1hY3nqVOMUFM00vdaFJ4RmWAkhfxiH/Eh/zAbeTBT0puOPQ/9T9k/wDJaX7+w+cn7KT/AEVJltNhTIBFFaHw2+SeJJYzqSRQyn39D5EciPMU6rNuxXH1jvDbLr7m51PHqRlEc4GXUagPC4y+PpBvpVpIrUabFrPcKNIoopakuJKKWihCSilooQuF5AJEdDydWU+5hisli7N8QiHdm0aXR4RIksAVwuysA8oYZGDgjY5rYaKg+Nr+qmx5b0WQfeXiH5BL+2tv79H3l4h/9fN+1tv79a/SGq/LR+yn471kH3mv/wD6+b9rbf36PvNf/wD1837W2/v1r9LR5aP2R471j/3nv/yCb9pbf36PvRffkE/69v8A3q2Ckrnlo0eO9ZB96b38hn/Wh/u0feu8/Ip/ri/u1r9FHlo13zD1kH3ru/yO4/8A5/3K8nh11+R3H6q/yetiNJR5WNHmHrHfkF1+R3P6i/6qQ2Vz+R3P7Mf6q2Sko8qxHmHLG/kdx+R3X7L/AN0fJLj8kuv2R/rWyUVzyrEeYcsb+S3H5JdfsWpPk8/5JdfsWrZKWjyrEeYesZ7ib8luv2D/ANKay8LJ3NncA+awSKfrUA1uFBroxmD3R47lhsPDGVg3ya7LLnBaGU4zzx4a9m5P4m46/wDJfbHPO23xrbhTOXhELEkpuTk7sN/gaDjMPuueO5Y0b7H/ACbn/wDXl/015k4mBziuOeNreU7g4xsvnWyfeSD6H7zf1o+8cH4v19pufnzo8sxd8w9ZT2dudd3AxjnjjhYyOzwugyFKoo1AZJLfAKa1D/iGH/qfqN/Suv3jg+h+839a9DgkA+Z+839atYwMFBVOcXGyuP8AxBD+f+oaT/iGH8/9Rv6V3+8kH0P3m/rSfeOD6H7zf1qaivMHHInZVBYFiAMqQMnlvikrtDwiFCGVNxuNycHz3NFCF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/>
          </a:p>
        </p:txBody>
      </p:sp>
      <p:pic>
        <p:nvPicPr>
          <p:cNvPr id="78852" name="Picture 4" descr="http://images.clipartpanda.com/school-clip-art-school-clipart-wallpaper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39752" y="2780928"/>
            <a:ext cx="3799395" cy="311094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9304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r>
              <a:rPr lang="el-G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Ξεκινώντας από τα βασικά…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1920" y="2204864"/>
            <a:ext cx="4648200" cy="1828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l-GR" sz="3200" b="1" dirty="0"/>
              <a:t>Τι εννοούμε λέγοντας </a:t>
            </a:r>
            <a:r>
              <a:rPr lang="el-GR" sz="3200" b="1" i="1" dirty="0">
                <a:solidFill>
                  <a:srgbClr val="C00000"/>
                </a:solidFill>
              </a:rPr>
              <a:t>αξιολόγηση</a:t>
            </a:r>
            <a:r>
              <a:rPr lang="el-GR" sz="3200" b="1" dirty="0">
                <a:solidFill>
                  <a:srgbClr val="C00000"/>
                </a:solidFill>
              </a:rPr>
              <a:t>;</a:t>
            </a:r>
            <a:endParaRPr lang="en-US" sz="3200" b="1" dirty="0">
              <a:solidFill>
                <a:srgbClr val="C00000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4437112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763688" y="4365104"/>
            <a:ext cx="6629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/>
              <a:t>Έχετε 10 λεπτά για να σημειώσετε ένα πρόχειρο ορισμό της αξιολόγησης</a:t>
            </a:r>
          </a:p>
          <a:p>
            <a:endParaRPr lang="el-GR" sz="2400" dirty="0"/>
          </a:p>
          <a:p>
            <a:r>
              <a:rPr lang="el-GR" sz="2400" dirty="0"/>
              <a:t>Στη συνέχεια συγκρίνετε τον ορισμό σας με αυτόν του διπλανού σας και εντοπίστε κοινά στοιχεία</a:t>
            </a:r>
            <a:endParaRPr lang="en-US" sz="24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4</a:t>
            </a:fld>
            <a:endParaRPr lang="el-GR"/>
          </a:p>
        </p:txBody>
      </p:sp>
      <p:pic>
        <p:nvPicPr>
          <p:cNvPr id="28674" name="Picture 2" descr="http://cdn.teachhub.com/sites/default/files/styles/large/public/smiley%20face%20option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1772816"/>
            <a:ext cx="3137925" cy="235344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9304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l-G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Αξιολόγηση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534400" cy="5257800"/>
          </a:xfrm>
        </p:spPr>
        <p:txBody>
          <a:bodyPr>
            <a:normAutofit/>
          </a:bodyPr>
          <a:lstStyle/>
          <a:p>
            <a:r>
              <a:rPr lang="el-GR" sz="2800" dirty="0"/>
              <a:t>Η αξιολόγηση (</a:t>
            </a:r>
            <a:r>
              <a:rPr lang="en-US" sz="2800" dirty="0"/>
              <a:t>assessment) </a:t>
            </a:r>
            <a:r>
              <a:rPr lang="el-GR" sz="2800" dirty="0"/>
              <a:t>είναι μια διαδικασία κατά την οποία παίρνουμε </a:t>
            </a:r>
            <a:r>
              <a:rPr lang="el-GR" sz="2800" b="1" dirty="0"/>
              <a:t>πληροφορίες</a:t>
            </a:r>
            <a:r>
              <a:rPr lang="el-GR" sz="2800" dirty="0"/>
              <a:t> σε σχέση με κάποιο γνωστό </a:t>
            </a:r>
            <a:r>
              <a:rPr lang="el-GR" sz="2800" b="1" dirty="0"/>
              <a:t>στόχο</a:t>
            </a:r>
            <a:r>
              <a:rPr lang="el-GR" sz="2800" dirty="0"/>
              <a:t>.</a:t>
            </a:r>
          </a:p>
          <a:p>
            <a:endParaRPr lang="el-GR" sz="2800" dirty="0"/>
          </a:p>
          <a:p>
            <a:r>
              <a:rPr lang="el-GR" sz="2800" dirty="0"/>
              <a:t>Συστηματική διαδικασία προσδιορισμού του βαθμού στον οποίο επιτυγχάνονται οι στόχοι που επιδιώκονται.</a:t>
            </a:r>
          </a:p>
          <a:p>
            <a:pPr lvl="1">
              <a:buNone/>
            </a:pPr>
            <a:r>
              <a:rPr lang="el-GR" sz="2500" dirty="0">
                <a:sym typeface="Wingdings" pitchFamily="2" charset="2"/>
              </a:rPr>
              <a:t> </a:t>
            </a:r>
            <a:r>
              <a:rPr lang="el-GR" sz="2500" dirty="0"/>
              <a:t>Προϋπόθεση η ύπαρξη ξεκάθαρων και σαφών στόχων.</a:t>
            </a:r>
          </a:p>
          <a:p>
            <a:pPr marL="0" indent="0">
              <a:buNone/>
            </a:pPr>
            <a:endParaRPr lang="el-GR" sz="2400" dirty="0"/>
          </a:p>
          <a:p>
            <a:endParaRPr lang="el-GR" sz="2400" dirty="0"/>
          </a:p>
          <a:p>
            <a:pPr marL="0" indent="0">
              <a:buNone/>
            </a:pPr>
            <a:endParaRPr lang="el-GR" u="sng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492825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Ορισμός αξιολόγησης και βασικές έννοιες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6</a:t>
            </a:fld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l-GR" dirty="0"/>
              <a:t>Η αξιολόγηση των μαθητών στο σχολείο είναι μια διαδικασία στενά συνυφασμένη με τη </a:t>
            </a:r>
            <a:r>
              <a:rPr lang="el-GR" b="1" dirty="0"/>
              <a:t>διδακτική πράξη </a:t>
            </a:r>
            <a:r>
              <a:rPr lang="el-GR" dirty="0"/>
              <a:t>και κατ’ επέκταση με τη συνολική κοινωνική λειτουργία του σχολείου (Παπακωνσταντίνου, 1993).</a:t>
            </a:r>
          </a:p>
          <a:p>
            <a:endParaRPr lang="el-GR" dirty="0"/>
          </a:p>
          <a:p>
            <a:r>
              <a:rPr lang="el-GR" dirty="0"/>
              <a:t>Συνήθως αναφέρεται στη διαδικασία, κατά την οποία ο διδάσκων </a:t>
            </a:r>
            <a:r>
              <a:rPr lang="el-GR" b="1" dirty="0"/>
              <a:t>συγκεντρώνει πληροφορίες </a:t>
            </a:r>
            <a:r>
              <a:rPr lang="el-GR" dirty="0"/>
              <a:t>από έναν αριθμό </a:t>
            </a:r>
            <a:r>
              <a:rPr lang="el-GR" b="1" dirty="0"/>
              <a:t>διαφορετικών πηγών</a:t>
            </a:r>
            <a:r>
              <a:rPr lang="el-GR" dirty="0"/>
              <a:t>, προς το σκοπό διατύπωσης κρίσεων για έναν μαθητή ή για μια ομάδα μαθητών (Γεωργούσης, 1999).</a:t>
            </a:r>
          </a:p>
          <a:p>
            <a:endParaRPr lang="el-GR" dirty="0"/>
          </a:p>
          <a:p>
            <a:r>
              <a:rPr lang="el-GR" dirty="0"/>
              <a:t>Ο Stufflebeam (1971) ορίζει την αξιολόγηση ως διαδικασία </a:t>
            </a:r>
            <a:r>
              <a:rPr lang="el-GR" b="1" dirty="0"/>
              <a:t>συλλογής χρήσιμων πληροφοριών </a:t>
            </a:r>
            <a:r>
              <a:rPr lang="el-GR" dirty="0"/>
              <a:t>για την κρίση εναλλακτικών </a:t>
            </a:r>
            <a:r>
              <a:rPr lang="el-GR" b="1" dirty="0"/>
              <a:t>αποφάσεων</a:t>
            </a:r>
            <a:r>
              <a:rPr lang="el-GR" dirty="0"/>
              <a:t>. Ενεργεί δηλαδή η αξιολόγηση ως μηχανισμός ανατροφοδότησης, με σκοπό τη συνεχή βελτίωση και τελειοποίηση του.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Ορισμός αξιολόγησης και βασικές έννοιες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7</a:t>
            </a:fld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l-GR" sz="2200" dirty="0"/>
              <a:t>Οι Gronlund και Linn (1990) ορίζουν την εκπαιδευτική αξιολόγηση ως τη χρήση</a:t>
            </a:r>
            <a:r>
              <a:rPr lang="en-US" sz="2200" dirty="0"/>
              <a:t> </a:t>
            </a:r>
            <a:r>
              <a:rPr lang="el-GR" sz="2200" b="1" dirty="0"/>
              <a:t>τεχνικών μέτρησης </a:t>
            </a:r>
            <a:r>
              <a:rPr lang="el-GR" sz="2200" dirty="0"/>
              <a:t>των επιτευγμάτων των μαθητών, αλλά και ως τη </a:t>
            </a:r>
            <a:r>
              <a:rPr lang="el-GR" sz="2200" b="1" dirty="0"/>
              <a:t>συστηματική</a:t>
            </a:r>
            <a:r>
              <a:rPr lang="en-US" sz="2200" b="1" dirty="0"/>
              <a:t> </a:t>
            </a:r>
            <a:r>
              <a:rPr lang="el-GR" sz="2200" b="1" dirty="0"/>
              <a:t>διαδικασία </a:t>
            </a:r>
            <a:r>
              <a:rPr lang="el-GR" sz="2200" dirty="0"/>
              <a:t>η οποία παίζει σημαντικό ρόλο στην </a:t>
            </a:r>
            <a:r>
              <a:rPr lang="el-GR" sz="2200" b="1" dirty="0"/>
              <a:t>αποτελεσματική διδασκαλία</a:t>
            </a:r>
            <a:r>
              <a:rPr lang="el-GR" sz="2200" dirty="0"/>
              <a:t>. Ξεκινά</a:t>
            </a:r>
            <a:r>
              <a:rPr lang="en-US" sz="2200" dirty="0"/>
              <a:t> </a:t>
            </a:r>
            <a:r>
              <a:rPr lang="el-GR" sz="2200" dirty="0"/>
              <a:t>με τον προσδιορισμό των αναμενόμενων μαθησιακών αποτελεσμάτων και τελειώνει</a:t>
            </a:r>
            <a:r>
              <a:rPr lang="en-US" sz="2200" dirty="0"/>
              <a:t> </a:t>
            </a:r>
            <a:r>
              <a:rPr lang="el-GR" sz="2200" dirty="0"/>
              <a:t>με την κρίση (judgment) του κατά πόσο τα μαθησιακά αποτελέσματα έχουν</a:t>
            </a:r>
            <a:r>
              <a:rPr lang="en-US" sz="2200" dirty="0"/>
              <a:t> </a:t>
            </a:r>
            <a:r>
              <a:rPr lang="el-GR" sz="2200" dirty="0"/>
              <a:t>επιτευχθεί.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l-G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Βασικές έννοιες: Μέτρηση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534400" cy="5257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l-GR" u="sng" dirty="0">
                <a:solidFill>
                  <a:srgbClr val="0070C0"/>
                </a:solidFill>
              </a:rPr>
              <a:t>Μαθηματική έννοια της μέτρησης </a:t>
            </a:r>
          </a:p>
          <a:p>
            <a:pPr>
              <a:buFont typeface="Wingdings" pitchFamily="2" charset="2"/>
              <a:buChar char="Ø"/>
            </a:pPr>
            <a:r>
              <a:rPr lang="el-GR" sz="2400" dirty="0"/>
              <a:t>Μέτρηση είναι η σύγκριση ενός μεγέθους προς κάποιο αντίστοιχό του, το οποίο έχει καθοριστεί ως μονάδα μέτρησης (π.χ. μέτρηση του βάρους)</a:t>
            </a:r>
          </a:p>
          <a:p>
            <a:pPr marL="0" indent="0">
              <a:buNone/>
            </a:pPr>
            <a:endParaRPr lang="el-GR" u="sng" dirty="0"/>
          </a:p>
          <a:p>
            <a:pPr marL="0" indent="0">
              <a:buNone/>
            </a:pPr>
            <a:r>
              <a:rPr lang="el-GR" u="sng" dirty="0">
                <a:solidFill>
                  <a:srgbClr val="0070C0"/>
                </a:solidFill>
              </a:rPr>
              <a:t>Μέτρηση στις Κοινωνικές Επιστήμες </a:t>
            </a:r>
          </a:p>
          <a:p>
            <a:pPr>
              <a:buFont typeface="Wingdings" pitchFamily="2" charset="2"/>
              <a:buChar char="Ø"/>
            </a:pPr>
            <a:r>
              <a:rPr lang="el-GR" sz="2400" dirty="0"/>
              <a:t>Αντιστοίχηση αριθμών στα πράγματα, στα πρόσωπα, στα φαινόμενα και στις καταστάσεις έτσι ώστε η σχέση μεταξύ τους να αντανακλάται στις σχέσεις μεταξύ των αριθμών που προκύπτουν (π.χ. βαθμολογία μαθητών, συχνότητα εμφάνισης διαφόρων συμπεριφορών κτλ.)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8197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15962"/>
          </a:xfrm>
        </p:spPr>
        <p:txBody>
          <a:bodyPr>
            <a:normAutofit/>
          </a:bodyPr>
          <a:lstStyle/>
          <a:p>
            <a:r>
              <a:rPr lang="el-G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Μέτρηση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24744"/>
            <a:ext cx="8686800" cy="5352256"/>
          </a:xfrm>
        </p:spPr>
        <p:txBody>
          <a:bodyPr>
            <a:normAutofit/>
          </a:bodyPr>
          <a:lstStyle/>
          <a:p>
            <a:r>
              <a:rPr lang="el-GR" sz="2400" dirty="0"/>
              <a:t>Η μέτρηση αποτελεί μια προσπάθεια για </a:t>
            </a:r>
            <a:r>
              <a:rPr lang="el-GR" sz="2400" b="1" dirty="0"/>
              <a:t>συλλογή</a:t>
            </a:r>
            <a:r>
              <a:rPr lang="el-GR" sz="2400" dirty="0"/>
              <a:t> ή/και </a:t>
            </a:r>
            <a:r>
              <a:rPr lang="el-GR" sz="2400" b="1" dirty="0"/>
              <a:t>ποσοτικοποίηση</a:t>
            </a:r>
            <a:r>
              <a:rPr lang="el-GR" sz="2400" dirty="0"/>
              <a:t> ή/και </a:t>
            </a:r>
            <a:r>
              <a:rPr lang="el-GR" sz="2400" b="1" dirty="0"/>
              <a:t>κωδικοποίηση πληροφοριών </a:t>
            </a:r>
            <a:r>
              <a:rPr lang="el-GR" sz="2400" dirty="0"/>
              <a:t>και εκτιμήσεων για σκοπούς περιγραφής. </a:t>
            </a:r>
          </a:p>
          <a:p>
            <a:r>
              <a:rPr lang="el-GR" sz="2400" dirty="0"/>
              <a:t>Αποτελεί μία προσπάθεια να γνωρίσουμε ή/και να περιγράψουμε κάτι</a:t>
            </a:r>
          </a:p>
          <a:p>
            <a:r>
              <a:rPr lang="el-GR" sz="2400" dirty="0"/>
              <a:t>Η μέτρηση πραγματώνεται με μαθηματικές/στατιστικές μεθόδους</a:t>
            </a:r>
          </a:p>
          <a:p>
            <a:r>
              <a:rPr lang="el-GR" sz="2400" dirty="0"/>
              <a:t>Απαιτείται αξιοπιστία και εγκυρότητα</a:t>
            </a:r>
          </a:p>
          <a:p>
            <a:pPr>
              <a:lnSpc>
                <a:spcPct val="90000"/>
              </a:lnSpc>
            </a:pPr>
            <a:r>
              <a:rPr lang="el-GR" sz="2400" dirty="0"/>
              <a:t>Οι μετρήσεις εμπεριέχουν (πάντοτε) κάποιο </a:t>
            </a:r>
            <a:r>
              <a:rPr lang="el-GR" sz="2400" b="1" dirty="0"/>
              <a:t>σφάλμα</a:t>
            </a:r>
            <a:r>
              <a:rPr lang="en-US" sz="2400" b="1" dirty="0"/>
              <a:t> </a:t>
            </a:r>
            <a:r>
              <a:rPr lang="en-US" sz="2400" dirty="0"/>
              <a:t>(error)</a:t>
            </a:r>
            <a:r>
              <a:rPr lang="el-GR" sz="2400" b="1" dirty="0"/>
              <a:t> 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el-GR" sz="2400" i="1" dirty="0"/>
              <a:t>Ανάλογα με την ευαισθησία του οργάνου, την ακρίβεια στην μέτρηση, το αντικείμενο που μετρούμε κτλ.</a:t>
            </a:r>
          </a:p>
          <a:p>
            <a:pPr marL="0" indent="0">
              <a:buNone/>
            </a:pPr>
            <a:endParaRPr lang="el-GR" sz="2600" i="1" dirty="0"/>
          </a:p>
          <a:p>
            <a:endParaRPr lang="el-GR" sz="2600" dirty="0"/>
          </a:p>
          <a:p>
            <a:pPr marL="0" indent="0">
              <a:buNone/>
            </a:pPr>
            <a:endParaRPr lang="el-GR" u="sng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40513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229600" cy="960438"/>
          </a:xfrm>
        </p:spPr>
        <p:txBody>
          <a:bodyPr/>
          <a:lstStyle/>
          <a:p>
            <a:r>
              <a:rPr lang="el-GR" sz="4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Μέτρηση στην εκπαίδευση</a:t>
            </a:r>
            <a:endParaRPr lang="en-US" sz="4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534400" cy="4906963"/>
          </a:xfrm>
        </p:spPr>
        <p:txBody>
          <a:bodyPr>
            <a:normAutofit/>
          </a:bodyPr>
          <a:lstStyle/>
          <a:p>
            <a:r>
              <a:rPr lang="el-GR" dirty="0"/>
              <a:t>Μετρήσεις γνωρισμάτων των μαθητών είναι δυνατές, αλλά όχι τόσο ακριβείς όσο άλλες μετρήσεις στο φυσικό κόσμο</a:t>
            </a:r>
          </a:p>
          <a:p>
            <a:pPr marL="0" indent="0">
              <a:buNone/>
            </a:pPr>
            <a:endParaRPr lang="el-GR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l-GR" b="1" dirty="0">
                <a:solidFill>
                  <a:srgbClr val="0070C0"/>
                </a:solidFill>
              </a:rPr>
              <a:t>Αυτό συμβαίνει γιατί:</a:t>
            </a:r>
          </a:p>
          <a:p>
            <a:pPr marL="0" indent="0">
              <a:buNone/>
            </a:pPr>
            <a:endParaRPr lang="el-GR" b="1" dirty="0">
              <a:solidFill>
                <a:srgbClr val="0070C0"/>
              </a:solidFill>
            </a:endParaRPr>
          </a:p>
          <a:p>
            <a:pPr lvl="1"/>
            <a:r>
              <a:rPr lang="el-GR" dirty="0"/>
              <a:t>Δύσκολο να ορίσουμε τέτοια χαρακτηριστικά</a:t>
            </a:r>
          </a:p>
          <a:p>
            <a:pPr lvl="1"/>
            <a:r>
              <a:rPr lang="el-GR" dirty="0"/>
              <a:t>Ακόμα κι αν οριστεί ένα χαρακτηριστικό, δεν το κατανοούμε εξ’ ολοκλήρου, και δεν συμφωνούν όλοι με ένα ορισμό</a:t>
            </a:r>
          </a:p>
          <a:p>
            <a:pPr lvl="1"/>
            <a:r>
              <a:rPr lang="el-GR" dirty="0"/>
              <a:t>Τα όργανα μέτρησης δεν είναι τόσο ανεπτυγμένα όσο εκείνα που χρησιμοποιούνται στο φυσικό κόσμο</a:t>
            </a:r>
            <a:endParaRPr lang="en-US" dirty="0"/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935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l-G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Σχέση αξιολόγησης-μέτρησης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534400" cy="52578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l-GR" sz="2400" dirty="0"/>
          </a:p>
          <a:p>
            <a:endParaRPr lang="el-GR" sz="2400" dirty="0"/>
          </a:p>
          <a:p>
            <a:pPr marL="0" indent="0">
              <a:buNone/>
            </a:pPr>
            <a:endParaRPr lang="el-GR" u="sng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755576" y="1772816"/>
            <a:ext cx="7272808" cy="138499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l-GR" sz="2800" b="1" dirty="0">
              <a:solidFill>
                <a:schemeClr val="bg1"/>
              </a:solidFill>
            </a:endParaRPr>
          </a:p>
          <a:p>
            <a:r>
              <a:rPr lang="el-GR" sz="2800" b="1" dirty="0">
                <a:solidFill>
                  <a:schemeClr val="bg1"/>
                </a:solidFill>
              </a:rPr>
              <a:t>Τι προηγείται η αξιολόγηση ή η μέτρηση;</a:t>
            </a:r>
          </a:p>
          <a:p>
            <a:r>
              <a:rPr lang="el-GR" sz="2800" b="1" dirty="0">
                <a:solidFill>
                  <a:schemeClr val="bg1"/>
                </a:solidFill>
              </a:rPr>
              <a:t>  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9458" name="AutoShape 2" descr="https://encrypted-tbn1.gstatic.com/images?q=tbn:ANd9GcQO4LJ4B4BLd2VwaQCcyOCvDa2zBNAeZAl5nRZ8rzRP7dQ-_c0sDw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/>
          </a:p>
        </p:txBody>
      </p:sp>
      <p:pic>
        <p:nvPicPr>
          <p:cNvPr id="19460" name="Picture 4" descr="http://forum.mn66.com/uploads/02-2014/243938_mn66com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88224" y="4005064"/>
            <a:ext cx="2095500" cy="20955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07495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l-G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Σχέση αξιολόγησης-μέτρησης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534400" cy="5257800"/>
          </a:xfrm>
        </p:spPr>
        <p:txBody>
          <a:bodyPr>
            <a:normAutofit/>
          </a:bodyPr>
          <a:lstStyle/>
          <a:p>
            <a:r>
              <a:rPr lang="el-GR" sz="2400" dirty="0"/>
              <a:t>Η αξιολόγηση αποτελεί μια προσπάθεια αξιοποίησης των αποτελεσμάτων της μέτρησης (όπου αυτά είναι διαθέσιμα) </a:t>
            </a:r>
          </a:p>
          <a:p>
            <a:pPr marL="0" indent="0">
              <a:buNone/>
            </a:pPr>
            <a:endParaRPr lang="el-GR" sz="2400" dirty="0"/>
          </a:p>
          <a:p>
            <a:endParaRPr lang="el-GR" sz="2400" dirty="0"/>
          </a:p>
          <a:p>
            <a:endParaRPr lang="el-GR" sz="2400" dirty="0"/>
          </a:p>
          <a:p>
            <a:r>
              <a:rPr lang="el-GR" sz="2400" dirty="0"/>
              <a:t>Η μέτρηση είναι διαδικασία συλλογής δεδομένων, η αξιολόγηση είναι έκφραση κρίσης, με βάση τα στοιχεία αυτά.</a:t>
            </a:r>
          </a:p>
          <a:p>
            <a:endParaRPr lang="el-GR" sz="2400" dirty="0"/>
          </a:p>
          <a:p>
            <a:r>
              <a:rPr lang="el-GR" sz="2400" dirty="0"/>
              <a:t>Η </a:t>
            </a:r>
            <a:r>
              <a:rPr lang="el-GR" sz="2400" b="1" dirty="0"/>
              <a:t>αξιολόγηση</a:t>
            </a:r>
            <a:r>
              <a:rPr lang="el-GR" sz="2400" dirty="0"/>
              <a:t> εμπεριέχει, στις περισσότερες περιπτώσεις, το στοιχείο της </a:t>
            </a:r>
            <a:r>
              <a:rPr lang="el-GR" sz="2400" b="1" dirty="0"/>
              <a:t>υποκειμενικής κρίσης</a:t>
            </a:r>
          </a:p>
          <a:p>
            <a:pPr marL="0" indent="0">
              <a:buNone/>
            </a:pPr>
            <a:endParaRPr lang="el-GR" sz="2400" dirty="0"/>
          </a:p>
          <a:p>
            <a:endParaRPr lang="el-GR" sz="2400" dirty="0"/>
          </a:p>
          <a:p>
            <a:pPr marL="0" indent="0">
              <a:buNone/>
            </a:pPr>
            <a:endParaRPr lang="el-GR" u="sng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Curved Right Arrow 3"/>
          <p:cNvSpPr/>
          <p:nvPr/>
        </p:nvSpPr>
        <p:spPr>
          <a:xfrm>
            <a:off x="609600" y="1981200"/>
            <a:ext cx="609600" cy="762000"/>
          </a:xfrm>
          <a:prstGeom prst="curvedRigh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47800" y="2362200"/>
            <a:ext cx="662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/>
              <a:t>Η μέτρηση προηγείται, η αξιολόγηση ακολουθεί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07495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r>
              <a:rPr lang="el-G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Σχέση αξιολόγησης-μέτρησης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l-G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Η αξιολόγηση είναι μια πιο γενική έννοια η οποία </a:t>
            </a:r>
            <a:r>
              <a:rPr lang="el-GR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αξιοποιεί αποτελέσματα της μέτρησης</a:t>
            </a:r>
            <a:r>
              <a:rPr lang="el-G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σε ένα πιο συγκεκριμένο περιβάλλον και ανάλογα με </a:t>
            </a:r>
            <a:r>
              <a:rPr lang="el-GR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συγκεκριμένα κριτήρια</a:t>
            </a:r>
            <a:endParaRPr lang="el-GR" sz="2400" b="1" dirty="0"/>
          </a:p>
          <a:p>
            <a:endParaRPr lang="el-GR" sz="2400" dirty="0"/>
          </a:p>
          <a:p>
            <a:r>
              <a:rPr lang="el-GR" sz="2400" dirty="0"/>
              <a:t>Η αξιολόγηση περιλαμβάνει </a:t>
            </a:r>
            <a:r>
              <a:rPr lang="el-GR" sz="2400" b="1" dirty="0"/>
              <a:t>ποιοτικές ή ποσοτικές περιγραφές (ή και τα δύο) της επίδοσης του μαθητή</a:t>
            </a:r>
            <a:r>
              <a:rPr lang="el-GR" sz="2400" dirty="0"/>
              <a:t>, καθώς και κρίσεις που αφορούν το αν αυτή η επίδοση είναι επαρκής.</a:t>
            </a:r>
          </a:p>
          <a:p>
            <a:pPr>
              <a:buNone/>
            </a:pPr>
            <a:r>
              <a:rPr lang="el-GR" sz="2400" dirty="0"/>
              <a:t> </a:t>
            </a:r>
          </a:p>
          <a:p>
            <a:r>
              <a:rPr lang="el-GR" sz="2400" dirty="0"/>
              <a:t>Η </a:t>
            </a:r>
            <a:r>
              <a:rPr lang="el-GR" sz="2400" b="1" dirty="0"/>
              <a:t>αξιολόγηση δηλαδή μπορεί ή όχι να βασίζεται σε μέτρηση </a:t>
            </a:r>
            <a:r>
              <a:rPr lang="el-GR" sz="2400" dirty="0"/>
              <a:t>αλλά και όταν βασίζεται προχωρεί πέρα από την απλή ποσοτική περιγραφή στην ερμηνεία των δεδομένων με βάση κάποιο κριτήριο.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157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l-GR" dirty="0"/>
              <a:t>Σκοποί της αξιολόγησης του μαθητή: αρχικές αντιλήψεις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14</a:t>
            </a:fld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el-GR" sz="2400" dirty="0"/>
          </a:p>
          <a:p>
            <a:r>
              <a:rPr lang="el-GR" sz="2400" b="1" dirty="0"/>
              <a:t>Πότε πρέπει να γίνεται η αξιολόγηση του μαθητή; (σκεφτείτε και τους ορισμούς της αξιολόγησης)</a:t>
            </a:r>
          </a:p>
          <a:p>
            <a:endParaRPr lang="el-GR" sz="2400" b="1" dirty="0"/>
          </a:p>
          <a:p>
            <a:r>
              <a:rPr lang="el-GR" sz="2400" b="1" dirty="0"/>
              <a:t>Πώς πρέπει να αξιοποιούνται τα δεδομένα/πληροφορίες της αξιολόγησης;</a:t>
            </a:r>
          </a:p>
        </p:txBody>
      </p:sp>
      <p:sp>
        <p:nvSpPr>
          <p:cNvPr id="17410" name="AutoShape 2" descr="https://encrypted-tbn3.gstatic.com/images?q=tbn:ANd9GcRC7i0FCF-DqLCsLX1yYH2-uAuGkUpwjD0bTf7cG19UaOU47rk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/>
          </a:p>
        </p:txBody>
      </p:sp>
      <p:pic>
        <p:nvPicPr>
          <p:cNvPr id="17412" name="Picture 4" descr="http://dir.coolclips.com/Designs/Design_and_Publishing_Elements/Punctuation/cartoon_man_with_question_mark_CoolClips_cart078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88224" y="3789040"/>
            <a:ext cx="1167434" cy="163185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l-GR" dirty="0"/>
              <a:t>Σκοποί της αξιολόγησης του μαθητή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15</a:t>
            </a:fld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hangingPunct="0">
              <a:buNone/>
            </a:pPr>
            <a:r>
              <a:rPr lang="el-GR" dirty="0"/>
              <a:t>Οι κυριότεροι σκοποί της αξιολόγησης του μαθητή είναι:</a:t>
            </a:r>
          </a:p>
          <a:p>
            <a:pPr hangingPunct="0"/>
            <a:r>
              <a:rPr lang="el-GR" dirty="0"/>
              <a:t>να προσφέρει πληροφορίες σε δασκάλους και γονείς για το πόσο </a:t>
            </a:r>
            <a:r>
              <a:rPr lang="el-GR" b="1" dirty="0"/>
              <a:t>ικανός</a:t>
            </a:r>
            <a:r>
              <a:rPr lang="el-GR" dirty="0"/>
              <a:t> είναι ένας μαθητής σε </a:t>
            </a:r>
            <a:r>
              <a:rPr lang="el-GR" b="1" dirty="0"/>
              <a:t>σχέση με τους μαθητές της τάξης του </a:t>
            </a:r>
            <a:r>
              <a:rPr lang="el-GR" dirty="0"/>
              <a:t>(συγκριτική-summative)</a:t>
            </a:r>
          </a:p>
          <a:p>
            <a:pPr hangingPunct="0"/>
            <a:endParaRPr lang="el-GR" sz="900" dirty="0"/>
          </a:p>
          <a:p>
            <a:pPr hangingPunct="0"/>
            <a:r>
              <a:rPr lang="el-GR" dirty="0"/>
              <a:t>να συμβάλει στην </a:t>
            </a:r>
            <a:r>
              <a:rPr lang="el-GR" b="1" dirty="0"/>
              <a:t>αυτο-αξιολόγηση του δασκάλου </a:t>
            </a:r>
            <a:r>
              <a:rPr lang="el-GR" dirty="0"/>
              <a:t>(teacher’s self-assessment)</a:t>
            </a:r>
          </a:p>
          <a:p>
            <a:pPr hangingPunct="0"/>
            <a:endParaRPr lang="el-GR" sz="900" dirty="0"/>
          </a:p>
          <a:p>
            <a:pPr hangingPunct="0"/>
            <a:r>
              <a:rPr lang="el-GR" dirty="0"/>
              <a:t>να βοηθά το δάσκαλο στην επισήμανση και διάγνωση των </a:t>
            </a:r>
            <a:r>
              <a:rPr lang="el-GR" b="1" dirty="0"/>
              <a:t>διδακτικών αναγκών των μαθητών </a:t>
            </a:r>
            <a:r>
              <a:rPr lang="el-GR" dirty="0"/>
              <a:t>του (διαμορφωτική-formative)  </a:t>
            </a:r>
          </a:p>
          <a:p>
            <a:pPr hangingPunct="0"/>
            <a:endParaRPr lang="el-GR" sz="900" dirty="0"/>
          </a:p>
          <a:p>
            <a:pPr hangingPunct="0"/>
            <a:r>
              <a:rPr lang="el-GR" dirty="0"/>
              <a:t>να παρέχει πληροφορίες για το </a:t>
            </a:r>
            <a:r>
              <a:rPr lang="el-GR" b="1" dirty="0"/>
              <a:t>πόσο καλά λειτουργεί ένα σχολείο ή/και ολόκληρο το εκπαιδευτικό σύστημα </a:t>
            </a:r>
            <a:r>
              <a:rPr lang="el-GR" dirty="0"/>
              <a:t>(αξιολογητική-evaluative).</a:t>
            </a:r>
          </a:p>
          <a:p>
            <a:endParaRPr lang="el-GR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l-GR" dirty="0"/>
              <a:t>Σκοποί της αξιολόγησης του μαθητή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16</a:t>
            </a:fld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hangingPunct="0">
              <a:buNone/>
            </a:pPr>
            <a:r>
              <a:rPr lang="el-GR" sz="2400" b="1" dirty="0"/>
              <a:t>Παρατηρήσεις σε σχέση με την πιο πάνω θεώρηση των σκοπών της αξιολόγησης του μαθητή</a:t>
            </a:r>
          </a:p>
          <a:p>
            <a:pPr lvl="0" hangingPunct="0"/>
            <a:r>
              <a:rPr lang="el-GR" sz="2400" dirty="0"/>
              <a:t>Είναι σημαντικό να ορίσουμε τη </a:t>
            </a:r>
            <a:r>
              <a:rPr lang="el-GR" sz="2400" b="1" dirty="0"/>
              <a:t>σημασία</a:t>
            </a:r>
            <a:r>
              <a:rPr lang="el-GR" sz="2400" dirty="0"/>
              <a:t> του κάθε σκοπού και να επισημάνουμε αν το σύστημα αξιολόγησης που θα αναπτύξουμε θα στηρίζεται: </a:t>
            </a:r>
          </a:p>
          <a:p>
            <a:pPr lvl="0" hangingPunct="0">
              <a:buNone/>
            </a:pPr>
            <a:r>
              <a:rPr lang="el-GR" sz="2400" dirty="0"/>
              <a:t>Α) στη διαμορφωτική ή </a:t>
            </a:r>
          </a:p>
          <a:p>
            <a:pPr lvl="0" hangingPunct="0">
              <a:buNone/>
            </a:pPr>
            <a:r>
              <a:rPr lang="el-GR" sz="2400" dirty="0"/>
              <a:t>Β) στη συγκριτική αξιολόγηση </a:t>
            </a:r>
          </a:p>
          <a:p>
            <a:pPr lvl="0" hangingPunct="0">
              <a:buNone/>
            </a:pPr>
            <a:endParaRPr lang="el-GR" sz="2400" dirty="0"/>
          </a:p>
          <a:p>
            <a:pPr hangingPunct="0"/>
            <a:r>
              <a:rPr lang="el-GR" sz="2400" b="1" i="1" dirty="0"/>
              <a:t>Πότε νομίζετε ότι πρέπει να χρησιμοποιείται η κάθε  προσεγγίση της αξιολόγησης;</a:t>
            </a:r>
          </a:p>
          <a:p>
            <a:pPr lvl="0" hangingPunct="0">
              <a:buNone/>
            </a:pPr>
            <a:endParaRPr lang="el-GR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l-GR" dirty="0"/>
              <a:t>Σκοποί της αξιολόγησης του μαθητή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17</a:t>
            </a:fld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l-GR" sz="2400" dirty="0"/>
              <a:t>Ιστορικά, ο κυριότερος ρόλος της αξιολόγησης ήταν να ανιχνεύει και να τονίζει τις διαφορές στη μάθηση των μαθητών, με σκοπό την </a:t>
            </a:r>
            <a:r>
              <a:rPr lang="el-GR" sz="2400" b="1" dirty="0"/>
              <a:t>ταξινόμησή</a:t>
            </a:r>
            <a:r>
              <a:rPr lang="el-GR" sz="2400" dirty="0"/>
              <a:t> τους ανάλογα με την επίδοσή τους (Stiggins, 2007). </a:t>
            </a:r>
          </a:p>
          <a:p>
            <a:r>
              <a:rPr lang="el-GR" sz="2400" dirty="0"/>
              <a:t>Σταδιακά αυτό άλλαξε αφού η αποστολή του σχολείου διαφοροποιείται από την ταξινόμηση των μαθητών ανάλογα με την επίδοσή τους, στο </a:t>
            </a:r>
            <a:r>
              <a:rPr lang="el-GR" sz="2400" b="1" dirty="0"/>
              <a:t>πως να </a:t>
            </a:r>
            <a:r>
              <a:rPr lang="el-GR" sz="2400" b="1" dirty="0">
                <a:solidFill>
                  <a:srgbClr val="0070C0"/>
                </a:solidFill>
              </a:rPr>
              <a:t>βοηθηθούν όλοι οι μαθητές</a:t>
            </a:r>
            <a:r>
              <a:rPr lang="el-GR" sz="2400" dirty="0"/>
              <a:t>. </a:t>
            </a:r>
          </a:p>
          <a:p>
            <a:pPr>
              <a:buNone/>
            </a:pPr>
            <a:endParaRPr lang="el-GR" sz="2400" dirty="0">
              <a:latin typeface="Calibri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1560" y="4293096"/>
            <a:ext cx="7992888" cy="156966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l-GR" sz="2400" dirty="0"/>
              <a:t>Για αυτό το λόγο σήμερα δε μιλούμε μόνο </a:t>
            </a:r>
            <a:r>
              <a:rPr lang="el-GR" sz="2400" b="1" dirty="0"/>
              <a:t>για αξιολόγηση της μάθησης</a:t>
            </a:r>
            <a:r>
              <a:rPr lang="el-GR" sz="2400" dirty="0"/>
              <a:t> (assessment of learning) αλλά και για </a:t>
            </a:r>
            <a:r>
              <a:rPr lang="el-GR" sz="2400" b="1" dirty="0">
                <a:solidFill>
                  <a:srgbClr val="0070C0"/>
                </a:solidFill>
              </a:rPr>
              <a:t>αξιολόγηση για τη μάθηση</a:t>
            </a:r>
            <a:r>
              <a:rPr lang="en-US" sz="2400" b="1" dirty="0">
                <a:solidFill>
                  <a:srgbClr val="0070C0"/>
                </a:solidFill>
              </a:rPr>
              <a:t> </a:t>
            </a:r>
            <a:r>
              <a:rPr lang="en-US" sz="2400" dirty="0">
                <a:latin typeface="Calibri" pitchFamily="34" charset="0"/>
              </a:rPr>
              <a:t>(assessment for learning· </a:t>
            </a:r>
            <a:r>
              <a:rPr lang="en-US" sz="2400" dirty="0" err="1">
                <a:latin typeface="Calibri" pitchFamily="34" charset="0"/>
              </a:rPr>
              <a:t>Stiggins</a:t>
            </a:r>
            <a:r>
              <a:rPr lang="en-US" sz="2400" dirty="0">
                <a:latin typeface="Calibri" pitchFamily="34" charset="0"/>
              </a:rPr>
              <a:t> &amp; </a:t>
            </a:r>
            <a:r>
              <a:rPr lang="en-US" sz="2400" dirty="0" err="1">
                <a:latin typeface="Calibri" pitchFamily="34" charset="0"/>
              </a:rPr>
              <a:t>Chappuis</a:t>
            </a:r>
            <a:r>
              <a:rPr lang="en-US" sz="2400" dirty="0">
                <a:latin typeface="Calibri" pitchFamily="34" charset="0"/>
              </a:rPr>
              <a:t>, 2006).</a:t>
            </a:r>
            <a:endParaRPr lang="el-GR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l-GR" dirty="0"/>
              <a:t>Είδη αξιολόγησης του μαθητή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18</a:t>
            </a:fld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hangingPunct="0"/>
            <a:r>
              <a:rPr lang="el-GR" sz="2400" dirty="0"/>
              <a:t>Έρευνες στο εξωτερικό αλλά και στην Κύπρο επισημαίνουν τη σημασία της </a:t>
            </a:r>
            <a:r>
              <a:rPr lang="el-GR" sz="2400" b="1" dirty="0"/>
              <a:t>διαμορφωτικής αξιολόγησης</a:t>
            </a:r>
            <a:r>
              <a:rPr lang="el-GR" sz="2400" dirty="0"/>
              <a:t>. Ακόμη επισημαίνεται πως οι εκπαιδευτικοί θεωρούν το </a:t>
            </a:r>
            <a:r>
              <a:rPr lang="el-GR" sz="2400" b="1" dirty="0"/>
              <a:t>διαμορφωτικό σκοπό </a:t>
            </a:r>
            <a:r>
              <a:rPr lang="el-GR" sz="2400" dirty="0"/>
              <a:t>και την </a:t>
            </a:r>
            <a:r>
              <a:rPr lang="el-GR" sz="2400" b="1" dirty="0"/>
              <a:t>αυτοαξιολόγηση του δασκάλου </a:t>
            </a:r>
            <a:r>
              <a:rPr lang="el-GR" sz="2400" dirty="0"/>
              <a:t>ως τους πιο σημαντικούς σκοπούς της αξιολόγησης του μαθητή, αφού οι σκοποί αυτοί έχουν άμεσες επιπτώσεις στον τρόπο διδασκαλίας.</a:t>
            </a:r>
          </a:p>
          <a:p>
            <a:pPr lvl="0" hangingPunct="0">
              <a:buNone/>
            </a:pPr>
            <a:endParaRPr lang="el-GR" sz="2400" b="1" i="1" dirty="0"/>
          </a:p>
          <a:p>
            <a:pPr lvl="0" hangingPunct="0">
              <a:buNone/>
            </a:pPr>
            <a:r>
              <a:rPr lang="el-GR" sz="2400" b="1" i="1" dirty="0"/>
              <a:t>		Προβληματισμός:</a:t>
            </a:r>
          </a:p>
          <a:p>
            <a:pPr lvl="3"/>
            <a:r>
              <a:rPr lang="el-GR" sz="2000" dirty="0"/>
              <a:t>Νομίζετε ότι ο σκοπός της αξιολόγησης μπορεί να είναι και διαμορφωτικός και συγκριτικός ταυτόχρονα;</a:t>
            </a:r>
          </a:p>
          <a:p>
            <a:endParaRPr lang="el-GR" dirty="0"/>
          </a:p>
        </p:txBody>
      </p:sp>
      <p:sp>
        <p:nvSpPr>
          <p:cNvPr id="9218" name="AutoShape 2" descr="data:image/jpeg;base64,/9j/4AAQSkZJRgABAQAAAQABAAD/2wCEAAkGBhEPERURERAVFRUTFxwWFREWFxgXHRISFxgXFRYTGhYYGyceGBkjGhQXHy8gIycpMCwsFR4yNzAqNSYrMCkBCQoKDgwOGg8PGCokHyIuLCoqLywpLCwtLiwsLCwsLCwsLywsLCwsLSwsLC0sLCksLCwsLDQpLCwsLCkpLCksLP/AABEIAOEA4QMBIgACEQEDEQH/xAAcAAEAAwEBAQEBAAAAAAAAAAAABQYHBAMCCAH/xABEEAACAgIAAwUFBAgDBAsAAAABAgADBBEFEiEGEzFBUQcUIjJhQnGBkSMzQ1JicqGxFYLBJDRTojVEVGNkc5KjstHh/8QAGgEBAAMBAQEAAAAAAAAAAAAAAAIDBAEFBv/EACsRAAICAQMCBQMFAQAAAAAAAAABAhEDBCExBRITMkFRgWGRoRQiccHwBv/aAAwDAQACEQMRAD8A3GIiAIiIAiIgCIiAIiIAiIgCIiAZxxb2wKXerAxWvKEo19hNVSuPEdRzvr6Af6yq5vaDiuSd28QNQP7LFQVhfudtufxMlfaT2a9xyf8AEalAoyGC5ajwruPRMj0AY9GPqd+chph1GWcJUuD6jpOh0ufF3yVyXKb4+xxWcLFn667Iu9e8vsbZ8zrm1/SKuDVIdpzofVLbVP5h538Nw8nNJGHQbdHTXE8lSnzBsI+Ij0QN+En6vZnxEptsjED/APDCWkfd3nMCPv5D+MrUM0t7f3NuTUdMwvs7Yv8AiN/kgsLi+fi9cfOtIH7K89+h15fF8Y/Bpb+A+1pC608QqGM7EBb1Jamxj5cx61H6N+frSctbsa73bLqNVpBZOvMlyjxauzQ5teYIBHpF9C2KUdQynoVI2DOrPkxupkMnTNJrMfiad1/HHyvT8G7g76if2ZZ7MO0j41w4Ze5atwWw7GJJHL1fGJPoPiX6Aj0E1Ob4yUlaPks2KeGbxzW6EREkVCIiAIiIAiIgCIiAIiIAiIgCIiAIiIAiIgCIiAeGdg131vTagdLFKuh8GUjREzzgnsiKWFcu/vcatj3VQ2GuT7IvbpsLvXKvRtbPTpNHutCKWPgoJP3AbkR2Y7Y4fE6+8xbg/wC9Wejp/Mh6j7/D6zjSfJZDJOCai6vZktRQtahEUKqjSqoACgeAAHQCekROlZSva9w9bOG2XdBZjMl1T+asrqCB/MpK689iZ/Lb7VOPpcBw2shizJZkkeFVSMHWsnyd2VenkoJ8xKlPP1bVpH13/P45qE5vh1XxdnDxnJahFyU3z4zpcmvVGGx9xUsD983/ABsgWIrqdq4DA+oI2D+Rn587RbOO6KNvbqpF82ssIVVH16ze+DYHu+PTRvfdVpXv15FC7/pLdL5DB19R/UKua3+7OyIiazwBERAEREAREQBERAEREAREQBERAEREAREQBERABn5z4ZwuocwUFWoutqS1Gat1VLHC6dCGHQ+G9T9GT8/cPJLZDk/PlXsCPTvWH4+Ezal1C0ez0WEZ6hxkrVO7+CXp7QcRrGk4jdr0dabD6fM1e/6z5yOPcRtHK/EruU72K1qqPUa+dE5h+BE5HtVepIH1JA/vP77N+xNPFkyrLMvKRq8hkU028q92QGHwlT578/SZ8TyZNu49jXY9FpKk8Sdv0f8AR542KtY0o1skk7JLMepYk9ST6meefxGuheaxtei+JY+QVfEmXZfYhj/a4hnkeY71Rv8A5JYOzPs3wOHN3lVZst/7Rc3eOOu+hPRf8oEmtK27kzPLr0Yw7cWOvb2Xwiq+z3sNfbcnEM+s1931xsRvmQn9vZ6PrwXy++alETbGKiqR81lyzyzc5u2xEROlYiIgCIiAIiIAiIgCIiAIiIAiIgCIiAIiIAiIgCY72jwOz2BY2OuDZl5B+emuyxhWSebdjFwtZOz9foJpnaziD42Dk31/PVRY6HW9MqEg6+h6/hMS4LihKV0eYuA72EkmyxhzM5Y9SST4mU5svhqz0+m6H9ZkcW6SW53YudwYHeV2ealN9bEYXco38zKrc2gOp0D4ec17svhYNdAfh6VLTb8YaoAB/LfTxPTXXw1qZDLb7HByHNqQ/o1trdU8kexNuB6b5VOvrK8Od5HTRq6n0uOkgskJWrrc0iIiajwhERAEREAREQBERAEREAREQBERAEREAREQBERAETxzM2uhGstdURBtnYhQo9ST0EzPivtyRnNfDsOzK5fG4nuq/rokbP46g6k26RqUTIMT2ycSB/TcIUr593cAdfQHezLDwb20cPuITI7zEsP2cheVd630sHTX36nE0yUsco8povWRjrYjVuAyuCrKfBlYaIP3gzFeM9i8/hZ5Kcd8vFG+7errbUvUit6/ta8OYf8A5NrpvV1DIwZT1DKQQR6gjoZ9yM4Kaplun1OTTz78bpmB4uFxHLPd43Dr62PTvcle6Sv+I7JLeHgJr3YrsqvDMUUc5ssYmy64+Ntza5m15DoAB6KJPROQxxh5Sep1ubVNPI+BERLDIIiIAiIgCIiAIiIAiIgCIiAIiIAiIgCIiAJB9qO1+Pw5AbSWsfpVjp8Vlp/hXyA82OgPWVvtt7TO4tOFgBbcofrLG614oPm37z9eij8fSUWjGPM1tljW3WdXusO2b6eiqPJR0EhKaiasGmll34R/eN3ZHFbBbnt8CndWEhPd1jyLn9o/qfDx10nrXWFAVQAB4AdNfhPqJnbb5PYx4o41UUJ8X0LYpV1DA+IIBH9Z9xOFh58Ia7AbnwbjVs7ag7emz13UT8J+qEHpLU/tuqqQC3AyjcOjpUodB/GthI5lP1APrKzOLiHGasfQdjzN1WtQWZvuUScZtGPNpcct+DYOyXbjE4qjNjWHdZ1ZU45XrJ3ra+h0eo6dJPz854XvjX+81McLalCyndttbeIb7K9QCN7IP3T1o4dl0MbcbieSlhPMS794Hbx+JT0br6gy3xF6mF6PJv28fY/Q8TPuwPtLbKs9yz0WrLA2hHyZKjxZPRvVfy8wNBlhkaadMREQcEREAREQBERAEREAREQBERAEREASle1jtbZw7CHu51kZLimk/ulvmcfUDw+pEusyL20WFs/hlezoG5yPIkBNHXr0P5zjdInCPdJR9yt8G4QuNWFHVj1d/N3PixM74nhlZ1dQ+NwN+A8SfoFHU+HkJk5PodoL2SPeJ5LTm2DdPDcl/IF1FIPof0hDa+up709kONWn9Vi449XsNh/AJJdrKnqMa9T5njk5tdQ5rHVB6sQP7+MsGF7K7W65XErW/goRaRr6t1Y/hqfa9nMevJ914dj199WAcjPvU5Bxww+FF7w/Fcw66GgB1PjqSUCmWq9kU3ieXkti25GNjv3da7OTYDWoGwvwBtGxtnyGpJhfDfUjz/vJ7tZRlDHyOH3XG/3nHd8a5lVWNtOrLMdggCnajmUgDoGHlKpwHP7/AB67N9SoDfzDof6j+s5KNI7gyucmpHfERIGw4uK8NF6DTFLEIeq0dDVYOqsD4+Imoezrtmc+k1X6XLx9Lcg+2Ps3r/C39Dsekzyc9ll2PauZi6F9PgDvV1Z6vQ4HiDrp6EDWpZCdbGLVafxF3R5X5N6iQ3ZLtPVxPFryqtgP0ZD412L0es/UHz8xo+cmZoPGEREAREQBERAEREAREQBERAEREATJvbNVrO4ZZynW70LfUqhUf/KazM99suKPd8a//gZSb/lsDVn+pWclwWYnU0/qZzxLibcxppIDAbstPUUJrfMfVtb0v4np4yPZqs8MV884d19zVd53jsK1pxnb4N2N817+PIinQKroddxXCuBHJy6MVn+Gy02WVg756q92PbaR4l9KoXwHN566a12grFmRgUt+rfJ5mXyY0023VIfp3iK2v4PulUEbtRNv4I2v2kU1WJTnUW4dz1iwV2AWAqd9earZHyn5lU9J6ZXtFwy9VOLkVX3XW1oK1JOkZgHfYGgVXZ0fSUP2ocF4tRxr33BruY2IBVbUnPy6r7t0IAOj4nr6zr9mnYpqMwHIUG/Gra2875uTIySBXWWB0WWpGY/W3zljRkjkk3Rrk+EqVSSqgFjtiABzNoDZ9ToAb+kj+PcZ91rBVDZZY61U0g6Ntz/Ku/IAAsT5BSZkXaftvl4XFhRk8RuFdQXvjj1oFWxk59JU4PMgLKPj2SAfpqKVlspqJq/ajCayut0XmsovqtQDx0HC2f8Atu4P0ma8Z7PnhOayAf7LluXpbyquPVqCfLY6r66H1l79nfa//FcMXMALEY12gdBzjRDAeQKkHXl1HlJvjHCasul6L0DI40R6HxDA+TA9QR4TjXoThKmpoy+JHdnrHbGrNjczEH4vUbPKT9danXjZQs5uUHSsU2ftFeja+gOx94MoaPVjJSSfue0RPi6wKpY+ABJ+4Df+kEiwewq3/pFATyrk7VfIcwYHQ8NnlH5CarM+9iXBGo4d37/PmWNed+PIelYJ8+g5v880Ga0fNydtsRETpEREQBERAEREAREQBERAEREASne1Tg92ZgGmpq6wbFe2+xuUUU17sa3p1JBUdPrLjKB2uvPEc+vhY/UUqMjN9H6/ocYn0YjmI8wB6GDqVuiH9mfY+ql3zkVwtqCulrSTZdXsO+S4J+E2MBpfJVHmTJjttxbACdzk5qUWoy3VEENZVah5ksFYBJ8xojqCRLSqgaAHQeXoJS/Zzw6sjKynQNfZl3h7GALKEcqqA62oAHh9fulf1NdUu05zx3jmYgrxHrVT0bOsxWx/h/eRLLWLE/RAPrLN2Y7OpgUd0rtYzMXtuf5rrm+axvv/AKACS8Q3YjBRIXiKD/EMAv8AKDeF9O/NPw/j3Yu1+Mj+2fsbw+KZPvT2W1OQBZ3fLqzQ0rfEDo60ProSe4pwuvJr7uzfQhldSVauxeq2Iw6qwPn/AKGc/umcVFZ4h8PgbBQgtK618/NyBv4gn4TqZXPG27RC9hOD0Y1ucmKvLQtyU1je9vTSi3MT5nvGYE+qmW6c+Dg10VrVWvKq+A8epOyxJ6liSSSepJJM6JFlsVSowgpen+w4qc2R391CKTrkWt2POd/ZCFSCfUfj0UYmRgXjAyVr2KRZW9RYgrvlYHm68299ZfOFcISvjmXZzdXxq3VPJTY3JYwHqfd06j11IX2sVNj5OLnchNQV6LnA33YYhkY68Bvf5fWccS2GVqSbey2I+cfEcVsju8RPmyrFp6eSMd2N9wQMZ1o4YAgggjYI6gj1HrJf2ZYfvXEbcjxrw07pT65Fvzn68qDl/wA8rgrZr1OTsxv67Gr4mKtVa1oNKihVX0VRoD8hPWImo8IREQBERAEREAREQBERAEREAREQAZm3s2sGQM3O+1lZdmj/AN1VpKl356G/zM0gzOPZjj+705OISebGzLUIPjyMQyN9xU7/ABkZcFuLzFzlO4SDRxjJooPNVbWuTkKf2GQ3wKVPmbFUMQfQGXGZ92K7SYaHKycjLoqtyslzyWWojCmommpSGbegFb85BGiXKNBieGLm13DmqsRx6owYfmDPeCQieOJlpcgsrYMrb0w8DokH8iCPwntAERPDNza6K2ttcIlalmc+CqOpMArXbKwYNlXFNjVKmnITag2Y1hDfDv5nRwGC+Y5hJ/FzMfNp5q3rvqcaOiHVgR1Vh/oZQrOM4/EMxMzJx7/cKE/2ey2kmpr2b4shx1KoFChWYaHU7Et+Z2apt1djt3FuvgyKOUbU9QGUfBah9GB+hHjOkFzsUrtH7PlwmF+MLThhubKwq2PME67elvmAHQsgIJAOj6dedXicO9y4lw3SV2311XCtjyZFFu1JZSerqRvfjsHcufBsjIYMmVWFsrIHeJ+ruU9Q6AnmU9NFT4HzIImcdrOztlXEMTCp0uLm5aZHL1Apuq2blUDoA6kMB6g/WdXJGflNuiIkzKIiIAiIgCIiAIiIAiIgCIiAIiIAmfdsKX4Xmf4rWrNj2qtedWo2UC9K8sDz5d8ra8poM+XQMCCAQRog9QQfEEQdTp2Q+LlJai2VuHRwGV1OwynwIMpVuB71xDIxcfusevHrRrXTHpd7b7+Z9bsQjl5QN9Dv+3txjg3+AumViuVwHsC5WKxLLj962hkVeaKGI2vh1/Lq7BsLhl5gO1yspzW3rTUBTWfuPIx/GV1RpUu8iBwjC798bM7rHylVWpy8dhiNkVNzKHAUgd4rKwK/EOgIGjoTLZObw7raTmY4+a1VAvoX95kUct6jzKgN9DPmymvJ4swNauMbEC2cyhh3l1oetfiGthaif80s1xPKeUAto6UnQJ10BPkNwSSK17NMzvsBbBvle69k3+419jL/AEaWmQ/ZDgxwsKjHbXMifHrw7xiWcD6BmIH0EmJwlHgTOu1nHG4mzYWJiWZNFN1fvlqlVUrW4d8evmI7x+g3o+X13NAyULIwU6JUgH0JBAP5yA9nNKJw3HRV5Sq8ti+YvDEWhv4ucHcI5LfYlOEcXoyVIqOu7+F6WUo1R10Rq2AK9PDyI8NicHCuDWYV5SjriWhm7rf+63dDqsH9k+z8I+Vh06Hp3VYmPkPXmJouFKrap0WrJ01bfvKGG+U+DL5GSMHaErPaSsNn8KUj/rNjb/kx7G/vr8pZpVu1NnLn8Kb/AMS6/i1DqP7zq5I5PKy/RESwxiIiAIiIAiIgCIiAIiIAiIgCIiAIicvFM4Y9FtzeFSNYeuuiKWPX8IBTfaTx17dcIxUWzIy1IsLDmXGxj0a5x6/uj16+OgZrgvCUxMerGr+WpAg34nXix+pOz+Mh+wvDeXHGXb8WRmgX32Hx2/xJUN+CIpCgfQyV4xw18hVrFzV1k/peTo9ia/VrZvdYJ8SOuugI8ZW3Zqxx7VZX+xvHca63KcZNRsyMhilfeIX7moLRX8G96Pdsw6faHrLhKZk4QurOJicKrFSHl73IXuUUqdc1aqO9dumw45fAHmnojcWwaOaw4+aK16qOem1go8eduZXbp4EDf39CJJ0W+JWMHtNmZNddtHDlZLVDLacqoJyn15VLbHmAs9LOz+Vl/wC+ZPLWfHFxeatWHo95PeOPHovIJw7fse54+12UtGKq2LWT71f1KVAA6pVh0a4sQSOvKAd9SJENxROHcRyTkK1VGUlTpdpjWb0Vls5mHRHI5B11zcokxxHjGFwqpEYrUvy1UVrtnP7tdS9WOz6efWQ2dXncTrZS7YFLDXIumvsU/vtvlqBH2V2fU+UnCEpcIzajU48CvJKjk9nHauvLyuIU0DdCW99U/UD9J0s0D4BrFZx/O3hL/KH7KOy9WBXlqhLt7y1ZsI0WStV5Rry6u35y+SMtnRfil3QUvcSsdukIXDuBA7jOx2JPkjP3TEnyGrJZ5B9tuHHI4fk1gbY1Myf+Yn6RPu+JROIlJWmXGJxcE4gMnGpvHhbUln/rUN/rO2WmIREQBERAEREAREQBERAEREAREQBKd7V85k4c9Nf6zMZMWsepuPK3/JzS4yldqk7/AIpw+nYIpS/KZf4gEpqP52P+UHUrdE3jUCtFQeCKFH3KAB/aesRKjced5blbkALaPKGJALa6AkdQN6kBjdlO+1ZxFlybPHuiCKKfolJ6N/O+yfp4Sxyvdr+N3YworxxX3uTcKla3fKg5GdmIUgk6XQHqZ1b7EJtRXdLhH0/YvGGzQbcbfiMa1qlP17sfBv66lH4hlJRdk138Tz7VqsWummq3b3Hu1ssr1WoZipbRbY0CAevjOcb99poa3J4g7DoFoxakpNtjnkSlXPO+2YgbBB8+ksHs77BV8MpLsqnJvPPc42eQnr3KMxLci78Sdsdk+Wrexwf7jznqIamL8JtL3W3wVrsE3D7g9uPU63oeW33gs16b6gFnJIUjw0fKXCRvtAxVxCnFa101JWvK0P1uIzBSSB4tWxVgfQMPOd5vXl5+Ycuubn305db5t+muu5twzTifNdR08seW7bT4vf4KzxPNv4dkJ7qO/Off1w2PKQ/IA91dgHwqFVeYMCPMa87BjdpBzpVkY92NY7cirYm0d9EhUvTdbEgHQ2D08J49iML3q1+KWKQHBqxFYEcuKDs3aPg1rDm3+4E9Z1e0m5K8IWtYENV9FikkDZS9CVG/ElebpMeSnJtH0uieTHhjGb3/ANsSs/mpH39o8Sscz5dCr6m1P/vrIyzjmRmju+HUvp+nv9qmuqpT+0rDgNew3sBRykjq0oo9JyS5JD2aoyYK1EhlptuqqYfaprudEP5Lrp5AS0zk4TwyvFproqBCVKFXZ2SB5k+ZPiT6mdctMQiIgCIiAIiIAiIgCIiAIiIAiIgCZnh9p8K7jGXc2ZR+jqqxad2IOcbNtvKSfiHOQvTzUzTJwZnAcW8atxqbAeunrRuvr1Hj18ZxkounZ4KwI2DsHwI85/ZA5vs6FJ7zhmQ+G469yNvj2H0alvl9NprW/Azixe3aUlqeJKMTJTxr+JlvU71bQVBLqdeHiPAyDiaY5Ey1yh9ssV87imBhU3GtqltyXsUKxqAUJWxVho/F00fHmkvf2lybxy8PwLrC3hfkK2PUn8R7zVjj6Kv4yW7IdkPcu8uutN+VkEG7II5RofLUi/YrXyHn+QHYr1K8sk12kPg8Gzbc3GXMoXu8Xnu79GBruvAFdJCH4kYB7G5T4HWidS+REscm3bMmPHHHHtgqRy8U4emTTZRYNpajIw/hYFT/AHmQdiMDL4gi8MvRkx8F2qzLev8AtPdsRXjIfEKQBzfwgDpvrtMQm1wJ44zruXG6PlECgADQHQAeQ9JC8T7NDKyq7b+SyilG5Mdl2De/Q2tvo2k2qjXTnYycicLCNx+zOHUwavDx0YdQy1VggjwOwskoiAIiIAiIgCIiAIiIAiIgCIiAIiIAiIgCIiAJDcR/3zF+63+yxEAmPOf2IgCIiAIiIAiIgCIiAIiIAiIgCIiAIiIAiIgH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/>
          </a:p>
        </p:txBody>
      </p:sp>
      <p:pic>
        <p:nvPicPr>
          <p:cNvPr id="9220" name="Picture 4" descr="http://cliparts101.com/files/430/F042CF53366808662D152AAC9CC72D74/Boy_Thinking_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4869160"/>
            <a:ext cx="1224136" cy="12241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68760"/>
            <a:ext cx="8229600" cy="2312640"/>
          </a:xfrm>
        </p:spPr>
        <p:txBody>
          <a:bodyPr>
            <a:normAutofit fontScale="70000" lnSpcReduction="20000"/>
          </a:bodyPr>
          <a:lstStyle/>
          <a:p>
            <a:r>
              <a:rPr lang="el-GR" dirty="0"/>
              <a:t>Οι εμπειρίες χωρών που επεδίωξαν να αναπτύξουν εθνικά συστήματα αξιολόγησης μας βοηθούν να αντιληφθούμε ότι είναι </a:t>
            </a:r>
            <a:r>
              <a:rPr lang="el-GR" b="1" dirty="0"/>
              <a:t>πρακτικά αδύνατο </a:t>
            </a:r>
            <a:r>
              <a:rPr lang="el-GR" dirty="0"/>
              <a:t>να αναπτύξουμε ένα σύστημα με το οποίο να επιτυγχάνεται τόσο ο διαμορφωτικός σκοπός όσο και ο συγκριτικός. </a:t>
            </a:r>
          </a:p>
          <a:p>
            <a:endParaRPr lang="el-GR" dirty="0"/>
          </a:p>
          <a:p>
            <a:r>
              <a:rPr lang="el-GR" dirty="0"/>
              <a:t>Οι δυσκολίες που έχουμε να αντιμετωπίσουμε σχετίζονται με το γεγονός πως ο καθορισμός του </a:t>
            </a:r>
            <a:r>
              <a:rPr lang="el-GR" b="1" dirty="0"/>
              <a:t>σκοπού αξιολόγησης </a:t>
            </a:r>
            <a:r>
              <a:rPr lang="el-GR" dirty="0"/>
              <a:t>έχει </a:t>
            </a:r>
            <a:r>
              <a:rPr lang="el-GR" b="1" dirty="0"/>
              <a:t>άμεσες επιπτώσεις στον τρόπο με τον οποίο θα επιχειρήσουμε στη συνέχεια να καταρτίσουμε όργανα αξιολόγησης</a:t>
            </a:r>
            <a:r>
              <a:rPr lang="el-GR" dirty="0"/>
              <a:t>. </a:t>
            </a:r>
          </a:p>
          <a:p>
            <a:pPr>
              <a:buFont typeface="Wingdings" pitchFamily="2" charset="2"/>
              <a:buChar char="Ø"/>
            </a:pPr>
            <a:endParaRPr lang="el-GR" sz="2400" dirty="0"/>
          </a:p>
          <a:p>
            <a:pPr lvl="0">
              <a:buFont typeface="Wingdings" pitchFamily="2" charset="2"/>
              <a:buChar char="Ø"/>
            </a:pPr>
            <a:endParaRPr lang="el-GR" sz="2400" dirty="0"/>
          </a:p>
          <a:p>
            <a:pPr marL="0" indent="0">
              <a:buNone/>
            </a:pPr>
            <a:endParaRPr lang="el-GR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3508553"/>
            <a:ext cx="8458200" cy="2800767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l-GR" sz="2200" dirty="0"/>
              <a:t>Για παράδειγμα, στην περίπτωση της </a:t>
            </a:r>
            <a:r>
              <a:rPr lang="el-GR" sz="2200" u="sng" dirty="0"/>
              <a:t>συγκριτικής αξιολόγησης </a:t>
            </a:r>
            <a:r>
              <a:rPr lang="el-GR" sz="2200" dirty="0"/>
              <a:t>δίνεται μεγαλύτερη έμφαση στο </a:t>
            </a:r>
            <a:r>
              <a:rPr lang="el-GR" sz="2200" b="1" dirty="0"/>
              <a:t>βαθμό δυσκολίας </a:t>
            </a:r>
            <a:r>
              <a:rPr lang="el-GR" sz="2200" dirty="0"/>
              <a:t>των ερωτήσεων του δοκιμίου. Αντίθετα, στην περίπτωση της </a:t>
            </a:r>
            <a:r>
              <a:rPr lang="el-GR" sz="2200" u="sng" dirty="0"/>
              <a:t>διαμορφωτικής αξιολόγησης</a:t>
            </a:r>
            <a:r>
              <a:rPr lang="el-GR" sz="2200" dirty="0"/>
              <a:t> δίνεται έμφαση στην </a:t>
            </a:r>
            <a:r>
              <a:rPr lang="el-GR" sz="2200" b="1" dirty="0"/>
              <a:t>αντιπροσωπευτικότητα</a:t>
            </a:r>
            <a:r>
              <a:rPr lang="el-GR" sz="2200" dirty="0"/>
              <a:t> του δοκιμίου και πιο συγκεκριμένα στην ανάγκη αξιολόγησης όλου του φάσματος των δεξιοτήτων και ικανοτήτων που διδάχτηκαν οι μαθητές, ώστε να εντοπίζεται ο βαθμός στον οποίο επιτεύχθηκαν οι στόχοι του αναλυτικού προγράμματος.</a:t>
            </a:r>
            <a:endParaRPr lang="en-US" sz="2200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>
            <a:normAutofit/>
          </a:bodyPr>
          <a:lstStyle/>
          <a:p>
            <a:r>
              <a:rPr lang="el-GR" dirty="0"/>
              <a:t>Είδη αξιολόγησης του μαθητή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19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49078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l-GR" dirty="0"/>
              <a:t>Είδη αξιολόγησης του μαθητή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20</a:t>
            </a:fld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el-GR" sz="2400" dirty="0"/>
              <a:t>Για τους λόγους αυτούς, στη δεκαετία του 1990 υποστηρίχτηκε πως είναι </a:t>
            </a:r>
            <a:r>
              <a:rPr lang="el-GR" sz="2400" b="1" dirty="0"/>
              <a:t>πρακτικά αδύνατη </a:t>
            </a:r>
            <a:r>
              <a:rPr lang="el-GR" sz="2400" dirty="0"/>
              <a:t>η ανάπτυξη ενός μοντέλου αξιολόγησης που να χρησιμεύει τόσο για σκοπούς σύγκρισης των μαθητών όσο και για εντοπισμό των δυνατοτήτων του κάθε μαθητή (Brown, 1991, σελ. 217-218; Daugherty, 1995). </a:t>
            </a:r>
          </a:p>
          <a:p>
            <a:pPr lvl="0"/>
            <a:endParaRPr lang="el-GR" sz="2400" dirty="0"/>
          </a:p>
          <a:p>
            <a:pPr lvl="0"/>
            <a:r>
              <a:rPr lang="el-GR" sz="2400" dirty="0"/>
              <a:t>Δυσκολίες δημιουργούνται και από το γεγονός πως οι σκοποί αξιολόγησης καθορίζουν και τον τρόπο ερμηνείας των αποτελεσμάτων.  </a:t>
            </a:r>
          </a:p>
          <a:p>
            <a:endParaRPr lang="el-GR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l-GR" dirty="0"/>
              <a:t>Είδη αξιολόγησης του μαθητή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21</a:t>
            </a:fld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l-GR" dirty="0"/>
              <a:t>Την τελευταία δεκαετία παρατηρείται ένα έντονο ενδιαφέρον για την υιοθέτηση </a:t>
            </a:r>
            <a:r>
              <a:rPr lang="el-GR" b="1" dirty="0"/>
              <a:t>δυναμικών μοντέλων αξιολόγησης </a:t>
            </a:r>
            <a:r>
              <a:rPr lang="el-GR" dirty="0"/>
              <a:t>των ικανοτήτων των μαθητών (NCTM, 1995). </a:t>
            </a:r>
          </a:p>
          <a:p>
            <a:pPr lvl="0"/>
            <a:r>
              <a:rPr lang="el-GR" dirty="0"/>
              <a:t>Το γεγονός αυτό φαίνεται να συμβάλλει στη διαμόρφωση μιας νέας </a:t>
            </a:r>
            <a:r>
              <a:rPr lang="el-GR" b="1" dirty="0"/>
              <a:t>δυναμικής σχέσης ανάμεσα στη διδασκαλία και στην αξιολόγηση </a:t>
            </a:r>
            <a:r>
              <a:rPr lang="el-GR" dirty="0"/>
              <a:t>(Black, 1997). </a:t>
            </a:r>
          </a:p>
          <a:p>
            <a:pPr lvl="0">
              <a:buNone/>
            </a:pPr>
            <a:r>
              <a:rPr lang="el-GR" b="1" i="1" dirty="0">
                <a:solidFill>
                  <a:srgbClr val="C00000"/>
                </a:solidFill>
              </a:rPr>
              <a:t>Όμως...</a:t>
            </a:r>
          </a:p>
          <a:p>
            <a:pPr lvl="0"/>
            <a:r>
              <a:rPr lang="el-GR" dirty="0"/>
              <a:t>Ταυτόχρονα, παρατηρείται διεθνώς ένα αυξημένο ενδιαφέρον για αξιολόγηση </a:t>
            </a:r>
            <a:r>
              <a:rPr lang="el-GR" b="1" dirty="0"/>
              <a:t>εθνικών επιπέδων </a:t>
            </a:r>
            <a:r>
              <a:rPr lang="el-GR" dirty="0"/>
              <a:t>με τη βοήθεια μοντέλων συγκριτικής αξιολόγησης (Fitz-Gibbon, 1996; Campbell &amp; Kyriakides, in press). </a:t>
            </a:r>
          </a:p>
          <a:p>
            <a:pPr lvl="0"/>
            <a:endParaRPr lang="el-GR" dirty="0"/>
          </a:p>
          <a:p>
            <a:pPr lvl="0"/>
            <a:r>
              <a:rPr lang="el-GR" dirty="0"/>
              <a:t>Οι δύο αυτές τάσεις αποκαλύπτουν τις δυσκολίες που έχει να αντιμετωπίσει κανείς στην προσπάθεια ανάπτυξης εθνικής πολιτικής στο θέμα της αξιολόγησης του μαθητή.</a:t>
            </a:r>
          </a:p>
          <a:p>
            <a:endParaRPr lang="el-GR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l-GR" dirty="0"/>
              <a:t>Είδη αξιολόγησης του μαθητή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22</a:t>
            </a:fld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19256" cy="49377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l-GR" sz="2400" dirty="0"/>
              <a:t>Ο Bloom αναφέρει τους εξής </a:t>
            </a:r>
            <a:r>
              <a:rPr lang="el-GR" sz="2400" b="1" dirty="0"/>
              <a:t>τρεις τύπους αξιολόγησης</a:t>
            </a:r>
            <a:r>
              <a:rPr lang="el-GR" sz="2400" dirty="0"/>
              <a:t>: </a:t>
            </a:r>
          </a:p>
          <a:p>
            <a:pPr>
              <a:buNone/>
            </a:pPr>
            <a:r>
              <a:rPr lang="el-GR" sz="2400" dirty="0"/>
              <a:t>α) την αρχική ή διαγνωστική αξιολόγηση</a:t>
            </a:r>
          </a:p>
          <a:p>
            <a:pPr>
              <a:buNone/>
            </a:pPr>
            <a:r>
              <a:rPr lang="el-GR" sz="2400" dirty="0"/>
              <a:t>β) συντρέχουσα αξιολόγηση </a:t>
            </a:r>
          </a:p>
          <a:p>
            <a:pPr>
              <a:buNone/>
            </a:pPr>
            <a:r>
              <a:rPr lang="el-GR" sz="2400" dirty="0"/>
              <a:t>γ) και την τελική ή συνολική αξιολόγηση </a:t>
            </a:r>
          </a:p>
          <a:p>
            <a:pPr algn="r">
              <a:buNone/>
            </a:pPr>
            <a:r>
              <a:rPr lang="el-GR" sz="2400" dirty="0"/>
              <a:t>(</a:t>
            </a:r>
            <a:r>
              <a:rPr lang="en-US" sz="2400" dirty="0"/>
              <a:t>Bloom, Hastings, Madaus, 1971)</a:t>
            </a:r>
            <a:endParaRPr lang="el-GR" sz="2400" dirty="0"/>
          </a:p>
          <a:p>
            <a:pPr algn="r">
              <a:buNone/>
            </a:pPr>
            <a:endParaRPr lang="el-GR" sz="2400" dirty="0"/>
          </a:p>
          <a:p>
            <a:pPr>
              <a:buNone/>
            </a:pPr>
            <a:r>
              <a:rPr lang="el-GR" sz="2400" dirty="0">
                <a:sym typeface="Wingdings" pitchFamily="2" charset="2"/>
              </a:rPr>
              <a:t> </a:t>
            </a:r>
            <a:r>
              <a:rPr lang="el-GR" sz="2400" i="1" dirty="0"/>
              <a:t>Ποια η σχέση των πιο πάνω τύπων με τη </a:t>
            </a:r>
            <a:r>
              <a:rPr lang="el-GR" sz="2400" b="1" i="1" dirty="0"/>
              <a:t>διαμορφωτική</a:t>
            </a:r>
            <a:r>
              <a:rPr lang="el-GR" sz="2400" i="1" dirty="0"/>
              <a:t> και τη </a:t>
            </a:r>
            <a:r>
              <a:rPr lang="el-GR" sz="2400" b="1" i="1" dirty="0"/>
              <a:t>συγκριτική</a:t>
            </a:r>
            <a:r>
              <a:rPr lang="el-GR" sz="2400" i="1" dirty="0"/>
              <a:t> αξιολόγηση;</a:t>
            </a:r>
            <a:r>
              <a:rPr lang="el-GR" sz="2400" dirty="0"/>
              <a:t>	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l-GR" dirty="0"/>
              <a:t>Είδη αξιολόγησης του μαθητή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23</a:t>
            </a:fld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l-GR" sz="2400" dirty="0"/>
              <a:t>Η </a:t>
            </a:r>
            <a:r>
              <a:rPr lang="el-GR" sz="2400" b="1" i="1" dirty="0">
                <a:solidFill>
                  <a:srgbClr val="0070C0"/>
                </a:solidFill>
              </a:rPr>
              <a:t>αρχική ή διαγνωστική αξιολόγηση </a:t>
            </a:r>
            <a:r>
              <a:rPr lang="el-GR" sz="2400" dirty="0"/>
              <a:t>αποσκοπεί στον προσδιορισμό του επιπέδου των γνώσεων, των ενδιαφερόντων και των πιθανών προβλημάτων του μαθητή. Ο εκπαιδευτικός προσπαθεί να προσαρμόσει τις μαθησιακές του διαδικασίες στο επίπεδο του κάθε μαθητή και βέβαια στις δυνατότητες και ιδιαιτερότητες του. (Κωνσταντίνου, 2000). </a:t>
            </a:r>
            <a:endParaRPr lang="en-US" sz="2400" dirty="0"/>
          </a:p>
          <a:p>
            <a:endParaRPr lang="en-US" sz="2400" dirty="0"/>
          </a:p>
          <a:p>
            <a:r>
              <a:rPr lang="el-GR" sz="2400" dirty="0"/>
              <a:t>Ευνόητο είναι ότι για να υπάρξει δυνατότητα αξιοποίησης στην πράξη των αποτελεσμάτων της διαγνωστικής αξιολόγησης πρέπει να υπάρχει παράλληλα και η δυνατότητα </a:t>
            </a:r>
            <a:r>
              <a:rPr lang="el-GR" sz="2400" b="1" dirty="0"/>
              <a:t>εφαρμογής εξατομικευμένης διδασκαλίας</a:t>
            </a:r>
            <a:r>
              <a:rPr lang="el-GR" sz="2400" dirty="0"/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l-GR" dirty="0"/>
              <a:t>Είδη αξιολόγησης του μαθητή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24</a:t>
            </a:fld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l-GR" sz="2400" b="1" i="1" u="sng" dirty="0">
                <a:solidFill>
                  <a:srgbClr val="0070C0"/>
                </a:solidFill>
              </a:rPr>
              <a:t>Παράδειγμα αρχικής αξιολόγησης:</a:t>
            </a:r>
            <a:endParaRPr lang="el-GR" sz="2400" u="sng" dirty="0"/>
          </a:p>
          <a:p>
            <a:pPr>
              <a:buNone/>
            </a:pPr>
            <a:r>
              <a:rPr lang="el-GR" sz="2000" b="1" dirty="0"/>
              <a:t>Οδηγίες: Συμπλήρωσε τον πιο κάτω πίνακα για να δείξεις τι ξέρεις για ……………………………………………………………………………………</a:t>
            </a:r>
          </a:p>
          <a:p>
            <a:pPr algn="just">
              <a:buNone/>
            </a:pPr>
            <a:r>
              <a:rPr lang="el-GR" sz="2000" b="1" dirty="0"/>
              <a:t>Γράψε όσα περισσότερα μπορείς!</a:t>
            </a:r>
          </a:p>
          <a:p>
            <a:endParaRPr lang="el-GR" sz="2400" dirty="0"/>
          </a:p>
        </p:txBody>
      </p:sp>
      <p:pic>
        <p:nvPicPr>
          <p:cNvPr id="4771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780928"/>
            <a:ext cx="7200800" cy="3527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l-GR" dirty="0"/>
              <a:t>Είδη αξιολόγησης του μαθητή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25</a:t>
            </a:fld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l-GR" sz="2400" b="1" i="1" u="sng" dirty="0">
                <a:solidFill>
                  <a:srgbClr val="0070C0"/>
                </a:solidFill>
              </a:rPr>
              <a:t>Παράδειγμα αρχικής αξιολόγησης εννοιών για μαθητές Α’ τάξης Δημοτικού:</a:t>
            </a:r>
            <a:endParaRPr lang="el-GR" sz="2400" u="sng" dirty="0"/>
          </a:p>
          <a:p>
            <a:endParaRPr lang="el-GR" sz="2400" dirty="0"/>
          </a:p>
        </p:txBody>
      </p:sp>
      <p:pic>
        <p:nvPicPr>
          <p:cNvPr id="7" name="Picture 6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2132856"/>
            <a:ext cx="6480720" cy="3744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l-GR" dirty="0"/>
              <a:t>Είδη αξιολόγησης του μαθητή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26</a:t>
            </a:fld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l-GR" sz="2400" dirty="0"/>
              <a:t>Η </a:t>
            </a:r>
            <a:r>
              <a:rPr lang="el-GR" sz="2400" b="1" i="1" dirty="0">
                <a:solidFill>
                  <a:srgbClr val="0070C0"/>
                </a:solidFill>
              </a:rPr>
              <a:t>συντρέχουσα αξιολόγηση </a:t>
            </a:r>
            <a:r>
              <a:rPr lang="el-GR" sz="2400" dirty="0"/>
              <a:t>έχει πληροφοριακό χαρακτήρα και αποσκοπεί στον έλεγχο της </a:t>
            </a:r>
            <a:r>
              <a:rPr lang="el-GR" sz="2400" b="1" dirty="0"/>
              <a:t>πορείας του μαθητή </a:t>
            </a:r>
            <a:r>
              <a:rPr lang="el-GR" sz="2400" dirty="0"/>
              <a:t>για την κατάκτηση συγκεκριμένου εκπαιδευτικού στόχου. Από τον έλεγχο αυτό επιδιώκεται να εξαχθούν οι απαραίτητες πληροφορίες και στοιχεία που απαιτούνται για την </a:t>
            </a:r>
            <a:r>
              <a:rPr lang="el-GR" sz="2400" b="1" dirty="0"/>
              <a:t>τροποποίηση του προγράμματος </a:t>
            </a:r>
            <a:r>
              <a:rPr lang="el-GR" sz="2400" dirty="0"/>
              <a:t>και των </a:t>
            </a:r>
            <a:r>
              <a:rPr lang="el-GR" sz="2400" b="1" dirty="0"/>
              <a:t>μεθόδων διδασκαλίας </a:t>
            </a:r>
            <a:r>
              <a:rPr lang="el-GR" sz="2400" dirty="0"/>
              <a:t>για να επιτευχθεί η κατάκτηση του επιδιωκόμενου στόχου. (Anderson &amp; Faust, 1975).</a:t>
            </a:r>
          </a:p>
          <a:p>
            <a:endParaRPr lang="el-GR" sz="2400" dirty="0"/>
          </a:p>
          <a:p>
            <a:r>
              <a:rPr lang="el-GR" sz="2400" dirty="0"/>
              <a:t>Η </a:t>
            </a:r>
            <a:r>
              <a:rPr lang="el-GR" sz="2400" b="1" i="1" dirty="0">
                <a:solidFill>
                  <a:srgbClr val="0070C0"/>
                </a:solidFill>
              </a:rPr>
              <a:t>τελική ή συνολική αξιολόγηση </a:t>
            </a:r>
            <a:r>
              <a:rPr lang="el-GR" sz="2400" dirty="0"/>
              <a:t>διαμορφώνεται, προκειμένου να εκτιμηθεί η </a:t>
            </a:r>
            <a:r>
              <a:rPr lang="el-GR" sz="2400" b="1" dirty="0"/>
              <a:t>συνολική επίτευξη των διδακτικών και παιδαγωγικών στόχων</a:t>
            </a:r>
            <a:r>
              <a:rPr lang="el-GR" sz="2400" dirty="0"/>
              <a:t>, σε σχέση με το τι ακριβώς είχε καθοριστεί ως τελικός στόχος. </a:t>
            </a:r>
            <a:endParaRPr lang="en-US" sz="2400" dirty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l-GR" dirty="0"/>
            </a:br>
            <a:r>
              <a:rPr lang="el-GR" sz="2700" b="1" dirty="0"/>
              <a:t>Αξιολόγηση στην Κύπρο</a:t>
            </a:r>
            <a:endParaRPr lang="el-G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27</a:t>
            </a:fld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l-GR" dirty="0"/>
          </a:p>
          <a:p>
            <a:pPr lvl="8"/>
            <a:endParaRPr lang="el-GR" sz="2400" dirty="0"/>
          </a:p>
          <a:p>
            <a:pPr lvl="8"/>
            <a:endParaRPr lang="el-GR" sz="2400" dirty="0"/>
          </a:p>
          <a:p>
            <a:pPr lvl="8"/>
            <a:r>
              <a:rPr lang="el-GR" sz="2400" dirty="0"/>
              <a:t>Που νομίζετε ότι δίνεται έμφαση στην αξιολόγηση των μαθητών στην Κύπρο (διαμορφωτικό ή συγκριτικό σκοπό);</a:t>
            </a:r>
          </a:p>
          <a:p>
            <a:pPr lvl="8"/>
            <a:endParaRPr lang="el-GR" sz="2400" dirty="0"/>
          </a:p>
          <a:p>
            <a:pPr lvl="8"/>
            <a:r>
              <a:rPr lang="el-GR" sz="2400" dirty="0"/>
              <a:t>Ποια θεωρείτε ότι είναι τα πλεονεκτήματα και ποια τα μειονεκτήματα της αξιολόγησης των μαθητών στην Κύπρο;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916832"/>
            <a:ext cx="1040422" cy="1133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l-GR" dirty="0"/>
            </a:br>
            <a:br>
              <a:rPr lang="el-GR" dirty="0"/>
            </a:br>
            <a:br>
              <a:rPr lang="el-GR" dirty="0"/>
            </a:br>
            <a:br>
              <a:rPr lang="el-GR" dirty="0"/>
            </a:br>
            <a:br>
              <a:rPr lang="el-GR" dirty="0"/>
            </a:br>
            <a:r>
              <a:rPr lang="el-GR" sz="3600" dirty="0"/>
              <a:t>Η αναγκαιότητα της αξιολόγησης</a:t>
            </a:r>
            <a:endParaRPr lang="el-G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28</a:t>
            </a:fld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l-GR" dirty="0"/>
              <a:t>Πολλές φορές τίθεται το ερώτημα αν η αξιολόγηση των μαθητών είναι αναγκαία...</a:t>
            </a:r>
          </a:p>
          <a:p>
            <a:endParaRPr lang="el-GR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l-GR" dirty="0"/>
            </a:br>
            <a:br>
              <a:rPr lang="el-GR" dirty="0"/>
            </a:br>
            <a:br>
              <a:rPr lang="el-GR" dirty="0"/>
            </a:br>
            <a:br>
              <a:rPr lang="el-GR" dirty="0"/>
            </a:br>
            <a:br>
              <a:rPr lang="el-GR" dirty="0"/>
            </a:br>
            <a:r>
              <a:rPr lang="el-GR" sz="3600" dirty="0"/>
              <a:t>Η αναγκαιότητα της αξιολόγησης</a:t>
            </a:r>
            <a:endParaRPr lang="el-G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29</a:t>
            </a:fld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l-GR" sz="2200" dirty="0"/>
              <a:t>Πιο συγκεκριμένα, όσον αφορά στις αντιλήψεις των εκπαιδευτικών σχετικά με την αξιολόγηση, έρευνες έχουν εντοπίσει τρεις αντιλήψεις: </a:t>
            </a:r>
          </a:p>
          <a:p>
            <a:pPr marL="731520" lvl="1" indent="-457200">
              <a:buFont typeface="+mj-lt"/>
              <a:buAutoNum type="arabicPeriod"/>
            </a:pPr>
            <a:r>
              <a:rPr lang="el-GR" sz="2100" dirty="0"/>
              <a:t>η αξιολόγηση είναι ένας τρόπος να </a:t>
            </a:r>
            <a:r>
              <a:rPr lang="el-GR" sz="2100" b="1" dirty="0"/>
              <a:t>βελτιώσουν την ποιότητα μάθησης</a:t>
            </a:r>
            <a:r>
              <a:rPr lang="el-GR" sz="2100" dirty="0"/>
              <a:t> των μαθητών και την ποιότητα της διδασκαλίας,</a:t>
            </a:r>
          </a:p>
          <a:p>
            <a:pPr marL="731520" lvl="1" indent="-457200">
              <a:buFont typeface="+mj-lt"/>
              <a:buAutoNum type="arabicPeriod"/>
            </a:pPr>
            <a:r>
              <a:rPr lang="el-GR" sz="2100" dirty="0"/>
              <a:t>είναι μια μορφή </a:t>
            </a:r>
            <a:r>
              <a:rPr lang="el-GR" sz="2100" b="1" dirty="0"/>
              <a:t>απολογισμού</a:t>
            </a:r>
            <a:r>
              <a:rPr lang="el-GR" sz="2100" dirty="0"/>
              <a:t> που θα δείξει κατά πόσο οι εκπαιδευτικοί, το σχολείο ή το εκπαιδευτικό σύστημα κάνουν σωστά τη δουλειά τους και τέλος </a:t>
            </a:r>
          </a:p>
          <a:p>
            <a:pPr marL="731520" lvl="1" indent="-457200">
              <a:buFont typeface="+mj-lt"/>
              <a:buAutoNum type="arabicPeriod"/>
            </a:pPr>
            <a:r>
              <a:rPr lang="el-GR" sz="2100" dirty="0"/>
              <a:t>είναι ένας τρόπος ώστε οι ίδιοι </a:t>
            </a:r>
            <a:r>
              <a:rPr lang="el-GR" sz="2100" b="1" dirty="0"/>
              <a:t>οι μαθητές να παρακολουθούν τη δική τους πρόοδο</a:t>
            </a:r>
            <a:r>
              <a:rPr lang="el-GR" sz="2100" dirty="0"/>
              <a:t> (Torrance &amp; Pryor, 1998). </a:t>
            </a:r>
          </a:p>
          <a:p>
            <a:pPr marL="731520" lvl="1" indent="-457200">
              <a:buFont typeface="+mj-lt"/>
              <a:buAutoNum type="arabicPeriod"/>
            </a:pPr>
            <a:endParaRPr lang="el-GR" sz="2100" dirty="0"/>
          </a:p>
          <a:p>
            <a:r>
              <a:rPr lang="el-GR" sz="2200" dirty="0"/>
              <a:t>O Brown(2004) υποστηρίζει ότι υπάρχει και μια τέταρτη αντίληψη: ότι </a:t>
            </a:r>
            <a:r>
              <a:rPr lang="el-GR" sz="2200" b="1" i="1" dirty="0"/>
              <a:t>η αξιολόγηση είναι άσχετη τόσο με την εργασία των εκπαιδευτικών όσο και με τη ζωή των μαθητών.</a:t>
            </a:r>
          </a:p>
          <a:p>
            <a:pPr algn="r">
              <a:buNone/>
            </a:pPr>
            <a:r>
              <a:rPr lang="el-GR" sz="1800" dirty="0"/>
              <a:t>(Βασιλείου &amp; Μιχαηλίδης, 2012) </a:t>
            </a:r>
          </a:p>
          <a:p>
            <a:endParaRPr lang="el-GR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52600"/>
            <a:ext cx="2990850" cy="299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1268760"/>
            <a:ext cx="457240" cy="457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932040" y="1196752"/>
            <a:ext cx="3886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/>
              <a:t>1. Διαβάστε το κείμενο «Η αναγκαιότητα της αξιολόγησης: Η αρνητική άποψη»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4953000" y="3248025"/>
            <a:ext cx="3886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l-GR" sz="2400" dirty="0"/>
              <a:t>2. Έχετε 15</a:t>
            </a:r>
            <a:r>
              <a:rPr lang="en-US" sz="2400" dirty="0"/>
              <a:t> </a:t>
            </a:r>
            <a:r>
              <a:rPr lang="el-GR" sz="2400" dirty="0"/>
              <a:t>λεπτά για να στοιχειοθετήσετε με την ομάδα σας την υποστήριξή σας ή την αντίθεσή σας με τις απόψεις που αναφέρονται</a:t>
            </a:r>
            <a:endParaRPr lang="en-US" sz="2400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200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11560" y="332656"/>
            <a:ext cx="7848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Η αναγκαιότητα της αξιολόγησης</a:t>
            </a:r>
            <a:endParaRPr lang="en-US" sz="3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30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813998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Η αρνητική άποψη</a:t>
            </a:r>
            <a:endParaRPr lang="en-US" sz="4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229600" cy="4525963"/>
          </a:xfrm>
        </p:spPr>
        <p:txBody>
          <a:bodyPr>
            <a:normAutofit lnSpcReduction="10000"/>
          </a:bodyPr>
          <a:lstStyle/>
          <a:p>
            <a:pPr algn="just"/>
            <a:r>
              <a:rPr lang="el-GR" sz="2400" dirty="0"/>
              <a:t>Τα επιχειρήματα κατά της σχολικής αξιολόγησης παρουσιάζονται σε σχέση με:</a:t>
            </a:r>
          </a:p>
          <a:p>
            <a:pPr marL="0" indent="0">
              <a:buNone/>
            </a:pPr>
            <a:endParaRPr lang="el-GR" sz="2400" dirty="0"/>
          </a:p>
          <a:p>
            <a:pPr marL="1887538" indent="288925">
              <a:buFont typeface="Wingdings" pitchFamily="2" charset="2"/>
              <a:buChar char="Ø"/>
            </a:pPr>
            <a:r>
              <a:rPr lang="el-GR" sz="2400" b="1" dirty="0"/>
              <a:t>Την παιδαγωγική</a:t>
            </a:r>
            <a:r>
              <a:rPr lang="el-GR" sz="2400" dirty="0"/>
              <a:t> διάσταση </a:t>
            </a:r>
          </a:p>
          <a:p>
            <a:pPr marL="1887538" indent="288925">
              <a:buFont typeface="Wingdings" pitchFamily="2" charset="2"/>
              <a:buChar char="Ø"/>
            </a:pPr>
            <a:r>
              <a:rPr lang="el-GR" sz="2400" b="1" dirty="0"/>
              <a:t>Τη ψυχολογική</a:t>
            </a:r>
            <a:r>
              <a:rPr lang="el-GR" sz="2400" dirty="0"/>
              <a:t> διάσταση</a:t>
            </a:r>
          </a:p>
          <a:p>
            <a:pPr marL="1887538" indent="288925">
              <a:buFont typeface="Wingdings" pitchFamily="2" charset="2"/>
              <a:buChar char="Ø"/>
            </a:pPr>
            <a:r>
              <a:rPr lang="el-GR" sz="2400" dirty="0"/>
              <a:t> </a:t>
            </a:r>
            <a:r>
              <a:rPr lang="el-GR" sz="2400" b="1" dirty="0"/>
              <a:t>Την</a:t>
            </a:r>
            <a:r>
              <a:rPr lang="el-GR" sz="2400" dirty="0"/>
              <a:t> </a:t>
            </a:r>
            <a:r>
              <a:rPr lang="el-GR" sz="2400" b="1" dirty="0"/>
              <a:t>κοινωνιολογική</a:t>
            </a:r>
            <a:r>
              <a:rPr lang="el-GR" sz="2400" dirty="0"/>
              <a:t> διάσταση</a:t>
            </a:r>
          </a:p>
          <a:p>
            <a:pPr marL="1887538" indent="288925">
              <a:buFont typeface="Wingdings" pitchFamily="2" charset="2"/>
              <a:buChar char="Ø"/>
            </a:pPr>
            <a:r>
              <a:rPr lang="el-GR" sz="2400" dirty="0"/>
              <a:t>Τις </a:t>
            </a:r>
            <a:r>
              <a:rPr lang="el-GR" sz="2400" b="1" dirty="0"/>
              <a:t>αδυναμίες</a:t>
            </a:r>
            <a:r>
              <a:rPr lang="el-GR" sz="2400" dirty="0"/>
              <a:t> του παραδοσιακού συστήματος      αξιολόγησης </a:t>
            </a:r>
          </a:p>
          <a:p>
            <a:pPr marL="1887538" indent="288925">
              <a:buNone/>
            </a:pPr>
            <a:r>
              <a:rPr lang="el-GR" sz="2400" dirty="0">
                <a:sym typeface="Wingdings" pitchFamily="2" charset="2"/>
              </a:rPr>
              <a:t> </a:t>
            </a:r>
            <a:r>
              <a:rPr lang="el-GR" sz="2400" dirty="0"/>
              <a:t>όλες οι πιο πάνω επικρίσεις της αξιολόγησης σχετίζονται άμεσα με το </a:t>
            </a:r>
            <a:r>
              <a:rPr lang="el-GR" sz="2400" b="1" i="1" dirty="0"/>
              <a:t>συγκριτικό</a:t>
            </a:r>
            <a:r>
              <a:rPr lang="el-GR" sz="2400" dirty="0"/>
              <a:t> σκοπό της αξιολόγησης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31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912006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Η θετική άποψη</a:t>
            </a:r>
            <a:endParaRPr lang="en-US" sz="4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l-GR" sz="2400" i="1" dirty="0"/>
              <a:t>Όλοι είναι διάνοιες, εάν όμως κρίνεις ένα ψάρι με την ικανότητα που έχει να σκαρφαλώσει σ’ ένα δέντρο, θα ζει όλη του τη ζωή πιστεύοντας πως είναι ανόητο</a:t>
            </a:r>
            <a:endParaRPr lang="el-GR" sz="2400" dirty="0"/>
          </a:p>
          <a:p>
            <a:pPr>
              <a:buNone/>
            </a:pPr>
            <a:r>
              <a:rPr lang="en-GB" sz="2400" dirty="0"/>
              <a:t> </a:t>
            </a:r>
            <a:endParaRPr lang="el-GR" sz="2400" dirty="0"/>
          </a:p>
          <a:p>
            <a:pPr>
              <a:buNone/>
            </a:pPr>
            <a:r>
              <a:rPr lang="el-GR" sz="2400" dirty="0"/>
              <a:t>Albert Einstein</a:t>
            </a:r>
          </a:p>
          <a:p>
            <a:pPr algn="just"/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32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912006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Η θετική άποψη</a:t>
            </a:r>
            <a:endParaRPr lang="en-US" sz="4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229600" cy="4525963"/>
          </a:xfrm>
        </p:spPr>
        <p:txBody>
          <a:bodyPr>
            <a:normAutofit/>
          </a:bodyPr>
          <a:lstStyle/>
          <a:p>
            <a:pPr algn="just"/>
            <a:r>
              <a:rPr lang="el-GR" sz="2400" dirty="0"/>
              <a:t>Τα επιχειρήματα υπέρ της σχολικής αξιολόγησης παρουσιάζονται σε σχέση με τις διάφορες ομάδες που έχουν τη δυνατότητα να αξιοποιήσουν τα αποτελέσματα της αξιολόγησης. </a:t>
            </a:r>
          </a:p>
          <a:p>
            <a:pPr marL="0" indent="0">
              <a:buNone/>
            </a:pPr>
            <a:endParaRPr lang="el-GR" sz="2400" dirty="0"/>
          </a:p>
          <a:p>
            <a:pPr marL="1887538" indent="288925">
              <a:buFont typeface="Wingdings" pitchFamily="2" charset="2"/>
              <a:buChar char="Ø"/>
            </a:pPr>
            <a:r>
              <a:rPr lang="el-GR" sz="2400" dirty="0"/>
              <a:t>Ο μαθητής</a:t>
            </a:r>
          </a:p>
          <a:p>
            <a:pPr marL="1887538" indent="288925">
              <a:buFont typeface="Wingdings" pitchFamily="2" charset="2"/>
              <a:buChar char="Ø"/>
            </a:pPr>
            <a:r>
              <a:rPr lang="el-GR" sz="2400" dirty="0"/>
              <a:t>Το εκπαιδευτικό σύστημα</a:t>
            </a:r>
          </a:p>
          <a:p>
            <a:pPr marL="1887538" indent="288925">
              <a:buFont typeface="Wingdings" pitchFamily="2" charset="2"/>
              <a:buChar char="Ø"/>
            </a:pPr>
            <a:r>
              <a:rPr lang="el-GR" sz="2400" dirty="0"/>
              <a:t>Γονείς/ κοινωνικό σύστημα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33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912006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Η θετική άποψη</a:t>
            </a:r>
            <a:endParaRPr lang="en-US" sz="4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229600" cy="5077544"/>
          </a:xfrm>
        </p:spPr>
        <p:txBody>
          <a:bodyPr>
            <a:normAutofit fontScale="92500" lnSpcReduction="10000"/>
          </a:bodyPr>
          <a:lstStyle/>
          <a:p>
            <a:pPr hangingPunct="0">
              <a:buNone/>
            </a:pPr>
            <a:r>
              <a:rPr lang="el-GR" sz="2400" dirty="0"/>
              <a:t>α) Ο </a:t>
            </a:r>
            <a:r>
              <a:rPr lang="el-GR" sz="2400" b="1" dirty="0">
                <a:solidFill>
                  <a:srgbClr val="0070C0"/>
                </a:solidFill>
              </a:rPr>
              <a:t>μαθητής</a:t>
            </a:r>
            <a:r>
              <a:rPr lang="el-GR" sz="2400" b="1" dirty="0"/>
              <a:t>:</a:t>
            </a:r>
            <a:endParaRPr lang="el-GR" sz="2400" dirty="0"/>
          </a:p>
          <a:p>
            <a:pPr marL="457200" lvl="0" indent="-457200" hangingPunct="0">
              <a:buFont typeface="+mj-lt"/>
              <a:buAutoNum type="arabicPeriod"/>
            </a:pPr>
            <a:r>
              <a:rPr lang="el-GR" sz="2400" b="1" dirty="0"/>
              <a:t>σε κάθε βήμα του ο μαθητής πρέπει να διαπιστώνει ή να πληροφορείται την επίδοσή του </a:t>
            </a:r>
            <a:r>
              <a:rPr lang="el-GR" sz="2400" dirty="0"/>
              <a:t>(Αυτή είναι και η αρχή πάνω στην οποία στηρίζεται η προγραμματισμένη μάθηση). </a:t>
            </a:r>
          </a:p>
          <a:p>
            <a:pPr marL="457200" lvl="0" indent="-457200" hangingPunct="0">
              <a:buFont typeface="+mj-lt"/>
              <a:buAutoNum type="arabicPeriod"/>
            </a:pPr>
            <a:r>
              <a:rPr lang="el-GR" sz="2400" dirty="0"/>
              <a:t>ο μαθητής πληροφορείται για τον ίδιο τον εαυτό του και αποκτά </a:t>
            </a:r>
            <a:r>
              <a:rPr lang="el-GR" sz="2400" b="1" dirty="0"/>
              <a:t>αυτογνωσία και αυτοαντίληψη</a:t>
            </a:r>
          </a:p>
          <a:p>
            <a:pPr marL="457200" lvl="0" indent="-457200" hangingPunct="0">
              <a:buFont typeface="+mj-lt"/>
              <a:buAutoNum type="arabicPeriod"/>
            </a:pPr>
            <a:r>
              <a:rPr lang="el-GR" sz="2400" dirty="0"/>
              <a:t>η γνώση των αποτελεσμάτων της προσπάθειας για μάθηση αποτελεί άριστο τρόπο </a:t>
            </a:r>
            <a:r>
              <a:rPr lang="el-GR" sz="2400" b="1" dirty="0"/>
              <a:t>παρώθησης</a:t>
            </a:r>
            <a:r>
              <a:rPr lang="el-GR" sz="2400" dirty="0"/>
              <a:t> των μαθητών, ιδιαίτερα στην περίπτωση των μικρών μαθητών στους οποίους έχουν ακόμη μεγάλη επίδραση τα εξωτερικά ενισχυτικά στοιχεία</a:t>
            </a:r>
          </a:p>
          <a:p>
            <a:pPr marL="457200" lvl="0" indent="-457200" hangingPunct="0">
              <a:buFont typeface="+mj-lt"/>
              <a:buAutoNum type="arabicPeriod"/>
            </a:pPr>
            <a:r>
              <a:rPr lang="el-GR" sz="2400" dirty="0"/>
              <a:t>η αξιολόγηση είναι ένα μέσο που αναγκάζει τους μαθητές να εντείνουν την προσοχή τους και την </a:t>
            </a:r>
            <a:r>
              <a:rPr lang="el-GR" sz="2400" b="1" dirty="0"/>
              <a:t>προσπάθειά τους για ψηλότερη επίδοση</a:t>
            </a:r>
          </a:p>
          <a:p>
            <a:pPr marL="457200" lvl="0" indent="-457200" hangingPunct="0">
              <a:buFont typeface="+mj-lt"/>
              <a:buAutoNum type="arabicPeriod"/>
            </a:pPr>
            <a:r>
              <a:rPr lang="el-GR" sz="2400" dirty="0"/>
              <a:t>με την αξιολόγηση απονέμεται δικαιοσύνη στους μαθητές, αφού </a:t>
            </a:r>
            <a:r>
              <a:rPr lang="el-GR" sz="2400" b="1" dirty="0"/>
              <a:t>επιβραβεύονται και αμείβονται </a:t>
            </a:r>
            <a:r>
              <a:rPr lang="el-GR" sz="2400" dirty="0"/>
              <a:t>εκείνοι που προσπάθησαν.</a:t>
            </a:r>
          </a:p>
          <a:p>
            <a:pPr algn="just"/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34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91200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Η θετική άποψη</a:t>
            </a:r>
            <a:endParaRPr lang="en-US" sz="4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229600" cy="4789512"/>
          </a:xfrm>
        </p:spPr>
        <p:txBody>
          <a:bodyPr>
            <a:normAutofit lnSpcReduction="10000"/>
          </a:bodyPr>
          <a:lstStyle/>
          <a:p>
            <a:pPr hangingPunct="0">
              <a:buNone/>
            </a:pPr>
            <a:r>
              <a:rPr lang="el-GR" sz="2400" dirty="0"/>
              <a:t>β) </a:t>
            </a:r>
            <a:r>
              <a:rPr lang="el-GR" sz="2400" b="1" dirty="0"/>
              <a:t>Το </a:t>
            </a:r>
            <a:r>
              <a:rPr lang="el-GR" sz="2400" b="1" dirty="0">
                <a:solidFill>
                  <a:srgbClr val="0070C0"/>
                </a:solidFill>
              </a:rPr>
              <a:t>εκπαιδευτικό σύστημα</a:t>
            </a:r>
            <a:r>
              <a:rPr lang="el-GR" sz="2400" dirty="0"/>
              <a:t>:</a:t>
            </a:r>
          </a:p>
          <a:p>
            <a:pPr marL="457200" lvl="0" indent="-457200" hangingPunct="0">
              <a:buFont typeface="+mj-lt"/>
              <a:buAutoNum type="arabicPeriod"/>
            </a:pPr>
            <a:r>
              <a:rPr lang="el-GR" sz="2400" dirty="0"/>
              <a:t>Η μέτρηση της επίδοσης των μαθητών χρησιμοποιείται ως </a:t>
            </a:r>
            <a:r>
              <a:rPr lang="el-GR" sz="2400" b="1" dirty="0"/>
              <a:t>μέσο αξιολόγησης του εκπαιδευτικού συστήματος</a:t>
            </a:r>
            <a:r>
              <a:rPr lang="el-GR" sz="2400" dirty="0"/>
              <a:t>. </a:t>
            </a:r>
          </a:p>
          <a:p>
            <a:pPr marL="457200" lvl="0" indent="-457200" hangingPunct="0">
              <a:buFont typeface="+mj-lt"/>
              <a:buAutoNum type="arabicPeriod"/>
            </a:pPr>
            <a:r>
              <a:rPr lang="el-GR" sz="2400" dirty="0"/>
              <a:t>Η σχολική αξιολόγηση δίνει σημαντικά δεδομένα στην </a:t>
            </a:r>
            <a:r>
              <a:rPr lang="el-GR" sz="2400" b="1" dirty="0"/>
              <a:t>εκπαιδευτική έρευνα</a:t>
            </a:r>
            <a:r>
              <a:rPr lang="el-GR" sz="2400" dirty="0"/>
              <a:t>.</a:t>
            </a:r>
          </a:p>
          <a:p>
            <a:pPr marL="457200" lvl="0" indent="-457200" hangingPunct="0">
              <a:buFont typeface="+mj-lt"/>
              <a:buAutoNum type="arabicPeriod"/>
            </a:pPr>
            <a:r>
              <a:rPr lang="el-GR" sz="2400" dirty="0"/>
              <a:t>Ο δάσκαλος χρησιμοποιεί τα αποτελέσματα της σχολικής αξιολόγησης και για έλεγχο της</a:t>
            </a:r>
            <a:r>
              <a:rPr lang="el-GR" sz="2400" b="1" dirty="0"/>
              <a:t> αποδοτικότητάς </a:t>
            </a:r>
            <a:r>
              <a:rPr lang="el-GR" sz="2400" dirty="0"/>
              <a:t>του.</a:t>
            </a:r>
          </a:p>
          <a:p>
            <a:pPr marL="457200" lvl="0" indent="-457200" hangingPunct="0">
              <a:buFont typeface="+mj-lt"/>
              <a:buAutoNum type="arabicPeriod"/>
            </a:pPr>
            <a:r>
              <a:rPr lang="el-GR" sz="2400" dirty="0"/>
              <a:t>Το σχολείο μπορεί να έχει μέτρο της προόδου και της προσπάθειας μάθησης μέσα από τη χρήση </a:t>
            </a:r>
            <a:r>
              <a:rPr lang="el-GR" sz="2400" b="1" dirty="0"/>
              <a:t>προσθετικών μορφών αξιολόγησης</a:t>
            </a:r>
            <a:r>
              <a:rPr lang="el-GR" sz="2400" dirty="0"/>
              <a:t>.</a:t>
            </a:r>
          </a:p>
          <a:p>
            <a:pPr marL="457200" lvl="0" indent="-457200" hangingPunct="0">
              <a:buFont typeface="+mj-lt"/>
              <a:buAutoNum type="arabicPeriod"/>
            </a:pPr>
            <a:r>
              <a:rPr lang="el-GR" sz="2400" dirty="0"/>
              <a:t>Οι εκπαιδευτικοί μπορούν να εντοπίζουν μαθητές που έχουν </a:t>
            </a:r>
            <a:r>
              <a:rPr lang="el-GR" sz="2400" b="1" dirty="0"/>
              <a:t>ιδιαίτερες ανάγκες </a:t>
            </a:r>
            <a:r>
              <a:rPr lang="el-GR" sz="2400" dirty="0"/>
              <a:t>σε κάποιες περιοχές γνώσης και να προσαρμόζουν ανάλογα το επίπεδο της προσφοράς τους.</a:t>
            </a:r>
          </a:p>
          <a:p>
            <a:pPr hangingPunct="0"/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35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91200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Η θετική άποψη</a:t>
            </a:r>
            <a:endParaRPr lang="en-US" sz="4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229600" cy="4789512"/>
          </a:xfrm>
        </p:spPr>
        <p:txBody>
          <a:bodyPr>
            <a:normAutofit fontScale="85000" lnSpcReduction="10000"/>
          </a:bodyPr>
          <a:lstStyle/>
          <a:p>
            <a:pPr hangingPunct="0">
              <a:buNone/>
            </a:pPr>
            <a:r>
              <a:rPr lang="el-GR" sz="2400" dirty="0"/>
              <a:t>γ) Οι </a:t>
            </a:r>
            <a:r>
              <a:rPr lang="el-GR" sz="2400" b="1" dirty="0">
                <a:solidFill>
                  <a:srgbClr val="0070C0"/>
                </a:solidFill>
              </a:rPr>
              <a:t>γονείς</a:t>
            </a:r>
            <a:r>
              <a:rPr lang="el-GR" sz="2400" dirty="0">
                <a:solidFill>
                  <a:srgbClr val="0070C0"/>
                </a:solidFill>
              </a:rPr>
              <a:t> </a:t>
            </a:r>
            <a:r>
              <a:rPr lang="el-GR" sz="2400" dirty="0"/>
              <a:t>των μαθητών αλλά και το </a:t>
            </a:r>
            <a:r>
              <a:rPr lang="el-GR" sz="2400" b="1" dirty="0">
                <a:solidFill>
                  <a:srgbClr val="0070C0"/>
                </a:solidFill>
              </a:rPr>
              <a:t>κοινωνικό σύστημα</a:t>
            </a:r>
            <a:r>
              <a:rPr lang="el-GR" sz="2400" dirty="0">
                <a:solidFill>
                  <a:srgbClr val="0070C0"/>
                </a:solidFill>
              </a:rPr>
              <a:t> </a:t>
            </a:r>
            <a:r>
              <a:rPr lang="el-GR" sz="2400" dirty="0"/>
              <a:t>έχει ανάγκη από αποτελέσματα κάποιας σχολικής αξιολόγησης για τους πιο κάτω λόγους:</a:t>
            </a:r>
          </a:p>
          <a:p>
            <a:pPr lvl="0" hangingPunct="0"/>
            <a:r>
              <a:rPr lang="el-GR" sz="2400" dirty="0"/>
              <a:t>Οι </a:t>
            </a:r>
            <a:r>
              <a:rPr lang="el-GR" sz="2400" b="1" dirty="0"/>
              <a:t>γονείς</a:t>
            </a:r>
            <a:r>
              <a:rPr lang="el-GR" sz="2400" dirty="0"/>
              <a:t> μπορούν να </a:t>
            </a:r>
            <a:r>
              <a:rPr lang="el-GR" sz="2400" b="1" dirty="0"/>
              <a:t>συνεργαστούν με το σχολείο </a:t>
            </a:r>
            <a:r>
              <a:rPr lang="el-GR" sz="2400" dirty="0"/>
              <a:t>για να βοηθήσουν τα παιδιά τους στην προσπάθειά τους για μάθηση. </a:t>
            </a:r>
          </a:p>
          <a:p>
            <a:pPr lvl="0" hangingPunct="0"/>
            <a:r>
              <a:rPr lang="el-GR" sz="2400" dirty="0"/>
              <a:t>Κάθε κοινωνία χρησιμοποιεί κάποια μεθοδολογία, για να εξασφαλίζεται η </a:t>
            </a:r>
            <a:r>
              <a:rPr lang="el-GR" sz="2400" b="1" dirty="0"/>
              <a:t>αξιοκρατική μεταχείριση </a:t>
            </a:r>
            <a:r>
              <a:rPr lang="el-GR" sz="2400" dirty="0"/>
              <a:t>(και αξιοποίηση) των μελών της. Η σχολική αξιολόγηση είναι δυνατόν να αποτελεί μια από τις βασικές αρχές αυτής της μεθοδολογίας.</a:t>
            </a:r>
          </a:p>
          <a:p>
            <a:pPr lvl="0" hangingPunct="0"/>
            <a:r>
              <a:rPr lang="el-GR" sz="2400" dirty="0"/>
              <a:t>Η </a:t>
            </a:r>
            <a:r>
              <a:rPr lang="el-GR" sz="2400" b="1" dirty="0"/>
              <a:t>επιλογή των μαθητών </a:t>
            </a:r>
            <a:r>
              <a:rPr lang="el-GR" sz="2400" dirty="0"/>
              <a:t>είναι ένας από τους τρόπους με τους οποίους η πολιτεία αξιοποιεί τα αποτελέσματα της σχολικής αξιολόγησης. Η επιλογή παίρνει διάφορες μορφές, όπως είναι η αξιοποίηση και βελτίωση του δυναμικού της, με την προώθηση και εξειδίκευση ατόμων ανάλογα με τις ανάγκες της κοινωνίας αλλά και με τις ιδιαίτερες ικανότητες των ατόμων.</a:t>
            </a:r>
          </a:p>
          <a:p>
            <a:pPr lvl="0" hangingPunct="0"/>
            <a:r>
              <a:rPr lang="el-GR" sz="2400" dirty="0"/>
              <a:t>Καμιά κοινωνία δεν είναι απαλλαγμένη από ένα </a:t>
            </a:r>
            <a:r>
              <a:rPr lang="el-GR" sz="2400" b="1" dirty="0"/>
              <a:t>επίσημο ή ανεπίσημο σύστημα αξιολόγησης</a:t>
            </a:r>
            <a:r>
              <a:rPr lang="el-GR" sz="2400" dirty="0"/>
              <a:t>. Άρα, κάθε υποσύστημα της πρέπει να έχει κάποιο είδος αξιολόγησης.  </a:t>
            </a:r>
          </a:p>
          <a:p>
            <a:pPr hangingPunct="0"/>
            <a:endParaRPr lang="el-GR" sz="2400" dirty="0"/>
          </a:p>
          <a:p>
            <a:pPr algn="just"/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36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91200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Autofit/>
          </a:bodyPr>
          <a:lstStyle/>
          <a:p>
            <a:r>
              <a:rPr lang="el-GR" sz="2800" dirty="0"/>
              <a:t>Παρατηρήσεις σε σχέση με τα πιο πάνω επιχειρήματα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229600" cy="4789512"/>
          </a:xfrm>
        </p:spPr>
        <p:txBody>
          <a:bodyPr>
            <a:normAutofit/>
          </a:bodyPr>
          <a:lstStyle/>
          <a:p>
            <a:pPr lvl="0" hangingPunct="0"/>
            <a:r>
              <a:rPr lang="el-GR" sz="2400" dirty="0"/>
              <a:t>Λείπει από τα επιχειρήματα και των δύο θέσεων η αναφορά στο </a:t>
            </a:r>
            <a:r>
              <a:rPr lang="el-GR" sz="2400" b="1" dirty="0"/>
              <a:t>δικό μας σύστημα </a:t>
            </a:r>
            <a:r>
              <a:rPr lang="el-GR" sz="2400" dirty="0"/>
              <a:t>αλλά και σε εξειδικευμένες πτυχές της αξιολόγησης του μαθητή. Το αποτέλεσμα είναι να έχουμε μια γενική συζήτηση. </a:t>
            </a:r>
          </a:p>
          <a:p>
            <a:pPr lvl="0" hangingPunct="0"/>
            <a:r>
              <a:rPr lang="el-GR" sz="2400" dirty="0"/>
              <a:t>Λείπει η θεμελίωση των θέσεων με </a:t>
            </a:r>
            <a:r>
              <a:rPr lang="el-GR" sz="2400" b="1" dirty="0"/>
              <a:t>εμπειρικές έρευνες</a:t>
            </a:r>
            <a:r>
              <a:rPr lang="el-GR" sz="2400" dirty="0"/>
              <a:t>, ιδιαίτερα έρευνες που έχουν γίνει στο δικό μας χώρο.   </a:t>
            </a:r>
          </a:p>
          <a:p>
            <a:pPr lvl="0" hangingPunct="0"/>
            <a:r>
              <a:rPr lang="el-GR" sz="2400" dirty="0"/>
              <a:t>Υπάρχει σύγχυση ανάμεσα σε όρους σχετικούς με την αξιολόγηση και πολλές φορές </a:t>
            </a:r>
            <a:r>
              <a:rPr lang="el-GR" sz="2400" b="1" dirty="0"/>
              <a:t>ταυτίζεται ο όρος αξιολόγηση με τον όρο εξέταση.</a:t>
            </a:r>
            <a:r>
              <a:rPr lang="el-GR" sz="2400" dirty="0"/>
              <a:t> Πολλά από τα επιχειρήματα υπέρ της κατάργησης της αξιολόγησης αναφέρονται μόνο στην εξέταση, αγνοώντας ότι μπορεί να υπάρχει σύστημα αξιολόγησης χωρίς εξετάσεις.</a:t>
            </a:r>
          </a:p>
          <a:p>
            <a:pPr hangingPunct="0"/>
            <a:endParaRPr lang="el-GR" sz="2400" dirty="0"/>
          </a:p>
          <a:p>
            <a:pPr algn="just"/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37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912006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Autofit/>
          </a:bodyPr>
          <a:lstStyle/>
          <a:p>
            <a:r>
              <a:rPr lang="el-GR" sz="2800" dirty="0"/>
              <a:t>Παρατηρήσεις σε σχέση με τα πιο πάνω επιχειρήματα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229600" cy="4789512"/>
          </a:xfrm>
        </p:spPr>
        <p:txBody>
          <a:bodyPr>
            <a:normAutofit fontScale="92500" lnSpcReduction="20000"/>
          </a:bodyPr>
          <a:lstStyle/>
          <a:p>
            <a:pPr lvl="0" hangingPunct="0"/>
            <a:r>
              <a:rPr lang="el-GR" sz="2400" b="1" dirty="0"/>
              <a:t>Υπάρχει σύγχυση ανάμεσα στους όρους αξιολόγηση και αποτυχία ή απόρριψη... </a:t>
            </a:r>
            <a:r>
              <a:rPr lang="el-GR" sz="2400" b="1" dirty="0">
                <a:solidFill>
                  <a:srgbClr val="C00000"/>
                </a:solidFill>
              </a:rPr>
              <a:t>μπορούμε να έχουμε αξιολόγηση χωρίς να ακολουθείται από απόρριψη;;;</a:t>
            </a:r>
            <a:endParaRPr lang="el-GR" sz="2400" dirty="0">
              <a:solidFill>
                <a:srgbClr val="C00000"/>
              </a:solidFill>
            </a:endParaRPr>
          </a:p>
          <a:p>
            <a:pPr lvl="0" hangingPunct="0">
              <a:buNone/>
            </a:pPr>
            <a:endParaRPr lang="el-GR" sz="2400" dirty="0"/>
          </a:p>
          <a:p>
            <a:pPr lvl="0" hangingPunct="0">
              <a:buNone/>
            </a:pPr>
            <a:r>
              <a:rPr lang="el-GR" sz="2400" dirty="0"/>
              <a:t>Συμπερασματικά...</a:t>
            </a:r>
          </a:p>
          <a:p>
            <a:pPr lvl="0" hangingPunct="0">
              <a:buFont typeface="Wingdings"/>
              <a:buChar char="à"/>
            </a:pPr>
            <a:r>
              <a:rPr lang="el-GR" sz="2400" dirty="0"/>
              <a:t>Η συζήτηση για την αναγκαιότητα της σχολικής αξιολόγησης απαιτεί μια </a:t>
            </a:r>
            <a:r>
              <a:rPr lang="el-GR" sz="2400" b="1" dirty="0"/>
              <a:t>πολυδιάστατη προσέγγιση</a:t>
            </a:r>
            <a:r>
              <a:rPr lang="el-GR" sz="2400" dirty="0"/>
              <a:t>. </a:t>
            </a:r>
          </a:p>
          <a:p>
            <a:pPr lvl="0" hangingPunct="0">
              <a:buFont typeface="Wingdings"/>
              <a:buChar char="à"/>
            </a:pPr>
            <a:r>
              <a:rPr lang="el-GR" sz="2400" dirty="0"/>
              <a:t>Δεν υπάρχει αμφιβολία ότι σχεδόν όλες οι αρνητικές επιπτώσεις και αδυναμίες της αξιολόγησης είναι μια πραγματικότητα. </a:t>
            </a:r>
            <a:r>
              <a:rPr lang="el-GR" sz="2400" b="1" dirty="0"/>
              <a:t>Όμως, η κατάργηση της αξιολόγησης δεν είναι μια ρεαλιστική πρόταση. </a:t>
            </a:r>
          </a:p>
          <a:p>
            <a:pPr lvl="0" hangingPunct="0">
              <a:buFont typeface="Wingdings"/>
              <a:buChar char="à"/>
            </a:pPr>
            <a:r>
              <a:rPr lang="el-GR" sz="2400" dirty="0"/>
              <a:t>Χρειάζεται να στραφούμε προς τη </a:t>
            </a:r>
            <a:r>
              <a:rPr lang="el-GR" sz="2400" b="1" dirty="0"/>
              <a:t>βελτίωση της μεθοδολογίας της αξιολόγησης </a:t>
            </a:r>
            <a:r>
              <a:rPr lang="el-GR" sz="2400" dirty="0"/>
              <a:t>αλλά και προς αναθεώρηση της χρησιμοποίησης των αποτελεσμάτων της αξιολόγησης. Η λύση των προβλημάτων που δημιουργούνται από την αντιπαιδαγωγική χρήση της αξιολόγησης στο σχολείο δε βρίσκεται στον εξοβελισμό της αλλά στην επιστημονικοποίησή της.  </a:t>
            </a:r>
          </a:p>
          <a:p>
            <a:pPr hangingPunct="0"/>
            <a:endParaRPr lang="el-GR" sz="2400" dirty="0"/>
          </a:p>
          <a:p>
            <a:pPr algn="just"/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38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91200614"/>
      </p:ext>
    </p:extLst>
  </p:cSld>
  <p:clrMapOvr>
    <a:masterClrMapping/>
  </p:clrMapOvr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3056</TotalTime>
  <Words>2694</Words>
  <Application>Microsoft Office PowerPoint</Application>
  <PresentationFormat>On-screen Show (4:3)</PresentationFormat>
  <Paragraphs>279</Paragraphs>
  <Slides>38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Arial</vt:lpstr>
      <vt:lpstr>Bookman Old Style</vt:lpstr>
      <vt:lpstr>Calibri</vt:lpstr>
      <vt:lpstr>Gill Sans MT</vt:lpstr>
      <vt:lpstr>Wingdings</vt:lpstr>
      <vt:lpstr>Wingdings 3</vt:lpstr>
      <vt:lpstr>1_Custom Design</vt:lpstr>
      <vt:lpstr>Custom Design</vt:lpstr>
      <vt:lpstr>Origin</vt:lpstr>
      <vt:lpstr>ΠΡΥ 004: Αξιολόγηση του Μαθητή </vt:lpstr>
      <vt:lpstr>Διάγραμμα 1ης Συνάντησης</vt:lpstr>
      <vt:lpstr>Ξεκινώντας από τα βασικά…</vt:lpstr>
      <vt:lpstr>Ξεκινώντας από τα βασικά…</vt:lpstr>
      <vt:lpstr>Αξιολόγηση</vt:lpstr>
      <vt:lpstr>Ορισμός αξιολόγησης και βασικές έννοιες</vt:lpstr>
      <vt:lpstr>Ορισμός αξιολόγησης και βασικές έννοιες</vt:lpstr>
      <vt:lpstr>Βασικές έννοιες: Μέτρηση</vt:lpstr>
      <vt:lpstr>Μέτρηση</vt:lpstr>
      <vt:lpstr>Μέτρηση στην εκπαίδευση</vt:lpstr>
      <vt:lpstr>Σχέση αξιολόγησης-μέτρησης</vt:lpstr>
      <vt:lpstr>Σχέση αξιολόγησης-μέτρησης</vt:lpstr>
      <vt:lpstr>Σχέση αξιολόγησης-μέτρησης</vt:lpstr>
      <vt:lpstr>Σκοποί της αξιολόγησης του μαθητή: αρχικές αντιλήψεις</vt:lpstr>
      <vt:lpstr>Σκοποί της αξιολόγησης του μαθητή</vt:lpstr>
      <vt:lpstr>Σκοποί της αξιολόγησης του μαθητή</vt:lpstr>
      <vt:lpstr>Σκοποί της αξιολόγησης του μαθητή</vt:lpstr>
      <vt:lpstr>Είδη αξιολόγησης του μαθητή</vt:lpstr>
      <vt:lpstr>Είδη αξιολόγησης του μαθητή</vt:lpstr>
      <vt:lpstr>Είδη αξιολόγησης του μαθητή</vt:lpstr>
      <vt:lpstr>Είδη αξιολόγησης του μαθητή</vt:lpstr>
      <vt:lpstr>Είδη αξιολόγησης του μαθητή</vt:lpstr>
      <vt:lpstr>Είδη αξιολόγησης του μαθητή</vt:lpstr>
      <vt:lpstr>Είδη αξιολόγησης του μαθητή</vt:lpstr>
      <vt:lpstr>Είδη αξιολόγησης του μαθητή</vt:lpstr>
      <vt:lpstr>Είδη αξιολόγησης του μαθητή</vt:lpstr>
      <vt:lpstr> Αξιολόγηση στην Κύπρο</vt:lpstr>
      <vt:lpstr>     Η αναγκαιότητα της αξιολόγησης</vt:lpstr>
      <vt:lpstr>     Η αναγκαιότητα της αξιολόγησης</vt:lpstr>
      <vt:lpstr>PowerPoint Presentation</vt:lpstr>
      <vt:lpstr>Η αρνητική άποψη</vt:lpstr>
      <vt:lpstr>Η θετική άποψη</vt:lpstr>
      <vt:lpstr>Η θετική άποψη</vt:lpstr>
      <vt:lpstr>Η θετική άποψη</vt:lpstr>
      <vt:lpstr>Η θετική άποψη</vt:lpstr>
      <vt:lpstr>Η θετική άποψη</vt:lpstr>
      <vt:lpstr>Παρατηρήσεις σε σχέση με τα πιο πάνω επιχειρήματα</vt:lpstr>
      <vt:lpstr>Παρατηρήσεις σε σχέση με τα πιο πάνω επιχειρήματα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EΠΑ 304: Εκπαιδευτική Αξιολόγηση Συνάντηση 1η</dc:title>
  <dc:creator>User</dc:creator>
  <cp:lastModifiedBy>Leonidas Kyriakides</cp:lastModifiedBy>
  <cp:revision>246</cp:revision>
  <dcterms:created xsi:type="dcterms:W3CDTF">2013-07-23T09:32:43Z</dcterms:created>
  <dcterms:modified xsi:type="dcterms:W3CDTF">2025-09-12T15:32:06Z</dcterms:modified>
</cp:coreProperties>
</file>