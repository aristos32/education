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60" r:id="rId2"/>
    <p:sldMasterId id="2147483698" r:id="rId3"/>
  </p:sldMasterIdLst>
  <p:notesMasterIdLst>
    <p:notesMasterId r:id="rId53"/>
  </p:notesMasterIdLst>
  <p:handoutMasterIdLst>
    <p:handoutMasterId r:id="rId54"/>
  </p:handoutMasterIdLst>
  <p:sldIdLst>
    <p:sldId id="294" r:id="rId4"/>
    <p:sldId id="295" r:id="rId5"/>
    <p:sldId id="296" r:id="rId6"/>
    <p:sldId id="297" r:id="rId7"/>
    <p:sldId id="298" r:id="rId8"/>
    <p:sldId id="372" r:id="rId9"/>
    <p:sldId id="299" r:id="rId10"/>
    <p:sldId id="333" r:id="rId11"/>
    <p:sldId id="334" r:id="rId12"/>
    <p:sldId id="301" r:id="rId13"/>
    <p:sldId id="302" r:id="rId14"/>
    <p:sldId id="370" r:id="rId15"/>
    <p:sldId id="336" r:id="rId16"/>
    <p:sldId id="337" r:id="rId17"/>
    <p:sldId id="367" r:id="rId18"/>
    <p:sldId id="339" r:id="rId19"/>
    <p:sldId id="340" r:id="rId20"/>
    <p:sldId id="341" r:id="rId21"/>
    <p:sldId id="342" r:id="rId22"/>
    <p:sldId id="343" r:id="rId23"/>
    <p:sldId id="373" r:id="rId24"/>
    <p:sldId id="374" r:id="rId25"/>
    <p:sldId id="375" r:id="rId26"/>
    <p:sldId id="376" r:id="rId27"/>
    <p:sldId id="377" r:id="rId28"/>
    <p:sldId id="378" r:id="rId29"/>
    <p:sldId id="379" r:id="rId30"/>
    <p:sldId id="380" r:id="rId31"/>
    <p:sldId id="381" r:id="rId32"/>
    <p:sldId id="382" r:id="rId33"/>
    <p:sldId id="383" r:id="rId34"/>
    <p:sldId id="384" r:id="rId35"/>
    <p:sldId id="385" r:id="rId36"/>
    <p:sldId id="386" r:id="rId37"/>
    <p:sldId id="387" r:id="rId38"/>
    <p:sldId id="388" r:id="rId39"/>
    <p:sldId id="389" r:id="rId40"/>
    <p:sldId id="390" r:id="rId41"/>
    <p:sldId id="391" r:id="rId42"/>
    <p:sldId id="392" r:id="rId43"/>
    <p:sldId id="393" r:id="rId44"/>
    <p:sldId id="394" r:id="rId45"/>
    <p:sldId id="395" r:id="rId46"/>
    <p:sldId id="396" r:id="rId47"/>
    <p:sldId id="397" r:id="rId48"/>
    <p:sldId id="398" r:id="rId49"/>
    <p:sldId id="399" r:id="rId50"/>
    <p:sldId id="400" r:id="rId51"/>
    <p:sldId id="401" r:id="rId52"/>
  </p:sldIdLst>
  <p:sldSz cx="9144000" cy="6858000" type="screen4x3"/>
  <p:notesSz cx="7086600" cy="93726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2">
          <p15:clr>
            <a:srgbClr val="A4A3A4"/>
          </p15:clr>
        </p15:guide>
        <p15:guide id="2" pos="223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241" autoAdjust="0"/>
  </p:normalViewPr>
  <p:slideViewPr>
    <p:cSldViewPr>
      <p:cViewPr varScale="1">
        <p:scale>
          <a:sx n="64" d="100"/>
          <a:sy n="64" d="100"/>
        </p:scale>
        <p:origin x="1340" y="40"/>
      </p:cViewPr>
      <p:guideLst>
        <p:guide orient="horz" pos="2160"/>
        <p:guide pos="2880"/>
      </p:guideLst>
    </p:cSldViewPr>
  </p:slideViewPr>
  <p:notesTextViewPr>
    <p:cViewPr>
      <p:scale>
        <a:sx n="100" d="100"/>
        <a:sy n="100" d="100"/>
      </p:scale>
      <p:origin x="0" y="0"/>
    </p:cViewPr>
  </p:notesTextViewPr>
  <p:notesViewPr>
    <p:cSldViewPr>
      <p:cViewPr varScale="1">
        <p:scale>
          <a:sx n="82" d="100"/>
          <a:sy n="82" d="100"/>
        </p:scale>
        <p:origin x="-2064" y="-90"/>
      </p:cViewPr>
      <p:guideLst>
        <p:guide orient="horz" pos="2952"/>
        <p:guide pos="223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diagrams/colors1.xml><?xml version="1.0" encoding="utf-8"?>
<dgm:colorsDef xmlns:dgm="http://schemas.openxmlformats.org/drawingml/2006/diagram" xmlns:a="http://schemas.openxmlformats.org/drawingml/2006/main" uniqueId="urn:microsoft.com/office/officeart/2005/8/colors/accent5_5#1">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16690E-599A-4B5E-819F-E6BC630C0BCD}" type="doc">
      <dgm:prSet loTypeId="urn:microsoft.com/office/officeart/2005/8/layout/hList1" loCatId="list" qsTypeId="urn:microsoft.com/office/officeart/2005/8/quickstyle/simple1#1" qsCatId="simple" csTypeId="urn:microsoft.com/office/officeart/2005/8/colors/accent5_5#1" csCatId="accent5"/>
      <dgm:spPr/>
      <dgm:t>
        <a:bodyPr/>
        <a:lstStyle/>
        <a:p>
          <a:endParaRPr lang="en-US"/>
        </a:p>
      </dgm:t>
    </dgm:pt>
    <dgm:pt modelId="{9FEDD277-5192-4D19-A91E-24D42C3B8963}">
      <dgm:prSet/>
      <dgm:spPr/>
      <dgm:t>
        <a:bodyPr/>
        <a:lstStyle/>
        <a:p>
          <a:pPr rtl="0"/>
          <a:r>
            <a:rPr lang="el-GR" b="1" dirty="0"/>
            <a:t>Πιθανές ομάδες δεδομένων</a:t>
          </a:r>
          <a:endParaRPr lang="en-US" dirty="0"/>
        </a:p>
      </dgm:t>
    </dgm:pt>
    <dgm:pt modelId="{52A2EA33-A504-4BF9-BF0D-FAE67D9336E7}" type="parTrans" cxnId="{EB106A5E-0A50-4789-8CDA-EFDC4A8EDE31}">
      <dgm:prSet/>
      <dgm:spPr/>
      <dgm:t>
        <a:bodyPr/>
        <a:lstStyle/>
        <a:p>
          <a:endParaRPr lang="en-US"/>
        </a:p>
      </dgm:t>
    </dgm:pt>
    <dgm:pt modelId="{9F8F0C75-F630-4BE1-AB09-47A28E37EABB}" type="sibTrans" cxnId="{EB106A5E-0A50-4789-8CDA-EFDC4A8EDE31}">
      <dgm:prSet/>
      <dgm:spPr/>
      <dgm:t>
        <a:bodyPr/>
        <a:lstStyle/>
        <a:p>
          <a:endParaRPr lang="en-US"/>
        </a:p>
      </dgm:t>
    </dgm:pt>
    <dgm:pt modelId="{94983DD6-F47E-4A12-AC70-8FE9166F8579}">
      <dgm:prSet/>
      <dgm:spPr/>
      <dgm:t>
        <a:bodyPr/>
        <a:lstStyle/>
        <a:p>
          <a:pPr rtl="0"/>
          <a:r>
            <a:rPr lang="el-GR" dirty="0"/>
            <a:t>αίτια - αποτελέσματα</a:t>
          </a:r>
          <a:endParaRPr lang="en-US" dirty="0"/>
        </a:p>
      </dgm:t>
    </dgm:pt>
    <dgm:pt modelId="{84387D7F-A85E-4C42-8DD8-0EB4BFA2D07E}" type="parTrans" cxnId="{E41FCDEB-CD34-4D66-AA29-EB29384C99F1}">
      <dgm:prSet/>
      <dgm:spPr/>
      <dgm:t>
        <a:bodyPr/>
        <a:lstStyle/>
        <a:p>
          <a:endParaRPr lang="en-US"/>
        </a:p>
      </dgm:t>
    </dgm:pt>
    <dgm:pt modelId="{4028A311-A359-46B5-BFAD-C6D83A6322BD}" type="sibTrans" cxnId="{E41FCDEB-CD34-4D66-AA29-EB29384C99F1}">
      <dgm:prSet/>
      <dgm:spPr/>
      <dgm:t>
        <a:bodyPr/>
        <a:lstStyle/>
        <a:p>
          <a:endParaRPr lang="en-US"/>
        </a:p>
      </dgm:t>
    </dgm:pt>
    <dgm:pt modelId="{7A4B25BF-F633-4CF0-99D7-343817F9CC81}">
      <dgm:prSet/>
      <dgm:spPr/>
      <dgm:t>
        <a:bodyPr/>
        <a:lstStyle/>
        <a:p>
          <a:pPr rtl="0"/>
          <a:r>
            <a:rPr lang="el-GR" dirty="0"/>
            <a:t>αντικείμενα (εικόνες ή σχέδια) - ονοματολογία</a:t>
          </a:r>
          <a:endParaRPr lang="en-US" dirty="0"/>
        </a:p>
      </dgm:t>
    </dgm:pt>
    <dgm:pt modelId="{DA6DE130-D86B-4384-A033-BA84D2ACBF1F}" type="parTrans" cxnId="{04E17E17-280A-407F-BE92-9E08AFF3EE29}">
      <dgm:prSet/>
      <dgm:spPr/>
      <dgm:t>
        <a:bodyPr/>
        <a:lstStyle/>
        <a:p>
          <a:endParaRPr lang="en-US"/>
        </a:p>
      </dgm:t>
    </dgm:pt>
    <dgm:pt modelId="{D9DC9631-E22E-49A0-8C67-8183533378A8}" type="sibTrans" cxnId="{04E17E17-280A-407F-BE92-9E08AFF3EE29}">
      <dgm:prSet/>
      <dgm:spPr/>
      <dgm:t>
        <a:bodyPr/>
        <a:lstStyle/>
        <a:p>
          <a:endParaRPr lang="en-US"/>
        </a:p>
      </dgm:t>
    </dgm:pt>
    <dgm:pt modelId="{DB14DAEA-FDD5-4CA3-8852-2F0E9F81865D}">
      <dgm:prSet/>
      <dgm:spPr/>
      <dgm:t>
        <a:bodyPr/>
        <a:lstStyle/>
        <a:p>
          <a:pPr rtl="0"/>
          <a:r>
            <a:rPr lang="el-GR" dirty="0"/>
            <a:t>λέξεις - αναγνώριση (συντακτική ή γραμματική)</a:t>
          </a:r>
          <a:endParaRPr lang="en-US" dirty="0"/>
        </a:p>
      </dgm:t>
    </dgm:pt>
    <dgm:pt modelId="{73B25F5A-B861-497F-9608-0703EDE2E8C2}" type="parTrans" cxnId="{5F9CD2F7-3C0A-47A2-80F4-826DB5249E08}">
      <dgm:prSet/>
      <dgm:spPr/>
      <dgm:t>
        <a:bodyPr/>
        <a:lstStyle/>
        <a:p>
          <a:endParaRPr lang="en-US"/>
        </a:p>
      </dgm:t>
    </dgm:pt>
    <dgm:pt modelId="{C6A45E34-157A-42C3-8FE1-5E0A6E839EEF}" type="sibTrans" cxnId="{5F9CD2F7-3C0A-47A2-80F4-826DB5249E08}">
      <dgm:prSet/>
      <dgm:spPr/>
      <dgm:t>
        <a:bodyPr/>
        <a:lstStyle/>
        <a:p>
          <a:endParaRPr lang="en-US"/>
        </a:p>
      </dgm:t>
    </dgm:pt>
    <dgm:pt modelId="{A4C6B30B-135C-4927-BBC7-7784BF545D4E}">
      <dgm:prSet/>
      <dgm:spPr/>
      <dgm:t>
        <a:bodyPr/>
        <a:lstStyle/>
        <a:p>
          <a:pPr rtl="0"/>
          <a:r>
            <a:rPr lang="el-GR" dirty="0"/>
            <a:t>ορολογία (λέξεις) - συνώνυμα</a:t>
          </a:r>
          <a:endParaRPr lang="en-US" dirty="0"/>
        </a:p>
      </dgm:t>
    </dgm:pt>
    <dgm:pt modelId="{661AA2A2-171A-4914-8658-72907CF782DB}" type="parTrans" cxnId="{868DE535-2373-47E5-B8A7-6A0253D277CB}">
      <dgm:prSet/>
      <dgm:spPr/>
      <dgm:t>
        <a:bodyPr/>
        <a:lstStyle/>
        <a:p>
          <a:endParaRPr lang="en-US"/>
        </a:p>
      </dgm:t>
    </dgm:pt>
    <dgm:pt modelId="{CD68C4A4-FE62-4B09-8411-108DAA466752}" type="sibTrans" cxnId="{868DE535-2373-47E5-B8A7-6A0253D277CB}">
      <dgm:prSet/>
      <dgm:spPr/>
      <dgm:t>
        <a:bodyPr/>
        <a:lstStyle/>
        <a:p>
          <a:endParaRPr lang="en-US"/>
        </a:p>
      </dgm:t>
    </dgm:pt>
    <dgm:pt modelId="{75B3B694-FBA3-4365-9F08-160D73DC4A98}">
      <dgm:prSet/>
      <dgm:spPr/>
      <dgm:t>
        <a:bodyPr/>
        <a:lstStyle/>
        <a:p>
          <a:pPr rtl="0"/>
          <a:r>
            <a:rPr lang="el-GR" dirty="0"/>
            <a:t>φαινόμενα - αρχές ή νόμοι</a:t>
          </a:r>
          <a:endParaRPr lang="en-US" dirty="0"/>
        </a:p>
      </dgm:t>
    </dgm:pt>
    <dgm:pt modelId="{1E2309CB-D461-4F8C-A3DB-34D2CC7168AE}" type="parTrans" cxnId="{E819FCBB-2E1A-4102-A0DC-18D2015211E5}">
      <dgm:prSet/>
      <dgm:spPr/>
      <dgm:t>
        <a:bodyPr/>
        <a:lstStyle/>
        <a:p>
          <a:endParaRPr lang="en-US"/>
        </a:p>
      </dgm:t>
    </dgm:pt>
    <dgm:pt modelId="{2940A864-D110-4BC1-8D12-804646506645}" type="sibTrans" cxnId="{E819FCBB-2E1A-4102-A0DC-18D2015211E5}">
      <dgm:prSet/>
      <dgm:spPr/>
      <dgm:t>
        <a:bodyPr/>
        <a:lstStyle/>
        <a:p>
          <a:endParaRPr lang="en-US"/>
        </a:p>
      </dgm:t>
    </dgm:pt>
    <dgm:pt modelId="{9CFF7411-153E-453E-9857-85B2BA299F24}">
      <dgm:prSet/>
      <dgm:spPr/>
      <dgm:t>
        <a:bodyPr/>
        <a:lstStyle/>
        <a:p>
          <a:pPr rtl="0"/>
          <a:r>
            <a:rPr lang="el-GR" dirty="0"/>
            <a:t>συγγραφείς - βιβλία </a:t>
          </a:r>
          <a:endParaRPr lang="en-US" dirty="0"/>
        </a:p>
      </dgm:t>
    </dgm:pt>
    <dgm:pt modelId="{61CA8BB3-0AB8-4816-90FA-857043655A45}" type="parTrans" cxnId="{D3E2843E-EB71-41C8-8AEB-6CADE4AACF61}">
      <dgm:prSet/>
      <dgm:spPr/>
      <dgm:t>
        <a:bodyPr/>
        <a:lstStyle/>
        <a:p>
          <a:endParaRPr lang="en-US"/>
        </a:p>
      </dgm:t>
    </dgm:pt>
    <dgm:pt modelId="{F38291B9-8141-476B-B43C-597700572FB1}" type="sibTrans" cxnId="{D3E2843E-EB71-41C8-8AEB-6CADE4AACF61}">
      <dgm:prSet/>
      <dgm:spPr/>
      <dgm:t>
        <a:bodyPr/>
        <a:lstStyle/>
        <a:p>
          <a:endParaRPr lang="en-US"/>
        </a:p>
      </dgm:t>
    </dgm:pt>
    <dgm:pt modelId="{0A857D76-B536-492D-B74D-50D2183BC735}">
      <dgm:prSet/>
      <dgm:spPr/>
      <dgm:t>
        <a:bodyPr/>
        <a:lstStyle/>
        <a:p>
          <a:pPr rtl="0"/>
          <a:r>
            <a:rPr lang="el-GR" dirty="0"/>
            <a:t>γεγονότα - χρονολογίες - αποτελέσματα</a:t>
          </a:r>
          <a:endParaRPr lang="en-US" dirty="0"/>
        </a:p>
      </dgm:t>
    </dgm:pt>
    <dgm:pt modelId="{FFB28D6F-D77F-43AB-B1EA-7A6B9CC21C82}" type="parTrans" cxnId="{3733700C-200A-44F8-B1A7-6B2CD914ECDA}">
      <dgm:prSet/>
      <dgm:spPr/>
      <dgm:t>
        <a:bodyPr/>
        <a:lstStyle/>
        <a:p>
          <a:endParaRPr lang="en-US"/>
        </a:p>
      </dgm:t>
    </dgm:pt>
    <dgm:pt modelId="{3E23B2A7-B2B6-43D7-B6D2-0C29E388613C}" type="sibTrans" cxnId="{3733700C-200A-44F8-B1A7-6B2CD914ECDA}">
      <dgm:prSet/>
      <dgm:spPr/>
      <dgm:t>
        <a:bodyPr/>
        <a:lstStyle/>
        <a:p>
          <a:endParaRPr lang="en-US"/>
        </a:p>
      </dgm:t>
    </dgm:pt>
    <dgm:pt modelId="{FD8C9FD5-9FF8-451B-9CE1-945E3E95A2D2}">
      <dgm:prSet/>
      <dgm:spPr/>
      <dgm:t>
        <a:bodyPr/>
        <a:lstStyle/>
        <a:p>
          <a:pPr rtl="0"/>
          <a:r>
            <a:rPr lang="el-GR" dirty="0"/>
            <a:t>σχολές - επιστήμες - επιστήμονες </a:t>
          </a:r>
          <a:endParaRPr lang="en-US" dirty="0"/>
        </a:p>
      </dgm:t>
    </dgm:pt>
    <dgm:pt modelId="{C8DA8011-0F61-41E0-BAF3-84E18328F9E3}" type="parTrans" cxnId="{ED90DA28-D5F3-4507-8928-678708D07070}">
      <dgm:prSet/>
      <dgm:spPr/>
      <dgm:t>
        <a:bodyPr/>
        <a:lstStyle/>
        <a:p>
          <a:endParaRPr lang="en-US"/>
        </a:p>
      </dgm:t>
    </dgm:pt>
    <dgm:pt modelId="{07B84989-E6CE-48A1-A23D-55CE64E93324}" type="sibTrans" cxnId="{ED90DA28-D5F3-4507-8928-678708D07070}">
      <dgm:prSet/>
      <dgm:spPr/>
      <dgm:t>
        <a:bodyPr/>
        <a:lstStyle/>
        <a:p>
          <a:endParaRPr lang="en-US"/>
        </a:p>
      </dgm:t>
    </dgm:pt>
    <dgm:pt modelId="{75A54B42-AFD4-4B28-8E08-ABA8422C7D55}" type="pres">
      <dgm:prSet presAssocID="{BC16690E-599A-4B5E-819F-E6BC630C0BCD}" presName="Name0" presStyleCnt="0">
        <dgm:presLayoutVars>
          <dgm:dir/>
          <dgm:animLvl val="lvl"/>
          <dgm:resizeHandles val="exact"/>
        </dgm:presLayoutVars>
      </dgm:prSet>
      <dgm:spPr/>
    </dgm:pt>
    <dgm:pt modelId="{443F0A5D-D453-4871-AECD-A0EA475588C0}" type="pres">
      <dgm:prSet presAssocID="{9FEDD277-5192-4D19-A91E-24D42C3B8963}" presName="composite" presStyleCnt="0"/>
      <dgm:spPr/>
    </dgm:pt>
    <dgm:pt modelId="{6FE2AFBA-52D6-4DD2-97C0-D0BA2EB43F84}" type="pres">
      <dgm:prSet presAssocID="{9FEDD277-5192-4D19-A91E-24D42C3B8963}" presName="parTx" presStyleLbl="alignNode1" presStyleIdx="0" presStyleCnt="1" custLinFactNeighborX="1852" custLinFactNeighborY="-25843">
        <dgm:presLayoutVars>
          <dgm:chMax val="0"/>
          <dgm:chPref val="0"/>
          <dgm:bulletEnabled val="1"/>
        </dgm:presLayoutVars>
      </dgm:prSet>
      <dgm:spPr/>
    </dgm:pt>
    <dgm:pt modelId="{95C19F3E-CF3C-4508-8C2E-EF34A641E879}" type="pres">
      <dgm:prSet presAssocID="{9FEDD277-5192-4D19-A91E-24D42C3B8963}" presName="desTx" presStyleLbl="alignAccFollowNode1" presStyleIdx="0" presStyleCnt="1" custLinFactNeighborX="2778" custLinFactNeighborY="-5817">
        <dgm:presLayoutVars>
          <dgm:bulletEnabled val="1"/>
        </dgm:presLayoutVars>
      </dgm:prSet>
      <dgm:spPr/>
    </dgm:pt>
  </dgm:ptLst>
  <dgm:cxnLst>
    <dgm:cxn modelId="{34D27F00-137D-406F-BB31-E94C32B6FAAF}" type="presOf" srcId="{BC16690E-599A-4B5E-819F-E6BC630C0BCD}" destId="{75A54B42-AFD4-4B28-8E08-ABA8422C7D55}" srcOrd="0" destOrd="0" presId="urn:microsoft.com/office/officeart/2005/8/layout/hList1"/>
    <dgm:cxn modelId="{3733700C-200A-44F8-B1A7-6B2CD914ECDA}" srcId="{9FEDD277-5192-4D19-A91E-24D42C3B8963}" destId="{0A857D76-B536-492D-B74D-50D2183BC735}" srcOrd="6" destOrd="0" parTransId="{FFB28D6F-D77F-43AB-B1EA-7A6B9CC21C82}" sibTransId="{3E23B2A7-B2B6-43D7-B6D2-0C29E388613C}"/>
    <dgm:cxn modelId="{04E17E17-280A-407F-BE92-9E08AFF3EE29}" srcId="{9FEDD277-5192-4D19-A91E-24D42C3B8963}" destId="{7A4B25BF-F633-4CF0-99D7-343817F9CC81}" srcOrd="1" destOrd="0" parTransId="{DA6DE130-D86B-4384-A033-BA84D2ACBF1F}" sibTransId="{D9DC9631-E22E-49A0-8C67-8183533378A8}"/>
    <dgm:cxn modelId="{BE7EB824-EC4A-4894-8638-826D000E9E74}" type="presOf" srcId="{A4C6B30B-135C-4927-BBC7-7784BF545D4E}" destId="{95C19F3E-CF3C-4508-8C2E-EF34A641E879}" srcOrd="0" destOrd="3" presId="urn:microsoft.com/office/officeart/2005/8/layout/hList1"/>
    <dgm:cxn modelId="{ED90DA28-D5F3-4507-8928-678708D07070}" srcId="{9FEDD277-5192-4D19-A91E-24D42C3B8963}" destId="{FD8C9FD5-9FF8-451B-9CE1-945E3E95A2D2}" srcOrd="7" destOrd="0" parTransId="{C8DA8011-0F61-41E0-BAF3-84E18328F9E3}" sibTransId="{07B84989-E6CE-48A1-A23D-55CE64E93324}"/>
    <dgm:cxn modelId="{868DE535-2373-47E5-B8A7-6A0253D277CB}" srcId="{9FEDD277-5192-4D19-A91E-24D42C3B8963}" destId="{A4C6B30B-135C-4927-BBC7-7784BF545D4E}" srcOrd="3" destOrd="0" parTransId="{661AA2A2-171A-4914-8658-72907CF782DB}" sibTransId="{CD68C4A4-FE62-4B09-8411-108DAA466752}"/>
    <dgm:cxn modelId="{D3E2843E-EB71-41C8-8AEB-6CADE4AACF61}" srcId="{9FEDD277-5192-4D19-A91E-24D42C3B8963}" destId="{9CFF7411-153E-453E-9857-85B2BA299F24}" srcOrd="5" destOrd="0" parTransId="{61CA8BB3-0AB8-4816-90FA-857043655A45}" sibTransId="{F38291B9-8141-476B-B43C-597700572FB1}"/>
    <dgm:cxn modelId="{EB106A5E-0A50-4789-8CDA-EFDC4A8EDE31}" srcId="{BC16690E-599A-4B5E-819F-E6BC630C0BCD}" destId="{9FEDD277-5192-4D19-A91E-24D42C3B8963}" srcOrd="0" destOrd="0" parTransId="{52A2EA33-A504-4BF9-BF0D-FAE67D9336E7}" sibTransId="{9F8F0C75-F630-4BE1-AB09-47A28E37EABB}"/>
    <dgm:cxn modelId="{0EB4625F-9801-4E62-BBA2-FFFCA5B0FCA0}" type="presOf" srcId="{7A4B25BF-F633-4CF0-99D7-343817F9CC81}" destId="{95C19F3E-CF3C-4508-8C2E-EF34A641E879}" srcOrd="0" destOrd="1" presId="urn:microsoft.com/office/officeart/2005/8/layout/hList1"/>
    <dgm:cxn modelId="{7A8B6B79-796B-4E21-87B3-EA0691D2F997}" type="presOf" srcId="{9FEDD277-5192-4D19-A91E-24D42C3B8963}" destId="{6FE2AFBA-52D6-4DD2-97C0-D0BA2EB43F84}" srcOrd="0" destOrd="0" presId="urn:microsoft.com/office/officeart/2005/8/layout/hList1"/>
    <dgm:cxn modelId="{FC43B679-581C-4299-817B-C7173D1CFB8F}" type="presOf" srcId="{0A857D76-B536-492D-B74D-50D2183BC735}" destId="{95C19F3E-CF3C-4508-8C2E-EF34A641E879}" srcOrd="0" destOrd="6" presId="urn:microsoft.com/office/officeart/2005/8/layout/hList1"/>
    <dgm:cxn modelId="{351C4390-55EE-4437-B91A-021C31085A0C}" type="presOf" srcId="{DB14DAEA-FDD5-4CA3-8852-2F0E9F81865D}" destId="{95C19F3E-CF3C-4508-8C2E-EF34A641E879}" srcOrd="0" destOrd="2" presId="urn:microsoft.com/office/officeart/2005/8/layout/hList1"/>
    <dgm:cxn modelId="{AC98B395-E323-482A-919E-5CA8ACB2DDA0}" type="presOf" srcId="{FD8C9FD5-9FF8-451B-9CE1-945E3E95A2D2}" destId="{95C19F3E-CF3C-4508-8C2E-EF34A641E879}" srcOrd="0" destOrd="7" presId="urn:microsoft.com/office/officeart/2005/8/layout/hList1"/>
    <dgm:cxn modelId="{A25564BA-A401-4B8E-9E8D-11F21D4AC97A}" type="presOf" srcId="{9CFF7411-153E-453E-9857-85B2BA299F24}" destId="{95C19F3E-CF3C-4508-8C2E-EF34A641E879}" srcOrd="0" destOrd="5" presId="urn:microsoft.com/office/officeart/2005/8/layout/hList1"/>
    <dgm:cxn modelId="{E819FCBB-2E1A-4102-A0DC-18D2015211E5}" srcId="{9FEDD277-5192-4D19-A91E-24D42C3B8963}" destId="{75B3B694-FBA3-4365-9F08-160D73DC4A98}" srcOrd="4" destOrd="0" parTransId="{1E2309CB-D461-4F8C-A3DB-34D2CC7168AE}" sibTransId="{2940A864-D110-4BC1-8D12-804646506645}"/>
    <dgm:cxn modelId="{181F04C1-67E5-4A7C-AD1E-8ED7B57EF591}" type="presOf" srcId="{75B3B694-FBA3-4365-9F08-160D73DC4A98}" destId="{95C19F3E-CF3C-4508-8C2E-EF34A641E879}" srcOrd="0" destOrd="4" presId="urn:microsoft.com/office/officeart/2005/8/layout/hList1"/>
    <dgm:cxn modelId="{BE4A54D3-3435-4451-A37D-D2C9F914C634}" type="presOf" srcId="{94983DD6-F47E-4A12-AC70-8FE9166F8579}" destId="{95C19F3E-CF3C-4508-8C2E-EF34A641E879}" srcOrd="0" destOrd="0" presId="urn:microsoft.com/office/officeart/2005/8/layout/hList1"/>
    <dgm:cxn modelId="{E41FCDEB-CD34-4D66-AA29-EB29384C99F1}" srcId="{9FEDD277-5192-4D19-A91E-24D42C3B8963}" destId="{94983DD6-F47E-4A12-AC70-8FE9166F8579}" srcOrd="0" destOrd="0" parTransId="{84387D7F-A85E-4C42-8DD8-0EB4BFA2D07E}" sibTransId="{4028A311-A359-46B5-BFAD-C6D83A6322BD}"/>
    <dgm:cxn modelId="{5F9CD2F7-3C0A-47A2-80F4-826DB5249E08}" srcId="{9FEDD277-5192-4D19-A91E-24D42C3B8963}" destId="{DB14DAEA-FDD5-4CA3-8852-2F0E9F81865D}" srcOrd="2" destOrd="0" parTransId="{73B25F5A-B861-497F-9608-0703EDE2E8C2}" sibTransId="{C6A45E34-157A-42C3-8FE1-5E0A6E839EEF}"/>
    <dgm:cxn modelId="{46C4A061-133E-462F-A776-FA04F926BD10}" type="presParOf" srcId="{75A54B42-AFD4-4B28-8E08-ABA8422C7D55}" destId="{443F0A5D-D453-4871-AECD-A0EA475588C0}" srcOrd="0" destOrd="0" presId="urn:microsoft.com/office/officeart/2005/8/layout/hList1"/>
    <dgm:cxn modelId="{D80792E9-0740-4835-9793-89FBDCAF0141}" type="presParOf" srcId="{443F0A5D-D453-4871-AECD-A0EA475588C0}" destId="{6FE2AFBA-52D6-4DD2-97C0-D0BA2EB43F84}" srcOrd="0" destOrd="0" presId="urn:microsoft.com/office/officeart/2005/8/layout/hList1"/>
    <dgm:cxn modelId="{DF08D098-DF63-4F95-92E5-CF2D60C150D1}" type="presParOf" srcId="{443F0A5D-D453-4871-AECD-A0EA475588C0}" destId="{95C19F3E-CF3C-4508-8C2E-EF34A641E87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E2AFBA-52D6-4DD2-97C0-D0BA2EB43F84}">
      <dsp:nvSpPr>
        <dsp:cNvPr id="0" name=""/>
        <dsp:cNvSpPr/>
      </dsp:nvSpPr>
      <dsp:spPr>
        <a:xfrm>
          <a:off x="0" y="0"/>
          <a:ext cx="8229600" cy="864000"/>
        </a:xfrm>
        <a:prstGeom prst="rect">
          <a:avLst/>
        </a:prstGeom>
        <a:solidFill>
          <a:schemeClr val="accent5">
            <a:alpha val="90000"/>
            <a:hueOff val="0"/>
            <a:satOff val="0"/>
            <a:lumOff val="0"/>
            <a:alphaOff val="0"/>
          </a:schemeClr>
        </a:solidFill>
        <a:ln w="19050" cap="flat" cmpd="sng" algn="ctr">
          <a:solidFill>
            <a:schemeClr val="accent5">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rtl="0">
            <a:lnSpc>
              <a:spcPct val="90000"/>
            </a:lnSpc>
            <a:spcBef>
              <a:spcPct val="0"/>
            </a:spcBef>
            <a:spcAft>
              <a:spcPct val="35000"/>
            </a:spcAft>
            <a:buNone/>
          </a:pPr>
          <a:r>
            <a:rPr lang="el-GR" sz="3000" b="1" kern="1200" dirty="0"/>
            <a:t>Πιθανές ομάδες δεδομένων</a:t>
          </a:r>
          <a:endParaRPr lang="en-US" sz="3000" kern="1200" dirty="0"/>
        </a:p>
      </dsp:txBody>
      <dsp:txXfrm>
        <a:off x="0" y="0"/>
        <a:ext cx="8229600" cy="864000"/>
      </dsp:txXfrm>
    </dsp:sp>
    <dsp:sp modelId="{95C19F3E-CF3C-4508-8C2E-EF34A641E879}">
      <dsp:nvSpPr>
        <dsp:cNvPr id="0" name=""/>
        <dsp:cNvSpPr/>
      </dsp:nvSpPr>
      <dsp:spPr>
        <a:xfrm>
          <a:off x="0" y="685785"/>
          <a:ext cx="8229600" cy="4282200"/>
        </a:xfrm>
        <a:prstGeom prst="rect">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rtl="0">
            <a:lnSpc>
              <a:spcPct val="90000"/>
            </a:lnSpc>
            <a:spcBef>
              <a:spcPct val="0"/>
            </a:spcBef>
            <a:spcAft>
              <a:spcPct val="15000"/>
            </a:spcAft>
            <a:buChar char="•"/>
          </a:pPr>
          <a:r>
            <a:rPr lang="el-GR" sz="3000" kern="1200" dirty="0"/>
            <a:t>αίτια - αποτελέσματα</a:t>
          </a:r>
          <a:endParaRPr lang="en-US" sz="3000" kern="1200" dirty="0"/>
        </a:p>
        <a:p>
          <a:pPr marL="285750" lvl="1" indent="-285750" algn="l" defTabSz="1333500" rtl="0">
            <a:lnSpc>
              <a:spcPct val="90000"/>
            </a:lnSpc>
            <a:spcBef>
              <a:spcPct val="0"/>
            </a:spcBef>
            <a:spcAft>
              <a:spcPct val="15000"/>
            </a:spcAft>
            <a:buChar char="•"/>
          </a:pPr>
          <a:r>
            <a:rPr lang="el-GR" sz="3000" kern="1200" dirty="0"/>
            <a:t>αντικείμενα (εικόνες ή σχέδια) - ονοματολογία</a:t>
          </a:r>
          <a:endParaRPr lang="en-US" sz="3000" kern="1200" dirty="0"/>
        </a:p>
        <a:p>
          <a:pPr marL="285750" lvl="1" indent="-285750" algn="l" defTabSz="1333500" rtl="0">
            <a:lnSpc>
              <a:spcPct val="90000"/>
            </a:lnSpc>
            <a:spcBef>
              <a:spcPct val="0"/>
            </a:spcBef>
            <a:spcAft>
              <a:spcPct val="15000"/>
            </a:spcAft>
            <a:buChar char="•"/>
          </a:pPr>
          <a:r>
            <a:rPr lang="el-GR" sz="3000" kern="1200" dirty="0"/>
            <a:t>λέξεις - αναγνώριση (συντακτική ή γραμματική)</a:t>
          </a:r>
          <a:endParaRPr lang="en-US" sz="3000" kern="1200" dirty="0"/>
        </a:p>
        <a:p>
          <a:pPr marL="285750" lvl="1" indent="-285750" algn="l" defTabSz="1333500" rtl="0">
            <a:lnSpc>
              <a:spcPct val="90000"/>
            </a:lnSpc>
            <a:spcBef>
              <a:spcPct val="0"/>
            </a:spcBef>
            <a:spcAft>
              <a:spcPct val="15000"/>
            </a:spcAft>
            <a:buChar char="•"/>
          </a:pPr>
          <a:r>
            <a:rPr lang="el-GR" sz="3000" kern="1200" dirty="0"/>
            <a:t>ορολογία (λέξεις) - συνώνυμα</a:t>
          </a:r>
          <a:endParaRPr lang="en-US" sz="3000" kern="1200" dirty="0"/>
        </a:p>
        <a:p>
          <a:pPr marL="285750" lvl="1" indent="-285750" algn="l" defTabSz="1333500" rtl="0">
            <a:lnSpc>
              <a:spcPct val="90000"/>
            </a:lnSpc>
            <a:spcBef>
              <a:spcPct val="0"/>
            </a:spcBef>
            <a:spcAft>
              <a:spcPct val="15000"/>
            </a:spcAft>
            <a:buChar char="•"/>
          </a:pPr>
          <a:r>
            <a:rPr lang="el-GR" sz="3000" kern="1200" dirty="0"/>
            <a:t>φαινόμενα - αρχές ή νόμοι</a:t>
          </a:r>
          <a:endParaRPr lang="en-US" sz="3000" kern="1200" dirty="0"/>
        </a:p>
        <a:p>
          <a:pPr marL="285750" lvl="1" indent="-285750" algn="l" defTabSz="1333500" rtl="0">
            <a:lnSpc>
              <a:spcPct val="90000"/>
            </a:lnSpc>
            <a:spcBef>
              <a:spcPct val="0"/>
            </a:spcBef>
            <a:spcAft>
              <a:spcPct val="15000"/>
            </a:spcAft>
            <a:buChar char="•"/>
          </a:pPr>
          <a:r>
            <a:rPr lang="el-GR" sz="3000" kern="1200" dirty="0"/>
            <a:t>συγγραφείς - βιβλία </a:t>
          </a:r>
          <a:endParaRPr lang="en-US" sz="3000" kern="1200" dirty="0"/>
        </a:p>
        <a:p>
          <a:pPr marL="285750" lvl="1" indent="-285750" algn="l" defTabSz="1333500" rtl="0">
            <a:lnSpc>
              <a:spcPct val="90000"/>
            </a:lnSpc>
            <a:spcBef>
              <a:spcPct val="0"/>
            </a:spcBef>
            <a:spcAft>
              <a:spcPct val="15000"/>
            </a:spcAft>
            <a:buChar char="•"/>
          </a:pPr>
          <a:r>
            <a:rPr lang="el-GR" sz="3000" kern="1200" dirty="0"/>
            <a:t>γεγονότα - χρονολογίες - αποτελέσματα</a:t>
          </a:r>
          <a:endParaRPr lang="en-US" sz="3000" kern="1200" dirty="0"/>
        </a:p>
        <a:p>
          <a:pPr marL="285750" lvl="1" indent="-285750" algn="l" defTabSz="1333500" rtl="0">
            <a:lnSpc>
              <a:spcPct val="90000"/>
            </a:lnSpc>
            <a:spcBef>
              <a:spcPct val="0"/>
            </a:spcBef>
            <a:spcAft>
              <a:spcPct val="15000"/>
            </a:spcAft>
            <a:buChar char="•"/>
          </a:pPr>
          <a:r>
            <a:rPr lang="el-GR" sz="3000" kern="1200" dirty="0"/>
            <a:t>σχολές - επιστήμες - επιστήμονες </a:t>
          </a:r>
          <a:endParaRPr lang="en-US" sz="3000" kern="1200" dirty="0"/>
        </a:p>
      </dsp:txBody>
      <dsp:txXfrm>
        <a:off x="0" y="685785"/>
        <a:ext cx="8229600" cy="42822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0860" cy="468630"/>
          </a:xfrm>
          <a:prstGeom prst="rect">
            <a:avLst/>
          </a:prstGeom>
        </p:spPr>
        <p:txBody>
          <a:bodyPr vert="horz" lIns="94046" tIns="47023" rIns="94046" bIns="47023" rtlCol="0"/>
          <a:lstStyle>
            <a:lvl1pPr algn="l">
              <a:defRPr sz="1200"/>
            </a:lvl1pPr>
          </a:lstStyle>
          <a:p>
            <a:r>
              <a:rPr lang="el-GR"/>
              <a:t>Πανεπιστήμιο Κύπρου</a:t>
            </a:r>
          </a:p>
        </p:txBody>
      </p:sp>
      <p:sp>
        <p:nvSpPr>
          <p:cNvPr id="3" name="Date Placeholder 2"/>
          <p:cNvSpPr>
            <a:spLocks noGrp="1"/>
          </p:cNvSpPr>
          <p:nvPr>
            <p:ph type="dt" sz="quarter" idx="1"/>
          </p:nvPr>
        </p:nvSpPr>
        <p:spPr>
          <a:xfrm>
            <a:off x="4014100" y="0"/>
            <a:ext cx="3070860" cy="468630"/>
          </a:xfrm>
          <a:prstGeom prst="rect">
            <a:avLst/>
          </a:prstGeom>
        </p:spPr>
        <p:txBody>
          <a:bodyPr vert="horz" lIns="94046" tIns="47023" rIns="94046" bIns="47023" rtlCol="0"/>
          <a:lstStyle>
            <a:lvl1pPr algn="r">
              <a:defRPr sz="1200"/>
            </a:lvl1pPr>
          </a:lstStyle>
          <a:p>
            <a:fld id="{BA45DFB7-83FB-44C6-9FCE-AD0D0C313115}" type="datetimeFigureOut">
              <a:rPr lang="el-GR" smtClean="0"/>
              <a:pPr/>
              <a:t>5/10/2026</a:t>
            </a:fld>
            <a:endParaRPr lang="el-GR"/>
          </a:p>
        </p:txBody>
      </p:sp>
      <p:sp>
        <p:nvSpPr>
          <p:cNvPr id="4" name="Footer Placeholder 3"/>
          <p:cNvSpPr>
            <a:spLocks noGrp="1"/>
          </p:cNvSpPr>
          <p:nvPr>
            <p:ph type="ftr" sz="quarter" idx="2"/>
          </p:nvPr>
        </p:nvSpPr>
        <p:spPr>
          <a:xfrm>
            <a:off x="0" y="8902343"/>
            <a:ext cx="3070860" cy="468630"/>
          </a:xfrm>
          <a:prstGeom prst="rect">
            <a:avLst/>
          </a:prstGeom>
        </p:spPr>
        <p:txBody>
          <a:bodyPr vert="horz" lIns="94046" tIns="47023" rIns="94046" bIns="47023" rtlCol="0" anchor="b"/>
          <a:lstStyle>
            <a:lvl1pPr algn="l">
              <a:defRPr sz="1200"/>
            </a:lvl1pPr>
          </a:lstStyle>
          <a:p>
            <a:endParaRPr lang="el-GR"/>
          </a:p>
        </p:txBody>
      </p:sp>
      <p:sp>
        <p:nvSpPr>
          <p:cNvPr id="5" name="Slide Number Placeholder 4"/>
          <p:cNvSpPr>
            <a:spLocks noGrp="1"/>
          </p:cNvSpPr>
          <p:nvPr>
            <p:ph type="sldNum" sz="quarter" idx="3"/>
          </p:nvPr>
        </p:nvSpPr>
        <p:spPr>
          <a:xfrm>
            <a:off x="4014100" y="8902343"/>
            <a:ext cx="3070860" cy="468630"/>
          </a:xfrm>
          <a:prstGeom prst="rect">
            <a:avLst/>
          </a:prstGeom>
        </p:spPr>
        <p:txBody>
          <a:bodyPr vert="horz" lIns="94046" tIns="47023" rIns="94046" bIns="47023" rtlCol="0" anchor="b"/>
          <a:lstStyle>
            <a:lvl1pPr algn="r">
              <a:defRPr sz="1200"/>
            </a:lvl1pPr>
          </a:lstStyle>
          <a:p>
            <a:fld id="{E07916FF-FDBD-4C09-8027-6A28DCFA5F6B}" type="slidenum">
              <a:rPr lang="el-GR" smtClean="0"/>
              <a:pPr/>
              <a:t>‹#›</a:t>
            </a:fld>
            <a:endParaRPr lang="el-GR"/>
          </a:p>
        </p:txBody>
      </p:sp>
    </p:spTree>
    <p:extLst>
      <p:ext uri="{BB962C8B-B14F-4D97-AF65-F5344CB8AC3E}">
        <p14:creationId xmlns:p14="http://schemas.microsoft.com/office/powerpoint/2010/main" val="150229035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0860" cy="468630"/>
          </a:xfrm>
          <a:prstGeom prst="rect">
            <a:avLst/>
          </a:prstGeom>
        </p:spPr>
        <p:txBody>
          <a:bodyPr vert="horz" lIns="94046" tIns="47023" rIns="94046" bIns="47023" rtlCol="0"/>
          <a:lstStyle>
            <a:lvl1pPr algn="l">
              <a:defRPr sz="1200"/>
            </a:lvl1pPr>
          </a:lstStyle>
          <a:p>
            <a:r>
              <a:rPr lang="el-GR"/>
              <a:t>Πανεπιστήμιο Κύπρου</a:t>
            </a:r>
          </a:p>
        </p:txBody>
      </p:sp>
      <p:sp>
        <p:nvSpPr>
          <p:cNvPr id="3" name="Date Placeholder 2"/>
          <p:cNvSpPr>
            <a:spLocks noGrp="1"/>
          </p:cNvSpPr>
          <p:nvPr>
            <p:ph type="dt" idx="1"/>
          </p:nvPr>
        </p:nvSpPr>
        <p:spPr>
          <a:xfrm>
            <a:off x="4014100" y="0"/>
            <a:ext cx="3070860" cy="468630"/>
          </a:xfrm>
          <a:prstGeom prst="rect">
            <a:avLst/>
          </a:prstGeom>
        </p:spPr>
        <p:txBody>
          <a:bodyPr vert="horz" lIns="94046" tIns="47023" rIns="94046" bIns="47023" rtlCol="0"/>
          <a:lstStyle>
            <a:lvl1pPr algn="r">
              <a:defRPr sz="1200"/>
            </a:lvl1pPr>
          </a:lstStyle>
          <a:p>
            <a:fld id="{2A983513-E7BE-4C0A-B9EB-D39F627DF45B}" type="datetimeFigureOut">
              <a:rPr lang="el-GR" smtClean="0"/>
              <a:pPr/>
              <a:t>5/10/2026</a:t>
            </a:fld>
            <a:endParaRPr lang="el-GR"/>
          </a:p>
        </p:txBody>
      </p:sp>
      <p:sp>
        <p:nvSpPr>
          <p:cNvPr id="4" name="Slide Image Placeholder 3"/>
          <p:cNvSpPr>
            <a:spLocks noGrp="1" noRot="1" noChangeAspect="1"/>
          </p:cNvSpPr>
          <p:nvPr>
            <p:ph type="sldImg" idx="2"/>
          </p:nvPr>
        </p:nvSpPr>
        <p:spPr>
          <a:xfrm>
            <a:off x="1200150" y="703263"/>
            <a:ext cx="4686300" cy="3514725"/>
          </a:xfrm>
          <a:prstGeom prst="rect">
            <a:avLst/>
          </a:prstGeom>
          <a:noFill/>
          <a:ln w="12700">
            <a:solidFill>
              <a:prstClr val="black"/>
            </a:solidFill>
          </a:ln>
        </p:spPr>
        <p:txBody>
          <a:bodyPr vert="horz" lIns="94046" tIns="47023" rIns="94046" bIns="47023" rtlCol="0" anchor="ctr"/>
          <a:lstStyle/>
          <a:p>
            <a:endParaRPr lang="el-GR"/>
          </a:p>
        </p:txBody>
      </p:sp>
      <p:sp>
        <p:nvSpPr>
          <p:cNvPr id="5" name="Notes Placeholder 4"/>
          <p:cNvSpPr>
            <a:spLocks noGrp="1"/>
          </p:cNvSpPr>
          <p:nvPr>
            <p:ph type="body" sz="quarter" idx="3"/>
          </p:nvPr>
        </p:nvSpPr>
        <p:spPr>
          <a:xfrm>
            <a:off x="708660" y="4451985"/>
            <a:ext cx="5669280" cy="4217670"/>
          </a:xfrm>
          <a:prstGeom prst="rect">
            <a:avLst/>
          </a:prstGeom>
        </p:spPr>
        <p:txBody>
          <a:bodyPr vert="horz" lIns="94046" tIns="47023" rIns="94046" bIns="4702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902343"/>
            <a:ext cx="3070860" cy="468630"/>
          </a:xfrm>
          <a:prstGeom prst="rect">
            <a:avLst/>
          </a:prstGeom>
        </p:spPr>
        <p:txBody>
          <a:bodyPr vert="horz" lIns="94046" tIns="47023" rIns="94046" bIns="47023" rtlCol="0" anchor="b"/>
          <a:lstStyle>
            <a:lvl1pPr algn="l">
              <a:defRPr sz="1200"/>
            </a:lvl1pPr>
          </a:lstStyle>
          <a:p>
            <a:endParaRPr lang="el-GR"/>
          </a:p>
        </p:txBody>
      </p:sp>
      <p:sp>
        <p:nvSpPr>
          <p:cNvPr id="7" name="Slide Number Placeholder 6"/>
          <p:cNvSpPr>
            <a:spLocks noGrp="1"/>
          </p:cNvSpPr>
          <p:nvPr>
            <p:ph type="sldNum" sz="quarter" idx="5"/>
          </p:nvPr>
        </p:nvSpPr>
        <p:spPr>
          <a:xfrm>
            <a:off x="4014100" y="8902343"/>
            <a:ext cx="3070860" cy="468630"/>
          </a:xfrm>
          <a:prstGeom prst="rect">
            <a:avLst/>
          </a:prstGeom>
        </p:spPr>
        <p:txBody>
          <a:bodyPr vert="horz" lIns="94046" tIns="47023" rIns="94046" bIns="47023" rtlCol="0" anchor="b"/>
          <a:lstStyle>
            <a:lvl1pPr algn="r">
              <a:defRPr sz="1200"/>
            </a:lvl1pPr>
          </a:lstStyle>
          <a:p>
            <a:fld id="{B57EB55F-327A-4FFA-BC29-0E77CB2BF4F2}" type="slidenum">
              <a:rPr lang="el-GR" smtClean="0"/>
              <a:pPr/>
              <a:t>‹#›</a:t>
            </a:fld>
            <a:endParaRPr lang="el-GR"/>
          </a:p>
        </p:txBody>
      </p:sp>
    </p:spTree>
    <p:extLst>
      <p:ext uri="{BB962C8B-B14F-4D97-AF65-F5344CB8AC3E}">
        <p14:creationId xmlns:p14="http://schemas.microsoft.com/office/powerpoint/2010/main" val="412219982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a:p>
        </p:txBody>
      </p:sp>
      <p:sp>
        <p:nvSpPr>
          <p:cNvPr id="4" name="Slide Number Placeholder 3"/>
          <p:cNvSpPr>
            <a:spLocks noGrp="1"/>
          </p:cNvSpPr>
          <p:nvPr>
            <p:ph type="sldNum" sz="quarter" idx="10"/>
          </p:nvPr>
        </p:nvSpPr>
        <p:spPr/>
        <p:txBody>
          <a:bodyPr/>
          <a:lstStyle/>
          <a:p>
            <a:fld id="{B57EB55F-327A-4FFA-BC29-0E77CB2BF4F2}" type="slidenum">
              <a:rPr lang="el-GR" smtClean="0"/>
              <a:pPr/>
              <a:t>1</a:t>
            </a:fld>
            <a:endParaRPr lang="el-GR"/>
          </a:p>
        </p:txBody>
      </p:sp>
      <p:sp>
        <p:nvSpPr>
          <p:cNvPr id="5" name="Header Placeholder 4"/>
          <p:cNvSpPr>
            <a:spLocks noGrp="1"/>
          </p:cNvSpPr>
          <p:nvPr>
            <p:ph type="hdr" sz="quarter" idx="11"/>
          </p:nvPr>
        </p:nvSpPr>
        <p:spPr/>
        <p:txBody>
          <a:bodyPr/>
          <a:lstStyle/>
          <a:p>
            <a:r>
              <a:rPr lang="el-GR"/>
              <a:t>Πανεπιστήμιο Κύπρου</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2</a:t>
            </a:fld>
            <a:endParaRPr lang="el-G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3</a:t>
            </a:fld>
            <a:endParaRPr lang="el-G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a:t>
            </a:fld>
            <a:endParaRPr lang="el-G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5</a:t>
            </a:fld>
            <a:endParaRPr lang="el-G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6</a:t>
            </a:fld>
            <a:endParaRPr lang="el-G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10</a:t>
            </a:fld>
            <a:endParaRPr lang="el-G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13</a:t>
            </a:fld>
            <a:endParaRPr lang="el-G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14</a:t>
            </a:fld>
            <a:endParaRPr lang="el-G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15</a:t>
            </a:fld>
            <a:endParaRPr lang="el-G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18</a:t>
            </a:fld>
            <a:endParaRPr lang="el-G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37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4909F02-4554-48D9-85B3-4857BC54B23F}" type="slidenum">
              <a:rPr lang="en-US" smtClean="0"/>
              <a:pPr fontAlgn="base">
                <a:spcBef>
                  <a:spcPct val="0"/>
                </a:spcBef>
                <a:spcAft>
                  <a:spcPct val="0"/>
                </a:spcAft>
              </a:pPr>
              <a:t>25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48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07870C5-B374-4F34-9AF1-755314C84171}" type="slidenum">
              <a:rPr lang="en-US" smtClean="0"/>
              <a:pPr fontAlgn="base">
                <a:spcBef>
                  <a:spcPct val="0"/>
                </a:spcBef>
                <a:spcAft>
                  <a:spcPct val="0"/>
                </a:spcAft>
              </a:pPr>
              <a:t>26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p:spPr>
      </p:sp>
      <p:sp>
        <p:nvSpPr>
          <p:cNvPr id="358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58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A74B145-FB5E-446A-BC67-355E6A40014F}" type="slidenum">
              <a:rPr lang="en-US" smtClean="0"/>
              <a:pPr fontAlgn="base">
                <a:spcBef>
                  <a:spcPct val="0"/>
                </a:spcBef>
                <a:spcAft>
                  <a:spcPct val="0"/>
                </a:spcAft>
              </a:pPr>
              <a:t>27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6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3D1A3B7-0883-4B25-AD1B-E237264D993B}" type="slidenum">
              <a:rPr lang="en-US" smtClean="0"/>
              <a:pPr fontAlgn="base">
                <a:spcBef>
                  <a:spcPct val="0"/>
                </a:spcBef>
                <a:spcAft>
                  <a:spcPct val="0"/>
                </a:spcAft>
              </a:pPr>
              <a:t>28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78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F1596DA-8FBF-4E70-AB26-D07BD016CFCE}" type="slidenum">
              <a:rPr lang="en-US" smtClean="0"/>
              <a:pPr fontAlgn="base">
                <a:spcBef>
                  <a:spcPct val="0"/>
                </a:spcBef>
                <a:spcAft>
                  <a:spcPct val="0"/>
                </a:spcAft>
              </a:pPr>
              <a:t>29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43</a:t>
            </a:fld>
            <a:endParaRPr lang="el-G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44</a:t>
            </a:fld>
            <a:endParaRPr lang="el-G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45</a:t>
            </a:fld>
            <a:endParaRPr lang="el-G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46</a:t>
            </a:fld>
            <a:endParaRPr lang="el-G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47</a:t>
            </a:fld>
            <a:endParaRPr lang="el-G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l-G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l-GR"/>
          </a:p>
        </p:txBody>
      </p:sp>
      <p:sp>
        <p:nvSpPr>
          <p:cNvPr id="4" name="Date Placeholder 3"/>
          <p:cNvSpPr>
            <a:spLocks noGrp="1"/>
          </p:cNvSpPr>
          <p:nvPr>
            <p:ph type="dt" sz="half" idx="10"/>
          </p:nvPr>
        </p:nvSpPr>
        <p:spPr/>
        <p:txBody>
          <a:bodyPr/>
          <a:lstStyle/>
          <a:p>
            <a:fld id="{9672EB40-6915-4CDE-8D7F-2613013208F9}"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D55D03E4-A0D5-49E7-A3FE-E3D4F3CE508B}"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l-G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CEFE7F-C528-48C4-8FFF-C58A635B88A5}"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p:cNvSpPr>
            <a:spLocks noGrp="1"/>
          </p:cNvSpPr>
          <p:nvPr>
            <p:ph type="dt" sz="half" idx="10"/>
          </p:nvPr>
        </p:nvSpPr>
        <p:spPr/>
        <p:txBody>
          <a:bodyPr/>
          <a:lstStyle/>
          <a:p>
            <a:fld id="{5E6B569D-704F-48D2-BF6B-E498BA495C53}"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l-G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p:cNvSpPr>
            <a:spLocks noGrp="1"/>
          </p:cNvSpPr>
          <p:nvPr>
            <p:ph type="dt" sz="half" idx="10"/>
          </p:nvPr>
        </p:nvSpPr>
        <p:spPr/>
        <p:txBody>
          <a:bodyPr/>
          <a:lstStyle/>
          <a:p>
            <a:fld id="{17FAD555-7D90-4363-8034-76F802B22D0A}" type="datetime1">
              <a:rPr lang="el-GR" smtClean="0"/>
              <a:pPr/>
              <a:t>5/10/2026</a:t>
            </a:fld>
            <a:endParaRPr lang="el-GR"/>
          </a:p>
        </p:txBody>
      </p:sp>
      <p:sp>
        <p:nvSpPr>
          <p:cNvPr id="8" name="Footer Placeholder 7"/>
          <p:cNvSpPr>
            <a:spLocks noGrp="1"/>
          </p:cNvSpPr>
          <p:nvPr>
            <p:ph type="ftr" sz="quarter" idx="11"/>
          </p:nvPr>
        </p:nvSpPr>
        <p:spPr/>
        <p:txBody>
          <a:bodyPr/>
          <a:lstStyle/>
          <a:p>
            <a:r>
              <a:rPr lang="el-GR"/>
              <a:t>ΕΠΑ 304: Εκπαιδευτική Αξιολόγηση – Χειμερινό Εξάμηνο 2013</a:t>
            </a:r>
          </a:p>
        </p:txBody>
      </p:sp>
      <p:sp>
        <p:nvSpPr>
          <p:cNvPr id="9" name="Slide Number Placeholder 8"/>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858F7D9B-EDBF-4FF4-956D-3153DFD48705}" type="datetime1">
              <a:rPr lang="el-GR" smtClean="0"/>
              <a:pPr/>
              <a:t>5/10/2026</a:t>
            </a:fld>
            <a:endParaRPr lang="el-GR"/>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p>
        </p:txBody>
      </p:sp>
      <p:sp>
        <p:nvSpPr>
          <p:cNvPr id="5" name="Slide Number Placeholder 4"/>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A66EE3-F381-4C38-AC81-93FA487C1F80}" type="datetime1">
              <a:rPr lang="el-GR" smtClean="0"/>
              <a:pPr/>
              <a:t>5/10/2026</a:t>
            </a:fld>
            <a:endParaRPr lang="el-GR"/>
          </a:p>
        </p:txBody>
      </p:sp>
      <p:sp>
        <p:nvSpPr>
          <p:cNvPr id="3" name="Footer Placeholder 2"/>
          <p:cNvSpPr>
            <a:spLocks noGrp="1"/>
          </p:cNvSpPr>
          <p:nvPr>
            <p:ph type="ftr" sz="quarter" idx="11"/>
          </p:nvPr>
        </p:nvSpPr>
        <p:spPr/>
        <p:txBody>
          <a:bodyPr/>
          <a:lstStyle/>
          <a:p>
            <a:r>
              <a:rPr lang="el-GR"/>
              <a:t>ΕΠΑ 304: Εκπαιδευτική Αξιολόγηση – Χειμερινό Εξάμηνο 2013</a:t>
            </a:r>
          </a:p>
        </p:txBody>
      </p:sp>
      <p:sp>
        <p:nvSpPr>
          <p:cNvPr id="4" name="Slide Number Placeholder 3"/>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l-G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DCB2F4-5F83-4451-BCF1-51EAC2F08DF2}"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l-G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EA4120-2FE7-449D-B937-D939E079CD7C}"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C255CCFF-50AF-4D42-828F-23E55564D38C}"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l-G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3EEDCDC7-7622-4AE5-B6D6-133A574BE6AD}"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l-G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l-GR"/>
          </a:p>
        </p:txBody>
      </p:sp>
      <p:sp>
        <p:nvSpPr>
          <p:cNvPr id="4" name="Date Placeholder 3"/>
          <p:cNvSpPr>
            <a:spLocks noGrp="1"/>
          </p:cNvSpPr>
          <p:nvPr>
            <p:ph type="dt" sz="half" idx="10"/>
          </p:nvPr>
        </p:nvSpPr>
        <p:spPr/>
        <p:txBody>
          <a:bodyPr/>
          <a:lstStyle/>
          <a:p>
            <a:fld id="{FC6B7943-18F6-43D0-9D60-BEA541DFEE20}"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34D6812F-02EB-4B75-95DB-1ECC7312BBBB}"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l-G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C7CC61-2B8E-4DF7-9581-41DAB7030C13}"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p:cNvSpPr>
            <a:spLocks noGrp="1"/>
          </p:cNvSpPr>
          <p:nvPr>
            <p:ph type="dt" sz="half" idx="10"/>
          </p:nvPr>
        </p:nvSpPr>
        <p:spPr/>
        <p:txBody>
          <a:bodyPr/>
          <a:lstStyle/>
          <a:p>
            <a:fld id="{30C78E38-7D0D-4481-87E4-09A085112B80}"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l-G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p:cNvSpPr>
            <a:spLocks noGrp="1"/>
          </p:cNvSpPr>
          <p:nvPr>
            <p:ph type="dt" sz="half" idx="10"/>
          </p:nvPr>
        </p:nvSpPr>
        <p:spPr/>
        <p:txBody>
          <a:bodyPr/>
          <a:lstStyle/>
          <a:p>
            <a:fld id="{407B35FF-0850-43D7-9C26-03699985D73C}" type="datetime1">
              <a:rPr lang="el-GR" smtClean="0"/>
              <a:pPr/>
              <a:t>5/10/2026</a:t>
            </a:fld>
            <a:endParaRPr lang="el-GR"/>
          </a:p>
        </p:txBody>
      </p:sp>
      <p:sp>
        <p:nvSpPr>
          <p:cNvPr id="8" name="Footer Placeholder 7"/>
          <p:cNvSpPr>
            <a:spLocks noGrp="1"/>
          </p:cNvSpPr>
          <p:nvPr>
            <p:ph type="ftr" sz="quarter" idx="11"/>
          </p:nvPr>
        </p:nvSpPr>
        <p:spPr/>
        <p:txBody>
          <a:bodyPr/>
          <a:lstStyle/>
          <a:p>
            <a:r>
              <a:rPr lang="el-GR"/>
              <a:t>ΕΠΑ 304: Εκπαιδευτική Αξιολόγηση – Χειμερινό Εξάμηνο 2013</a:t>
            </a:r>
          </a:p>
        </p:txBody>
      </p:sp>
      <p:sp>
        <p:nvSpPr>
          <p:cNvPr id="9" name="Slide Number Placeholder 8"/>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D9383121-4790-40B0-89E0-EC564D0883CA}" type="datetime1">
              <a:rPr lang="el-GR" smtClean="0"/>
              <a:pPr/>
              <a:t>5/10/2026</a:t>
            </a:fld>
            <a:endParaRPr lang="el-GR"/>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p>
        </p:txBody>
      </p:sp>
      <p:sp>
        <p:nvSpPr>
          <p:cNvPr id="5" name="Slide Number Placeholder 4"/>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FFC1CA-7965-4D69-A6F9-E2B6F4ED7C40}" type="datetime1">
              <a:rPr lang="el-GR" smtClean="0"/>
              <a:pPr/>
              <a:t>5/10/2026</a:t>
            </a:fld>
            <a:endParaRPr lang="el-GR"/>
          </a:p>
        </p:txBody>
      </p:sp>
      <p:sp>
        <p:nvSpPr>
          <p:cNvPr id="3" name="Footer Placeholder 2"/>
          <p:cNvSpPr>
            <a:spLocks noGrp="1"/>
          </p:cNvSpPr>
          <p:nvPr>
            <p:ph type="ftr" sz="quarter" idx="11"/>
          </p:nvPr>
        </p:nvSpPr>
        <p:spPr/>
        <p:txBody>
          <a:bodyPr/>
          <a:lstStyle/>
          <a:p>
            <a:r>
              <a:rPr lang="el-GR"/>
              <a:t>ΕΠΑ 304: Εκπαιδευτική Αξιολόγηση – Χειμερινό Εξάμηνο 2013</a:t>
            </a:r>
          </a:p>
        </p:txBody>
      </p:sp>
      <p:sp>
        <p:nvSpPr>
          <p:cNvPr id="4" name="Slide Number Placeholder 3"/>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l-G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C2E8B6-FC98-41EE-B970-EDD3D6AFD464}"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l-G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6A8D13-F210-4C68-9FA1-DD66224D8F12}"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9391DDFB-F982-46F1-9763-09BBED590EE2}"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l-G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DD3097AE-E933-4BA0-AC1D-789310B86A2E}"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D164A0DB-D085-44D6-BD98-104C6541C373}" type="datetime1">
              <a:rPr lang="el-GR" smtClean="0"/>
              <a:pPr/>
              <a:t>5/10/2026</a:t>
            </a:fld>
            <a:endParaRPr lang="el-GR" dirty="0"/>
          </a:p>
        </p:txBody>
      </p:sp>
      <p:sp>
        <p:nvSpPr>
          <p:cNvPr id="17" name="Footer Placeholder 16"/>
          <p:cNvSpPr>
            <a:spLocks noGrp="1"/>
          </p:cNvSpPr>
          <p:nvPr>
            <p:ph type="ftr" sz="quarter" idx="11"/>
          </p:nvPr>
        </p:nvSpPr>
        <p:spPr>
          <a:xfrm>
            <a:off x="2898648" y="6355080"/>
            <a:ext cx="3474720" cy="365760"/>
          </a:xfrm>
        </p:spPr>
        <p:txBody>
          <a:bodyPr/>
          <a:lstStyle/>
          <a:p>
            <a:r>
              <a:rPr lang="el-GR"/>
              <a:t>ΕΠΑ 304: Εκπαιδευτική Αξιολόγηση – Χειμερινό Εξάμηνο 2013</a:t>
            </a:r>
            <a:endParaRPr lang="el-GR" dirty="0"/>
          </a:p>
        </p:txBody>
      </p:sp>
      <p:sp>
        <p:nvSpPr>
          <p:cNvPr id="29" name="Slide Number Placeholder 28"/>
          <p:cNvSpPr>
            <a:spLocks noGrp="1"/>
          </p:cNvSpPr>
          <p:nvPr>
            <p:ph type="sldNum" sz="quarter" idx="12"/>
          </p:nvPr>
        </p:nvSpPr>
        <p:spPr>
          <a:xfrm>
            <a:off x="1216152" y="6355080"/>
            <a:ext cx="1219200" cy="365760"/>
          </a:xfrm>
        </p:spPr>
        <p:txBody>
          <a:bodyPr/>
          <a:lstStyle/>
          <a:p>
            <a:r>
              <a:rPr lang="el-GR"/>
              <a:t>1 </a:t>
            </a:r>
          </a:p>
          <a:p>
            <a:r>
              <a:rPr lang="el-GR"/>
              <a:t>Αναστασία Παναγιώτου</a:t>
            </a:r>
            <a:endParaRPr lang="el-GR"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C4C6C0A-8B12-4FC3-B93A-B30D87696C89}"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9F9C4326-6C27-4F6D-A14F-6946318585D3}" type="slidenum">
              <a:rPr lang="el-GR" smtClean="0"/>
              <a:pPr/>
              <a:t>‹#›</a:t>
            </a:fld>
            <a:endParaRPr lang="el-G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B52D9DA7-761D-47A8-9EA2-A13EA5642AB3}" type="datetime1">
              <a:rPr lang="el-GR" smtClean="0"/>
              <a:pPr/>
              <a:t>5/10/2026</a:t>
            </a:fld>
            <a:endParaRPr lang="el-GR"/>
          </a:p>
        </p:txBody>
      </p:sp>
      <p:sp>
        <p:nvSpPr>
          <p:cNvPr id="5" name="Footer Placeholder 4"/>
          <p:cNvSpPr>
            <a:spLocks noGrp="1"/>
          </p:cNvSpPr>
          <p:nvPr>
            <p:ph type="ftr" sz="quarter" idx="11"/>
          </p:nvPr>
        </p:nvSpPr>
        <p:spPr>
          <a:xfrm>
            <a:off x="2898648" y="6355080"/>
            <a:ext cx="3474720" cy="365760"/>
          </a:xfrm>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a:xfrm>
            <a:off x="1069848" y="6355080"/>
            <a:ext cx="1520952" cy="365760"/>
          </a:xfrm>
        </p:spPr>
        <p:txBody>
          <a:bodyPr/>
          <a:lstStyle/>
          <a:p>
            <a:fld id="{9F9C4326-6C27-4F6D-A14F-6946318585D3}" type="slidenum">
              <a:rPr lang="el-GR" smtClean="0"/>
              <a:pPr/>
              <a:t>‹#›</a:t>
            </a:fld>
            <a:endParaRPr lang="el-G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5C7F1EC-FAEA-4048-9612-84F093FDE440}"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9F9C4326-6C27-4F6D-A14F-6946318585D3}" type="slidenum">
              <a:rPr lang="el-GR" smtClean="0"/>
              <a:pPr/>
              <a:t>‹#›</a:t>
            </a:fld>
            <a:endParaRPr lang="el-G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7395488-7143-4A62-9722-4F33A2F21588}" type="datetime1">
              <a:rPr lang="el-GR" smtClean="0"/>
              <a:pPr/>
              <a:t>5/10/2026</a:t>
            </a:fld>
            <a:endParaRPr lang="el-GR"/>
          </a:p>
        </p:txBody>
      </p:sp>
      <p:sp>
        <p:nvSpPr>
          <p:cNvPr id="8" name="Footer Placeholder 7"/>
          <p:cNvSpPr>
            <a:spLocks noGrp="1"/>
          </p:cNvSpPr>
          <p:nvPr>
            <p:ph type="ftr" sz="quarter" idx="11"/>
          </p:nvPr>
        </p:nvSpPr>
        <p:spPr/>
        <p:txBody>
          <a:bodyPr/>
          <a:lstStyle/>
          <a:p>
            <a:r>
              <a:rPr lang="el-GR"/>
              <a:t>ΕΠΑ 304: Εκπαιδευτική Αξιολόγηση – Χειμερινό Εξάμηνο 2013</a:t>
            </a:r>
          </a:p>
        </p:txBody>
      </p:sp>
      <p:sp>
        <p:nvSpPr>
          <p:cNvPr id="9" name="Slide Number Placeholder 8"/>
          <p:cNvSpPr>
            <a:spLocks noGrp="1"/>
          </p:cNvSpPr>
          <p:nvPr>
            <p:ph type="sldNum" sz="quarter" idx="12"/>
          </p:nvPr>
        </p:nvSpPr>
        <p:spPr/>
        <p:txBody>
          <a:bodyPr/>
          <a:lstStyle/>
          <a:p>
            <a:fld id="{9F9C4326-6C27-4F6D-A14F-6946318585D3}" type="slidenum">
              <a:rPr lang="el-GR" smtClean="0"/>
              <a:pPr/>
              <a:t>‹#›</a:t>
            </a:fld>
            <a:endParaRPr lang="el-G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0D04C54-1DF6-4C2A-A5D4-E63324041ACD}" type="datetime1">
              <a:rPr lang="el-GR" smtClean="0"/>
              <a:pPr/>
              <a:t>5/10/2026</a:t>
            </a:fld>
            <a:endParaRPr lang="el-GR"/>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p>
        </p:txBody>
      </p:sp>
      <p:sp>
        <p:nvSpPr>
          <p:cNvPr id="5" name="Slide Number Placeholder 4"/>
          <p:cNvSpPr>
            <a:spLocks noGrp="1"/>
          </p:cNvSpPr>
          <p:nvPr>
            <p:ph type="sldNum" sz="quarter" idx="12"/>
          </p:nvPr>
        </p:nvSpPr>
        <p:spPr/>
        <p:txBody>
          <a:bodyPr/>
          <a:lstStyle/>
          <a:p>
            <a:fld id="{9F9C4326-6C27-4F6D-A14F-6946318585D3}" type="slidenum">
              <a:rPr lang="el-GR" smtClean="0"/>
              <a:pPr/>
              <a:t>‹#›</a:t>
            </a:fld>
            <a:endParaRPr lang="el-G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A1E8AB-03F6-4160-8972-B1FB68939573}" type="datetime1">
              <a:rPr lang="el-GR" smtClean="0"/>
              <a:pPr/>
              <a:t>5/10/2026</a:t>
            </a:fld>
            <a:endParaRPr lang="el-GR"/>
          </a:p>
        </p:txBody>
      </p:sp>
      <p:sp>
        <p:nvSpPr>
          <p:cNvPr id="3" name="Footer Placeholder 2"/>
          <p:cNvSpPr>
            <a:spLocks noGrp="1"/>
          </p:cNvSpPr>
          <p:nvPr>
            <p:ph type="ftr" sz="quarter" idx="11"/>
          </p:nvPr>
        </p:nvSpPr>
        <p:spPr/>
        <p:txBody>
          <a:bodyPr/>
          <a:lstStyle/>
          <a:p>
            <a:r>
              <a:rPr lang="el-GR"/>
              <a:t>ΕΠΑ 304: Εκπαιδευτική Αξιολόγηση – Χειμερινό Εξάμηνο 2013</a:t>
            </a:r>
          </a:p>
        </p:txBody>
      </p:sp>
      <p:sp>
        <p:nvSpPr>
          <p:cNvPr id="4" name="Slide Number Placeholder 3"/>
          <p:cNvSpPr>
            <a:spLocks noGrp="1"/>
          </p:cNvSpPr>
          <p:nvPr>
            <p:ph type="sldNum" sz="quarter" idx="12"/>
          </p:nvPr>
        </p:nvSpPr>
        <p:spPr/>
        <p:txBody>
          <a:bodyPr/>
          <a:lstStyle/>
          <a:p>
            <a:fld id="{9F9C4326-6C27-4F6D-A14F-6946318585D3}" type="slidenum">
              <a:rPr lang="el-GR" smtClean="0"/>
              <a:pPr/>
              <a:t>‹#›</a:t>
            </a:fld>
            <a:endParaRPr lang="el-G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80CEA98-2755-4194-BC12-6E801B56B4B0}"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9F9C4326-6C27-4F6D-A14F-6946318585D3}" type="slidenum">
              <a:rPr lang="el-GR" smtClean="0"/>
              <a:pPr/>
              <a:t>‹#›</a:t>
            </a:fld>
            <a:endParaRPr lang="el-G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8C5536D-64D6-4DAA-8D78-82CEBFE70CE8}" type="datetime1">
              <a:rPr lang="el-GR" smtClean="0"/>
              <a:pPr/>
              <a:t>5/10/2026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9F9C4326-6C27-4F6D-A14F-6946318585D3}" type="slidenum">
              <a:rPr lang="el-GR" smtClean="0"/>
              <a:pPr/>
              <a:t>‹#›</a:t>
            </a:fld>
            <a:endParaRPr lang="el-G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A763C6C-41FA-4A83-A837-5B66B48C1741}"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9F9C4326-6C27-4F6D-A14F-6946318585D3}" type="slidenum">
              <a:rPr lang="el-GR" smtClean="0"/>
              <a:pPr/>
              <a:t>‹#›</a:t>
            </a:fld>
            <a:endParaRPr lang="el-G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3161AA2-D821-4BAE-8328-0B15479A0595}" type="datetime1">
              <a:rPr lang="el-GR" smtClean="0"/>
              <a:pPr/>
              <a:t>5/10/2026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9F9C4326-6C27-4F6D-A14F-6946318585D3}" type="slidenum">
              <a:rPr lang="el-GR" smtClean="0"/>
              <a:pPr/>
              <a:t>‹#›</a:t>
            </a:fld>
            <a:endParaRPr lang="el-G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6C93359C-AE47-4A93-83CF-A11221F281F3}" type="datetime1">
              <a:rPr lang="el-GR" smtClean="0"/>
              <a:pPr/>
              <a:t>5/10/2026</a:t>
            </a:fld>
            <a:endParaRPr lang="el-GR" dirty="0"/>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endParaRPr lang="el-GR" dirty="0"/>
          </a:p>
        </p:txBody>
      </p:sp>
      <p:sp>
        <p:nvSpPr>
          <p:cNvPr id="5" name="Slide Number Placeholder 4"/>
          <p:cNvSpPr>
            <a:spLocks noGrp="1"/>
          </p:cNvSpPr>
          <p:nvPr>
            <p:ph type="sldNum" sz="quarter" idx="12"/>
          </p:nvPr>
        </p:nvSpPr>
        <p:spPr/>
        <p:txBody>
          <a:bodyPr/>
          <a:lstStyle/>
          <a:p>
            <a:fld id="{9F9C4326-6C27-4F6D-A14F-6946318585D3}" type="slidenum">
              <a:rPr lang="el-GR" smtClean="0"/>
              <a:pPr/>
              <a:t>‹#›</a:t>
            </a:fld>
            <a:endParaRPr lang="el-GR"/>
          </a:p>
          <a:p>
            <a:r>
              <a:rPr lang="el-GR"/>
              <a:t>Α. Παναγιώτου</a:t>
            </a:r>
            <a:endParaRPr lang="el-GR"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9C175A43-14D2-40E0-BE4A-D414131791CC}" type="datetime1">
              <a:rPr lang="el-GR" smtClean="0"/>
              <a:pPr/>
              <a:t>5/10/2026</a:t>
            </a:fld>
            <a:endParaRPr lang="el-GR" dirty="0"/>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endParaRPr lang="el-GR" dirty="0"/>
          </a:p>
        </p:txBody>
      </p:sp>
      <p:sp>
        <p:nvSpPr>
          <p:cNvPr id="5" name="Slide Number Placeholder 4"/>
          <p:cNvSpPr>
            <a:spLocks noGrp="1"/>
          </p:cNvSpPr>
          <p:nvPr>
            <p:ph type="sldNum" sz="quarter" idx="12"/>
          </p:nvPr>
        </p:nvSpPr>
        <p:spPr/>
        <p:txBody>
          <a:bodyPr/>
          <a:lstStyle/>
          <a:p>
            <a:fld id="{9F9C4326-6C27-4F6D-A14F-6946318585D3}" type="slidenum">
              <a:rPr lang="el-GR" smtClean="0"/>
              <a:pPr/>
              <a:t>‹#›</a:t>
            </a:fld>
            <a:endParaRPr lang="el-GR"/>
          </a:p>
          <a:p>
            <a:r>
              <a:rPr lang="el-GR"/>
              <a:t>Α. Παναγιώτου</a:t>
            </a:r>
            <a:endParaRPr lang="el-G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B6D28C-1FFF-4BA8-8EC7-0153C95EC979}" type="datetime1">
              <a:rPr lang="el-GR" smtClean="0"/>
              <a:pPr/>
              <a:t>5/10/2026</a:t>
            </a:fld>
            <a:endParaRPr lang="el-G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l-GR"/>
              <a:t>ΕΠΑ 304: Εκπαιδευτική Αξιολόγηση – Χειμερινό Εξάμηνο 2013</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A0EA8A-993A-44B3-8A9B-1DA3CD4A7CD6}" type="slidenum">
              <a:rPr lang="el-GR" smtClean="0"/>
              <a:pPr/>
              <a:t>‹#›</a:t>
            </a:fld>
            <a:endParaRPr lang="el-G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91778A-207F-44D4-947D-602BA6EBB835}" type="datetime1">
              <a:rPr lang="el-GR" smtClean="0"/>
              <a:pPr/>
              <a:t>5/10/2026</a:t>
            </a:fld>
            <a:endParaRPr lang="el-G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l-GR"/>
              <a:t>ΕΠΑ 304: Εκπαιδευτική Αξιολόγηση – Χειμερινό Εξάμηνο 2013</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4CCF9D-F6B4-4190-9654-4654D3321FDC}" type="slidenum">
              <a:rPr lang="el-GR" smtClean="0"/>
              <a:pPr/>
              <a:t>‹#›</a:t>
            </a:fld>
            <a:endParaRPr lang="el-G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26AC9EC7-4DAE-4644-AE7F-891074F8480F}" type="datetime1">
              <a:rPr lang="el-GR" smtClean="0"/>
              <a:pPr/>
              <a:t>5/10/2026</a:t>
            </a:fld>
            <a:endParaRPr lang="el-G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l-GR"/>
              <a:t>ΕΠΑ 304: Εκπαιδευτική Αξιολόγηση – Χειμερινό Εξάμηνο 2013</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08A0EA8A-993A-44B3-8A9B-1DA3CD4A7CD6}" type="slidenum">
              <a:rPr lang="el-GR" smtClean="0"/>
              <a:pPr/>
              <a:t>‹#›</a:t>
            </a:fld>
            <a:endParaRPr lang="el-G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672" r:id="rId12"/>
    <p:sldLayoutId id="2147483673" r:id="rId13"/>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l-GR" dirty="0"/>
            </a:br>
            <a:r>
              <a:rPr lang="el-GR" dirty="0"/>
              <a:t>ΠΡΥ 004: Αξιολόγηση του Μαθητή</a:t>
            </a:r>
            <a:br>
              <a:rPr lang="el-GR" dirty="0"/>
            </a:br>
            <a:endParaRPr lang="el-GR" dirty="0"/>
          </a:p>
        </p:txBody>
      </p:sp>
      <p:sp>
        <p:nvSpPr>
          <p:cNvPr id="3" name="Subtitle 2"/>
          <p:cNvSpPr>
            <a:spLocks noGrp="1"/>
          </p:cNvSpPr>
          <p:nvPr>
            <p:ph type="subTitle" idx="1"/>
          </p:nvPr>
        </p:nvSpPr>
        <p:spPr/>
        <p:txBody>
          <a:bodyPr>
            <a:noAutofit/>
          </a:bodyPr>
          <a:lstStyle/>
          <a:p>
            <a:r>
              <a:rPr lang="el-GR" sz="1050" dirty="0"/>
              <a:t> </a:t>
            </a:r>
          </a:p>
        </p:txBody>
      </p:sp>
      <p:sp>
        <p:nvSpPr>
          <p:cNvPr id="5" name="Footer Placeholder 4"/>
          <p:cNvSpPr>
            <a:spLocks noGrp="1"/>
          </p:cNvSpPr>
          <p:nvPr>
            <p:ph type="ftr" sz="quarter" idx="11"/>
          </p:nvPr>
        </p:nvSpPr>
        <p:spPr>
          <a:xfrm>
            <a:off x="3707904" y="6381328"/>
            <a:ext cx="5201744" cy="365760"/>
          </a:xfrm>
        </p:spPr>
        <p:txBody>
          <a:bodyPr/>
          <a:lstStyle/>
          <a:p>
            <a:endParaRPr lang="el-GR" dirty="0"/>
          </a:p>
        </p:txBody>
      </p:sp>
      <p:sp>
        <p:nvSpPr>
          <p:cNvPr id="4" name="Slide Number Placeholder 3"/>
          <p:cNvSpPr>
            <a:spLocks noGrp="1"/>
          </p:cNvSpPr>
          <p:nvPr>
            <p:ph type="sldNum" sz="quarter" idx="12"/>
          </p:nvPr>
        </p:nvSpPr>
        <p:spPr>
          <a:xfrm>
            <a:off x="467544" y="6237312"/>
            <a:ext cx="1967808" cy="483528"/>
          </a:xfrm>
        </p:spPr>
        <p:txBody>
          <a:bodyPr/>
          <a:lstStyle/>
          <a:p>
            <a:r>
              <a:rPr lang="el-GR" dirty="0"/>
              <a:t>1 </a:t>
            </a:r>
          </a:p>
        </p:txBody>
      </p:sp>
      <p:pic>
        <p:nvPicPr>
          <p:cNvPr id="6" name="Picture 2" descr="http://www.ripe.net/lir-services/training/previous-hosts/ucy-logo"/>
          <p:cNvPicPr>
            <a:picLocks noChangeAspect="1" noChangeArrowheads="1"/>
          </p:cNvPicPr>
          <p:nvPr/>
        </p:nvPicPr>
        <p:blipFill>
          <a:blip r:embed="rId3" cstate="print"/>
          <a:srcRect/>
          <a:stretch>
            <a:fillRect/>
          </a:stretch>
        </p:blipFill>
        <p:spPr bwMode="auto">
          <a:xfrm>
            <a:off x="6948264" y="188640"/>
            <a:ext cx="1944216" cy="648072"/>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αρχές ενός δυναμικού μοντέλου διαμορφωτικής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fontScale="92500" lnSpcReduction="10000"/>
          </a:bodyPr>
          <a:lstStyle/>
          <a:p>
            <a:pPr marL="457200" indent="-457200" hangingPunct="0">
              <a:buFont typeface="+mj-lt"/>
              <a:buAutoNum type="arabicPeriod"/>
            </a:pPr>
            <a:r>
              <a:rPr lang="el-GR" sz="2400" b="1" dirty="0"/>
              <a:t>Η αξιολόγηση ως αναπόσπαστο μέρος της διδασκαλίας </a:t>
            </a:r>
          </a:p>
          <a:p>
            <a:pPr marL="457200" lvl="0" indent="-457200" hangingPunct="0">
              <a:buNone/>
            </a:pPr>
            <a:r>
              <a:rPr lang="el-GR" sz="2400" dirty="0"/>
              <a:t>	</a:t>
            </a:r>
            <a:r>
              <a:rPr lang="el-GR" sz="2400" dirty="0">
                <a:sym typeface="Wingdings" pitchFamily="2" charset="2"/>
              </a:rPr>
              <a:t> Λ</a:t>
            </a:r>
            <a:r>
              <a:rPr lang="el-GR" sz="2400" dirty="0"/>
              <a:t>ήψη αποφάσεων για καταρτισμό ή/και αναθεώρηση του προγραμματισμού</a:t>
            </a:r>
            <a:r>
              <a:rPr lang="el-GR" sz="2400" dirty="0">
                <a:sym typeface="Wingdings" pitchFamily="2" charset="2"/>
              </a:rPr>
              <a:t> (στόχων μαθήματος)</a:t>
            </a:r>
            <a:endParaRPr lang="el-GR" sz="2400" dirty="0"/>
          </a:p>
          <a:p>
            <a:pPr marL="457200" lvl="0" indent="-457200" hangingPunct="0">
              <a:buNone/>
            </a:pPr>
            <a:r>
              <a:rPr lang="el-GR" sz="2400" dirty="0"/>
              <a:t> 	</a:t>
            </a:r>
            <a:r>
              <a:rPr lang="el-GR" sz="2400" dirty="0">
                <a:sym typeface="Wingdings" pitchFamily="2" charset="2"/>
              </a:rPr>
              <a:t> Παροχή άμεσης ανατροφοδότησης στους μαθητές. </a:t>
            </a:r>
          </a:p>
          <a:p>
            <a:pPr marL="457200" lvl="0" indent="-457200" hangingPunct="0">
              <a:buNone/>
            </a:pPr>
            <a:endParaRPr lang="el-GR" sz="2400" dirty="0">
              <a:sym typeface="Wingdings" pitchFamily="2" charset="2"/>
            </a:endParaRPr>
          </a:p>
          <a:p>
            <a:pPr marL="457200" lvl="0" indent="-457200" hangingPunct="0">
              <a:buFont typeface="+mj-lt"/>
              <a:buAutoNum type="arabicPeriod" startAt="2"/>
            </a:pPr>
            <a:r>
              <a:rPr lang="el-GR" sz="2400" b="1" dirty="0"/>
              <a:t>Αξιολόγηση των παιδιών με βάση την πορεία που ακολουθούν για να φτάσουν σε ένα αποτέλεσμα και όχι με βάση το αποτέλεσμα που κατέληξαν.</a:t>
            </a:r>
          </a:p>
          <a:p>
            <a:pPr marL="457200" lvl="0" indent="-457200" hangingPunct="0">
              <a:buNone/>
            </a:pPr>
            <a:r>
              <a:rPr lang="el-GR" sz="2400" dirty="0">
                <a:sym typeface="Wingdings" pitchFamily="2" charset="2"/>
              </a:rPr>
              <a:t>	 Ο</a:t>
            </a:r>
            <a:r>
              <a:rPr lang="el-GR" sz="2400" dirty="0"/>
              <a:t> δάσκαλος καλείται να κάνει </a:t>
            </a:r>
            <a:r>
              <a:rPr lang="el-GR" sz="2400" b="1" dirty="0"/>
              <a:t>ανάλυση των λαθών </a:t>
            </a:r>
            <a:r>
              <a:rPr lang="el-GR" sz="2400" dirty="0"/>
              <a:t>που έκανε ο μαθητής, ώστε να εντοπίσει την </a:t>
            </a:r>
            <a:r>
              <a:rPr lang="el-GR" sz="2400" b="1" dirty="0"/>
              <a:t>αιτία</a:t>
            </a:r>
            <a:r>
              <a:rPr lang="el-GR" sz="2400" dirty="0"/>
              <a:t> που οδήγησε το μαθητή σε λάθος αποτέλεσμα.</a:t>
            </a:r>
          </a:p>
          <a:p>
            <a:pPr marL="457200" lvl="0" indent="-457200" hangingPunct="0">
              <a:buNone/>
            </a:pPr>
            <a:r>
              <a:rPr lang="el-GR" sz="2400" dirty="0">
                <a:sym typeface="Wingdings" pitchFamily="2" charset="2"/>
              </a:rPr>
              <a:t>	 Η αρχή αυτή μπορεί να </a:t>
            </a:r>
            <a:r>
              <a:rPr lang="el-GR" sz="2400" dirty="0"/>
              <a:t>συνδεθεί με τη </a:t>
            </a:r>
            <a:r>
              <a:rPr lang="el-GR" sz="2400" b="1" dirty="0"/>
              <a:t>διαδικασία λύσης προβλήματος</a:t>
            </a:r>
            <a:r>
              <a:rPr lang="el-GR" sz="2400" dirty="0"/>
              <a:t> και τις </a:t>
            </a:r>
            <a:r>
              <a:rPr lang="el-GR" sz="2400" b="1" dirty="0"/>
              <a:t>ερωτήσεις διαδικασίας</a:t>
            </a:r>
          </a:p>
          <a:p>
            <a:pPr marL="457200" lvl="0" indent="-457200" hangingPunct="0">
              <a:buFont typeface="+mj-lt"/>
              <a:buAutoNum type="arabicPeriod" startAt="2"/>
            </a:pPr>
            <a:endParaRPr lang="el-GR" sz="2400" dirty="0"/>
          </a:p>
          <a:p>
            <a:pPr marL="457200" indent="-457200" hangingPunct="0">
              <a:buFont typeface="+mj-lt"/>
              <a:buAutoNum type="arabicPeriod" startAt="2"/>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2</a:t>
            </a:fld>
            <a:endParaRPr lang="el-GR"/>
          </a:p>
        </p:txBody>
      </p:sp>
    </p:spTree>
    <p:extLst>
      <p:ext uri="{BB962C8B-B14F-4D97-AF65-F5344CB8AC3E}">
        <p14:creationId xmlns:p14="http://schemas.microsoft.com/office/powerpoint/2010/main" val="2991200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αρχές ενός δυναμικού μοντέλου διαμορφωτικής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lvl="0" indent="-457200" hangingPunct="0">
              <a:buFont typeface="+mj-lt"/>
              <a:buAutoNum type="arabicPeriod" startAt="3"/>
            </a:pPr>
            <a:r>
              <a:rPr lang="el-GR" sz="2400" b="1" dirty="0"/>
              <a:t>Ενεργός συμμετοχή των παιδιών στη διαδικασία της αξιολόγησης</a:t>
            </a:r>
          </a:p>
          <a:p>
            <a:pPr marL="457200" lvl="0" indent="-457200" hangingPunct="0">
              <a:buFont typeface="+mj-lt"/>
              <a:buAutoNum type="arabicPeriod" startAt="3"/>
            </a:pPr>
            <a:endParaRPr lang="el-GR" sz="2400" b="1" dirty="0"/>
          </a:p>
          <a:p>
            <a:pPr marL="457200" lvl="0" indent="-457200" hangingPunct="0">
              <a:buNone/>
            </a:pPr>
            <a:r>
              <a:rPr lang="el-GR" sz="2400" b="1" dirty="0"/>
              <a:t>			</a:t>
            </a:r>
            <a:r>
              <a:rPr lang="el-GR" sz="2400" dirty="0"/>
              <a:t>Ποια νομίζετε ότι είναι η συνεισφορά της 			συμμετοχής των μαθητών στη διαδικασία της 		αξιολόγησης;</a:t>
            </a:r>
          </a:p>
          <a:p>
            <a:pPr marL="457200" lvl="0" indent="-457200" hangingPunct="0">
              <a:buFont typeface="+mj-lt"/>
              <a:buAutoNum type="arabicPeriod" startAt="3"/>
            </a:pPr>
            <a:endParaRPr lang="el-GR" sz="2400" dirty="0"/>
          </a:p>
          <a:p>
            <a:pPr marL="457200" indent="-457200" hangingPunct="0">
              <a:buFont typeface="+mj-lt"/>
              <a:buAutoNum type="arabicPeriod" startAt="3"/>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3</a:t>
            </a:fld>
            <a:endParaRPr lang="el-G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6" y="2780928"/>
            <a:ext cx="1040422" cy="1133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120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αρχές ενός δυναμικού μοντέλου διαμορφωτικής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lnSpcReduction="10000"/>
          </a:bodyPr>
          <a:lstStyle/>
          <a:p>
            <a:pPr marL="457200" lvl="0" indent="-457200" hangingPunct="0">
              <a:buFont typeface="+mj-lt"/>
              <a:buAutoNum type="arabicPeriod" startAt="4"/>
            </a:pPr>
            <a:r>
              <a:rPr lang="el-GR" sz="2400" b="1" dirty="0"/>
              <a:t>Αξιολόγηση της ικανότητας των παιδιών να εφαρμόζουν τις γνώσεις που απέκτησαν σε άγνωστες γι’ αυτά καταστάσεις</a:t>
            </a:r>
          </a:p>
          <a:p>
            <a:pPr marL="457200" lvl="0" indent="-457200" hangingPunct="0">
              <a:buFont typeface="+mj-lt"/>
              <a:buAutoNum type="arabicPeriod" startAt="4"/>
            </a:pPr>
            <a:endParaRPr lang="el-GR" sz="2400" b="1" dirty="0"/>
          </a:p>
          <a:p>
            <a:pPr lvl="0" hangingPunct="0"/>
            <a:r>
              <a:rPr lang="el-GR" sz="2400" dirty="0"/>
              <a:t>Σημαντικός σκοπός της εκπαίδευσης είναι να βοηθήσει τους μαθητές να χρησιμοποιούν τις γνώσεις και δεξιότητες που απέκτησαν στο να διερευνούν </a:t>
            </a:r>
            <a:r>
              <a:rPr lang="el-GR" sz="2400" b="1" dirty="0"/>
              <a:t>άγνωστες γι’ αυτά καταστάσεις</a:t>
            </a:r>
            <a:r>
              <a:rPr lang="el-GR" sz="2400" dirty="0"/>
              <a:t>, καθώς και στο να λύουν ποβλήματα της </a:t>
            </a:r>
            <a:r>
              <a:rPr lang="el-GR" sz="2400" b="1" dirty="0"/>
              <a:t>καθημερινής τους ζωής. </a:t>
            </a:r>
          </a:p>
          <a:p>
            <a:pPr lvl="0" hangingPunct="0"/>
            <a:endParaRPr lang="el-GR" sz="2400" dirty="0"/>
          </a:p>
          <a:p>
            <a:r>
              <a:rPr lang="el-GR" sz="2400" dirty="0"/>
              <a:t>Οι δραστηριότητες αξιολόγησης δεν μπορεί να στηρίζονται σε </a:t>
            </a:r>
            <a:r>
              <a:rPr lang="el-GR" sz="2400" b="1" dirty="0"/>
              <a:t>“επανάληψη” </a:t>
            </a:r>
            <a:r>
              <a:rPr lang="el-GR" sz="2400" dirty="0"/>
              <a:t>δραστηριοτήτων που έχουν γίνει στην τάξη, γιατί έτσι αξιολογείται μόνο η απομνημόνευση. </a:t>
            </a:r>
            <a:endParaRPr lang="el-GR" sz="2400" b="1" dirty="0"/>
          </a:p>
          <a:p>
            <a:pPr marL="457200" lvl="0" indent="-457200" hangingPunct="0">
              <a:buNone/>
            </a:pPr>
            <a:r>
              <a:rPr lang="el-GR" sz="2400" b="1" dirty="0"/>
              <a:t>			</a:t>
            </a:r>
          </a:p>
          <a:p>
            <a:pPr marL="457200" lvl="0" indent="-457200" hangingPunct="0">
              <a:buFont typeface="+mj-lt"/>
              <a:buAutoNum type="arabicPeriod" startAt="3"/>
            </a:pPr>
            <a:endParaRPr lang="el-GR" sz="2400" dirty="0"/>
          </a:p>
          <a:p>
            <a:pPr marL="457200" indent="-457200" hangingPunct="0">
              <a:buFont typeface="+mj-lt"/>
              <a:buAutoNum type="arabicPeriod" startAt="3"/>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4</a:t>
            </a:fld>
            <a:endParaRPr lang="el-GR"/>
          </a:p>
        </p:txBody>
      </p:sp>
    </p:spTree>
    <p:extLst>
      <p:ext uri="{BB962C8B-B14F-4D97-AF65-F5344CB8AC3E}">
        <p14:creationId xmlns:p14="http://schemas.microsoft.com/office/powerpoint/2010/main" val="2991200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αρχές ενός δυναμικού μοντέλου διαμορφωτικής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fontScale="85000" lnSpcReduction="20000"/>
          </a:bodyPr>
          <a:lstStyle/>
          <a:p>
            <a:pPr marL="457200" indent="-457200" hangingPunct="0">
              <a:buFont typeface="+mj-lt"/>
              <a:buAutoNum type="arabicPeriod" startAt="5"/>
            </a:pPr>
            <a:r>
              <a:rPr lang="el-GR" sz="2400" b="1" dirty="0"/>
              <a:t>Η σημασία της αξιολόγησης των στάσεων του μαθητή απέναντι στη μάθηση και τη σχολική εργασία</a:t>
            </a:r>
          </a:p>
          <a:p>
            <a:pPr marL="457200" indent="-457200" hangingPunct="0">
              <a:buFont typeface="+mj-lt"/>
              <a:buAutoNum type="arabicPeriod" startAt="5"/>
            </a:pPr>
            <a:endParaRPr lang="el-GR" sz="2400" b="1" dirty="0"/>
          </a:p>
          <a:p>
            <a:pPr lvl="0" hangingPunct="0"/>
            <a:r>
              <a:rPr lang="el-GR" sz="2400" dirty="0"/>
              <a:t>Στηρίζεται στην </a:t>
            </a:r>
            <a:r>
              <a:rPr lang="el-GR" sz="2400" b="1" i="1" dirty="0"/>
              <a:t>παιδοκεντρική προσέγγιση </a:t>
            </a:r>
            <a:r>
              <a:rPr lang="el-GR" sz="2400" dirty="0"/>
              <a:t>αλλά και στην άποψη πως δεν αρκεί ο μαθητής να αποκτήσει γνώσεις και δεξιότητες σχετικές με μια γνωστική περιοχή (π.χ. Μαθηματικά). </a:t>
            </a:r>
          </a:p>
          <a:p>
            <a:pPr lvl="0" hangingPunct="0"/>
            <a:r>
              <a:rPr lang="el-GR" sz="2400" dirty="0"/>
              <a:t>Μέσω της ανάπτυξης θετικών στάσεων ο μαθητής μπορεί να :</a:t>
            </a:r>
          </a:p>
          <a:p>
            <a:pPr marL="457200" lvl="0" indent="-457200" hangingPunct="0">
              <a:buFont typeface="+mj-lt"/>
              <a:buAutoNum type="arabicPeriod"/>
            </a:pPr>
            <a:r>
              <a:rPr lang="el-GR" sz="2400" dirty="0"/>
              <a:t>Αντιληφθεί τη </a:t>
            </a:r>
            <a:r>
              <a:rPr lang="el-GR" sz="2400" b="1" dirty="0"/>
              <a:t>σημασία της περαιτέρω ενασχόλησής του με την κάθε γνωστική περιοχή</a:t>
            </a:r>
            <a:r>
              <a:rPr lang="el-GR" sz="2400" dirty="0"/>
              <a:t>. </a:t>
            </a:r>
          </a:p>
          <a:p>
            <a:pPr marL="457200" lvl="0" indent="-457200" hangingPunct="0">
              <a:buFont typeface="+mj-lt"/>
              <a:buAutoNum type="arabicPeriod"/>
            </a:pPr>
            <a:r>
              <a:rPr lang="el-GR" sz="2400" dirty="0"/>
              <a:t>Αναπτύξει θετικές στάσεις για τη σχολική εργασία </a:t>
            </a:r>
          </a:p>
          <a:p>
            <a:pPr marL="457200" lvl="0" indent="-457200" hangingPunct="0">
              <a:buFont typeface="+mj-lt"/>
              <a:buAutoNum type="arabicPeriod"/>
            </a:pPr>
            <a:r>
              <a:rPr lang="el-GR" sz="2400" dirty="0"/>
              <a:t>Αποκτά </a:t>
            </a:r>
            <a:r>
              <a:rPr lang="el-GR" sz="2400" b="1" dirty="0"/>
              <a:t>εσωτερικά κίνητρα για μάθηση </a:t>
            </a:r>
            <a:r>
              <a:rPr lang="el-GR" sz="2400" dirty="0"/>
              <a:t>(προσανατολισμός).</a:t>
            </a:r>
          </a:p>
          <a:p>
            <a:pPr lvl="0" hangingPunct="0"/>
            <a:r>
              <a:rPr lang="el-GR" sz="2400" b="1" i="1" dirty="0">
                <a:solidFill>
                  <a:srgbClr val="C00000"/>
                </a:solidFill>
              </a:rPr>
              <a:t>Αξιολόγηση στάσεων των μαθητών μόνο για τη μάθηση;</a:t>
            </a:r>
          </a:p>
          <a:p>
            <a:pPr lvl="0" hangingPunct="0"/>
            <a:r>
              <a:rPr lang="el-GR" sz="2400" dirty="0"/>
              <a:t>Σημαντικός τομέας είναι και η διερεύνηση των στάσεων των μαθητών απέναντι στις διάφορες </a:t>
            </a:r>
            <a:r>
              <a:rPr lang="el-GR" sz="2400" b="1" dirty="0"/>
              <a:t>μεθόδους διδασκαλίας </a:t>
            </a:r>
            <a:r>
              <a:rPr lang="el-GR" sz="2400" dirty="0"/>
              <a:t>που χρησιμοποιεί ο δάσκαλος. Με τον τρόπο αυτό συγκεντρώνονται δεδομένα που βοηθούν το δάσκαλο να διενεργήσει την </a:t>
            </a:r>
            <a:r>
              <a:rPr lang="el-GR" sz="2400" b="1" dirty="0"/>
              <a:t>αυτο-αξιολόγησή του.</a:t>
            </a:r>
          </a:p>
          <a:p>
            <a:pPr marL="457200" indent="-457200" hangingPunct="0">
              <a:buNone/>
            </a:pPr>
            <a:endParaRPr lang="el-GR" sz="2400" dirty="0"/>
          </a:p>
          <a:p>
            <a:pPr marL="457200" lvl="0" indent="-457200" hangingPunct="0">
              <a:buFont typeface="+mj-lt"/>
              <a:buAutoNum type="arabicPeriod" startAt="5"/>
            </a:pPr>
            <a:endParaRPr lang="el-GR" sz="2400" dirty="0"/>
          </a:p>
          <a:p>
            <a:pPr marL="457200" indent="-457200" hangingPunct="0">
              <a:buFont typeface="+mj-lt"/>
              <a:buAutoNum type="arabicPeriod" startAt="5"/>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5</a:t>
            </a:fld>
            <a:endParaRPr lang="el-GR"/>
          </a:p>
        </p:txBody>
      </p:sp>
    </p:spTree>
    <p:extLst>
      <p:ext uri="{BB962C8B-B14F-4D97-AF65-F5344CB8AC3E}">
        <p14:creationId xmlns:p14="http://schemas.microsoft.com/office/powerpoint/2010/main" val="299120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φάσεις της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indent="-457200" hangingPunct="0">
              <a:buFont typeface="+mj-lt"/>
              <a:buAutoNum type="arabicPeriod"/>
            </a:pPr>
            <a:endParaRPr lang="el-GR" sz="2400" dirty="0"/>
          </a:p>
          <a:p>
            <a:pPr marL="457200" indent="-457200" hangingPunct="0">
              <a:buFont typeface="+mj-lt"/>
              <a:buAutoNum type="arabicPeriod"/>
            </a:pPr>
            <a:r>
              <a:rPr lang="el-GR" sz="2400" b="1" dirty="0"/>
              <a:t>Προετοιμασίας </a:t>
            </a:r>
          </a:p>
          <a:p>
            <a:pPr marL="457200" indent="-457200" hangingPunct="0">
              <a:buFont typeface="+mj-lt"/>
              <a:buAutoNum type="arabicPeriod"/>
            </a:pPr>
            <a:r>
              <a:rPr lang="el-GR" sz="2400" b="1" dirty="0"/>
              <a:t>Σχεδιασμού/ Προγραμματισμού</a:t>
            </a:r>
          </a:p>
          <a:p>
            <a:pPr marL="457200" indent="-457200" hangingPunct="0">
              <a:buFont typeface="+mj-lt"/>
              <a:buAutoNum type="arabicPeriod"/>
            </a:pPr>
            <a:r>
              <a:rPr lang="el-GR" sz="2400" b="1" dirty="0"/>
              <a:t>Υλοποίησης</a:t>
            </a:r>
          </a:p>
          <a:p>
            <a:pPr marL="457200" indent="-457200" hangingPunct="0">
              <a:buFont typeface="+mj-lt"/>
              <a:buAutoNum type="arabicPeriod"/>
            </a:pPr>
            <a:r>
              <a:rPr lang="el-GR" sz="2400" b="1" dirty="0"/>
              <a:t>Αξιοποίηση αποτελεσμάτων &amp; Μετα-αξιολόγηση</a:t>
            </a:r>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6</a:t>
            </a:fld>
            <a:endParaRPr lang="el-GR"/>
          </a:p>
        </p:txBody>
      </p:sp>
    </p:spTree>
    <p:extLst>
      <p:ext uri="{BB962C8B-B14F-4D97-AF65-F5344CB8AC3E}">
        <p14:creationId xmlns:p14="http://schemas.microsoft.com/office/powerpoint/2010/main" val="2991200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τεχνικές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indent="-457200" hangingPunct="0"/>
            <a:r>
              <a:rPr lang="el-GR" sz="2400" dirty="0"/>
              <a:t>Μετά τον προσδιορισμό του </a:t>
            </a:r>
            <a:r>
              <a:rPr lang="el-GR" sz="2400" b="1" dirty="0"/>
              <a:t>σκοπού της αξιολόγησης </a:t>
            </a:r>
            <a:r>
              <a:rPr lang="el-GR" sz="2400" dirty="0"/>
              <a:t>καθώς και της </a:t>
            </a:r>
            <a:r>
              <a:rPr lang="el-GR" sz="2400" b="1" dirty="0"/>
              <a:t>ύλης</a:t>
            </a:r>
            <a:r>
              <a:rPr lang="el-GR" sz="2400" dirty="0"/>
              <a:t> στην οποία αναφέρεται μια ορισμένη αξιολόγηση, ακολουθεί η επιλογή των </a:t>
            </a:r>
            <a:r>
              <a:rPr lang="el-GR" sz="2400" b="1" i="1" dirty="0">
                <a:solidFill>
                  <a:srgbClr val="0070C0"/>
                </a:solidFill>
              </a:rPr>
              <a:t>τεχνικών αξιολόγησης </a:t>
            </a:r>
            <a:r>
              <a:rPr lang="el-GR" sz="2400" dirty="0"/>
              <a:t>καθώς και η επιλογή του </a:t>
            </a:r>
            <a:r>
              <a:rPr lang="el-GR" sz="2400" b="1" i="1" dirty="0">
                <a:solidFill>
                  <a:srgbClr val="0070C0"/>
                </a:solidFill>
              </a:rPr>
              <a:t>τύπου δραστηριοτήτων</a:t>
            </a:r>
            <a:r>
              <a:rPr lang="el-GR" sz="2400" dirty="0"/>
              <a:t> </a:t>
            </a:r>
            <a:r>
              <a:rPr lang="el-GR" sz="2400" b="1" i="1" dirty="0">
                <a:solidFill>
                  <a:srgbClr val="0070C0"/>
                </a:solidFill>
              </a:rPr>
              <a:t>- ερωτήσεων </a:t>
            </a:r>
            <a:r>
              <a:rPr lang="el-GR" sz="2400" dirty="0"/>
              <a:t>που θα κληθούν να εκτελέσουν - απαντήσουν οι μαθητές.</a:t>
            </a:r>
          </a:p>
          <a:p>
            <a:pPr marL="457200" indent="-457200" hangingPunct="0"/>
            <a:endParaRPr lang="el-GR" sz="2400" dirty="0"/>
          </a:p>
          <a:p>
            <a:pPr marL="457200" lvl="0" indent="-457200" hangingPunct="0">
              <a:buFont typeface="+mj-lt"/>
              <a:buAutoNum type="arabicPeriod" startAt="5"/>
            </a:pPr>
            <a:endParaRPr lang="el-GR" sz="2400" dirty="0"/>
          </a:p>
          <a:p>
            <a:pPr marL="457200" indent="-457200" hangingPunct="0">
              <a:buFont typeface="+mj-lt"/>
              <a:buAutoNum type="arabicPeriod" startAt="5"/>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7</a:t>
            </a:fld>
            <a:endParaRPr lang="el-GR"/>
          </a:p>
        </p:txBody>
      </p:sp>
    </p:spTree>
    <p:extLst>
      <p:ext uri="{BB962C8B-B14F-4D97-AF65-F5344CB8AC3E}">
        <p14:creationId xmlns:p14="http://schemas.microsoft.com/office/powerpoint/2010/main" val="2991200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τεχνικές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indent="-457200" hangingPunct="0">
              <a:buNone/>
            </a:pPr>
            <a:endParaRPr lang="el-GR" sz="2400" dirty="0"/>
          </a:p>
          <a:p>
            <a:pPr marL="457200" indent="-457200" hangingPunct="0">
              <a:buNone/>
            </a:pPr>
            <a:endParaRPr lang="el-GR" sz="2400" dirty="0"/>
          </a:p>
          <a:p>
            <a:pPr marL="457200" indent="-457200" hangingPunct="0">
              <a:buNone/>
            </a:pPr>
            <a:endParaRPr lang="el-GR" sz="2400" dirty="0"/>
          </a:p>
          <a:p>
            <a:pPr marL="1005840" lvl="2" indent="-457200" hangingPunct="0">
              <a:buNone/>
            </a:pPr>
            <a:r>
              <a:rPr lang="el-GR" sz="2400" dirty="0"/>
              <a:t>	Ποια κριτήρια νομίζετε ότι θα πρέπει να λάβει υπόψη του ένας εκπαιδευτικός για την επιλογή της τεχνικής αξιολόγησης; </a:t>
            </a:r>
          </a:p>
          <a:p>
            <a:pPr marL="457200" lvl="0" indent="-457200" hangingPunct="0">
              <a:buFont typeface="+mj-lt"/>
              <a:buAutoNum type="arabicPeriod" startAt="5"/>
            </a:pPr>
            <a:endParaRPr lang="el-GR" sz="2400" dirty="0"/>
          </a:p>
          <a:p>
            <a:pPr marL="457200" indent="-457200" hangingPunct="0">
              <a:buFont typeface="+mj-lt"/>
              <a:buAutoNum type="arabicPeriod" startAt="5"/>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8</a:t>
            </a:fld>
            <a:endParaRPr lang="el-GR"/>
          </a:p>
        </p:txBody>
      </p:sp>
      <p:pic>
        <p:nvPicPr>
          <p:cNvPr id="6" name="Picture 4" descr="http://cliparts101.com/files/430/F042CF53366808662D152AAC9CC72D74/Boy_Thinking_1.png"/>
          <p:cNvPicPr>
            <a:picLocks noChangeAspect="1" noChangeArrowheads="1"/>
          </p:cNvPicPr>
          <p:nvPr/>
        </p:nvPicPr>
        <p:blipFill>
          <a:blip r:embed="rId2" cstate="print"/>
          <a:srcRect/>
          <a:stretch>
            <a:fillRect/>
          </a:stretch>
        </p:blipFill>
        <p:spPr bwMode="auto">
          <a:xfrm>
            <a:off x="395536" y="2132856"/>
            <a:ext cx="1224136" cy="1224136"/>
          </a:xfrm>
          <a:prstGeom prst="rect">
            <a:avLst/>
          </a:prstGeom>
          <a:noFill/>
        </p:spPr>
      </p:pic>
    </p:spTree>
    <p:extLst>
      <p:ext uri="{BB962C8B-B14F-4D97-AF65-F5344CB8AC3E}">
        <p14:creationId xmlns:p14="http://schemas.microsoft.com/office/powerpoint/2010/main" val="2991200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τεχνικές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lvl="2" indent="-457200" hangingPunct="0">
              <a:spcBef>
                <a:spcPts val="600"/>
              </a:spcBef>
              <a:buClr>
                <a:schemeClr val="accent1"/>
              </a:buClr>
              <a:buNone/>
            </a:pPr>
            <a:r>
              <a:rPr lang="el-GR" sz="2400" dirty="0"/>
              <a:t>Για την επιλογή της κατάλληλης τεχνικής αξιολόγησης είναι σημαντικό να λαμβάνονται υπόψη:</a:t>
            </a:r>
          </a:p>
          <a:p>
            <a:pPr marL="457200" lvl="2" indent="-457200" hangingPunct="0">
              <a:spcBef>
                <a:spcPts val="600"/>
              </a:spcBef>
              <a:buClr>
                <a:schemeClr val="accent1"/>
              </a:buClr>
              <a:buNone/>
            </a:pPr>
            <a:endParaRPr lang="el-GR" sz="2400" dirty="0"/>
          </a:p>
          <a:p>
            <a:pPr marL="457200" indent="-457200" hangingPunct="0"/>
            <a:r>
              <a:rPr lang="el-GR" sz="2400" dirty="0"/>
              <a:t>Η </a:t>
            </a:r>
            <a:r>
              <a:rPr lang="el-GR" sz="2400" b="1" dirty="0"/>
              <a:t>ύλη</a:t>
            </a:r>
            <a:r>
              <a:rPr lang="el-GR" sz="2400" dirty="0"/>
              <a:t> στην οποία αναφέρεται η αξιολόγηση</a:t>
            </a:r>
          </a:p>
          <a:p>
            <a:pPr marL="457200" indent="-457200" hangingPunct="0"/>
            <a:r>
              <a:rPr lang="el-GR" sz="2400" dirty="0"/>
              <a:t> Οι </a:t>
            </a:r>
            <a:r>
              <a:rPr lang="el-GR" sz="2400" b="1" dirty="0"/>
              <a:t>σκοποί και οι στόχοι </a:t>
            </a:r>
            <a:r>
              <a:rPr lang="el-GR" sz="2400" dirty="0"/>
              <a:t>που επιδιώκει να εξετάσει με την αξιολόγηση που θα διενεργήσει </a:t>
            </a:r>
          </a:p>
          <a:p>
            <a:pPr marL="457200" indent="-457200" hangingPunct="0"/>
            <a:r>
              <a:rPr lang="el-GR" sz="2400" dirty="0"/>
              <a:t>Οι </a:t>
            </a:r>
            <a:r>
              <a:rPr lang="el-GR" sz="2400" b="1" dirty="0"/>
              <a:t>πνευματικές ικανότητες </a:t>
            </a:r>
            <a:r>
              <a:rPr lang="el-GR" sz="2400" dirty="0"/>
              <a:t>και η </a:t>
            </a:r>
            <a:r>
              <a:rPr lang="el-GR" sz="2400" b="1" dirty="0"/>
              <a:t>ψυχολογία</a:t>
            </a:r>
            <a:r>
              <a:rPr lang="el-GR" sz="2400" dirty="0"/>
              <a:t> των ατόμων που θα αξιολογηθούν.</a:t>
            </a:r>
          </a:p>
          <a:p>
            <a:pPr marL="457200" indent="-457200" hangingPunct="0">
              <a:buFont typeface="+mj-lt"/>
              <a:buAutoNum type="arabicPeriod" startAt="5"/>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9</a:t>
            </a:fld>
            <a:endParaRPr lang="el-GR"/>
          </a:p>
        </p:txBody>
      </p:sp>
    </p:spTree>
    <p:extLst>
      <p:ext uri="{BB962C8B-B14F-4D97-AF65-F5344CB8AC3E}">
        <p14:creationId xmlns:p14="http://schemas.microsoft.com/office/powerpoint/2010/main" val="2991200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l-GR" sz="4000" b="1" dirty="0">
                <a:solidFill>
                  <a:schemeClr val="tx1">
                    <a:lumMod val="75000"/>
                    <a:lumOff val="25000"/>
                  </a:schemeClr>
                </a:solidFill>
              </a:rPr>
              <a:t>Τεχνικές αξιολόγησης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04800" y="1524000"/>
            <a:ext cx="8229600" cy="4525963"/>
          </a:xfrm>
        </p:spPr>
        <p:txBody>
          <a:bodyPr>
            <a:normAutofit fontScale="92500"/>
          </a:bodyPr>
          <a:lstStyle/>
          <a:p>
            <a:pPr marL="0" lvl="0" indent="0" hangingPunct="0">
              <a:buNone/>
            </a:pPr>
            <a:r>
              <a:rPr lang="el-GR" sz="2800" dirty="0"/>
              <a:t>Οι τεχνικές αξιολόγησης μπορούν να ταξινομηθούν με </a:t>
            </a:r>
            <a:r>
              <a:rPr lang="el-GR" sz="2800" b="1" dirty="0"/>
              <a:t>βάση τη δραστηριότητα του αξιολογούμενου </a:t>
            </a:r>
            <a:r>
              <a:rPr lang="el-GR" sz="2800" dirty="0"/>
              <a:t>σε: </a:t>
            </a:r>
          </a:p>
          <a:p>
            <a:pPr lvl="0" hangingPunct="0"/>
            <a:endParaRPr lang="en-US" sz="2800" dirty="0"/>
          </a:p>
          <a:p>
            <a:pPr lvl="0" hangingPunct="0">
              <a:buFont typeface="Wingdings" pitchFamily="2" charset="2"/>
              <a:buChar char="Ø"/>
            </a:pPr>
            <a:r>
              <a:rPr lang="el-GR" sz="2800" dirty="0"/>
              <a:t>Γραπτές</a:t>
            </a:r>
            <a:endParaRPr lang="en-US" sz="2800" dirty="0"/>
          </a:p>
          <a:p>
            <a:pPr lvl="0" hangingPunct="0">
              <a:buFont typeface="Wingdings" pitchFamily="2" charset="2"/>
              <a:buChar char="Ø"/>
            </a:pPr>
            <a:r>
              <a:rPr lang="el-GR" sz="2800" dirty="0"/>
              <a:t>Προφορικές</a:t>
            </a:r>
            <a:endParaRPr lang="en-US" sz="2800" dirty="0"/>
          </a:p>
          <a:p>
            <a:pPr>
              <a:buFont typeface="Wingdings" pitchFamily="2" charset="2"/>
              <a:buChar char="Ø"/>
            </a:pPr>
            <a:r>
              <a:rPr lang="el-GR" sz="2800" dirty="0"/>
              <a:t>Εκτέλεσης δραστηριοτήτων (</a:t>
            </a:r>
            <a:r>
              <a:rPr lang="el-GR" sz="2800" dirty="0" err="1"/>
              <a:t>Pe</a:t>
            </a:r>
            <a:r>
              <a:rPr lang="en-US" sz="2800" dirty="0" err="1"/>
              <a:t>rformance</a:t>
            </a:r>
            <a:r>
              <a:rPr lang="en-US" sz="2800" dirty="0"/>
              <a:t> Assessment</a:t>
            </a:r>
            <a:r>
              <a:rPr lang="el-GR" sz="2800" dirty="0"/>
              <a:t>).</a:t>
            </a:r>
          </a:p>
          <a:p>
            <a:pPr>
              <a:buFont typeface="Wingdings" pitchFamily="2" charset="2"/>
              <a:buChar char="Ø"/>
            </a:pPr>
            <a:endParaRPr lang="el-GR" sz="2800" dirty="0"/>
          </a:p>
          <a:p>
            <a:pPr lvl="0">
              <a:buFont typeface="Wingdings" pitchFamily="2" charset="2"/>
              <a:buChar char="Ø"/>
            </a:pPr>
            <a:r>
              <a:rPr lang="el-GR" sz="2800" dirty="0"/>
              <a:t>Ένα άλλο κριτήριο ταξινόμησης των τεχνικών αξιολόγησης σχετίζεται με το αν διενεργείται </a:t>
            </a:r>
            <a:r>
              <a:rPr lang="el-GR" sz="2800" b="1" dirty="0"/>
              <a:t>ετεροαξιολόγηση ή αυτοαξιολόγηση</a:t>
            </a:r>
            <a:r>
              <a:rPr lang="el-GR" sz="2800" dirty="0"/>
              <a:t> του μαθητή. </a:t>
            </a:r>
          </a:p>
          <a:p>
            <a:pPr>
              <a:buFont typeface="Wingdings" pitchFamily="2" charset="2"/>
              <a:buChar char="Ø"/>
            </a:pPr>
            <a:endParaRPr lang="en-US" sz="2800" dirty="0"/>
          </a:p>
        </p:txBody>
      </p:sp>
    </p:spTree>
    <p:extLst>
      <p:ext uri="{BB962C8B-B14F-4D97-AF65-F5344CB8AC3E}">
        <p14:creationId xmlns:p14="http://schemas.microsoft.com/office/powerpoint/2010/main" val="83119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l-GR" b="1" dirty="0">
                <a:solidFill>
                  <a:schemeClr val="tx1">
                    <a:lumMod val="75000"/>
                    <a:lumOff val="25000"/>
                  </a:schemeClr>
                </a:solidFill>
              </a:rPr>
              <a:t>Κριτήρια διάκρισης των τεχνικών αξιολόγησης</a:t>
            </a:r>
            <a:endParaRPr lang="en-US" b="1" dirty="0">
              <a:solidFill>
                <a:schemeClr val="tx1">
                  <a:lumMod val="75000"/>
                  <a:lumOff val="25000"/>
                </a:schemeClr>
              </a:solidFill>
            </a:endParaRPr>
          </a:p>
        </p:txBody>
      </p:sp>
      <p:sp>
        <p:nvSpPr>
          <p:cNvPr id="3" name="Content Placeholder 2"/>
          <p:cNvSpPr>
            <a:spLocks noGrp="1"/>
          </p:cNvSpPr>
          <p:nvPr>
            <p:ph idx="1"/>
          </p:nvPr>
        </p:nvSpPr>
        <p:spPr/>
        <p:txBody>
          <a:bodyPr>
            <a:normAutofit fontScale="92500"/>
          </a:bodyPr>
          <a:lstStyle/>
          <a:p>
            <a:pPr hangingPunct="0">
              <a:buNone/>
            </a:pPr>
            <a:r>
              <a:rPr lang="el-GR" sz="2800" dirty="0"/>
              <a:t>1) Ο </a:t>
            </a:r>
            <a:r>
              <a:rPr lang="el-GR" sz="2800" b="1" dirty="0"/>
              <a:t>αριθμός των εξεταζομένων</a:t>
            </a:r>
            <a:r>
              <a:rPr lang="el-GR" sz="2800" dirty="0"/>
              <a:t> (ομαδική / ατομική αξιολόγηση).</a:t>
            </a:r>
          </a:p>
          <a:p>
            <a:pPr hangingPunct="0"/>
            <a:endParaRPr lang="en-US" sz="2800" dirty="0"/>
          </a:p>
          <a:p>
            <a:pPr hangingPunct="0">
              <a:buNone/>
            </a:pPr>
            <a:r>
              <a:rPr lang="el-GR" sz="2800" dirty="0"/>
              <a:t>2) Η </a:t>
            </a:r>
            <a:r>
              <a:rPr lang="el-GR" sz="2800" b="1" dirty="0"/>
              <a:t>δομή των ερωτήσεων</a:t>
            </a:r>
            <a:r>
              <a:rPr lang="el-GR" sz="2800" dirty="0"/>
              <a:t> </a:t>
            </a:r>
          </a:p>
          <a:p>
            <a:pPr hangingPunct="0">
              <a:buFont typeface="Wingdings" pitchFamily="2" charset="2"/>
              <a:buChar char="Ø"/>
            </a:pPr>
            <a:r>
              <a:rPr lang="el-GR" sz="2800" dirty="0"/>
              <a:t>γραπτές ή προφορικές ή εκτέλεσης δραστηριοτήτων</a:t>
            </a:r>
          </a:p>
          <a:p>
            <a:pPr hangingPunct="0">
              <a:buFont typeface="Wingdings" pitchFamily="2" charset="2"/>
              <a:buChar char="Ø"/>
            </a:pPr>
            <a:r>
              <a:rPr lang="el-GR" sz="2800" dirty="0"/>
              <a:t>αναμένεται ένας συγκεκριμένος τρόπος αντίδρασης - απάντησης (π.χ. ερωτήσεις δεδομένης απάντησης ή “αντικειμενικού” τύπου) ή σε ερωτήσεις ανοιχτού τύπου.</a:t>
            </a:r>
          </a:p>
          <a:p>
            <a:pPr hangingPunct="0">
              <a:buFont typeface="Wingdings" pitchFamily="2" charset="2"/>
              <a:buChar char="Ø"/>
            </a:pPr>
            <a:endParaRPr lang="en-US" sz="2800" dirty="0"/>
          </a:p>
          <a:p>
            <a:pPr hangingPunct="0">
              <a:buNone/>
            </a:pPr>
            <a:r>
              <a:rPr lang="el-GR" sz="2800" dirty="0"/>
              <a:t>3) Η </a:t>
            </a:r>
            <a:r>
              <a:rPr lang="el-GR" sz="2800" b="1" dirty="0"/>
              <a:t>διαχρονική τους τοποθέτηση</a:t>
            </a:r>
            <a:r>
              <a:rPr lang="el-GR" sz="2800" dirty="0"/>
              <a:t> </a:t>
            </a:r>
            <a:r>
              <a:rPr lang="el-GR" dirty="0"/>
              <a:t>(παραδοσιακές/ σύγχρονες τεχνικές)    </a:t>
            </a:r>
            <a:endParaRPr lang="en-US" dirty="0"/>
          </a:p>
          <a:p>
            <a:endParaRPr lang="en-US" dirty="0"/>
          </a:p>
        </p:txBody>
      </p:sp>
    </p:spTree>
    <p:extLst>
      <p:ext uri="{BB962C8B-B14F-4D97-AF65-F5344CB8AC3E}">
        <p14:creationId xmlns:p14="http://schemas.microsoft.com/office/powerpoint/2010/main" val="1493139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552" y="2132856"/>
            <a:ext cx="8229600" cy="990600"/>
          </a:xfrm>
        </p:spPr>
        <p:txBody>
          <a:bodyPr>
            <a:normAutofit/>
          </a:bodyPr>
          <a:lstStyle/>
          <a:p>
            <a:pPr algn="ctr"/>
            <a:r>
              <a:rPr lang="el-GR" sz="3600" b="1" dirty="0"/>
              <a:t>Γραπτή Αξιολόγηση</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534400" cy="715963"/>
          </a:xfrm>
        </p:spPr>
        <p:txBody>
          <a:bodyPr rtlCol="0">
            <a:noAutofit/>
          </a:bodyPr>
          <a:lstStyle/>
          <a:p>
            <a:pPr eaLnBrk="1" fontAlgn="auto" hangingPunct="1">
              <a:spcAft>
                <a:spcPts val="0"/>
              </a:spcAft>
              <a:defRPr/>
            </a:pPr>
            <a:r>
              <a:rPr lang="el-GR" b="1" dirty="0">
                <a:solidFill>
                  <a:schemeClr val="tx1">
                    <a:lumMod val="75000"/>
                    <a:lumOff val="25000"/>
                  </a:schemeClr>
                </a:solidFill>
              </a:rPr>
              <a:t>Γραπτή αξιολόγηση - </a:t>
            </a:r>
            <a:r>
              <a:rPr lang="el-GR" b="1" i="1" dirty="0">
                <a:solidFill>
                  <a:srgbClr val="0070C0"/>
                </a:solidFill>
              </a:rPr>
              <a:t>Πλεονεκτήματα</a:t>
            </a:r>
          </a:p>
        </p:txBody>
      </p:sp>
      <p:sp>
        <p:nvSpPr>
          <p:cNvPr id="3" name="Content Placeholder 2"/>
          <p:cNvSpPr>
            <a:spLocks noGrp="1"/>
          </p:cNvSpPr>
          <p:nvPr>
            <p:ph idx="1"/>
          </p:nvPr>
        </p:nvSpPr>
        <p:spPr>
          <a:xfrm>
            <a:off x="457200" y="1066800"/>
            <a:ext cx="8534400" cy="5410200"/>
          </a:xfrm>
        </p:spPr>
        <p:txBody>
          <a:bodyPr rtlCol="0">
            <a:normAutofit/>
          </a:bodyPr>
          <a:lstStyle/>
          <a:p>
            <a:pPr>
              <a:buFont typeface="Arial" charset="0"/>
              <a:buChar char="•"/>
              <a:defRPr/>
            </a:pPr>
            <a:endParaRPr lang="el-GR" sz="2600" b="1" dirty="0"/>
          </a:p>
          <a:p>
            <a:pPr>
              <a:buFont typeface="Arial" charset="0"/>
              <a:buChar char="•"/>
              <a:defRPr/>
            </a:pPr>
            <a:r>
              <a:rPr lang="el-GR" sz="2600" b="1" dirty="0"/>
              <a:t>Χρόνος </a:t>
            </a:r>
            <a:r>
              <a:rPr lang="el-GR" sz="2600" dirty="0"/>
              <a:t>οργάνωσης σκέψης και απάντησης</a:t>
            </a:r>
            <a:endParaRPr lang="en-US" sz="2600" dirty="0"/>
          </a:p>
          <a:p>
            <a:pPr>
              <a:buFont typeface="Arial" charset="0"/>
              <a:buChar char="•"/>
              <a:defRPr/>
            </a:pPr>
            <a:r>
              <a:rPr lang="el-GR" sz="2600" dirty="0"/>
              <a:t>Μετριάζεται ο </a:t>
            </a:r>
            <a:r>
              <a:rPr lang="el-GR" sz="2600" b="1" dirty="0"/>
              <a:t>ψυχολογικός παράγοντας </a:t>
            </a:r>
            <a:r>
              <a:rPr lang="el-GR" sz="2600" dirty="0"/>
              <a:t>(εξεταστικό άγχος), που επηρεάζει την αξιοπιστία των αποτελεσμάτων της αξιολόγησης.</a:t>
            </a:r>
            <a:endParaRPr lang="en-US" sz="2600" dirty="0"/>
          </a:p>
          <a:p>
            <a:pPr>
              <a:buFont typeface="Arial" charset="0"/>
              <a:buChar char="•"/>
              <a:defRPr/>
            </a:pPr>
            <a:r>
              <a:rPr lang="el-GR" sz="2600" dirty="0"/>
              <a:t>Δυνατότητα </a:t>
            </a:r>
            <a:r>
              <a:rPr lang="el-GR" sz="2600" b="1" dirty="0"/>
              <a:t>αυτοσυγκέντρωσης</a:t>
            </a:r>
            <a:r>
              <a:rPr lang="el-GR" sz="2600" dirty="0"/>
              <a:t>, χωρίς ο μαθητής να επηρεάζεται από την παρουσία και τις γνώμες άλλων ατόμων (π.χ. συμμαθητών).</a:t>
            </a:r>
            <a:endParaRPr lang="en-US" sz="2600" dirty="0"/>
          </a:p>
          <a:p>
            <a:pPr>
              <a:buFont typeface="Arial" charset="0"/>
              <a:buChar char="•"/>
              <a:defRPr/>
            </a:pPr>
            <a:r>
              <a:rPr lang="el-GR" sz="2600" b="1" dirty="0"/>
              <a:t>Έλεγχος </a:t>
            </a:r>
            <a:r>
              <a:rPr lang="el-GR" sz="2600" dirty="0"/>
              <a:t>απαντήσεων</a:t>
            </a:r>
            <a:endParaRPr lang="en-US" sz="2600" dirty="0"/>
          </a:p>
          <a:p>
            <a:pPr>
              <a:buFont typeface="Arial" charset="0"/>
              <a:buChar char="•"/>
              <a:defRPr/>
            </a:pPr>
            <a:r>
              <a:rPr lang="el-GR" sz="2600" dirty="0"/>
              <a:t>Οι μαθητές που έχουν </a:t>
            </a:r>
            <a:r>
              <a:rPr lang="el-GR" sz="2600" b="1" dirty="0"/>
              <a:t>αδυναμίες στον προφορικό λόγο </a:t>
            </a:r>
            <a:r>
              <a:rPr lang="el-GR" sz="2600" dirty="0"/>
              <a:t>διευκολύνονται με τη γραπτή αξιολόγηση</a:t>
            </a:r>
            <a:r>
              <a:rPr lang="el-GR" sz="2400" dirty="0"/>
              <a:t>. </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534400" cy="5410200"/>
          </a:xfrm>
        </p:spPr>
        <p:txBody>
          <a:bodyPr rtlCol="0">
            <a:normAutofit/>
          </a:bodyPr>
          <a:lstStyle/>
          <a:p>
            <a:pPr>
              <a:buFont typeface="Arial" charset="0"/>
              <a:buChar char="•"/>
              <a:defRPr/>
            </a:pPr>
            <a:endParaRPr lang="el-GR" sz="2800" dirty="0"/>
          </a:p>
          <a:p>
            <a:pPr>
              <a:buFont typeface="Arial" charset="0"/>
              <a:buChar char="•"/>
              <a:defRPr/>
            </a:pPr>
            <a:r>
              <a:rPr lang="el-GR" sz="2800" dirty="0"/>
              <a:t>Ευκολία στην </a:t>
            </a:r>
            <a:r>
              <a:rPr lang="el-GR" sz="2800" b="1" dirty="0"/>
              <a:t>τήρηση αποτελεσμάτων. </a:t>
            </a:r>
          </a:p>
          <a:p>
            <a:pPr>
              <a:buFont typeface="Arial" charset="0"/>
              <a:buChar char="•"/>
              <a:defRPr/>
            </a:pPr>
            <a:endParaRPr lang="en-US" sz="2800" dirty="0"/>
          </a:p>
          <a:p>
            <a:pPr>
              <a:buFont typeface="Arial" charset="0"/>
              <a:buChar char="•"/>
              <a:defRPr/>
            </a:pPr>
            <a:r>
              <a:rPr lang="el-GR" sz="2800" dirty="0"/>
              <a:t>Δεξιότητες </a:t>
            </a:r>
            <a:r>
              <a:rPr lang="el-GR" sz="2800" b="1" dirty="0"/>
              <a:t>γραπτής παρουσίασης ενός θέματος</a:t>
            </a:r>
            <a:r>
              <a:rPr lang="el-GR" sz="2800" dirty="0"/>
              <a:t>. </a:t>
            </a:r>
          </a:p>
          <a:p>
            <a:pPr>
              <a:buFont typeface="Arial" charset="0"/>
              <a:buChar char="•"/>
              <a:defRPr/>
            </a:pPr>
            <a:endParaRPr lang="en-US" sz="2800" dirty="0"/>
          </a:p>
          <a:p>
            <a:pPr>
              <a:buFont typeface="Arial" charset="0"/>
              <a:buChar char="•"/>
              <a:defRPr/>
            </a:pPr>
            <a:r>
              <a:rPr lang="el-GR" sz="2800" b="1" dirty="0"/>
              <a:t>Οικονομία χρόνου </a:t>
            </a:r>
            <a:r>
              <a:rPr lang="el-GR" sz="2800" dirty="0"/>
              <a:t>σε σχέση με την προφορική αξιολόγηση</a:t>
            </a:r>
            <a:endParaRPr lang="en-US" sz="2800" dirty="0"/>
          </a:p>
          <a:p>
            <a:pPr>
              <a:buFont typeface="Arial" charset="0"/>
              <a:buChar char="•"/>
              <a:defRPr/>
            </a:pPr>
            <a:endParaRPr lang="en-US" sz="2600" dirty="0"/>
          </a:p>
        </p:txBody>
      </p:sp>
      <p:sp>
        <p:nvSpPr>
          <p:cNvPr id="4" name="Title 1"/>
          <p:cNvSpPr txBox="1">
            <a:spLocks/>
          </p:cNvSpPr>
          <p:nvPr/>
        </p:nvSpPr>
        <p:spPr>
          <a:xfrm>
            <a:off x="304800" y="304800"/>
            <a:ext cx="8534400" cy="715963"/>
          </a:xfrm>
          <a:prstGeom prst="rect">
            <a:avLst/>
          </a:prstGeom>
        </p:spPr>
        <p:txBody>
          <a:bodyPr vert="horz" rtlCol="0" anchor="b"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l-GR" sz="3200" b="1" i="0" u="none" strike="noStrike" kern="1200" cap="none" spc="0" normalizeH="0" baseline="0" noProof="0">
                <a:ln>
                  <a:noFill/>
                </a:ln>
                <a:solidFill>
                  <a:schemeClr val="tx1">
                    <a:lumMod val="75000"/>
                    <a:lumOff val="25000"/>
                  </a:schemeClr>
                </a:solidFill>
                <a:effectLst/>
                <a:uLnTx/>
                <a:uFillTx/>
                <a:latin typeface="+mj-lt"/>
                <a:ea typeface="+mj-ea"/>
                <a:cs typeface="+mj-cs"/>
              </a:rPr>
              <a:t>Γραπτή αξιολόγηση - </a:t>
            </a:r>
            <a:r>
              <a:rPr kumimoji="0" lang="el-GR" sz="3200" b="1" i="1" u="none" strike="noStrike" kern="1200" cap="none" spc="0" normalizeH="0" baseline="0" noProof="0">
                <a:ln>
                  <a:noFill/>
                </a:ln>
                <a:solidFill>
                  <a:srgbClr val="0070C0"/>
                </a:solidFill>
                <a:effectLst/>
                <a:uLnTx/>
                <a:uFillTx/>
                <a:latin typeface="+mj-lt"/>
                <a:ea typeface="+mj-ea"/>
                <a:cs typeface="+mj-cs"/>
              </a:rPr>
              <a:t>Πλεονεκτήματα</a:t>
            </a:r>
            <a:endParaRPr kumimoji="0" lang="el-GR" sz="3200" b="1" i="1" u="none" strike="noStrike" kern="1200" cap="none" spc="0" normalizeH="0" baseline="0" noProof="0" dirty="0">
              <a:ln>
                <a:noFill/>
              </a:ln>
              <a:solidFill>
                <a:srgbClr val="0070C0"/>
              </a:solidFill>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534400" cy="5410200"/>
          </a:xfrm>
        </p:spPr>
        <p:txBody>
          <a:bodyPr rtlCol="0">
            <a:normAutofit/>
          </a:bodyPr>
          <a:lstStyle/>
          <a:p>
            <a:pPr>
              <a:buFont typeface="Arial" charset="0"/>
              <a:buChar char="•"/>
              <a:defRPr/>
            </a:pPr>
            <a:endParaRPr lang="el-GR" dirty="0"/>
          </a:p>
          <a:p>
            <a:pPr>
              <a:buFont typeface="Arial" charset="0"/>
              <a:buChar char="•"/>
              <a:defRPr/>
            </a:pPr>
            <a:endParaRPr lang="el-GR" dirty="0"/>
          </a:p>
          <a:p>
            <a:pPr marL="274320" lvl="1">
              <a:spcBef>
                <a:spcPts val="600"/>
              </a:spcBef>
              <a:buClr>
                <a:schemeClr val="accent1"/>
              </a:buClr>
              <a:buFont typeface="Arial" charset="0"/>
              <a:buChar char="•"/>
              <a:defRPr/>
            </a:pPr>
            <a:r>
              <a:rPr lang="el-GR" sz="2800" dirty="0"/>
              <a:t>Ανοικτά/ κλειστά βιβλία</a:t>
            </a:r>
          </a:p>
          <a:p>
            <a:pPr marL="274320" lvl="1">
              <a:spcBef>
                <a:spcPts val="600"/>
              </a:spcBef>
              <a:buClr>
                <a:schemeClr val="accent1"/>
              </a:buClr>
              <a:buFont typeface="Arial" charset="0"/>
              <a:buChar char="•"/>
              <a:defRPr/>
            </a:pPr>
            <a:r>
              <a:rPr lang="el-GR" sz="2800" dirty="0"/>
              <a:t>Στο σχολείο ή στο σπίτι</a:t>
            </a:r>
          </a:p>
          <a:p>
            <a:pPr>
              <a:buFont typeface="Arial" charset="0"/>
              <a:buChar char="•"/>
              <a:defRPr/>
            </a:pPr>
            <a:endParaRPr lang="el-GR" sz="2800" dirty="0"/>
          </a:p>
          <a:p>
            <a:pPr>
              <a:buNone/>
              <a:defRPr/>
            </a:pPr>
            <a:r>
              <a:rPr lang="el-GR" sz="2800" dirty="0"/>
              <a:t>	</a:t>
            </a:r>
            <a:r>
              <a:rPr lang="el-GR" sz="2800" b="1" i="1" dirty="0">
                <a:solidFill>
                  <a:srgbClr val="C00000"/>
                </a:solidFill>
              </a:rPr>
              <a:t>Πλεονεκτήματα/μειονεκτήματα;</a:t>
            </a:r>
            <a:endParaRPr lang="en-US" sz="2800" b="1" i="1" dirty="0">
              <a:solidFill>
                <a:srgbClr val="C00000"/>
              </a:solidFill>
            </a:endParaRPr>
          </a:p>
        </p:txBody>
      </p:sp>
      <p:sp>
        <p:nvSpPr>
          <p:cNvPr id="4" name="Title 1"/>
          <p:cNvSpPr txBox="1">
            <a:spLocks/>
          </p:cNvSpPr>
          <p:nvPr/>
        </p:nvSpPr>
        <p:spPr>
          <a:xfrm>
            <a:off x="304800" y="304800"/>
            <a:ext cx="8534400" cy="715963"/>
          </a:xfrm>
          <a:prstGeom prst="rect">
            <a:avLst/>
          </a:prstGeom>
        </p:spPr>
        <p:txBody>
          <a:bodyPr vert="horz" rtlCol="0" anchor="b"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l-GR" sz="3200" b="1" i="0" u="none" strike="noStrike" kern="1200" cap="none" spc="0" normalizeH="0" baseline="0" noProof="0" dirty="0">
                <a:ln>
                  <a:noFill/>
                </a:ln>
                <a:solidFill>
                  <a:schemeClr val="tx1">
                    <a:lumMod val="75000"/>
                    <a:lumOff val="25000"/>
                  </a:schemeClr>
                </a:solidFill>
                <a:effectLst/>
                <a:uLnTx/>
                <a:uFillTx/>
                <a:latin typeface="+mj-lt"/>
                <a:ea typeface="+mj-ea"/>
                <a:cs typeface="+mj-cs"/>
              </a:rPr>
              <a:t>Γραπτή αξιολόγηση </a:t>
            </a:r>
            <a:endParaRPr kumimoji="0" lang="el-GR" sz="3200" b="1" i="1" u="none" strike="noStrike" kern="1200" cap="none" spc="0" normalizeH="0" baseline="0" noProof="0" dirty="0">
              <a:ln>
                <a:noFill/>
              </a:ln>
              <a:solidFill>
                <a:srgbClr val="0070C0"/>
              </a:solidFill>
              <a:effectLst/>
              <a:uLnTx/>
              <a:uFillTx/>
              <a:latin typeface="+mj-lt"/>
              <a:ea typeface="+mj-ea"/>
              <a:cs typeface="+mj-cs"/>
            </a:endParaRPr>
          </a:p>
        </p:txBody>
      </p:sp>
      <p:pic>
        <p:nvPicPr>
          <p:cNvPr id="78850" name="Picture 2" descr="http://www.visualphotos.com/photo/2x3428611/close-up_of_a_boy_writing_on_paper_with_a_pencil_gwil11303.jpg"/>
          <p:cNvPicPr>
            <a:picLocks noChangeAspect="1" noChangeArrowheads="1"/>
          </p:cNvPicPr>
          <p:nvPr/>
        </p:nvPicPr>
        <p:blipFill>
          <a:blip r:embed="rId3" cstate="print"/>
          <a:srcRect/>
          <a:stretch>
            <a:fillRect/>
          </a:stretch>
        </p:blipFill>
        <p:spPr bwMode="auto">
          <a:xfrm>
            <a:off x="6156176" y="3356992"/>
            <a:ext cx="1821947" cy="1163444"/>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534400" cy="715963"/>
          </a:xfrm>
        </p:spPr>
        <p:txBody>
          <a:bodyPr rtlCol="0">
            <a:noAutofit/>
          </a:bodyPr>
          <a:lstStyle/>
          <a:p>
            <a:pPr eaLnBrk="1" fontAlgn="auto" hangingPunct="1">
              <a:spcAft>
                <a:spcPts val="0"/>
              </a:spcAft>
              <a:defRPr/>
            </a:pPr>
            <a:r>
              <a:rPr lang="el-GR" sz="3600" b="1" dirty="0">
                <a:solidFill>
                  <a:schemeClr val="tx1">
                    <a:lumMod val="75000"/>
                    <a:lumOff val="25000"/>
                  </a:schemeClr>
                </a:solidFill>
              </a:rPr>
              <a:t>Γραπτή αξιολόγηση με ανοικτά βιβλία</a:t>
            </a:r>
          </a:p>
        </p:txBody>
      </p:sp>
      <p:sp>
        <p:nvSpPr>
          <p:cNvPr id="3" name="Content Placeholder 2"/>
          <p:cNvSpPr>
            <a:spLocks noGrp="1"/>
          </p:cNvSpPr>
          <p:nvPr>
            <p:ph idx="1"/>
          </p:nvPr>
        </p:nvSpPr>
        <p:spPr>
          <a:xfrm>
            <a:off x="533400" y="1196752"/>
            <a:ext cx="8458200" cy="5127848"/>
          </a:xfrm>
        </p:spPr>
        <p:txBody>
          <a:bodyPr rtlCol="0">
            <a:normAutofit/>
          </a:bodyPr>
          <a:lstStyle/>
          <a:p>
            <a:pPr marL="0" indent="0" eaLnBrk="1" fontAlgn="auto">
              <a:spcAft>
                <a:spcPts val="0"/>
              </a:spcAft>
              <a:buFont typeface="Arial" pitchFamily="34" charset="0"/>
              <a:buNone/>
              <a:defRPr/>
            </a:pPr>
            <a:r>
              <a:rPr lang="el-GR" sz="2400" b="1" dirty="0"/>
              <a:t>Αυτή η τεχνική αξιολόγησης μπορεί να χρησιμοποιηθεί σε διάφορες περιπτώσεις:</a:t>
            </a:r>
          </a:p>
          <a:p>
            <a:pPr marL="0" indent="0" eaLnBrk="1" fontAlgn="auto">
              <a:spcAft>
                <a:spcPts val="0"/>
              </a:spcAft>
              <a:buFont typeface="Arial" pitchFamily="34" charset="0"/>
              <a:buNone/>
              <a:defRPr/>
            </a:pPr>
            <a:endParaRPr lang="en-US" sz="2400" b="1" dirty="0"/>
          </a:p>
          <a:p>
            <a:pPr eaLnBrk="1" fontAlgn="auto">
              <a:spcAft>
                <a:spcPts val="0"/>
              </a:spcAft>
              <a:buFont typeface="Wingdings" pitchFamily="2" charset="2"/>
              <a:buChar char="Ø"/>
              <a:defRPr/>
            </a:pPr>
            <a:r>
              <a:rPr lang="el-GR" sz="2400" dirty="0"/>
              <a:t>Όταν οι </a:t>
            </a:r>
            <a:r>
              <a:rPr lang="el-GR" sz="2400" b="1" dirty="0"/>
              <a:t>εφαρμογές των γνώσεων που εξετάζονται είναι πολλές. </a:t>
            </a:r>
            <a:r>
              <a:rPr lang="el-GR" sz="2400" dirty="0"/>
              <a:t>Σε αυτή την περίπτωση ο μαθητής μπορεί να κληθεί να λύσει προβλήματα που μοιάζουν με ανάλογα προβλήματα της καθημερινής ζωής. </a:t>
            </a:r>
          </a:p>
          <a:p>
            <a:pPr eaLnBrk="1" fontAlgn="auto">
              <a:spcAft>
                <a:spcPts val="0"/>
              </a:spcAft>
              <a:buFont typeface="Wingdings" pitchFamily="2" charset="2"/>
              <a:buChar char="Ø"/>
              <a:defRPr/>
            </a:pPr>
            <a:r>
              <a:rPr lang="el-GR" sz="2400" dirty="0"/>
              <a:t>Όταν υπάρχει αρκετός </a:t>
            </a:r>
            <a:r>
              <a:rPr lang="el-GR" sz="2400" b="1" dirty="0"/>
              <a:t>διαθέσιμος χρόνος</a:t>
            </a:r>
            <a:r>
              <a:rPr lang="el-GR" sz="2400" dirty="0"/>
              <a:t> για εφαρμογή μιας τέτοιας τεχνικής αξιολόγησης.</a:t>
            </a:r>
          </a:p>
          <a:p>
            <a:pPr eaLnBrk="1" fontAlgn="auto">
              <a:spcAft>
                <a:spcPts val="0"/>
              </a:spcAft>
              <a:buFont typeface="Wingdings" pitchFamily="2" charset="2"/>
              <a:buChar char="Ø"/>
              <a:defRPr/>
            </a:pPr>
            <a:r>
              <a:rPr lang="el-GR" sz="2400" dirty="0"/>
              <a:t>Όταν </a:t>
            </a:r>
            <a:r>
              <a:rPr lang="el-GR" sz="2400" b="1" dirty="0"/>
              <a:t>απαιτείται χρήση στοιχείων </a:t>
            </a:r>
            <a:r>
              <a:rPr lang="el-GR" sz="2400" dirty="0"/>
              <a:t>(πίνακες, πηγές με τύπους, λεξικά) τα οποία επιβάλλεται να έχει στη διάθεσή του ο μαθητής κατά την αξιολόγηση. </a:t>
            </a:r>
            <a:endParaRPr lang="en-US" sz="2400" dirty="0"/>
          </a:p>
          <a:p>
            <a:pPr algn="just" eaLnBrk="1" fontAlgn="auto" hangingPunct="1">
              <a:spcAft>
                <a:spcPts val="0"/>
              </a:spcAft>
              <a:defRPr/>
            </a:pP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63563"/>
          </a:xfrm>
        </p:spPr>
        <p:txBody>
          <a:bodyPr rtlCol="0">
            <a:noAutofit/>
          </a:bodyPr>
          <a:lstStyle/>
          <a:p>
            <a:pPr eaLnBrk="1" fontAlgn="auto" hangingPunct="1">
              <a:spcAft>
                <a:spcPts val="0"/>
              </a:spcAft>
              <a:defRPr/>
            </a:pPr>
            <a:r>
              <a:rPr lang="el-GR" sz="3600" b="1" dirty="0">
                <a:solidFill>
                  <a:schemeClr val="tx1">
                    <a:lumMod val="75000"/>
                    <a:lumOff val="25000"/>
                  </a:schemeClr>
                </a:solidFill>
              </a:rPr>
              <a:t>Γραπτή αξιολόγηση με ανοικτά βιβλία</a:t>
            </a:r>
          </a:p>
        </p:txBody>
      </p:sp>
      <p:sp>
        <p:nvSpPr>
          <p:cNvPr id="3" name="Content Placeholder 2"/>
          <p:cNvSpPr>
            <a:spLocks noGrp="1"/>
          </p:cNvSpPr>
          <p:nvPr>
            <p:ph idx="1"/>
          </p:nvPr>
        </p:nvSpPr>
        <p:spPr>
          <a:xfrm>
            <a:off x="381000" y="1196752"/>
            <a:ext cx="8610600" cy="5508848"/>
          </a:xfrm>
        </p:spPr>
        <p:txBody>
          <a:bodyPr rtlCol="0">
            <a:normAutofit lnSpcReduction="10000"/>
          </a:bodyPr>
          <a:lstStyle/>
          <a:p>
            <a:pPr marL="0" indent="0" eaLnBrk="1" fontAlgn="auto">
              <a:spcAft>
                <a:spcPts val="0"/>
              </a:spcAft>
              <a:buFont typeface="Arial" pitchFamily="34" charset="0"/>
              <a:buNone/>
              <a:defRPr/>
            </a:pPr>
            <a:r>
              <a:rPr lang="el-GR" sz="3000" b="1" dirty="0">
                <a:solidFill>
                  <a:srgbClr val="0070C0"/>
                </a:solidFill>
              </a:rPr>
              <a:t>Πλεονεκτήματα:</a:t>
            </a:r>
            <a:endParaRPr lang="en-US" sz="2400" b="1" dirty="0"/>
          </a:p>
          <a:p>
            <a:pPr eaLnBrk="1" fontAlgn="auto">
              <a:spcAft>
                <a:spcPts val="0"/>
              </a:spcAft>
              <a:defRPr/>
            </a:pPr>
            <a:r>
              <a:rPr lang="el-GR" sz="2200" dirty="0"/>
              <a:t>Αποφεύγεται η </a:t>
            </a:r>
            <a:r>
              <a:rPr lang="el-GR" sz="2200" b="1" dirty="0"/>
              <a:t>άσκοπη απομνημόνευση </a:t>
            </a:r>
            <a:r>
              <a:rPr lang="el-GR" sz="2200" dirty="0"/>
              <a:t>περιεχομένου και δίνεται έμφαση στην εφαρμογή για την οποία πολλές φορές είναι απαραίτητη η ανάλυση, σύνθεση ή και αξιολόγηση.</a:t>
            </a:r>
          </a:p>
          <a:p>
            <a:pPr marL="0" indent="0" eaLnBrk="1" fontAlgn="auto">
              <a:spcAft>
                <a:spcPts val="0"/>
              </a:spcAft>
              <a:buFont typeface="Arial" pitchFamily="34" charset="0"/>
              <a:buNone/>
              <a:defRPr/>
            </a:pPr>
            <a:endParaRPr lang="en-US" sz="2200" dirty="0"/>
          </a:p>
          <a:p>
            <a:pPr eaLnBrk="1" fontAlgn="auto">
              <a:spcAft>
                <a:spcPts val="0"/>
              </a:spcAft>
              <a:defRPr/>
            </a:pPr>
            <a:r>
              <a:rPr lang="el-GR" sz="2200" dirty="0"/>
              <a:t>Ελέγχεται η </a:t>
            </a:r>
            <a:r>
              <a:rPr lang="el-GR" sz="2200" b="1" dirty="0"/>
              <a:t>ικανότητα χρήσης πηγών</a:t>
            </a:r>
            <a:r>
              <a:rPr lang="el-GR" sz="2200" dirty="0"/>
              <a:t>, βιβλίων και βοηθημάτων γενικά της ειδικότητας του εξεταζομένου.</a:t>
            </a:r>
          </a:p>
          <a:p>
            <a:pPr eaLnBrk="1" fontAlgn="auto">
              <a:spcAft>
                <a:spcPts val="0"/>
              </a:spcAft>
              <a:defRPr/>
            </a:pPr>
            <a:endParaRPr lang="en-US" sz="2200" dirty="0"/>
          </a:p>
          <a:p>
            <a:pPr eaLnBrk="1" fontAlgn="auto">
              <a:spcAft>
                <a:spcPts val="0"/>
              </a:spcAft>
              <a:defRPr/>
            </a:pPr>
            <a:r>
              <a:rPr lang="el-GR" sz="2200" dirty="0"/>
              <a:t>Μοιάζει πολύ με την </a:t>
            </a:r>
            <a:r>
              <a:rPr lang="el-GR" sz="2200" b="1" dirty="0"/>
              <a:t>πραγματική κατάσταση</a:t>
            </a:r>
            <a:endParaRPr lang="el-GR" sz="2200" dirty="0"/>
          </a:p>
          <a:p>
            <a:pPr eaLnBrk="1" fontAlgn="auto">
              <a:spcAft>
                <a:spcPts val="0"/>
              </a:spcAft>
              <a:defRPr/>
            </a:pPr>
            <a:endParaRPr lang="en-US" sz="2200" dirty="0"/>
          </a:p>
          <a:p>
            <a:pPr eaLnBrk="1" fontAlgn="auto">
              <a:spcAft>
                <a:spcPts val="0"/>
              </a:spcAft>
              <a:defRPr/>
            </a:pPr>
            <a:r>
              <a:rPr lang="el-GR" sz="2200" b="1" dirty="0"/>
              <a:t>Περιορίζει σε σημαντικό βαθμό το εξεταστικό άγχος</a:t>
            </a:r>
            <a:endParaRPr lang="el-GR" sz="2200" dirty="0"/>
          </a:p>
          <a:p>
            <a:pPr eaLnBrk="1" fontAlgn="auto">
              <a:spcAft>
                <a:spcPts val="0"/>
              </a:spcAft>
              <a:buNone/>
              <a:defRPr/>
            </a:pPr>
            <a:r>
              <a:rPr lang="el-GR" sz="2200" dirty="0"/>
              <a:t> </a:t>
            </a:r>
            <a:endParaRPr lang="en-US" sz="2200" dirty="0"/>
          </a:p>
          <a:p>
            <a:pPr eaLnBrk="1" fontAlgn="auto">
              <a:spcAft>
                <a:spcPts val="0"/>
              </a:spcAft>
              <a:defRPr/>
            </a:pPr>
            <a:r>
              <a:rPr lang="el-GR" sz="2200" dirty="0"/>
              <a:t>Είναι δυνατόν να περιοριστεί σε μεγάλο βαθμό η διάθεση ορισμένων ατόμων για </a:t>
            </a:r>
            <a:r>
              <a:rPr lang="el-GR" sz="2200" dirty="0" err="1"/>
              <a:t>δολίευση</a:t>
            </a:r>
            <a:r>
              <a:rPr lang="el-GR" sz="2200" dirty="0"/>
              <a:t> (π.χ. αντιγραφή).     </a:t>
            </a:r>
            <a:endParaRPr lang="en-US" sz="2200" dirty="0"/>
          </a:p>
          <a:p>
            <a:pPr algn="just" eaLnBrk="1" fontAlgn="auto" hangingPunct="1">
              <a:spcAft>
                <a:spcPts val="0"/>
              </a:spcAft>
              <a:defRPr/>
            </a:pP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63563"/>
          </a:xfrm>
        </p:spPr>
        <p:txBody>
          <a:bodyPr rtlCol="0">
            <a:noAutofit/>
          </a:bodyPr>
          <a:lstStyle/>
          <a:p>
            <a:pPr eaLnBrk="1" fontAlgn="auto" hangingPunct="1">
              <a:spcAft>
                <a:spcPts val="0"/>
              </a:spcAft>
              <a:defRPr/>
            </a:pPr>
            <a:r>
              <a:rPr lang="el-GR" b="1" dirty="0">
                <a:solidFill>
                  <a:schemeClr val="tx1">
                    <a:lumMod val="75000"/>
                    <a:lumOff val="25000"/>
                  </a:schemeClr>
                </a:solidFill>
              </a:rPr>
              <a:t>Γραπτή αξιολόγηση με ανοικτά βιβλία</a:t>
            </a:r>
          </a:p>
        </p:txBody>
      </p:sp>
      <p:sp>
        <p:nvSpPr>
          <p:cNvPr id="3" name="Content Placeholder 2"/>
          <p:cNvSpPr>
            <a:spLocks noGrp="1"/>
          </p:cNvSpPr>
          <p:nvPr>
            <p:ph idx="1"/>
          </p:nvPr>
        </p:nvSpPr>
        <p:spPr>
          <a:xfrm>
            <a:off x="457200" y="1124744"/>
            <a:ext cx="8458200" cy="5276056"/>
          </a:xfrm>
        </p:spPr>
        <p:txBody>
          <a:bodyPr rtlCol="0">
            <a:normAutofit/>
          </a:bodyPr>
          <a:lstStyle/>
          <a:p>
            <a:pPr marL="0" indent="0" eaLnBrk="1" fontAlgn="auto">
              <a:spcAft>
                <a:spcPts val="0"/>
              </a:spcAft>
              <a:buFont typeface="Arial" pitchFamily="34" charset="0"/>
              <a:buNone/>
              <a:defRPr/>
            </a:pPr>
            <a:r>
              <a:rPr lang="el-GR" sz="2800" b="1" dirty="0">
                <a:solidFill>
                  <a:srgbClr val="0070C0"/>
                </a:solidFill>
              </a:rPr>
              <a:t>Μειονεκτήματα:</a:t>
            </a:r>
            <a:endParaRPr lang="en-US" sz="2800" b="1" dirty="0"/>
          </a:p>
          <a:p>
            <a:pPr>
              <a:defRPr/>
            </a:pPr>
            <a:r>
              <a:rPr lang="el-GR" sz="2400" b="1" dirty="0"/>
              <a:t>Ψηλός βαθμός δυσκολίας.</a:t>
            </a:r>
            <a:endParaRPr lang="el-GR" sz="2400" dirty="0"/>
          </a:p>
          <a:p>
            <a:pPr eaLnBrk="1" fontAlgn="auto">
              <a:spcAft>
                <a:spcPts val="0"/>
              </a:spcAft>
              <a:defRPr/>
            </a:pPr>
            <a:endParaRPr lang="el-GR" sz="2400" dirty="0"/>
          </a:p>
          <a:p>
            <a:pPr eaLnBrk="1" fontAlgn="auto">
              <a:spcAft>
                <a:spcPts val="0"/>
              </a:spcAft>
              <a:defRPr/>
            </a:pPr>
            <a:r>
              <a:rPr lang="el-GR" sz="2400" dirty="0"/>
              <a:t>Δημιουργούνται προβλήματα, όταν ο μαθητής σπαταλά πολύτιμο χρόνο στην </a:t>
            </a:r>
            <a:r>
              <a:rPr lang="el-GR" sz="2400" b="1" dirty="0"/>
              <a:t>αναζήτηση πληροφοριών.  </a:t>
            </a:r>
          </a:p>
          <a:p>
            <a:pPr eaLnBrk="1" fontAlgn="auto">
              <a:spcAft>
                <a:spcPts val="0"/>
              </a:spcAft>
              <a:defRPr/>
            </a:pPr>
            <a:endParaRPr lang="en-US" sz="2400" dirty="0"/>
          </a:p>
          <a:p>
            <a:pPr eaLnBrk="1" fontAlgn="auto">
              <a:spcAft>
                <a:spcPts val="0"/>
              </a:spcAft>
              <a:defRPr/>
            </a:pPr>
            <a:r>
              <a:rPr lang="el-GR" sz="2400" b="1" dirty="0"/>
              <a:t>Χρόνος </a:t>
            </a:r>
          </a:p>
          <a:p>
            <a:pPr eaLnBrk="1" fontAlgn="auto">
              <a:spcAft>
                <a:spcPts val="0"/>
              </a:spcAft>
              <a:buFont typeface="Wingdings"/>
              <a:buChar char="à"/>
              <a:defRPr/>
            </a:pPr>
            <a:r>
              <a:rPr lang="el-GR" sz="2400" b="1" i="1" dirty="0">
                <a:sym typeface="Wingdings" pitchFamily="2" charset="2"/>
              </a:rPr>
              <a:t>Μαθητής </a:t>
            </a:r>
            <a:r>
              <a:rPr lang="el-GR" sz="2400" dirty="0">
                <a:sym typeface="Wingdings" pitchFamily="2" charset="2"/>
              </a:rPr>
              <a:t>- για να απαντήσει</a:t>
            </a:r>
          </a:p>
          <a:p>
            <a:pPr eaLnBrk="1" fontAlgn="auto">
              <a:spcAft>
                <a:spcPts val="0"/>
              </a:spcAft>
              <a:buFont typeface="Wingdings"/>
              <a:buChar char="à"/>
              <a:defRPr/>
            </a:pPr>
            <a:r>
              <a:rPr lang="el-GR" sz="2400" b="1" i="1" dirty="0">
                <a:sym typeface="Wingdings" pitchFamily="2" charset="2"/>
              </a:rPr>
              <a:t>Εκπαιδευτικός</a:t>
            </a:r>
            <a:r>
              <a:rPr lang="el-GR" sz="2400" dirty="0">
                <a:sym typeface="Wingdings" pitchFamily="2" charset="2"/>
              </a:rPr>
              <a:t> -  για κατασκευή και διόρθωση</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534400" cy="563563"/>
          </a:xfrm>
        </p:spPr>
        <p:txBody>
          <a:bodyPr rtlCol="0">
            <a:noAutofit/>
          </a:bodyPr>
          <a:lstStyle/>
          <a:p>
            <a:pPr eaLnBrk="1" fontAlgn="auto" hangingPunct="1">
              <a:spcAft>
                <a:spcPts val="0"/>
              </a:spcAft>
              <a:defRPr/>
            </a:pPr>
            <a:r>
              <a:rPr lang="el-GR" sz="2800" b="1" dirty="0">
                <a:solidFill>
                  <a:schemeClr val="tx1">
                    <a:lumMod val="75000"/>
                    <a:lumOff val="25000"/>
                  </a:schemeClr>
                </a:solidFill>
              </a:rPr>
              <a:t>Γραπτή αξιολόγηση με ανοικτά βιβλία στο σπίτι</a:t>
            </a:r>
          </a:p>
        </p:txBody>
      </p:sp>
      <p:sp>
        <p:nvSpPr>
          <p:cNvPr id="3" name="Content Placeholder 2"/>
          <p:cNvSpPr>
            <a:spLocks noGrp="1"/>
          </p:cNvSpPr>
          <p:nvPr>
            <p:ph idx="1"/>
          </p:nvPr>
        </p:nvSpPr>
        <p:spPr>
          <a:xfrm>
            <a:off x="381000" y="1295400"/>
            <a:ext cx="8763000" cy="5334000"/>
          </a:xfrm>
        </p:spPr>
        <p:txBody>
          <a:bodyPr rtlCol="0">
            <a:normAutofit fontScale="92500" lnSpcReduction="10000"/>
          </a:bodyPr>
          <a:lstStyle/>
          <a:p>
            <a:pPr marL="0" indent="0" algn="just" eaLnBrk="1" fontAlgn="auto" hangingPunct="1">
              <a:spcAft>
                <a:spcPts val="0"/>
              </a:spcAft>
              <a:buFont typeface="Arial" pitchFamily="34" charset="0"/>
              <a:buNone/>
              <a:defRPr/>
            </a:pPr>
            <a:r>
              <a:rPr lang="el-GR" sz="3300" b="1" dirty="0">
                <a:solidFill>
                  <a:srgbClr val="0070C0"/>
                </a:solidFill>
              </a:rPr>
              <a:t>Πλεονεκτήματα:</a:t>
            </a:r>
          </a:p>
          <a:p>
            <a:pPr marL="0" indent="0" algn="just" eaLnBrk="1" fontAlgn="auto" hangingPunct="1">
              <a:spcAft>
                <a:spcPts val="0"/>
              </a:spcAft>
              <a:buFont typeface="Arial" pitchFamily="34" charset="0"/>
              <a:buNone/>
              <a:defRPr/>
            </a:pPr>
            <a:endParaRPr lang="el-GR" sz="2400" dirty="0"/>
          </a:p>
          <a:p>
            <a:pPr eaLnBrk="1" fontAlgn="auto">
              <a:spcAft>
                <a:spcPts val="0"/>
              </a:spcAft>
              <a:defRPr/>
            </a:pPr>
            <a:r>
              <a:rPr lang="el-GR" dirty="0"/>
              <a:t>Σχεδόν </a:t>
            </a:r>
            <a:r>
              <a:rPr lang="el-GR" b="1" dirty="0"/>
              <a:t>απεριόριστος χρόνος – </a:t>
            </a:r>
            <a:r>
              <a:rPr lang="el-GR" dirty="0"/>
              <a:t>χρήση πληθώρας πηγών.</a:t>
            </a:r>
            <a:endParaRPr lang="en-US" dirty="0"/>
          </a:p>
          <a:p>
            <a:pPr eaLnBrk="1" fontAlgn="auto">
              <a:spcAft>
                <a:spcPts val="0"/>
              </a:spcAft>
              <a:defRPr/>
            </a:pPr>
            <a:r>
              <a:rPr lang="el-GR" dirty="0"/>
              <a:t>Ο μαθητής έχει </a:t>
            </a:r>
            <a:r>
              <a:rPr lang="el-GR" b="1" dirty="0"/>
              <a:t>άνεση χώρου αλλά και όσα υλικά χρειάζεται</a:t>
            </a:r>
            <a:r>
              <a:rPr lang="el-GR" dirty="0"/>
              <a:t>, για να εργαστεί σε μια απολύτως πραγματική κατάσταση. </a:t>
            </a:r>
            <a:endParaRPr lang="en-US" dirty="0"/>
          </a:p>
          <a:p>
            <a:pPr eaLnBrk="1" fontAlgn="auto">
              <a:spcAft>
                <a:spcPts val="0"/>
              </a:spcAft>
              <a:defRPr/>
            </a:pPr>
            <a:r>
              <a:rPr lang="el-GR" dirty="0"/>
              <a:t>Π</a:t>
            </a:r>
            <a:r>
              <a:rPr lang="el-GR" b="1" dirty="0"/>
              <a:t>εριορίζεται εντελώς το “εξεταστικό άγχος”</a:t>
            </a:r>
            <a:r>
              <a:rPr lang="el-GR" dirty="0"/>
              <a:t> </a:t>
            </a:r>
            <a:r>
              <a:rPr lang="el-GR" dirty="0">
                <a:sym typeface="Wingdings" pitchFamily="2" charset="2"/>
              </a:rPr>
              <a:t></a:t>
            </a:r>
            <a:r>
              <a:rPr lang="el-GR" dirty="0"/>
              <a:t>ο μαθητής αποκτά ικανότητες οργάνωσης της εργασίας του.</a:t>
            </a:r>
            <a:endParaRPr lang="en-US" dirty="0"/>
          </a:p>
          <a:p>
            <a:pPr eaLnBrk="1" fontAlgn="auto">
              <a:spcAft>
                <a:spcPts val="0"/>
              </a:spcAft>
              <a:defRPr/>
            </a:pPr>
            <a:r>
              <a:rPr lang="el-GR" dirty="0"/>
              <a:t>Ο μαθητής έχει τη δυνατότητα να </a:t>
            </a:r>
            <a:r>
              <a:rPr lang="el-GR" b="1" dirty="0"/>
              <a:t>ελέγξει όσες φορές θέλει τις απαντήσεις του </a:t>
            </a:r>
            <a:r>
              <a:rPr lang="el-GR" dirty="0"/>
              <a:t>και να τις βελτιώσει πριν παραδώσει την τελική μορφή του γραπτού του.</a:t>
            </a:r>
            <a:endParaRPr lang="en-US" dirty="0"/>
          </a:p>
          <a:p>
            <a:pPr eaLnBrk="1" fontAlgn="auto">
              <a:spcAft>
                <a:spcPts val="0"/>
              </a:spcAft>
              <a:defRPr/>
            </a:pPr>
            <a:r>
              <a:rPr lang="el-GR" dirty="0"/>
              <a:t>Οι δραστηριότητες αξιολόγησης βοηθούν στην </a:t>
            </a:r>
            <a:r>
              <a:rPr lang="el-GR" b="1" dirty="0"/>
              <a:t>ανάπτυξη της δημιουργικότητας </a:t>
            </a:r>
            <a:r>
              <a:rPr lang="el-GR" dirty="0"/>
              <a:t>του μαθητή και μέσα από αυτές επιτυγχάνεται και η μάθηση.</a:t>
            </a:r>
            <a:endParaRPr lang="en-US" dirty="0"/>
          </a:p>
          <a:p>
            <a:pPr marL="0" indent="0" algn="just" eaLnBrk="1" fontAlgn="auto" hangingPunct="1">
              <a:spcAft>
                <a:spcPts val="0"/>
              </a:spcAft>
              <a:buFont typeface="Arial" pitchFamily="34" charset="0"/>
              <a:buNone/>
              <a:defRPr/>
            </a:pP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534400" cy="563563"/>
          </a:xfrm>
        </p:spPr>
        <p:txBody>
          <a:bodyPr rtlCol="0">
            <a:noAutofit/>
          </a:bodyPr>
          <a:lstStyle/>
          <a:p>
            <a:pPr eaLnBrk="1" fontAlgn="auto" hangingPunct="1">
              <a:spcAft>
                <a:spcPts val="0"/>
              </a:spcAft>
              <a:defRPr/>
            </a:pPr>
            <a:r>
              <a:rPr lang="el-GR" sz="2800" b="1" dirty="0">
                <a:solidFill>
                  <a:schemeClr val="tx1">
                    <a:lumMod val="75000"/>
                    <a:lumOff val="25000"/>
                  </a:schemeClr>
                </a:solidFill>
              </a:rPr>
              <a:t>Γραπτή αξιολόγηση με ανοικτά βιβλία στο σπίτι</a:t>
            </a:r>
          </a:p>
        </p:txBody>
      </p:sp>
      <p:sp>
        <p:nvSpPr>
          <p:cNvPr id="3" name="Content Placeholder 2"/>
          <p:cNvSpPr>
            <a:spLocks noGrp="1"/>
          </p:cNvSpPr>
          <p:nvPr>
            <p:ph idx="1"/>
          </p:nvPr>
        </p:nvSpPr>
        <p:spPr>
          <a:xfrm>
            <a:off x="381000" y="1295400"/>
            <a:ext cx="8305800" cy="5334000"/>
          </a:xfrm>
        </p:spPr>
        <p:txBody>
          <a:bodyPr rtlCol="0">
            <a:normAutofit/>
          </a:bodyPr>
          <a:lstStyle/>
          <a:p>
            <a:pPr marL="0" indent="0" algn="just" eaLnBrk="1" fontAlgn="auto" hangingPunct="1">
              <a:spcAft>
                <a:spcPts val="0"/>
              </a:spcAft>
              <a:buFont typeface="Arial" pitchFamily="34" charset="0"/>
              <a:buNone/>
              <a:defRPr/>
            </a:pPr>
            <a:r>
              <a:rPr lang="el-GR" sz="3300" b="1" dirty="0">
                <a:solidFill>
                  <a:srgbClr val="0070C0"/>
                </a:solidFill>
              </a:rPr>
              <a:t>Όμως:</a:t>
            </a:r>
          </a:p>
          <a:p>
            <a:pPr marL="0" indent="0" algn="just" eaLnBrk="1" fontAlgn="auto" hangingPunct="1">
              <a:spcAft>
                <a:spcPts val="0"/>
              </a:spcAft>
              <a:buFont typeface="Arial" pitchFamily="34" charset="0"/>
              <a:buNone/>
              <a:defRPr/>
            </a:pPr>
            <a:endParaRPr lang="el-GR" sz="3300" b="1" dirty="0">
              <a:solidFill>
                <a:srgbClr val="0070C0"/>
              </a:solidFill>
            </a:endParaRPr>
          </a:p>
          <a:p>
            <a:pPr algn="just" eaLnBrk="1" fontAlgn="auto" hangingPunct="1">
              <a:spcAft>
                <a:spcPts val="0"/>
              </a:spcAft>
              <a:defRPr/>
            </a:pPr>
            <a:r>
              <a:rPr lang="el-GR" sz="2400" dirty="0"/>
              <a:t>είναι αδύνατο να ελεγχθεί ο τρόπος με τον οποίο εργάστηκε ο μαθητής. </a:t>
            </a:r>
          </a:p>
          <a:p>
            <a:pPr algn="just" eaLnBrk="1" fontAlgn="auto" hangingPunct="1">
              <a:spcAft>
                <a:spcPts val="0"/>
              </a:spcAft>
              <a:defRPr/>
            </a:pPr>
            <a:r>
              <a:rPr lang="el-GR" sz="2400" dirty="0"/>
              <a:t>θα πρέπει να γίνει έλεγχος της απάντησης των μαθητών ζητώντας τους, για παράδειγμα, να απαντήσουν σε ερωτήσεις προφορικής αξιολόγησης. </a:t>
            </a:r>
          </a:p>
          <a:p>
            <a:pPr algn="just" eaLnBrk="1" fontAlgn="auto" hangingPunct="1">
              <a:spcAft>
                <a:spcPts val="0"/>
              </a:spcAft>
              <a:defRPr/>
            </a:pPr>
            <a:endParaRPr lang="el-GR" sz="2400" dirty="0"/>
          </a:p>
          <a:p>
            <a:pPr marL="0" indent="0" algn="just" eaLnBrk="1" fontAlgn="auto" hangingPunct="1">
              <a:spcAft>
                <a:spcPts val="0"/>
              </a:spcAft>
              <a:buFont typeface="Arial" pitchFamily="34" charset="0"/>
              <a:buNone/>
              <a:defRPr/>
            </a:pPr>
            <a:r>
              <a:rPr lang="el-GR" sz="2400" dirty="0"/>
              <a:t>(Π.χ. Εξέταση φοιτητών διδακτορικού επιπέδου)</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rtlCol="0">
            <a:noAutofit/>
          </a:bodyPr>
          <a:lstStyle/>
          <a:p>
            <a:pPr eaLnBrk="1" fontAlgn="auto" hangingPunct="1">
              <a:spcAft>
                <a:spcPts val="0"/>
              </a:spcAft>
              <a:defRPr/>
            </a:pPr>
            <a:r>
              <a:rPr lang="el-GR" sz="4000" b="1" dirty="0">
                <a:solidFill>
                  <a:schemeClr val="tx1">
                    <a:lumMod val="75000"/>
                    <a:lumOff val="25000"/>
                  </a:schemeClr>
                </a:solidFill>
              </a:rPr>
              <a:t>Τύποι και είδη ερωτήσεων</a:t>
            </a:r>
            <a:endParaRPr lang="en-US" sz="4000" b="1" dirty="0">
              <a:solidFill>
                <a:schemeClr val="tx1">
                  <a:lumMod val="75000"/>
                  <a:lumOff val="25000"/>
                </a:schemeClr>
              </a:solidFill>
            </a:endParaRPr>
          </a:p>
        </p:txBody>
      </p:sp>
      <p:sp>
        <p:nvSpPr>
          <p:cNvPr id="4" name="Left-Right Arrow Callout 3"/>
          <p:cNvSpPr/>
          <p:nvPr/>
        </p:nvSpPr>
        <p:spPr>
          <a:xfrm>
            <a:off x="3505200" y="2209800"/>
            <a:ext cx="1828800" cy="3352800"/>
          </a:xfrm>
          <a:prstGeom prst="leftRightArrowCallout">
            <a:avLst/>
          </a:prstGeom>
        </p:spPr>
        <p:style>
          <a:lnRef idx="0">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endParaRPr lang="en-US"/>
          </a:p>
        </p:txBody>
      </p:sp>
      <p:sp>
        <p:nvSpPr>
          <p:cNvPr id="12294" name="TextBox 6"/>
          <p:cNvSpPr txBox="1">
            <a:spLocks noChangeArrowheads="1"/>
          </p:cNvSpPr>
          <p:nvPr/>
        </p:nvSpPr>
        <p:spPr bwMode="auto">
          <a:xfrm>
            <a:off x="573088" y="2667000"/>
            <a:ext cx="2514600" cy="2246313"/>
          </a:xfrm>
          <a:prstGeom prst="rect">
            <a:avLst/>
          </a:prstGeom>
          <a:noFill/>
          <a:ln w="9525">
            <a:noFill/>
            <a:miter lim="800000"/>
            <a:headEnd/>
            <a:tailEnd/>
          </a:ln>
        </p:spPr>
        <p:txBody>
          <a:bodyPr>
            <a:spAutoFit/>
          </a:bodyPr>
          <a:lstStyle/>
          <a:p>
            <a:pPr hangingPunct="0"/>
            <a:r>
              <a:rPr lang="el-GR" sz="2800"/>
              <a:t>ερωτήσεις κλειστού τύπου               </a:t>
            </a:r>
          </a:p>
          <a:p>
            <a:pPr hangingPunct="0"/>
            <a:r>
              <a:rPr lang="el-GR" sz="2800"/>
              <a:t>           </a:t>
            </a:r>
            <a:r>
              <a:rPr lang="el-GR" sz="2800" b="1"/>
              <a:t>ή </a:t>
            </a:r>
            <a:r>
              <a:rPr lang="el-GR" sz="2800"/>
              <a:t>αντικειμενικές ερωτήσεις</a:t>
            </a:r>
            <a:endParaRPr lang="en-US" sz="2800"/>
          </a:p>
        </p:txBody>
      </p:sp>
      <p:sp>
        <p:nvSpPr>
          <p:cNvPr id="12295" name="TextBox 7"/>
          <p:cNvSpPr txBox="1">
            <a:spLocks noChangeArrowheads="1"/>
          </p:cNvSpPr>
          <p:nvPr/>
        </p:nvSpPr>
        <p:spPr bwMode="auto">
          <a:xfrm>
            <a:off x="5715000" y="3360738"/>
            <a:ext cx="2514600" cy="954087"/>
          </a:xfrm>
          <a:prstGeom prst="rect">
            <a:avLst/>
          </a:prstGeom>
          <a:noFill/>
          <a:ln w="9525">
            <a:noFill/>
            <a:miter lim="800000"/>
            <a:headEnd/>
            <a:tailEnd/>
          </a:ln>
        </p:spPr>
        <p:txBody>
          <a:bodyPr>
            <a:spAutoFit/>
          </a:bodyPr>
          <a:lstStyle/>
          <a:p>
            <a:pPr hangingPunct="0"/>
            <a:r>
              <a:rPr lang="el-GR" sz="2800"/>
              <a:t>ερωτήσεις ανοικτού τύπου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990600" y="533400"/>
          <a:ext cx="7315200" cy="6095997"/>
        </p:xfrm>
        <a:graphic>
          <a:graphicData uri="http://schemas.openxmlformats.org/drawingml/2006/table">
            <a:tbl>
              <a:tblPr firstRow="1" firstCol="1" bandRow="1">
                <a:tableStyleId>{5C22544A-7EE6-4342-B048-85BDC9FD1C3A}</a:tableStyleId>
              </a:tblPr>
              <a:tblGrid>
                <a:gridCol w="7315200">
                  <a:extLst>
                    <a:ext uri="{9D8B030D-6E8A-4147-A177-3AD203B41FA5}">
                      <a16:colId xmlns:a16="http://schemas.microsoft.com/office/drawing/2014/main" val="20000"/>
                    </a:ext>
                  </a:extLst>
                </a:gridCol>
              </a:tblGrid>
              <a:tr h="677333">
                <a:tc>
                  <a:txBody>
                    <a:bodyPr/>
                    <a:lstStyle/>
                    <a:p>
                      <a:pPr marL="457200" marR="0" algn="l">
                        <a:lnSpc>
                          <a:spcPct val="115000"/>
                        </a:lnSpc>
                        <a:spcBef>
                          <a:spcPts val="0"/>
                        </a:spcBef>
                        <a:spcAft>
                          <a:spcPts val="1000"/>
                        </a:spcAft>
                      </a:pPr>
                      <a:r>
                        <a:rPr lang="el-GR" sz="2800" dirty="0">
                          <a:effectLst/>
                        </a:rPr>
                        <a:t>                   ΑΝΤΙΚΕΙΜΕΝΙΚΟΥ ΤΥΠΟΥ</a:t>
                      </a:r>
                      <a:endParaRPr lang="en-US" sz="2800" dirty="0">
                        <a:effectLst/>
                        <a:latin typeface="Calibri"/>
                        <a:ea typeface="Calibri"/>
                        <a:cs typeface="Times New Roman"/>
                      </a:endParaRPr>
                    </a:p>
                  </a:txBody>
                  <a:tcPr marL="68580" marR="68580" marT="0" marB="0">
                    <a:solidFill>
                      <a:srgbClr val="00B0F0"/>
                    </a:solidFill>
                  </a:tcPr>
                </a:tc>
                <a:extLst>
                  <a:ext uri="{0D108BD9-81ED-4DB2-BD59-A6C34878D82A}">
                    <a16:rowId xmlns:a16="http://schemas.microsoft.com/office/drawing/2014/main" val="10000"/>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Πολλαπλής επιλογής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1"/>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Ορθό - Λάθος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2"/>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Σύζευξης/ Αντιστοίχισης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3"/>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Διάταξης/ Ιεράρχησης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4"/>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Συμπλήρωσης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5"/>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Σύντομης απάντησης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6"/>
                  </a:ext>
                </a:extLst>
              </a:tr>
              <a:tr h="677333">
                <a:tc>
                  <a:txBody>
                    <a:bodyPr/>
                    <a:lstStyle/>
                    <a:p>
                      <a:pPr marL="457200" marR="0" algn="l">
                        <a:lnSpc>
                          <a:spcPct val="115000"/>
                        </a:lnSpc>
                        <a:spcBef>
                          <a:spcPts val="0"/>
                        </a:spcBef>
                        <a:spcAft>
                          <a:spcPts val="1000"/>
                        </a:spcAft>
                      </a:pPr>
                      <a:r>
                        <a:rPr lang="el-GR" sz="2800" dirty="0">
                          <a:solidFill>
                            <a:schemeClr val="tx1">
                              <a:lumMod val="75000"/>
                              <a:lumOff val="25000"/>
                            </a:schemeClr>
                          </a:solidFill>
                          <a:effectLst/>
                        </a:rPr>
                        <a:t>                         </a:t>
                      </a:r>
                      <a:r>
                        <a:rPr lang="el-GR" sz="2800" dirty="0">
                          <a:solidFill>
                            <a:schemeClr val="bg1"/>
                          </a:solidFill>
                          <a:effectLst/>
                        </a:rPr>
                        <a:t>ΑΝΟΙΚΤΟΥ ΤΥΠΟΥ</a:t>
                      </a:r>
                      <a:endParaRPr lang="en-US" sz="2800" dirty="0">
                        <a:solidFill>
                          <a:schemeClr val="bg1"/>
                        </a:solidFill>
                        <a:effectLst/>
                        <a:latin typeface="Calibri"/>
                        <a:ea typeface="Calibri"/>
                        <a:cs typeface="Times New Roman"/>
                      </a:endParaRPr>
                    </a:p>
                  </a:txBody>
                  <a:tcPr marL="68580" marR="68580" marT="0" marB="0">
                    <a:solidFill>
                      <a:srgbClr val="00B0F0"/>
                    </a:solidFill>
                  </a:tcPr>
                </a:tc>
                <a:extLst>
                  <a:ext uri="{0D108BD9-81ED-4DB2-BD59-A6C34878D82A}">
                    <a16:rowId xmlns:a16="http://schemas.microsoft.com/office/drawing/2014/main" val="10007"/>
                  </a:ext>
                </a:extLst>
              </a:tr>
              <a:tr h="677333">
                <a:tc>
                  <a:txBody>
                    <a:bodyPr/>
                    <a:lstStyle/>
                    <a:p>
                      <a:pPr marL="457200" marR="0" algn="l">
                        <a:lnSpc>
                          <a:spcPct val="115000"/>
                        </a:lnSpc>
                        <a:spcBef>
                          <a:spcPts val="0"/>
                        </a:spcBef>
                        <a:spcAft>
                          <a:spcPts val="1000"/>
                        </a:spcAft>
                      </a:pPr>
                      <a:r>
                        <a:rPr lang="el-GR" sz="2800" dirty="0">
                          <a:effectLst/>
                        </a:rPr>
                        <a:t>                     ΛΥΣΗ ΠΡΟΒΛΗΜΑΤΟΣ</a:t>
                      </a:r>
                      <a:endParaRPr lang="en-US" sz="2800" dirty="0">
                        <a:effectLst/>
                        <a:latin typeface="Calibri"/>
                        <a:ea typeface="Calibri"/>
                        <a:cs typeface="Times New Roman"/>
                      </a:endParaRPr>
                    </a:p>
                  </a:txBody>
                  <a:tcPr marL="68580" marR="68580" marT="0" marB="0">
                    <a:solidFill>
                      <a:srgbClr val="00B0F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44563"/>
          </a:xfrm>
        </p:spPr>
        <p:txBody>
          <a:bodyPr rtlCol="0">
            <a:normAutofit fontScale="90000"/>
          </a:bodyPr>
          <a:lstStyle/>
          <a:p>
            <a:pPr eaLnBrk="1" fontAlgn="auto" hangingPunct="1">
              <a:spcAft>
                <a:spcPts val="0"/>
              </a:spcAft>
              <a:defRPr/>
            </a:pPr>
            <a:r>
              <a:rPr lang="el-GR" b="1" dirty="0">
                <a:solidFill>
                  <a:schemeClr val="tx1">
                    <a:lumMod val="75000"/>
                    <a:lumOff val="25000"/>
                  </a:schemeClr>
                </a:solidFill>
              </a:rPr>
              <a:t>Ερωτήσεις πολλαπλής επιλογής</a:t>
            </a:r>
            <a:r>
              <a:rPr lang="el-GR" dirty="0">
                <a:solidFill>
                  <a:schemeClr val="tx1">
                    <a:lumMod val="75000"/>
                    <a:lumOff val="25000"/>
                  </a:schemeClr>
                </a:solidFill>
              </a:rPr>
              <a:t> (</a:t>
            </a:r>
            <a:r>
              <a:rPr lang="en-US" dirty="0">
                <a:solidFill>
                  <a:schemeClr val="tx1">
                    <a:lumMod val="75000"/>
                    <a:lumOff val="25000"/>
                  </a:schemeClr>
                </a:solidFill>
              </a:rPr>
              <a:t>multiple</a:t>
            </a:r>
            <a:r>
              <a:rPr lang="el-GR" dirty="0">
                <a:solidFill>
                  <a:schemeClr val="tx1">
                    <a:lumMod val="75000"/>
                    <a:lumOff val="25000"/>
                  </a:schemeClr>
                </a:solidFill>
              </a:rPr>
              <a:t>-</a:t>
            </a:r>
            <a:r>
              <a:rPr lang="en-US" dirty="0">
                <a:solidFill>
                  <a:schemeClr val="tx1">
                    <a:lumMod val="75000"/>
                    <a:lumOff val="25000"/>
                  </a:schemeClr>
                </a:solidFill>
              </a:rPr>
              <a:t>choice questions</a:t>
            </a:r>
            <a:r>
              <a:rPr lang="el-GR" dirty="0">
                <a:solidFill>
                  <a:schemeClr val="tx1">
                    <a:lumMod val="75000"/>
                    <a:lumOff val="25000"/>
                  </a:schemeClr>
                </a:solidFill>
              </a:rPr>
              <a:t>)</a:t>
            </a:r>
            <a:endParaRPr lang="en-US" dirty="0">
              <a:solidFill>
                <a:schemeClr val="tx1">
                  <a:lumMod val="75000"/>
                  <a:lumOff val="25000"/>
                </a:schemeClr>
              </a:solidFill>
            </a:endParaRPr>
          </a:p>
        </p:txBody>
      </p:sp>
      <p:sp>
        <p:nvSpPr>
          <p:cNvPr id="3" name="Content Placeholder 2"/>
          <p:cNvSpPr>
            <a:spLocks noGrp="1"/>
          </p:cNvSpPr>
          <p:nvPr>
            <p:ph idx="1"/>
          </p:nvPr>
        </p:nvSpPr>
        <p:spPr>
          <a:xfrm>
            <a:off x="457200" y="1600200"/>
            <a:ext cx="8458200" cy="5029200"/>
          </a:xfrm>
        </p:spPr>
        <p:txBody>
          <a:bodyPr rtlCol="0">
            <a:normAutofit fontScale="77500" lnSpcReduction="20000"/>
          </a:bodyPr>
          <a:lstStyle/>
          <a:p>
            <a:pPr eaLnBrk="1" fontAlgn="auto" hangingPunct="1">
              <a:spcAft>
                <a:spcPts val="0"/>
              </a:spcAft>
              <a:buFont typeface="Arial" pitchFamily="34" charset="0"/>
              <a:buChar char="•"/>
              <a:defRPr/>
            </a:pPr>
            <a:r>
              <a:rPr lang="el-GR" sz="3100" dirty="0"/>
              <a:t>Αποτελούνται από ένα στέλεχος, την ορθή απάντηση και τις παρεμβολές. </a:t>
            </a:r>
          </a:p>
          <a:p>
            <a:pPr eaLnBrk="1" fontAlgn="auto" hangingPunct="1">
              <a:spcAft>
                <a:spcPts val="0"/>
              </a:spcAft>
              <a:buFont typeface="Arial" pitchFamily="34" charset="0"/>
              <a:buChar char="•"/>
              <a:defRPr/>
            </a:pPr>
            <a:endParaRPr lang="el-GR" sz="3100" dirty="0"/>
          </a:p>
          <a:p>
            <a:pPr eaLnBrk="1" fontAlgn="auto" hangingPunct="1">
              <a:spcAft>
                <a:spcPts val="0"/>
              </a:spcAft>
              <a:buFont typeface="Arial" pitchFamily="34" charset="0"/>
              <a:buChar char="•"/>
              <a:defRPr/>
            </a:pPr>
            <a:r>
              <a:rPr lang="el-GR" sz="3100" dirty="0"/>
              <a:t>Το στέλεχος μπορεί να είναι παραστατικής ή ερμηνευτικής ή ερωτηματικής μορφής.</a:t>
            </a:r>
          </a:p>
          <a:p>
            <a:pPr eaLnBrk="1" fontAlgn="auto" hangingPunct="1">
              <a:spcAft>
                <a:spcPts val="0"/>
              </a:spcAft>
              <a:buFont typeface="Arial" pitchFamily="34" charset="0"/>
              <a:buChar char="•"/>
              <a:defRPr/>
            </a:pPr>
            <a:endParaRPr lang="el-GR" sz="3100" dirty="0"/>
          </a:p>
          <a:p>
            <a:pPr eaLnBrk="1" fontAlgn="auto" hangingPunct="1">
              <a:spcAft>
                <a:spcPts val="0"/>
              </a:spcAft>
              <a:buFont typeface="Wingdings" pitchFamily="2" charset="2"/>
              <a:buChar char="Ø"/>
              <a:defRPr/>
            </a:pPr>
            <a:r>
              <a:rPr lang="el-GR" sz="3100" b="1" dirty="0">
                <a:solidFill>
                  <a:srgbClr val="0070C0"/>
                </a:solidFill>
              </a:rPr>
              <a:t>παραστατικής μορφής</a:t>
            </a:r>
            <a:r>
              <a:rPr lang="el-GR" sz="3100" dirty="0"/>
              <a:t>: δίνεται  διάγραμμα /γραφική παράσταση/πίνακας /χάρτης, που χρησιμεύει ως βάση για να τεθεί το ερώτημα. </a:t>
            </a:r>
          </a:p>
          <a:p>
            <a:pPr eaLnBrk="1" fontAlgn="auto" hangingPunct="1">
              <a:spcAft>
                <a:spcPts val="0"/>
              </a:spcAft>
              <a:buFont typeface="Wingdings" pitchFamily="2" charset="2"/>
              <a:buChar char="Ø"/>
              <a:defRPr/>
            </a:pPr>
            <a:r>
              <a:rPr lang="el-GR" sz="3100" b="1" dirty="0">
                <a:solidFill>
                  <a:srgbClr val="0070C0"/>
                </a:solidFill>
              </a:rPr>
              <a:t>ερμηνευτικής μορφής</a:t>
            </a:r>
            <a:r>
              <a:rPr lang="el-GR" sz="3100" dirty="0"/>
              <a:t>: δίνεται στους μαθητές ένα κείμενο και στη συνέχεια τίθενται ερωτήσεις ερμηνείας του κειμένου υπό μορφή πολλαπλής εκλογής.</a:t>
            </a:r>
          </a:p>
          <a:p>
            <a:pPr eaLnBrk="1" fontAlgn="auto" hangingPunct="1">
              <a:spcAft>
                <a:spcPts val="0"/>
              </a:spcAft>
              <a:buFont typeface="Wingdings" pitchFamily="2" charset="2"/>
              <a:buChar char="Ø"/>
              <a:defRPr/>
            </a:pPr>
            <a:r>
              <a:rPr lang="el-GR" sz="3100" b="1" dirty="0">
                <a:solidFill>
                  <a:srgbClr val="0070C0"/>
                </a:solidFill>
              </a:rPr>
              <a:t>ερωτηματικής μορφής</a:t>
            </a:r>
            <a:r>
              <a:rPr lang="el-GR" sz="3100" dirty="0"/>
              <a:t>: τίθεται το πρόβλημα ή το ερώτημα απευθείας και στη συνέχεια οι σχετικές επιλογές που μπορεί να κάνει ο μαθητής.</a:t>
            </a:r>
            <a:endParaRPr lang="en-US" sz="3100" dirty="0"/>
          </a:p>
          <a:p>
            <a:pPr eaLnBrk="1" fontAlgn="auto" hangingPunct="1">
              <a:spcAft>
                <a:spcPts val="0"/>
              </a:spcAft>
              <a:buFont typeface="Arial" pitchFamily="34" charset="0"/>
              <a:buChar char="•"/>
              <a:defRPr/>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44563"/>
          </a:xfrm>
        </p:spPr>
        <p:txBody>
          <a:bodyPr rtlCol="0">
            <a:normAutofit/>
          </a:bodyPr>
          <a:lstStyle/>
          <a:p>
            <a:pPr eaLnBrk="1" fontAlgn="auto" hangingPunct="1">
              <a:spcAft>
                <a:spcPts val="0"/>
              </a:spcAft>
              <a:defRPr/>
            </a:pPr>
            <a:r>
              <a:rPr lang="el-GR" b="1" dirty="0">
                <a:solidFill>
                  <a:schemeClr val="tx1">
                    <a:lumMod val="75000"/>
                    <a:lumOff val="25000"/>
                  </a:schemeClr>
                </a:solidFill>
              </a:rPr>
              <a:t>Ερωτήσεις πολλαπλής επιλογής</a:t>
            </a:r>
            <a:endParaRPr lang="en-US" dirty="0">
              <a:solidFill>
                <a:schemeClr val="tx1">
                  <a:lumMod val="75000"/>
                  <a:lumOff val="25000"/>
                </a:schemeClr>
              </a:solidFill>
            </a:endParaRPr>
          </a:p>
        </p:txBody>
      </p:sp>
      <p:sp>
        <p:nvSpPr>
          <p:cNvPr id="3" name="Content Placeholder 2"/>
          <p:cNvSpPr>
            <a:spLocks noGrp="1"/>
          </p:cNvSpPr>
          <p:nvPr>
            <p:ph idx="1"/>
          </p:nvPr>
        </p:nvSpPr>
        <p:spPr>
          <a:xfrm>
            <a:off x="457200" y="990600"/>
            <a:ext cx="8458200" cy="5562600"/>
          </a:xfrm>
        </p:spPr>
        <p:txBody>
          <a:bodyPr rtlCol="0">
            <a:normAutofit lnSpcReduction="10000"/>
          </a:bodyPr>
          <a:lstStyle/>
          <a:p>
            <a:pPr eaLnBrk="1" fontAlgn="auto" hangingPunct="1">
              <a:spcAft>
                <a:spcPts val="0"/>
              </a:spcAft>
              <a:buFont typeface="Arial" pitchFamily="34" charset="0"/>
              <a:buChar char="•"/>
              <a:defRPr/>
            </a:pPr>
            <a:r>
              <a:rPr lang="el-GR" sz="2600" dirty="0"/>
              <a:t>Μπορούμε να έχουμε τέσσερις ή και πέντε επιλογές. </a:t>
            </a:r>
          </a:p>
          <a:p>
            <a:pPr marL="0" indent="0" eaLnBrk="1" fontAlgn="auto" hangingPunct="1">
              <a:spcAft>
                <a:spcPts val="0"/>
              </a:spcAft>
              <a:buFont typeface="Arial" pitchFamily="34" charset="0"/>
              <a:buNone/>
              <a:defRPr/>
            </a:pPr>
            <a:endParaRPr lang="el-GR" sz="2600" dirty="0"/>
          </a:p>
          <a:p>
            <a:pPr eaLnBrk="1" fontAlgn="auto" hangingPunct="1">
              <a:spcAft>
                <a:spcPts val="0"/>
              </a:spcAft>
              <a:buFont typeface="Arial" pitchFamily="34" charset="0"/>
              <a:buChar char="•"/>
              <a:defRPr/>
            </a:pPr>
            <a:r>
              <a:rPr lang="el-GR" sz="2600" dirty="0"/>
              <a:t>Στην περίπτωση που οι επιλογές είναι τέσσερις, η πιθανότητα να βρει τυχαία την ορθή απάντηση ο μαθητής (0.25) είναι μεγαλύτερη από την περίπτωση που οι επιλογές είναι πέντε (0.20).</a:t>
            </a:r>
          </a:p>
          <a:p>
            <a:pPr eaLnBrk="1" fontAlgn="auto" hangingPunct="1">
              <a:spcAft>
                <a:spcPts val="0"/>
              </a:spcAft>
              <a:buFont typeface="Arial" pitchFamily="34" charset="0"/>
              <a:buChar char="•"/>
              <a:defRPr/>
            </a:pPr>
            <a:r>
              <a:rPr lang="el-GR" sz="2600" dirty="0"/>
              <a:t>Η κατασκευή ερωτήσεων με 5 επιλογές είναι δυσκολότερη. </a:t>
            </a:r>
          </a:p>
          <a:p>
            <a:pPr eaLnBrk="1" fontAlgn="auto" hangingPunct="1">
              <a:spcAft>
                <a:spcPts val="0"/>
              </a:spcAft>
              <a:buFont typeface="Arial" pitchFamily="34" charset="0"/>
              <a:buChar char="•"/>
              <a:defRPr/>
            </a:pPr>
            <a:r>
              <a:rPr lang="el-GR" sz="2600" dirty="0"/>
              <a:t>Επίσης, ο βαθμός δυσκολίας μιας ερώτησης πολλαπλής εκλογής με 5 επιλογές είναι μεγαλύτερος και ο χρόνος που χρειάζεται να απαντηθεί μια ερώτηση με 5 επιλογές περισσότερος. </a:t>
            </a:r>
          </a:p>
          <a:p>
            <a:pPr eaLnBrk="1" fontAlgn="auto" hangingPunct="1">
              <a:spcAft>
                <a:spcPts val="0"/>
              </a:spcAft>
              <a:buFont typeface="Arial" pitchFamily="34" charset="0"/>
              <a:buChar char="•"/>
              <a:defRPr/>
            </a:pPr>
            <a:r>
              <a:rPr lang="el-GR" sz="2600" dirty="0"/>
              <a:t>Εμπειρικές έρευνες καταλήγουν στο συμπέρασμα ότι είναι προτιμότερη η κατασκευή ερωτήσεων με 4 αντί με 5 επιλογές.  </a:t>
            </a:r>
            <a:endParaRPr lang="en-US" sz="2600" dirty="0"/>
          </a:p>
          <a:p>
            <a:pPr eaLnBrk="1" fontAlgn="auto" hangingPunct="1">
              <a:spcAft>
                <a:spcPts val="0"/>
              </a:spcAft>
              <a:buFont typeface="Arial" pitchFamily="34" charset="0"/>
              <a:buChar char="•"/>
              <a:defRPr/>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44563"/>
          </a:xfrm>
        </p:spPr>
        <p:txBody>
          <a:bodyPr rtlCol="0">
            <a:normAutofit/>
          </a:bodyPr>
          <a:lstStyle/>
          <a:p>
            <a:pPr eaLnBrk="1" fontAlgn="auto" hangingPunct="1">
              <a:spcAft>
                <a:spcPts val="0"/>
              </a:spcAft>
              <a:defRPr/>
            </a:pPr>
            <a:r>
              <a:rPr lang="el-GR" b="1" dirty="0">
                <a:solidFill>
                  <a:schemeClr val="tx1">
                    <a:lumMod val="75000"/>
                    <a:lumOff val="25000"/>
                  </a:schemeClr>
                </a:solidFill>
              </a:rPr>
              <a:t>Ερωτήσεις πολλαπλής επιλογής</a:t>
            </a:r>
            <a:endParaRPr lang="en-US" dirty="0">
              <a:solidFill>
                <a:schemeClr val="tx1">
                  <a:lumMod val="75000"/>
                  <a:lumOff val="25000"/>
                </a:schemeClr>
              </a:solidFill>
            </a:endParaRPr>
          </a:p>
        </p:txBody>
      </p:sp>
      <p:sp>
        <p:nvSpPr>
          <p:cNvPr id="3" name="Content Placeholder 2"/>
          <p:cNvSpPr>
            <a:spLocks noGrp="1"/>
          </p:cNvSpPr>
          <p:nvPr>
            <p:ph idx="1"/>
          </p:nvPr>
        </p:nvSpPr>
        <p:spPr>
          <a:xfrm>
            <a:off x="533400" y="990600"/>
            <a:ext cx="8458200" cy="5562600"/>
          </a:xfrm>
        </p:spPr>
        <p:txBody>
          <a:bodyPr rtlCol="0">
            <a:normAutofit/>
          </a:bodyPr>
          <a:lstStyle/>
          <a:p>
            <a:pPr marL="0" indent="0" eaLnBrk="1" fontAlgn="auto" hangingPunct="1">
              <a:spcAft>
                <a:spcPts val="0"/>
              </a:spcAft>
              <a:buFont typeface="Arial" pitchFamily="34" charset="0"/>
              <a:buNone/>
              <a:defRPr/>
            </a:pPr>
            <a:r>
              <a:rPr lang="el-GR" sz="2800" u="sng" dirty="0">
                <a:solidFill>
                  <a:srgbClr val="0070C0"/>
                </a:solidFill>
              </a:rPr>
              <a:t>Ποιότητα των ερωτήσεων πολλαπλής επιλογής </a:t>
            </a:r>
          </a:p>
          <a:p>
            <a:pPr eaLnBrk="1" fontAlgn="auto" hangingPunct="1">
              <a:spcAft>
                <a:spcPts val="0"/>
              </a:spcAft>
              <a:buFont typeface="Wingdings" pitchFamily="2" charset="2"/>
              <a:buChar char="ü"/>
              <a:defRPr/>
            </a:pPr>
            <a:r>
              <a:rPr lang="el-GR" sz="2400" dirty="0"/>
              <a:t>ομοιογενείς και ως προς τη σχέση τους αλλά και γραμματικά. </a:t>
            </a:r>
          </a:p>
          <a:p>
            <a:pPr eaLnBrk="1" fontAlgn="auto" hangingPunct="1">
              <a:spcAft>
                <a:spcPts val="0"/>
              </a:spcAft>
              <a:buFont typeface="Wingdings" pitchFamily="2" charset="2"/>
              <a:buChar char="ü"/>
              <a:defRPr/>
            </a:pPr>
            <a:r>
              <a:rPr lang="el-GR" sz="2400" dirty="0"/>
              <a:t>δεν πρέπει να αποκλείει η μια ξεκάθαρα την άλλη. </a:t>
            </a:r>
          </a:p>
          <a:p>
            <a:pPr eaLnBrk="1" fontAlgn="auto" hangingPunct="1">
              <a:spcAft>
                <a:spcPts val="0"/>
              </a:spcAft>
              <a:buFont typeface="Arial" pitchFamily="34" charset="0"/>
              <a:buChar char="•"/>
              <a:defRPr/>
            </a:pPr>
            <a:r>
              <a:rPr lang="el-GR" sz="2400" dirty="0"/>
              <a:t>Έλεγχος της ποιότητας των ερωτήσεων πολλαπλής εκλογής μπορεί να γίνει και με ανάλυση των αποτελεσμάτων που θα προκύψουν από τη χορήγηση των ερωτήσεων του δοκιμίου σε μεγάλο αριθμό μαθητών (</a:t>
            </a:r>
            <a:r>
              <a:rPr lang="en-US" sz="2400" dirty="0"/>
              <a:t>Calculation of facility values</a:t>
            </a:r>
            <a:r>
              <a:rPr lang="el-GR" sz="2400" dirty="0"/>
              <a:t>). </a:t>
            </a:r>
          </a:p>
          <a:p>
            <a:pPr eaLnBrk="1" fontAlgn="auto" hangingPunct="1">
              <a:spcAft>
                <a:spcPts val="0"/>
              </a:spcAft>
              <a:buFont typeface="Arial" pitchFamily="34" charset="0"/>
              <a:buChar char="•"/>
              <a:defRPr/>
            </a:pPr>
            <a:r>
              <a:rPr lang="el-GR" sz="2400" dirty="0"/>
              <a:t>Πιο συγκεκριμένα, μπορούμε να ελέγξουμε τα ποσοστά επιλογής της κάθε παρεμβολής και σε περίπτωση που κάποιο είναι μικρότερο του 5% θα πρέπει να αντικαταστήσουμε την αντίστοιχη παρεμβολή με μια καλύτερη.</a:t>
            </a:r>
          </a:p>
          <a:p>
            <a:pPr eaLnBrk="1" fontAlgn="auto" hangingPunct="1">
              <a:spcAft>
                <a:spcPts val="0"/>
              </a:spcAft>
              <a:buFont typeface="Arial" pitchFamily="34" charset="0"/>
              <a:buChar char="•"/>
              <a:defRPr/>
            </a:pPr>
            <a:endParaRPr lang="el-GR" sz="2400" dirty="0"/>
          </a:p>
          <a:p>
            <a:pPr marL="0" indent="0" eaLnBrk="1" fontAlgn="auto" hangingPunct="1">
              <a:spcAft>
                <a:spcPts val="0"/>
              </a:spcAft>
              <a:buFont typeface="Arial" pitchFamily="34" charset="0"/>
              <a:buNone/>
              <a:defRPr/>
            </a:pPr>
            <a:r>
              <a:rPr lang="el-GR" sz="2400" dirty="0"/>
              <a:t>     </a:t>
            </a:r>
            <a:endParaRPr lang="en-US" sz="2400" dirty="0"/>
          </a:p>
          <a:p>
            <a:pPr eaLnBrk="1" fontAlgn="auto" hangingPunct="1">
              <a:spcAft>
                <a:spcPts val="0"/>
              </a:spcAft>
              <a:buFont typeface="Arial" pitchFamily="34" charset="0"/>
              <a:buChar char="•"/>
              <a:defRPr/>
            </a:pPr>
            <a:endParaRPr lang="en-US" dirty="0"/>
          </a:p>
        </p:txBody>
      </p:sp>
      <p:sp>
        <p:nvSpPr>
          <p:cNvPr id="4" name="Action Button: Information 3">
            <a:hlinkClick r:id="" action="ppaction://noaction" highlightClick="1"/>
          </p:cNvPr>
          <p:cNvSpPr/>
          <p:nvPr/>
        </p:nvSpPr>
        <p:spPr>
          <a:xfrm>
            <a:off x="617538" y="5891213"/>
            <a:ext cx="533400" cy="533400"/>
          </a:xfrm>
          <a:prstGeom prst="actionButtonInformati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389" name="TextBox 5"/>
          <p:cNvSpPr txBox="1">
            <a:spLocks noChangeArrowheads="1"/>
          </p:cNvSpPr>
          <p:nvPr/>
        </p:nvSpPr>
        <p:spPr bwMode="auto">
          <a:xfrm>
            <a:off x="1404938" y="5803900"/>
            <a:ext cx="7391400" cy="708025"/>
          </a:xfrm>
          <a:prstGeom prst="rect">
            <a:avLst/>
          </a:prstGeom>
          <a:noFill/>
          <a:ln w="9525">
            <a:noFill/>
            <a:miter lim="800000"/>
            <a:headEnd/>
            <a:tailEnd/>
          </a:ln>
        </p:spPr>
        <p:txBody>
          <a:bodyPr>
            <a:spAutoFit/>
          </a:bodyPr>
          <a:lstStyle/>
          <a:p>
            <a:r>
              <a:rPr lang="el-GR" sz="2000" b="1"/>
              <a:t>Όσο εύκολο είναι να διορθώσει κανείς τις ερωτήσεις πολλαπλής επιλογής τόσο δύσκολο είναι να τις κατασκευάσει.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44563"/>
          </a:xfrm>
        </p:spPr>
        <p:txBody>
          <a:bodyPr rtlCol="0">
            <a:normAutofit/>
          </a:bodyPr>
          <a:lstStyle/>
          <a:p>
            <a:pPr eaLnBrk="1" fontAlgn="auto" hangingPunct="1">
              <a:spcAft>
                <a:spcPts val="0"/>
              </a:spcAft>
              <a:defRPr/>
            </a:pPr>
            <a:r>
              <a:rPr lang="el-GR" b="1" dirty="0">
                <a:solidFill>
                  <a:schemeClr val="tx1">
                    <a:lumMod val="75000"/>
                    <a:lumOff val="25000"/>
                  </a:schemeClr>
                </a:solidFill>
              </a:rPr>
              <a:t>Ερωτήσεις του τύπου “ορθό - λάθος”</a:t>
            </a:r>
            <a:endParaRPr lang="en-US" dirty="0">
              <a:solidFill>
                <a:schemeClr val="tx1">
                  <a:lumMod val="75000"/>
                  <a:lumOff val="25000"/>
                </a:schemeClr>
              </a:solidFill>
            </a:endParaRPr>
          </a:p>
        </p:txBody>
      </p:sp>
      <p:sp>
        <p:nvSpPr>
          <p:cNvPr id="3" name="Content Placeholder 2"/>
          <p:cNvSpPr>
            <a:spLocks noGrp="1"/>
          </p:cNvSpPr>
          <p:nvPr>
            <p:ph idx="1"/>
          </p:nvPr>
        </p:nvSpPr>
        <p:spPr>
          <a:xfrm>
            <a:off x="228600" y="914400"/>
            <a:ext cx="8763000" cy="5638800"/>
          </a:xfrm>
        </p:spPr>
        <p:txBody>
          <a:bodyPr rtlCol="0">
            <a:normAutofit fontScale="77500" lnSpcReduction="20000"/>
          </a:bodyPr>
          <a:lstStyle/>
          <a:p>
            <a:pPr eaLnBrk="1" fontAlgn="auto">
              <a:spcAft>
                <a:spcPts val="0"/>
              </a:spcAft>
              <a:buFont typeface="Arial" pitchFamily="34" charset="0"/>
              <a:buChar char="•"/>
              <a:defRPr/>
            </a:pPr>
            <a:r>
              <a:rPr lang="el-GR" sz="2800" dirty="0"/>
              <a:t>Στις ερωτήσεις αυτού του τύπου καλείται ο μαθητής να απαντήσει αν κάτι που εκφράζεται στο στέλεχος της ερώτησης είναι λανθασμένο ή ορθό. </a:t>
            </a:r>
            <a:endParaRPr lang="en-US" sz="2800" dirty="0"/>
          </a:p>
          <a:p>
            <a:pPr eaLnBrk="1" fontAlgn="auto">
              <a:spcAft>
                <a:spcPts val="0"/>
              </a:spcAft>
              <a:buFont typeface="Arial" pitchFamily="34" charset="0"/>
              <a:buChar char="•"/>
              <a:defRPr/>
            </a:pPr>
            <a:r>
              <a:rPr lang="el-GR" sz="2800" dirty="0"/>
              <a:t>Η διατύπωση αυτού του τύπου ερωτήσεων εμπεριέχει δυσκολία, γιατί είναι δύσκολο να εντοπιστεί μια ερώτηση σχετική με την εξεταζόμενη ύλη στην οποία υπάρχει μια απάντηση του τύπου ορθό-λάθος. </a:t>
            </a:r>
          </a:p>
          <a:p>
            <a:pPr eaLnBrk="1" fontAlgn="auto">
              <a:spcAft>
                <a:spcPts val="0"/>
              </a:spcAft>
              <a:buFont typeface="Arial" pitchFamily="34" charset="0"/>
              <a:buChar char="•"/>
              <a:defRPr/>
            </a:pPr>
            <a:r>
              <a:rPr lang="el-GR" sz="2800" dirty="0"/>
              <a:t>Μεγαλύτερη δυσκολία σημειώνεται στο να διατυπωθούν ερωτήσεις του τύπου αυτού που δεν θα αναφέρονται σε γεγονότα αλλά σε ερμηνείες ή κρίσεις.</a:t>
            </a:r>
            <a:endParaRPr lang="en-US" sz="2800" dirty="0"/>
          </a:p>
          <a:p>
            <a:pPr eaLnBrk="1" fontAlgn="auto">
              <a:spcAft>
                <a:spcPts val="0"/>
              </a:spcAft>
              <a:buFont typeface="Arial" pitchFamily="34" charset="0"/>
              <a:buChar char="•"/>
              <a:defRPr/>
            </a:pPr>
            <a:r>
              <a:rPr lang="el-GR" sz="2800" dirty="0"/>
              <a:t>Σημαντικό τους μειονέκτημα είναι ότι υπόκεινται στην επίδραση του παράγοντα τύχη. </a:t>
            </a:r>
          </a:p>
          <a:p>
            <a:pPr eaLnBrk="1" fontAlgn="auto">
              <a:spcAft>
                <a:spcPts val="0"/>
              </a:spcAft>
              <a:buFont typeface="Arial" pitchFamily="34" charset="0"/>
              <a:buChar char="•"/>
              <a:defRPr/>
            </a:pPr>
            <a:r>
              <a:rPr lang="el-GR" sz="2800" dirty="0"/>
              <a:t>Το πλεονέκτημά τους είναι ως προς το χρόνο διόρθωσης αλλά και ως προς την ταχύτητα με την οποία είναι δυνατόν να δοθούν οι απαντήσεις. </a:t>
            </a:r>
          </a:p>
          <a:p>
            <a:pPr eaLnBrk="1" fontAlgn="auto">
              <a:spcAft>
                <a:spcPts val="0"/>
              </a:spcAft>
              <a:buFont typeface="Arial" pitchFamily="34" charset="0"/>
              <a:buChar char="•"/>
              <a:defRPr/>
            </a:pPr>
            <a:r>
              <a:rPr lang="el-GR" sz="2800" dirty="0"/>
              <a:t>Μπορεί να χρησιμοποιηθούν περισσότερες ερωτήσεις αυτού του τύπου και έτσι να καλυφθεί η εξεταζόμενη ύλη με μεγαλύτερη ευκολία.</a:t>
            </a:r>
            <a:endParaRPr lang="en-US" sz="2800" dirty="0"/>
          </a:p>
          <a:p>
            <a:pPr eaLnBrk="1" fontAlgn="auto" hangingPunct="1">
              <a:spcAft>
                <a:spcPts val="0"/>
              </a:spcAft>
              <a:buFont typeface="Arial" pitchFamily="34" charset="0"/>
              <a:buChar char="•"/>
              <a:defRPr/>
            </a:pPr>
            <a:endParaRPr lang="el-GR" sz="2400" dirty="0"/>
          </a:p>
          <a:p>
            <a:pPr marL="0" indent="0" eaLnBrk="1" fontAlgn="auto" hangingPunct="1">
              <a:spcAft>
                <a:spcPts val="0"/>
              </a:spcAft>
              <a:buFont typeface="Arial" pitchFamily="34" charset="0"/>
              <a:buNone/>
              <a:defRPr/>
            </a:pPr>
            <a:r>
              <a:rPr lang="el-GR" sz="2400" dirty="0"/>
              <a:t>     </a:t>
            </a:r>
            <a:endParaRPr lang="en-US" sz="2400" dirty="0"/>
          </a:p>
          <a:p>
            <a:pPr eaLnBrk="1" fontAlgn="auto" hangingPunct="1">
              <a:spcAft>
                <a:spcPts val="0"/>
              </a:spcAft>
              <a:buFont typeface="Arial" pitchFamily="34" charset="0"/>
              <a:buChar char="•"/>
              <a:defRPr/>
            </a:pPr>
            <a:endParaRPr lang="en-US" dirty="0"/>
          </a:p>
        </p:txBody>
      </p:sp>
      <p:sp>
        <p:nvSpPr>
          <p:cNvPr id="4" name="Action Button: Information 3">
            <a:hlinkClick r:id="" action="ppaction://noaction" highlightClick="1"/>
          </p:cNvPr>
          <p:cNvSpPr/>
          <p:nvPr/>
        </p:nvSpPr>
        <p:spPr>
          <a:xfrm>
            <a:off x="350838" y="5867400"/>
            <a:ext cx="533400" cy="533400"/>
          </a:xfrm>
          <a:prstGeom prst="actionButtonInformati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413" name="TextBox 5"/>
          <p:cNvSpPr txBox="1">
            <a:spLocks noChangeArrowheads="1"/>
          </p:cNvSpPr>
          <p:nvPr/>
        </p:nvSpPr>
        <p:spPr bwMode="auto">
          <a:xfrm>
            <a:off x="1143000" y="5780088"/>
            <a:ext cx="7391400" cy="708025"/>
          </a:xfrm>
          <a:prstGeom prst="rect">
            <a:avLst/>
          </a:prstGeom>
          <a:noFill/>
          <a:ln w="9525">
            <a:noFill/>
            <a:miter lim="800000"/>
            <a:headEnd/>
            <a:tailEnd/>
          </a:ln>
        </p:spPr>
        <p:txBody>
          <a:bodyPr>
            <a:spAutoFit/>
          </a:bodyPr>
          <a:lstStyle/>
          <a:p>
            <a:pPr hangingPunct="0"/>
            <a:r>
              <a:rPr lang="el-GR" sz="2000" b="1"/>
              <a:t>Αναλύσεις δοκιμίων με ερωτήσεις του τύπου ορθό - λάθος αποκαλύπτουν πως είναι ιδιαίτερα έγκυρα.</a:t>
            </a:r>
            <a:endParaRPr lang="en-US" sz="20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52400"/>
            <a:ext cx="8229600" cy="944563"/>
          </a:xfrm>
        </p:spPr>
        <p:txBody>
          <a:bodyPr rtlCol="0">
            <a:normAutofit fontScale="90000"/>
          </a:bodyPr>
          <a:lstStyle/>
          <a:p>
            <a:pPr eaLnBrk="1" fontAlgn="auto">
              <a:spcAft>
                <a:spcPts val="0"/>
              </a:spcAft>
              <a:defRPr/>
            </a:pPr>
            <a:r>
              <a:rPr lang="el-GR" b="1" dirty="0">
                <a:solidFill>
                  <a:schemeClr val="tx1">
                    <a:lumMod val="75000"/>
                    <a:lumOff val="25000"/>
                  </a:schemeClr>
                </a:solidFill>
              </a:rPr>
              <a:t>Ερωτήσεις σύζευξης/συσχέτισης </a:t>
            </a:r>
            <a:r>
              <a:rPr lang="el-GR" dirty="0">
                <a:solidFill>
                  <a:schemeClr val="tx1">
                    <a:lumMod val="75000"/>
                    <a:lumOff val="25000"/>
                  </a:schemeClr>
                </a:solidFill>
              </a:rPr>
              <a:t>(</a:t>
            </a:r>
            <a:r>
              <a:rPr lang="en-US" dirty="0">
                <a:solidFill>
                  <a:schemeClr val="tx1">
                    <a:lumMod val="75000"/>
                    <a:lumOff val="25000"/>
                  </a:schemeClr>
                </a:solidFill>
              </a:rPr>
              <a:t>matching questions</a:t>
            </a:r>
            <a:r>
              <a:rPr lang="el-GR" dirty="0">
                <a:solidFill>
                  <a:schemeClr val="tx1">
                    <a:lumMod val="75000"/>
                    <a:lumOff val="25000"/>
                  </a:schemeClr>
                </a:solidFill>
              </a:rPr>
              <a:t>)</a:t>
            </a:r>
            <a:endParaRPr lang="en-US" dirty="0">
              <a:solidFill>
                <a:schemeClr val="tx1">
                  <a:lumMod val="75000"/>
                  <a:lumOff val="25000"/>
                </a:schemeClr>
              </a:solidFill>
            </a:endParaRPr>
          </a:p>
        </p:txBody>
      </p:sp>
      <p:sp>
        <p:nvSpPr>
          <p:cNvPr id="3" name="Content Placeholder 2"/>
          <p:cNvSpPr>
            <a:spLocks noGrp="1"/>
          </p:cNvSpPr>
          <p:nvPr>
            <p:ph idx="1"/>
          </p:nvPr>
        </p:nvSpPr>
        <p:spPr>
          <a:xfrm>
            <a:off x="304800" y="1219200"/>
            <a:ext cx="8534400" cy="5410200"/>
          </a:xfrm>
        </p:spPr>
        <p:txBody>
          <a:bodyPr rtlCol="0">
            <a:normAutofit lnSpcReduction="10000"/>
          </a:bodyPr>
          <a:lstStyle/>
          <a:p>
            <a:pPr marL="0" indent="0" eaLnBrk="1" fontAlgn="auto" hangingPunct="1">
              <a:spcAft>
                <a:spcPts val="0"/>
              </a:spcAft>
              <a:buFont typeface="Arial" pitchFamily="34" charset="0"/>
              <a:buNone/>
              <a:defRPr/>
            </a:pPr>
            <a:r>
              <a:rPr lang="el-GR" sz="2400" dirty="0"/>
              <a:t>     </a:t>
            </a:r>
            <a:endParaRPr lang="en-US" sz="2400" dirty="0"/>
          </a:p>
          <a:p>
            <a:pPr eaLnBrk="1" fontAlgn="auto" hangingPunct="1">
              <a:spcAft>
                <a:spcPts val="0"/>
              </a:spcAft>
              <a:buFont typeface="Arial" pitchFamily="34" charset="0"/>
              <a:buChar char="•"/>
              <a:defRPr/>
            </a:pPr>
            <a:r>
              <a:rPr lang="el-GR" sz="2400" dirty="0"/>
              <a:t>Δίνεται στο μαθητή μια στήλη από διάφορα στοιχεία και του ζητείται να συσχετίσει το κάθε στοιχείο της στήλης αυτής με τα στοιχεία μιας δεύτερης στήλης. </a:t>
            </a:r>
          </a:p>
          <a:p>
            <a:pPr eaLnBrk="1" fontAlgn="auto" hangingPunct="1">
              <a:spcAft>
                <a:spcPts val="0"/>
              </a:spcAft>
              <a:buFont typeface="Arial" pitchFamily="34" charset="0"/>
              <a:buChar char="•"/>
              <a:defRPr/>
            </a:pPr>
            <a:endParaRPr lang="el-GR" sz="2400" dirty="0"/>
          </a:p>
          <a:p>
            <a:pPr eaLnBrk="1" fontAlgn="auto" hangingPunct="1">
              <a:spcAft>
                <a:spcPts val="0"/>
              </a:spcAft>
              <a:buFont typeface="Arial" pitchFamily="34" charset="0"/>
              <a:buChar char="•"/>
              <a:defRPr/>
            </a:pPr>
            <a:r>
              <a:rPr lang="el-GR" sz="2400" dirty="0"/>
              <a:t>Είναι δυνατόν να δοθούν και περισσότερες από δύο στήλες.</a:t>
            </a:r>
          </a:p>
          <a:p>
            <a:pPr eaLnBrk="1" fontAlgn="auto" hangingPunct="1">
              <a:spcAft>
                <a:spcPts val="0"/>
              </a:spcAft>
              <a:buFont typeface="Arial" pitchFamily="34" charset="0"/>
              <a:buChar char="•"/>
              <a:defRPr/>
            </a:pPr>
            <a:endParaRPr lang="el-GR" sz="2400" dirty="0"/>
          </a:p>
          <a:p>
            <a:pPr eaLnBrk="1" fontAlgn="auto" hangingPunct="1">
              <a:spcAft>
                <a:spcPts val="0"/>
              </a:spcAft>
              <a:buFont typeface="Arial" pitchFamily="34" charset="0"/>
              <a:buChar char="•"/>
              <a:defRPr/>
            </a:pPr>
            <a:r>
              <a:rPr lang="el-GR" sz="2400" dirty="0"/>
              <a:t> Ο τρόπος αρίθμησης διαφέρει από στήλη σε στήλη </a:t>
            </a:r>
          </a:p>
          <a:p>
            <a:pPr eaLnBrk="1" fontAlgn="auto" hangingPunct="1">
              <a:spcAft>
                <a:spcPts val="0"/>
              </a:spcAft>
              <a:buFont typeface="Arial" pitchFamily="34" charset="0"/>
              <a:buChar char="•"/>
              <a:defRPr/>
            </a:pPr>
            <a:endParaRPr lang="el-GR" sz="2400" dirty="0"/>
          </a:p>
          <a:p>
            <a:pPr eaLnBrk="1" fontAlgn="auto" hangingPunct="1">
              <a:spcAft>
                <a:spcPts val="0"/>
              </a:spcAft>
              <a:buFont typeface="Arial" pitchFamily="34" charset="0"/>
              <a:buChar char="•"/>
              <a:defRPr/>
            </a:pPr>
            <a:r>
              <a:rPr lang="el-GR" sz="2400" dirty="0"/>
              <a:t>η διευθέτηση των στοιχείων γίνεται με τρόπο που να δυσκολεύεται ο μαθητής να κάνει τη σύζευξη. </a:t>
            </a:r>
          </a:p>
          <a:p>
            <a:pPr eaLnBrk="1" fontAlgn="auto" hangingPunct="1">
              <a:spcAft>
                <a:spcPts val="0"/>
              </a:spcAft>
              <a:buFont typeface="Arial" pitchFamily="34" charset="0"/>
              <a:buChar char="•"/>
              <a:defRPr/>
            </a:pPr>
            <a:endParaRPr lang="el-GR" sz="2400" dirty="0"/>
          </a:p>
          <a:p>
            <a:pPr eaLnBrk="1" fontAlgn="auto" hangingPunct="1">
              <a:spcAft>
                <a:spcPts val="0"/>
              </a:spcAft>
              <a:buFont typeface="Arial" pitchFamily="34" charset="0"/>
              <a:buChar char="•"/>
              <a:defRPr/>
            </a:pPr>
            <a:r>
              <a:rPr lang="el-GR" sz="2400" dirty="0"/>
              <a:t>Για το λόγο αυτό, ο αριθμός των στοιχείων που περιλαμβάνονται στις στήλες που υπάρχουν δεν είναι ο ίδιος. </a:t>
            </a:r>
            <a:endParaRPr lang="en-US" sz="2400" dirty="0"/>
          </a:p>
          <a:p>
            <a:pPr eaLnBrk="1" fontAlgn="auto" hangingPunct="1">
              <a:spcAft>
                <a:spcPts val="0"/>
              </a:spcAft>
              <a:buFont typeface="Arial" pitchFamily="34" charset="0"/>
              <a:buChar char="•"/>
              <a:defRPr/>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52400"/>
            <a:ext cx="8229600" cy="685800"/>
          </a:xfrm>
        </p:spPr>
        <p:txBody>
          <a:bodyPr rtlCol="0">
            <a:noAutofit/>
          </a:bodyPr>
          <a:lstStyle/>
          <a:p>
            <a:pPr eaLnBrk="1" fontAlgn="auto">
              <a:spcAft>
                <a:spcPts val="0"/>
              </a:spcAft>
              <a:defRPr/>
            </a:pPr>
            <a:r>
              <a:rPr lang="el-GR" sz="4000" b="1" dirty="0">
                <a:solidFill>
                  <a:schemeClr val="tx1">
                    <a:lumMod val="75000"/>
                    <a:lumOff val="25000"/>
                  </a:schemeClr>
                </a:solidFill>
              </a:rPr>
              <a:t>Ερωτήσεις σύζευξης/συσχέτισης</a:t>
            </a:r>
            <a:endParaRPr lang="en-US" sz="4000" dirty="0">
              <a:solidFill>
                <a:schemeClr val="tx1">
                  <a:lumMod val="75000"/>
                  <a:lumOff val="25000"/>
                </a:schemeClr>
              </a:solidFill>
            </a:endParaRPr>
          </a:p>
        </p:txBody>
      </p:sp>
      <p:sp>
        <p:nvSpPr>
          <p:cNvPr id="19459" name="Content Placeholder 2"/>
          <p:cNvSpPr>
            <a:spLocks noGrp="1"/>
          </p:cNvSpPr>
          <p:nvPr>
            <p:ph idx="1"/>
          </p:nvPr>
        </p:nvSpPr>
        <p:spPr>
          <a:xfrm>
            <a:off x="304800" y="1219200"/>
            <a:ext cx="8534400" cy="5410200"/>
          </a:xfrm>
        </p:spPr>
        <p:txBody>
          <a:bodyPr/>
          <a:lstStyle/>
          <a:p>
            <a:pPr eaLnBrk="1" hangingPunct="1"/>
            <a:r>
              <a:rPr lang="el-GR" sz="2400"/>
              <a:t>Μια ερώτηση σύζευξης είναι δυνατόν να προκύψει μέσα από ένα συνδυασμό ερωτήσεων πολλαπλής επιλογής. </a:t>
            </a:r>
          </a:p>
          <a:p>
            <a:pPr eaLnBrk="1" hangingPunct="1"/>
            <a:endParaRPr lang="el-GR" sz="2400"/>
          </a:p>
          <a:p>
            <a:pPr eaLnBrk="1" hangingPunct="1"/>
            <a:r>
              <a:rPr lang="el-GR" sz="2400"/>
              <a:t>Σε μια τέτοια περίπτωση, η πρώτη στήλη μπορεί να περιλαμβάνει θέματα της εξεταστέας ύλης ενώ η δεύτερη της πιθανές απαντήσεις</a:t>
            </a:r>
          </a:p>
          <a:p>
            <a:pPr eaLnBrk="1" hangingPunct="1"/>
            <a:endParaRPr lang="el-GR" sz="2400"/>
          </a:p>
          <a:p>
            <a:pPr eaLnBrk="1" hangingPunct="1"/>
            <a:r>
              <a:rPr lang="el-GR" sz="2400"/>
              <a:t>η αναλογία ανάμεσα στον αριθμό της πρώτης ως προς τη δεύτερη στήλη μπορεί να είναι 4 προς 7 ή 5 προς 8, ώστε να εξασφαλίζεται μέσος βαθμός δυσκολίας. </a:t>
            </a:r>
            <a:endParaRPr 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52400"/>
            <a:ext cx="8229600" cy="685800"/>
          </a:xfrm>
        </p:spPr>
        <p:txBody>
          <a:bodyPr rtlCol="0">
            <a:noAutofit/>
          </a:bodyPr>
          <a:lstStyle/>
          <a:p>
            <a:pPr eaLnBrk="1" fontAlgn="auto">
              <a:spcAft>
                <a:spcPts val="0"/>
              </a:spcAft>
              <a:defRPr/>
            </a:pPr>
            <a:r>
              <a:rPr lang="el-GR" sz="4000" b="1" dirty="0">
                <a:solidFill>
                  <a:schemeClr val="tx1">
                    <a:lumMod val="75000"/>
                    <a:lumOff val="25000"/>
                  </a:schemeClr>
                </a:solidFill>
              </a:rPr>
              <a:t>Ερωτήσεις σύζευξης/συσχέτισης</a:t>
            </a:r>
            <a:endParaRPr lang="en-US" sz="4000" dirty="0">
              <a:solidFill>
                <a:schemeClr val="tx1">
                  <a:lumMod val="75000"/>
                  <a:lumOff val="25000"/>
                </a:schemeClr>
              </a:solidFill>
            </a:endParaRPr>
          </a:p>
        </p:txBody>
      </p:sp>
      <p:sp>
        <p:nvSpPr>
          <p:cNvPr id="3" name="Content Placeholder 2"/>
          <p:cNvSpPr>
            <a:spLocks noGrp="1"/>
          </p:cNvSpPr>
          <p:nvPr>
            <p:ph idx="1"/>
          </p:nvPr>
        </p:nvSpPr>
        <p:spPr>
          <a:xfrm>
            <a:off x="304800" y="1219200"/>
            <a:ext cx="8534400" cy="5410200"/>
          </a:xfrm>
        </p:spPr>
        <p:txBody>
          <a:bodyPr rtlCol="0">
            <a:normAutofit/>
          </a:bodyPr>
          <a:lstStyle/>
          <a:p>
            <a:pPr marL="0" indent="0" eaLnBrk="1" fontAlgn="auto" hangingPunct="1">
              <a:spcAft>
                <a:spcPts val="0"/>
              </a:spcAft>
              <a:buFont typeface="Arial" pitchFamily="34" charset="0"/>
              <a:buNone/>
              <a:defRPr/>
            </a:pPr>
            <a:r>
              <a:rPr lang="el-GR" sz="2400" dirty="0"/>
              <a:t> </a:t>
            </a:r>
            <a:r>
              <a:rPr lang="el-GR" sz="2800" b="1" dirty="0">
                <a:solidFill>
                  <a:srgbClr val="0070C0"/>
                </a:solidFill>
              </a:rPr>
              <a:t>Πλεονεκτήματα</a:t>
            </a:r>
            <a:endParaRPr lang="el-GR" sz="2400" dirty="0"/>
          </a:p>
          <a:p>
            <a:pPr eaLnBrk="1" fontAlgn="auto" hangingPunct="1">
              <a:spcAft>
                <a:spcPts val="0"/>
              </a:spcAft>
              <a:buFont typeface="Wingdings" pitchFamily="2" charset="2"/>
              <a:buChar char="Ø"/>
              <a:defRPr/>
            </a:pPr>
            <a:r>
              <a:rPr lang="el-GR" sz="2400" dirty="0"/>
              <a:t>κάθε ερώτηση εξετάζει ταυτόχρονα ένα μεγάλο εύρος γνώσεων μιας περιοχής της εξεταστέας ύλης.</a:t>
            </a:r>
          </a:p>
          <a:p>
            <a:pPr eaLnBrk="1" fontAlgn="auto" hangingPunct="1">
              <a:spcAft>
                <a:spcPts val="0"/>
              </a:spcAft>
              <a:buFont typeface="Wingdings" pitchFamily="2" charset="2"/>
              <a:buChar char="Ø"/>
              <a:defRPr/>
            </a:pPr>
            <a:r>
              <a:rPr lang="el-GR" sz="2400" dirty="0"/>
              <a:t> Αντίθετα, αν χρησιμοποιούσαμε άλλου τύπου ερωτήσεις αντικειμενικής μορφής, θα χρειαζόμαστε να γράψουμε ένα μεγάλο αριθμό ερωτήσεων, για να καλύψουμε την αντίστοιχη ύλη που καλύφτηκε από μια ερώτηση σύζευξης.</a:t>
            </a:r>
          </a:p>
          <a:p>
            <a:pPr eaLnBrk="1" fontAlgn="auto" hangingPunct="1">
              <a:spcAft>
                <a:spcPts val="0"/>
              </a:spcAft>
              <a:buFont typeface="Wingdings" pitchFamily="2" charset="2"/>
              <a:buChar char="Ø"/>
              <a:defRPr/>
            </a:pPr>
            <a:r>
              <a:rPr lang="el-GR" sz="2400" dirty="0"/>
              <a:t>αρέσουν πολύ στους μαθητές, αφού μοιάζουν με σταυρόλεξο, και η διαδικασία επίλυσης τους θεωρείται περισσότερο ως διασκέδαση παρά ως σχολική εξέταση. </a:t>
            </a:r>
          </a:p>
          <a:p>
            <a:pPr eaLnBrk="1" fontAlgn="auto" hangingPunct="1">
              <a:spcAft>
                <a:spcPts val="0"/>
              </a:spcAft>
              <a:buFont typeface="Wingdings" pitchFamily="2" charset="2"/>
              <a:buChar char="Ø"/>
              <a:defRPr/>
            </a:pPr>
            <a:r>
              <a:rPr lang="el-GR" sz="2400" dirty="0"/>
              <a:t>η πιθανότητα ο μαθητής να απαντήσει ορθά, λόγω τυχαίας επιλογής, είναι πολύ μικρότερη από αντίστοιχες ερωτήσεις κλειστού τύπου (π.χ. πολλαπλής εκλογής). </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σύζευξης/συσχέτισης</a:t>
            </a:r>
            <a:endParaRPr lang="en-US" sz="4000" dirty="0"/>
          </a:p>
        </p:txBody>
      </p:sp>
      <p:graphicFrame>
        <p:nvGraphicFramePr>
          <p:cNvPr id="4" name="Content Placeholder 3"/>
          <p:cNvGraphicFramePr>
            <a:graphicFrameLocks noGrp="1"/>
          </p:cNvGraphicFramePr>
          <p:nvPr>
            <p:ph idx="1"/>
          </p:nvPr>
        </p:nvGraphicFramePr>
        <p:xfrm>
          <a:off x="381000" y="1447800"/>
          <a:ext cx="8229600" cy="5287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σύζευξης/συσχέτισης</a:t>
            </a:r>
            <a:endParaRPr lang="en-US" sz="4000" dirty="0"/>
          </a:p>
        </p:txBody>
      </p:sp>
      <p:sp>
        <p:nvSpPr>
          <p:cNvPr id="3" name="Content Placeholder 2"/>
          <p:cNvSpPr>
            <a:spLocks noGrp="1"/>
          </p:cNvSpPr>
          <p:nvPr>
            <p:ph idx="1"/>
          </p:nvPr>
        </p:nvSpPr>
        <p:spPr>
          <a:xfrm>
            <a:off x="457200" y="1066800"/>
            <a:ext cx="8382000" cy="5486400"/>
          </a:xfrm>
        </p:spPr>
        <p:txBody>
          <a:bodyPr rtlCol="0">
            <a:normAutofit fontScale="77500" lnSpcReduction="20000"/>
          </a:bodyPr>
          <a:lstStyle/>
          <a:p>
            <a:pPr marL="0" indent="0" eaLnBrk="1" fontAlgn="auto">
              <a:spcAft>
                <a:spcPts val="0"/>
              </a:spcAft>
              <a:buFont typeface="Arial" pitchFamily="34" charset="0"/>
              <a:buNone/>
              <a:defRPr/>
            </a:pPr>
            <a:r>
              <a:rPr lang="el-GR" sz="3600" b="1" dirty="0">
                <a:solidFill>
                  <a:srgbClr val="0070C0"/>
                </a:solidFill>
              </a:rPr>
              <a:t>Κατασκευή </a:t>
            </a:r>
          </a:p>
          <a:p>
            <a:pPr marL="0" indent="0" eaLnBrk="1" fontAlgn="auto">
              <a:spcAft>
                <a:spcPts val="0"/>
              </a:spcAft>
              <a:buFont typeface="Arial" pitchFamily="34" charset="0"/>
              <a:buNone/>
              <a:defRPr/>
            </a:pPr>
            <a:endParaRPr lang="el-GR" sz="3600" b="1" dirty="0">
              <a:solidFill>
                <a:srgbClr val="0070C0"/>
              </a:solidFill>
            </a:endParaRPr>
          </a:p>
          <a:p>
            <a:pPr eaLnBrk="1" fontAlgn="auto">
              <a:spcAft>
                <a:spcPts val="0"/>
              </a:spcAft>
              <a:buFont typeface="Wingdings" pitchFamily="2" charset="2"/>
              <a:buChar char="ü"/>
              <a:defRPr/>
            </a:pPr>
            <a:r>
              <a:rPr lang="el-GR" sz="3100" dirty="0"/>
              <a:t>Είναι σημαντικό να γράφονται πλήρεις και σαφείς οδηγίες, οι οποίες να εξηγούν στους μαθητές τι αναμένεται να κάνουν. Για παράδειγμα, θα πρέπει να τους αναφέρεται αν η αντιστοίχιση που θα κάνουν θα είναι 1 προς 1 ή 1 προς 2.</a:t>
            </a:r>
          </a:p>
          <a:p>
            <a:pPr eaLnBrk="1" fontAlgn="auto">
              <a:spcAft>
                <a:spcPts val="0"/>
              </a:spcAft>
              <a:buFont typeface="Arial" pitchFamily="34" charset="0"/>
              <a:buChar char="•"/>
              <a:defRPr/>
            </a:pPr>
            <a:endParaRPr lang="en-US" sz="3100" dirty="0"/>
          </a:p>
          <a:p>
            <a:pPr eaLnBrk="1" fontAlgn="auto">
              <a:spcAft>
                <a:spcPts val="0"/>
              </a:spcAft>
              <a:buFont typeface="Wingdings" pitchFamily="2" charset="2"/>
              <a:buChar char="ü"/>
              <a:defRPr/>
            </a:pPr>
            <a:r>
              <a:rPr lang="el-GR" sz="3100" dirty="0"/>
              <a:t>Θα πρέπει να λάβουμε υπόψη μας πως είναι δυνατόν ο μαθητής να στηριχτεί σε σωστές επιμέρους προσαρμογές και ακούσιες νύξεις για να κάνει τη σύζευξη. Τέτοιες νύξεις μπορεί να έχουν γραμματική, συντακτική και εννοιολογική προέλευση.</a:t>
            </a:r>
          </a:p>
          <a:p>
            <a:pPr eaLnBrk="1" fontAlgn="auto">
              <a:spcAft>
                <a:spcPts val="0"/>
              </a:spcAft>
              <a:buFont typeface="Arial" pitchFamily="34" charset="0"/>
              <a:buChar char="•"/>
              <a:defRPr/>
            </a:pPr>
            <a:endParaRPr lang="en-US" sz="3100" dirty="0"/>
          </a:p>
          <a:p>
            <a:pPr eaLnBrk="1" fontAlgn="auto">
              <a:spcAft>
                <a:spcPts val="0"/>
              </a:spcAft>
              <a:buFont typeface="Wingdings" pitchFamily="2" charset="2"/>
              <a:buChar char="ü"/>
              <a:defRPr/>
            </a:pPr>
            <a:r>
              <a:rPr lang="el-GR" sz="3100" dirty="0"/>
              <a:t>Είναι καλό να αποφεύγονται μακροσκελείς εκφράσεις και σύνθετες διατυπώσεις για κάθε στοιχείο, γιατί προκαλούν σύγχυση στο μαθητή. </a:t>
            </a:r>
            <a:endParaRPr lang="en-US" sz="3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σύζευξης/συσχέτισης</a:t>
            </a:r>
            <a:endParaRPr lang="en-US" sz="4000" dirty="0"/>
          </a:p>
        </p:txBody>
      </p:sp>
      <p:sp>
        <p:nvSpPr>
          <p:cNvPr id="3" name="Content Placeholder 2"/>
          <p:cNvSpPr>
            <a:spLocks noGrp="1"/>
          </p:cNvSpPr>
          <p:nvPr>
            <p:ph idx="1"/>
          </p:nvPr>
        </p:nvSpPr>
        <p:spPr>
          <a:xfrm>
            <a:off x="457200" y="1066800"/>
            <a:ext cx="8382000" cy="5486400"/>
          </a:xfrm>
        </p:spPr>
        <p:txBody>
          <a:bodyPr rtlCol="0">
            <a:normAutofit/>
          </a:bodyPr>
          <a:lstStyle/>
          <a:p>
            <a:pPr marL="0" indent="0" eaLnBrk="1" fontAlgn="auto">
              <a:spcAft>
                <a:spcPts val="0"/>
              </a:spcAft>
              <a:buFont typeface="Arial" pitchFamily="34" charset="0"/>
              <a:buNone/>
              <a:defRPr/>
            </a:pPr>
            <a:r>
              <a:rPr lang="el-GR" sz="2800" b="1" dirty="0">
                <a:solidFill>
                  <a:srgbClr val="0070C0"/>
                </a:solidFill>
              </a:rPr>
              <a:t>Κατασκευή </a:t>
            </a:r>
          </a:p>
          <a:p>
            <a:pPr eaLnBrk="1" fontAlgn="auto">
              <a:spcAft>
                <a:spcPts val="0"/>
              </a:spcAft>
              <a:buFont typeface="Wingdings" pitchFamily="2" charset="2"/>
              <a:buChar char="ü"/>
              <a:defRPr/>
            </a:pPr>
            <a:r>
              <a:rPr lang="el-GR" sz="2400" dirty="0"/>
              <a:t>Είναι προτιμότερο να είναι γραμμένη ολόκληρη η ερώτηση στην ίδια σελίδα και τα στοιχεία κάθε στήλης να είναι τοποθετημένα σε κάποια διάταξη. Για παράδειγμα, αν πρόκειται για αριθμούς μπορεί να τοποθετηθούν σε αύξουσα σειρά.</a:t>
            </a:r>
            <a:endParaRPr lang="en-US" sz="2400" dirty="0"/>
          </a:p>
          <a:p>
            <a:pPr eaLnBrk="1" fontAlgn="auto">
              <a:spcAft>
                <a:spcPts val="0"/>
              </a:spcAft>
              <a:buFont typeface="Wingdings" pitchFamily="2" charset="2"/>
              <a:buChar char="ü"/>
              <a:defRPr/>
            </a:pPr>
            <a:r>
              <a:rPr lang="el-GR" sz="2400" dirty="0"/>
              <a:t>Αυτός ο τύπος ερωτήσεων μπορεί να χρησιμοποιηθεί για αξιολόγηση συγκεκριμένων τύπων μάθησης που σχετίζονται με ταξινόμηση, οργάνωση και κατάταξη. </a:t>
            </a:r>
          </a:p>
          <a:p>
            <a:pPr eaLnBrk="1" fontAlgn="auto">
              <a:spcAft>
                <a:spcPts val="0"/>
              </a:spcAft>
              <a:buFont typeface="Wingdings" pitchFamily="2" charset="2"/>
              <a:buChar char="ü"/>
              <a:defRPr/>
            </a:pPr>
            <a:r>
              <a:rPr lang="el-GR" sz="2400" dirty="0"/>
              <a:t>Ακόμη, προσφέρονται περισσότερο για έλεγχο μάθησης γεγονότων, περιστατικών, ονομάτων και πληροφοριών γενικά.</a:t>
            </a:r>
          </a:p>
          <a:p>
            <a:pPr eaLnBrk="1" fontAlgn="auto">
              <a:spcAft>
                <a:spcPts val="0"/>
              </a:spcAft>
              <a:buFont typeface="Wingdings" pitchFamily="2" charset="2"/>
              <a:buChar char="ü"/>
              <a:defRPr/>
            </a:pPr>
            <a:r>
              <a:rPr lang="el-GR" sz="2400" dirty="0"/>
              <a:t>Είναι δύσκολο να χρησιμοποιηθούν για αξιολόγηση ψηλότερου επιπέδου μάθησης  </a:t>
            </a:r>
            <a:endParaRPr lang="en-US" sz="2400" dirty="0"/>
          </a:p>
          <a:p>
            <a:pPr eaLnBrk="1" fontAlgn="auto" hangingPunct="1">
              <a:spcAft>
                <a:spcPts val="0"/>
              </a:spcAft>
              <a:buFont typeface="Arial" pitchFamily="34" charset="0"/>
              <a:buChar char="•"/>
              <a:defRPr/>
            </a:pP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39763"/>
          </a:xfrm>
        </p:spPr>
        <p:txBody>
          <a:bodyPr rtlCol="0">
            <a:noAutofit/>
          </a:bodyPr>
          <a:lstStyle/>
          <a:p>
            <a:pPr eaLnBrk="1" fontAlgn="auto" hangingPunct="1">
              <a:spcAft>
                <a:spcPts val="0"/>
              </a:spcAft>
              <a:defRPr/>
            </a:pPr>
            <a:r>
              <a:rPr lang="el-GR" sz="4000" b="1" dirty="0">
                <a:solidFill>
                  <a:schemeClr val="tx1">
                    <a:lumMod val="75000"/>
                    <a:lumOff val="25000"/>
                  </a:schemeClr>
                </a:solidFill>
              </a:rPr>
              <a:t>Ερωτήσεις συμπλήρωσης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457200" y="1066800"/>
            <a:ext cx="8534400" cy="5638800"/>
          </a:xfrm>
        </p:spPr>
        <p:txBody>
          <a:bodyPr rtlCol="0">
            <a:normAutofit/>
          </a:bodyPr>
          <a:lstStyle/>
          <a:p>
            <a:pPr eaLnBrk="1" fontAlgn="auto">
              <a:spcAft>
                <a:spcPts val="0"/>
              </a:spcAft>
              <a:buFont typeface="Arial" pitchFamily="34" charset="0"/>
              <a:buChar char="•"/>
              <a:defRPr/>
            </a:pPr>
            <a:r>
              <a:rPr lang="el-GR" sz="2400" dirty="0"/>
              <a:t>Οι ερωτήσεις συμπλήρωσης αποτελούνται από προτάσεις ή παραστάσεις (π.χ. μαθηματική ταυτότητα ή χημική αντίδραση) στις οποίες υπάρχει ένα κενό που πρέπει να συμπληρωθεί από τους μαθητές</a:t>
            </a:r>
          </a:p>
          <a:p>
            <a:pPr eaLnBrk="1" fontAlgn="auto">
              <a:spcAft>
                <a:spcPts val="0"/>
              </a:spcAft>
              <a:buFont typeface="Arial" pitchFamily="34" charset="0"/>
              <a:buChar char="•"/>
              <a:defRPr/>
            </a:pPr>
            <a:r>
              <a:rPr lang="el-GR" sz="2400" dirty="0"/>
              <a:t>Έχουν ψηλό δείκτη διάκρισης και ψηλό δείκτη δυσκολίας</a:t>
            </a:r>
          </a:p>
          <a:p>
            <a:pPr eaLnBrk="1" fontAlgn="auto">
              <a:spcAft>
                <a:spcPts val="0"/>
              </a:spcAft>
              <a:buFont typeface="Arial" pitchFamily="34" charset="0"/>
              <a:buChar char="•"/>
              <a:defRPr/>
            </a:pPr>
            <a:r>
              <a:rPr lang="el-GR" sz="2400" dirty="0"/>
              <a:t>Υπάρχει δυσκολία κατασκευής ερωτήσεων, έτσι που να διατηρούν απόλυτη αντικειμενικότητα και να εξετάζουν επίπεδα μάθησης ανώτερα της απομνημόνευσης. </a:t>
            </a:r>
          </a:p>
          <a:p>
            <a:pPr marL="0" indent="0" eaLnBrk="1" fontAlgn="auto">
              <a:spcAft>
                <a:spcPts val="0"/>
              </a:spcAft>
              <a:buFont typeface="Arial" pitchFamily="34" charset="0"/>
              <a:buNone/>
              <a:defRPr/>
            </a:pPr>
            <a:endParaRPr lang="el-GR" sz="2400" dirty="0"/>
          </a:p>
          <a:p>
            <a:pPr marL="0" indent="0" eaLnBrk="1" fontAlgn="auto">
              <a:spcAft>
                <a:spcPts val="0"/>
              </a:spcAft>
              <a:buFont typeface="Arial" pitchFamily="34" charset="0"/>
              <a:buNone/>
              <a:defRPr/>
            </a:pP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l-GR" sz="2400" dirty="0"/>
          </a:p>
        </p:txBody>
      </p:sp>
      <p:pic>
        <p:nvPicPr>
          <p:cNvPr id="24580" name="Picture 2"/>
          <p:cNvPicPr>
            <a:picLocks noChangeAspect="1" noChangeArrowheads="1"/>
          </p:cNvPicPr>
          <p:nvPr/>
        </p:nvPicPr>
        <p:blipFill>
          <a:blip r:embed="rId2" cstate="print"/>
          <a:srcRect/>
          <a:stretch>
            <a:fillRect/>
          </a:stretch>
        </p:blipFill>
        <p:spPr bwMode="auto">
          <a:xfrm>
            <a:off x="885825" y="5119688"/>
            <a:ext cx="560388" cy="560387"/>
          </a:xfrm>
          <a:prstGeom prst="rect">
            <a:avLst/>
          </a:prstGeom>
          <a:noFill/>
          <a:ln w="9525">
            <a:noFill/>
            <a:miter lim="800000"/>
            <a:headEnd/>
            <a:tailEnd/>
          </a:ln>
          <a:effectLst/>
        </p:spPr>
      </p:pic>
      <p:sp>
        <p:nvSpPr>
          <p:cNvPr id="24581" name="TextBox 3"/>
          <p:cNvSpPr txBox="1">
            <a:spLocks noChangeArrowheads="1"/>
          </p:cNvSpPr>
          <p:nvPr/>
        </p:nvSpPr>
        <p:spPr bwMode="auto">
          <a:xfrm>
            <a:off x="1752600" y="4892675"/>
            <a:ext cx="7086600" cy="1016000"/>
          </a:xfrm>
          <a:prstGeom prst="rect">
            <a:avLst/>
          </a:prstGeom>
          <a:noFill/>
          <a:ln w="9525">
            <a:noFill/>
            <a:miter lim="800000"/>
            <a:headEnd/>
            <a:tailEnd/>
          </a:ln>
        </p:spPr>
        <p:txBody>
          <a:bodyPr>
            <a:spAutoFit/>
          </a:bodyPr>
          <a:lstStyle/>
          <a:p>
            <a:r>
              <a:rPr lang="el-GR" sz="2000" b="1"/>
              <a:t>είναι δυνατόν ένας μαθητής να γνωρίζει το περιεχόμενο που εξετάζουμε, αλλά να μη θυμάται έναν ειδικό όρο και ως αποτέλεσμα του τύπου ερώτησης να αποτύχει στην εξέταση. </a:t>
            </a:r>
            <a:endParaRPr lang="en-US" sz="2000"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39763"/>
          </a:xfrm>
        </p:spPr>
        <p:txBody>
          <a:bodyPr rtlCol="0">
            <a:noAutofit/>
          </a:bodyPr>
          <a:lstStyle/>
          <a:p>
            <a:pPr eaLnBrk="1" fontAlgn="auto" hangingPunct="1">
              <a:spcAft>
                <a:spcPts val="0"/>
              </a:spcAft>
              <a:defRPr/>
            </a:pPr>
            <a:r>
              <a:rPr lang="el-GR" sz="4000" b="1" dirty="0">
                <a:solidFill>
                  <a:schemeClr val="tx1">
                    <a:lumMod val="75000"/>
                    <a:lumOff val="25000"/>
                  </a:schemeClr>
                </a:solidFill>
              </a:rPr>
              <a:t>Ερωτήσεις συμπλήρωσης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457200" y="1066800"/>
            <a:ext cx="8686800" cy="5638800"/>
          </a:xfrm>
        </p:spPr>
        <p:txBody>
          <a:bodyPr rtlCol="0">
            <a:normAutofit/>
          </a:bodyPr>
          <a:lstStyle/>
          <a:p>
            <a:pPr marL="0" indent="0" eaLnBrk="1" fontAlgn="auto">
              <a:spcAft>
                <a:spcPts val="0"/>
              </a:spcAft>
              <a:buFont typeface="Arial" pitchFamily="34" charset="0"/>
              <a:buNone/>
              <a:defRPr/>
            </a:pPr>
            <a:r>
              <a:rPr lang="el-GR" sz="2800" b="1" dirty="0">
                <a:solidFill>
                  <a:srgbClr val="0070C0"/>
                </a:solidFill>
              </a:rPr>
              <a:t>Κατασκευή</a:t>
            </a:r>
          </a:p>
          <a:p>
            <a:pPr marL="0" indent="0" eaLnBrk="1" fontAlgn="auto">
              <a:spcAft>
                <a:spcPts val="0"/>
              </a:spcAft>
              <a:buFont typeface="Arial" pitchFamily="34" charset="0"/>
              <a:buNone/>
              <a:defRPr/>
            </a:pPr>
            <a:endParaRPr lang="el-GR" sz="2800" b="1" dirty="0">
              <a:solidFill>
                <a:srgbClr val="0070C0"/>
              </a:solidFill>
            </a:endParaRPr>
          </a:p>
          <a:p>
            <a:pPr eaLnBrk="1" fontAlgn="auto">
              <a:spcAft>
                <a:spcPts val="0"/>
              </a:spcAft>
              <a:buFont typeface="Wingdings" pitchFamily="2" charset="2"/>
              <a:buChar char="ü"/>
              <a:defRPr/>
            </a:pPr>
            <a:r>
              <a:rPr lang="el-GR" sz="2400" dirty="0"/>
              <a:t>να μη δυσκολεύεται η κατανόηση εκείνου που προτείνεται προς συμπλήρωση από το κενό ή τα κενά που υπάρχουν σε αυτό </a:t>
            </a:r>
          </a:p>
          <a:p>
            <a:pPr eaLnBrk="1" fontAlgn="auto">
              <a:spcAft>
                <a:spcPts val="0"/>
              </a:spcAft>
              <a:buFont typeface="Wingdings" pitchFamily="2" charset="2"/>
              <a:buChar char="ü"/>
              <a:defRPr/>
            </a:pPr>
            <a:r>
              <a:rPr lang="el-GR" sz="2400" dirty="0"/>
              <a:t>η ερώτηση να έχει μονοσήμαντη απάντηση </a:t>
            </a:r>
          </a:p>
          <a:p>
            <a:pPr eaLnBrk="1" fontAlgn="auto">
              <a:spcAft>
                <a:spcPts val="0"/>
              </a:spcAft>
              <a:buFont typeface="Wingdings" pitchFamily="2" charset="2"/>
              <a:buChar char="ü"/>
              <a:defRPr/>
            </a:pPr>
            <a:r>
              <a:rPr lang="el-GR" sz="2400" dirty="0"/>
              <a:t>να αποφεύγονται τα πολλά κενά στην ίδια ερώτηση</a:t>
            </a:r>
          </a:p>
          <a:p>
            <a:pPr eaLnBrk="1" fontAlgn="auto">
              <a:spcAft>
                <a:spcPts val="0"/>
              </a:spcAft>
              <a:buFont typeface="Wingdings" pitchFamily="2" charset="2"/>
              <a:buChar char="ü"/>
              <a:defRPr/>
            </a:pPr>
            <a:r>
              <a:rPr lang="el-GR" sz="2400" dirty="0"/>
              <a:t>προτιμότερο να γράφονται περισσότερες ερωτήσεις, παρά να περιλαμβάνονται πολλά κενά σε μια ερώτηση. </a:t>
            </a:r>
          </a:p>
          <a:p>
            <a:pPr eaLnBrk="1" fontAlgn="auto">
              <a:spcAft>
                <a:spcPts val="0"/>
              </a:spcAft>
              <a:buFont typeface="Wingdings" pitchFamily="2" charset="2"/>
              <a:buChar char="ü"/>
              <a:defRPr/>
            </a:pPr>
            <a:r>
              <a:rPr lang="el-GR" sz="2400" dirty="0"/>
              <a:t>να αποφεύγεται η παράλειψη ουσιαστικής λέξης</a:t>
            </a:r>
          </a:p>
          <a:p>
            <a:pPr eaLnBrk="1" fontAlgn="auto">
              <a:spcAft>
                <a:spcPts val="0"/>
              </a:spcAft>
              <a:buFont typeface="Wingdings" pitchFamily="2" charset="2"/>
              <a:buChar char="ü"/>
              <a:defRPr/>
            </a:pPr>
            <a:r>
              <a:rPr lang="el-GR" sz="2400" dirty="0"/>
              <a:t>δε  πρέπει να μπορεί ο μαθητής να βρει την απάντηση από τα συμφραζόμενα του κειμένου. </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39763"/>
          </a:xfrm>
        </p:spPr>
        <p:txBody>
          <a:bodyPr rtlCol="0">
            <a:noAutofit/>
          </a:bodyPr>
          <a:lstStyle/>
          <a:p>
            <a:pPr eaLnBrk="1" fontAlgn="auto" hangingPunct="1">
              <a:spcAft>
                <a:spcPts val="0"/>
              </a:spcAft>
              <a:defRPr/>
            </a:pPr>
            <a:r>
              <a:rPr lang="el-GR" sz="4000" b="1" dirty="0">
                <a:solidFill>
                  <a:schemeClr val="tx1">
                    <a:lumMod val="75000"/>
                    <a:lumOff val="25000"/>
                  </a:schemeClr>
                </a:solidFill>
              </a:rPr>
              <a:t>Ερωτήσεις συμπλήρωσης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457200" y="1066800"/>
            <a:ext cx="8686800" cy="5638800"/>
          </a:xfrm>
        </p:spPr>
        <p:txBody>
          <a:bodyPr rtlCol="0">
            <a:normAutofit fontScale="92500"/>
          </a:bodyPr>
          <a:lstStyle/>
          <a:p>
            <a:pPr marL="0" indent="0" eaLnBrk="1" fontAlgn="auto">
              <a:spcAft>
                <a:spcPts val="0"/>
              </a:spcAft>
              <a:buFont typeface="Arial" pitchFamily="34" charset="0"/>
              <a:buNone/>
              <a:defRPr/>
            </a:pPr>
            <a:r>
              <a:rPr lang="el-GR" sz="2800" b="1" u="sng" dirty="0">
                <a:solidFill>
                  <a:srgbClr val="0070C0"/>
                </a:solidFill>
              </a:rPr>
              <a:t>Εισηγήσεις για ορθή κατασκευή ερωτήσεων συμπλήρωσης</a:t>
            </a:r>
          </a:p>
          <a:p>
            <a:pPr marL="0" indent="0" eaLnBrk="1" fontAlgn="auto">
              <a:spcAft>
                <a:spcPts val="0"/>
              </a:spcAft>
              <a:buFont typeface="Arial" pitchFamily="34" charset="0"/>
              <a:buNone/>
              <a:defRPr/>
            </a:pPr>
            <a:endParaRPr lang="en-US" sz="2800" dirty="0">
              <a:solidFill>
                <a:srgbClr val="0070C0"/>
              </a:solidFill>
            </a:endParaRPr>
          </a:p>
          <a:p>
            <a:pPr eaLnBrk="1" fontAlgn="auto">
              <a:spcAft>
                <a:spcPts val="0"/>
              </a:spcAft>
              <a:buFont typeface="Wingdings" pitchFamily="2" charset="2"/>
              <a:buChar char="Ø"/>
              <a:defRPr/>
            </a:pPr>
            <a:r>
              <a:rPr lang="el-GR" sz="2400" dirty="0"/>
              <a:t>Οι λέξεις που καλούνται οι μαθητές να συμπληρώσουν σε μια πρόταση θα πρέπει να είναι οι σημαντικότερες έννοιες που έχουν διδαχτεί. Θα πρέπει να αποφεύγεται να δίνονται οι λέξεις κλειδιά και να καλείται ο μαθητής να αναφέρει λέξεις δευτερεύουσας σημασίας.</a:t>
            </a:r>
          </a:p>
          <a:p>
            <a:pPr eaLnBrk="1" fontAlgn="auto">
              <a:spcAft>
                <a:spcPts val="0"/>
              </a:spcAft>
              <a:buFont typeface="Wingdings" pitchFamily="2" charset="2"/>
              <a:buChar char="Ø"/>
              <a:defRPr/>
            </a:pPr>
            <a:r>
              <a:rPr lang="el-GR" sz="2400" dirty="0"/>
              <a:t>Είναι προτιμότερο να διατυπώσουμε πρώτα ευθείες ερωτήσεις και στη συνέχεια να τις μετατρέψουμε σε ερωτήσεις τύπου συμπλήρωσης.</a:t>
            </a:r>
          </a:p>
          <a:p>
            <a:pPr eaLnBrk="1" fontAlgn="auto">
              <a:spcAft>
                <a:spcPts val="0"/>
              </a:spcAft>
              <a:buFont typeface="Wingdings" pitchFamily="2" charset="2"/>
              <a:buChar char="Ø"/>
              <a:defRPr/>
            </a:pPr>
            <a:r>
              <a:rPr lang="el-GR" sz="2400" dirty="0"/>
              <a:t>Το κενό που καλείται να συμπληρώσει ο μαθητής είναι καλύτερα να βρίσκεται στο τέλος της πρότασης. Αν το κενό βρίσκεται στην αρχή, είναι δυνατόν να προκαλέσει νοηματική σύγχυση στους μαθητές.</a:t>
            </a:r>
          </a:p>
          <a:p>
            <a:pPr eaLnBrk="1" fontAlgn="auto">
              <a:spcAft>
                <a:spcPts val="0"/>
              </a:spcAft>
              <a:buFont typeface="Wingdings" pitchFamily="2" charset="2"/>
              <a:buChar char="Ø"/>
              <a:defRPr/>
            </a:pPr>
            <a:r>
              <a:rPr lang="el-GR" sz="2400" dirty="0"/>
              <a:t>Πρέπει να μη ζητούμε από τους μαθητές να συμπληρώσουν αυτούσιες προτάσεις από το βιβλίο, γιατί αυτό ενθαρρύνει την απομνημόνευση.</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fontScale="90000"/>
          </a:bodyPr>
          <a:lstStyle/>
          <a:p>
            <a:pPr eaLnBrk="1" fontAlgn="auto" hangingPunct="1">
              <a:spcAft>
                <a:spcPts val="0"/>
              </a:spcAft>
              <a:defRPr/>
            </a:pPr>
            <a:r>
              <a:rPr lang="el-GR" sz="4000" b="1" dirty="0">
                <a:solidFill>
                  <a:schemeClr val="tx1">
                    <a:lumMod val="75000"/>
                    <a:lumOff val="25000"/>
                  </a:schemeClr>
                </a:solidFill>
              </a:rPr>
              <a:t>Ερωτήσεις διάταξης ή ιεράρχησης </a:t>
            </a:r>
            <a:endParaRPr lang="en-US" sz="4000" b="1" dirty="0">
              <a:solidFill>
                <a:schemeClr val="tx1">
                  <a:lumMod val="75000"/>
                  <a:lumOff val="25000"/>
                </a:schemeClr>
              </a:solidFill>
            </a:endParaRPr>
          </a:p>
        </p:txBody>
      </p:sp>
      <p:sp>
        <p:nvSpPr>
          <p:cNvPr id="27651" name="Content Placeholder 2"/>
          <p:cNvSpPr>
            <a:spLocks noGrp="1"/>
          </p:cNvSpPr>
          <p:nvPr>
            <p:ph idx="1"/>
          </p:nvPr>
        </p:nvSpPr>
        <p:spPr>
          <a:xfrm>
            <a:off x="457200" y="1066800"/>
            <a:ext cx="8382000" cy="5486400"/>
          </a:xfrm>
        </p:spPr>
        <p:txBody>
          <a:bodyPr/>
          <a:lstStyle/>
          <a:p>
            <a:pPr eaLnBrk="1"/>
            <a:endParaRPr lang="el-GR" sz="2400"/>
          </a:p>
          <a:p>
            <a:pPr eaLnBrk="1"/>
            <a:r>
              <a:rPr lang="el-GR" sz="2400"/>
              <a:t>Οι ερωτήσεις του τύπου διάταξης αποτελούνται από ένα στέλεχος στο οποίο προσδιορίζεται το κριτήριο που θα πρέπει να χρησιμοποιήσει ο μαθητής, για να βάλει σε σειρά ορισμένα στοιχεία που του δίνονται. </a:t>
            </a:r>
          </a:p>
          <a:p>
            <a:pPr eaLnBrk="1"/>
            <a:endParaRPr lang="el-GR" sz="2400"/>
          </a:p>
          <a:p>
            <a:pPr eaLnBrk="1"/>
            <a:r>
              <a:rPr lang="el-GR" sz="2400"/>
              <a:t>Για παράδειγμα, μπορεί να του ζητηθεί να τοποθετήσει κατά χρονολογική σειρά ιστορικά γεγονότα</a:t>
            </a:r>
            <a:endParaRPr 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σύντομης απάντησης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04800" y="1143000"/>
            <a:ext cx="8686800" cy="5410200"/>
          </a:xfrm>
        </p:spPr>
        <p:txBody>
          <a:bodyPr rtlCol="0">
            <a:normAutofit lnSpcReduction="10000"/>
          </a:bodyPr>
          <a:lstStyle/>
          <a:p>
            <a:pPr eaLnBrk="1" fontAlgn="auto">
              <a:spcAft>
                <a:spcPts val="0"/>
              </a:spcAft>
              <a:buFont typeface="Arial" pitchFamily="34" charset="0"/>
              <a:buChar char="•"/>
              <a:defRPr/>
            </a:pPr>
            <a:r>
              <a:rPr lang="el-GR" sz="2400" dirty="0"/>
              <a:t>Στην κατηγορία αυτή μια συγκεκριμένη απάντηση θεωρείται από όλους ως ορθή, επειδή η ερώτηση αναφέρεται σε κάποιο συγκεκριμένο γεγονός. </a:t>
            </a:r>
          </a:p>
          <a:p>
            <a:pPr marL="0" indent="0" eaLnBrk="1" fontAlgn="auto">
              <a:spcAft>
                <a:spcPts val="0"/>
              </a:spcAft>
              <a:buFont typeface="Arial" pitchFamily="34" charset="0"/>
              <a:buNone/>
              <a:defRPr/>
            </a:pPr>
            <a:endParaRPr lang="el-GR" sz="2400" b="1" u="sng" dirty="0">
              <a:solidFill>
                <a:srgbClr val="0070C0"/>
              </a:solidFill>
            </a:endParaRPr>
          </a:p>
          <a:p>
            <a:pPr marL="0" indent="0" eaLnBrk="1" fontAlgn="auto">
              <a:spcAft>
                <a:spcPts val="0"/>
              </a:spcAft>
              <a:buFont typeface="Arial" pitchFamily="34" charset="0"/>
              <a:buNone/>
              <a:defRPr/>
            </a:pPr>
            <a:r>
              <a:rPr lang="el-GR" sz="2400" b="1" u="sng" dirty="0">
                <a:solidFill>
                  <a:srgbClr val="0070C0"/>
                </a:solidFill>
              </a:rPr>
              <a:t>Παραδείγματα</a:t>
            </a:r>
            <a:endParaRPr lang="en-US" sz="2400" u="sng" dirty="0"/>
          </a:p>
          <a:p>
            <a:pPr eaLnBrk="1" fontAlgn="auto">
              <a:spcAft>
                <a:spcPts val="0"/>
              </a:spcAft>
              <a:buFont typeface="Wingdings" pitchFamily="2" charset="2"/>
              <a:buChar char="q"/>
              <a:defRPr/>
            </a:pPr>
            <a:r>
              <a:rPr lang="el-GR" sz="2400" dirty="0"/>
              <a:t>Ποιος έγραψε το ποίημα “Ο Ύμνος στην Ελευθερία”;</a:t>
            </a:r>
          </a:p>
          <a:p>
            <a:pPr eaLnBrk="1" fontAlgn="auto">
              <a:spcAft>
                <a:spcPts val="0"/>
              </a:spcAft>
              <a:buFont typeface="Wingdings" pitchFamily="2" charset="2"/>
              <a:buChar char="q"/>
              <a:defRPr/>
            </a:pPr>
            <a:r>
              <a:rPr lang="el-GR" sz="2400" dirty="0"/>
              <a:t>Σε άξονες Χ και Υ σχεδιάστε τη γραφική παράσταση της εξίσωσης  Υ = Χ + 5</a:t>
            </a:r>
          </a:p>
          <a:p>
            <a:pPr marL="0" indent="0" eaLnBrk="1" fontAlgn="auto">
              <a:spcAft>
                <a:spcPts val="0"/>
              </a:spcAft>
              <a:buFont typeface="Arial" pitchFamily="34" charset="0"/>
              <a:buNone/>
              <a:defRPr/>
            </a:pPr>
            <a:endParaRPr lang="en-US" sz="2400" dirty="0"/>
          </a:p>
          <a:p>
            <a:pPr eaLnBrk="1" fontAlgn="auto">
              <a:spcAft>
                <a:spcPts val="0"/>
              </a:spcAft>
              <a:buFont typeface="Arial" pitchFamily="34" charset="0"/>
              <a:buChar char="•"/>
              <a:defRPr/>
            </a:pPr>
            <a:r>
              <a:rPr lang="el-GR" sz="2400" dirty="0"/>
              <a:t>πρέπει να δίνονται μόνο τα στοιχεία που σχετίζονται με την απάντηση, ώστε να μην υπάρχει ασάφεια ως προς το ερώτημα. </a:t>
            </a:r>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r>
              <a:rPr lang="el-GR" sz="2400" dirty="0"/>
              <a:t>δεν πρέπει να δίνονται στοιχεία που θα βοηθήσουν τους μαθητές να βρουν την ορθή απάντηση.</a:t>
            </a:r>
            <a:endParaRPr lang="en-US" sz="2400" dirty="0"/>
          </a:p>
          <a:p>
            <a:pPr eaLnBrk="1" fontAlgn="auto">
              <a:spcAft>
                <a:spcPts val="0"/>
              </a:spcAft>
              <a:buFont typeface="Arial" pitchFamily="34" charset="0"/>
              <a:buChar char="•"/>
              <a:defRPr/>
            </a:pPr>
            <a:endParaRPr lang="el-GR"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σύντομης απάντησης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219200"/>
            <a:ext cx="8534400" cy="5257800"/>
          </a:xfrm>
        </p:spPr>
        <p:txBody>
          <a:bodyPr rtlCol="0">
            <a:normAutofit lnSpcReduction="10000"/>
          </a:bodyPr>
          <a:lstStyle/>
          <a:p>
            <a:pPr eaLnBrk="1" fontAlgn="auto">
              <a:spcAft>
                <a:spcPts val="0"/>
              </a:spcAft>
              <a:buFont typeface="Arial" pitchFamily="34" charset="0"/>
              <a:buChar char="•"/>
              <a:defRPr/>
            </a:pPr>
            <a:r>
              <a:rPr lang="el-GR" sz="2400" dirty="0"/>
              <a:t> Η σημαντικότερη κατηγορία ερωτήσεων σύντομης απάντησης είναι οι ερωτήσεις που καλύπτουν τον κενό χώρο που δημιουργείται ανάμεσα στις ερωτήσεις συμπλήρωσης και στις εκτεταμένες ερωτήσεις όπου ο μαθητής καλείται να αναπτύξει ένα θέμα. </a:t>
            </a:r>
          </a:p>
          <a:p>
            <a:pPr eaLnBrk="1" fontAlgn="auto">
              <a:spcAft>
                <a:spcPts val="0"/>
              </a:spcAft>
              <a:buFont typeface="Arial" pitchFamily="34" charset="0"/>
              <a:buChar char="•"/>
              <a:defRPr/>
            </a:pPr>
            <a:r>
              <a:rPr lang="el-GR" sz="2400" dirty="0"/>
              <a:t>Η απάντηση που αναμένεται να δώσει ο μαθητής δεν είναι μονολεκτική, αλλά είναι ελεγχόμενη (πρόταση/παράγραφος, /σύντομη διαδικασία/λύση προβλήματος). </a:t>
            </a:r>
          </a:p>
          <a:p>
            <a:pPr eaLnBrk="1" fontAlgn="auto">
              <a:spcAft>
                <a:spcPts val="0"/>
              </a:spcAft>
              <a:buFont typeface="Arial" pitchFamily="34" charset="0"/>
              <a:buChar char="•"/>
              <a:defRPr/>
            </a:pPr>
            <a:r>
              <a:rPr lang="el-GR" sz="2400" dirty="0"/>
              <a:t>ο μαθητής αναμένεται να δώσει τα κύρια σημεία ενός θέματος, να περιοριστεί στα πιο </a:t>
            </a:r>
            <a:r>
              <a:rPr lang="el-GR" sz="2400" b="1" dirty="0"/>
              <a:t>ουσιώδη στοιχεία </a:t>
            </a:r>
            <a:r>
              <a:rPr lang="el-GR" sz="2400" dirty="0"/>
              <a:t>και να αναφερθεί στις </a:t>
            </a:r>
            <a:r>
              <a:rPr lang="el-GR" sz="2400" b="1" dirty="0"/>
              <a:t>λέξεις-κλειδιά </a:t>
            </a:r>
            <a:r>
              <a:rPr lang="el-GR" sz="2400" dirty="0"/>
              <a:t>που σχετίζονται με την ερώτηση. </a:t>
            </a:r>
          </a:p>
          <a:p>
            <a:pPr eaLnBrk="1" fontAlgn="auto">
              <a:spcAft>
                <a:spcPts val="0"/>
              </a:spcAft>
              <a:buFont typeface="Arial" pitchFamily="34" charset="0"/>
              <a:buChar char="•"/>
              <a:defRPr/>
            </a:pPr>
            <a:r>
              <a:rPr lang="el-GR" sz="2400" dirty="0"/>
              <a:t>Η ειδοποιός διαφορά της από τις ανοικτές ερωτήσεις βρίσκεται στο </a:t>
            </a:r>
            <a:r>
              <a:rPr lang="el-GR" sz="2400" u="sng" dirty="0"/>
              <a:t>μήκος της απάντησης </a:t>
            </a:r>
            <a:r>
              <a:rPr lang="el-GR" sz="2400" dirty="0"/>
              <a:t>αλλά και στη δυνατότητα </a:t>
            </a:r>
            <a:r>
              <a:rPr lang="el-GR" sz="2400" u="sng" dirty="0"/>
              <a:t>αντικειμενικής εκτίμησής</a:t>
            </a:r>
            <a:r>
              <a:rPr lang="el-GR" sz="2400" dirty="0"/>
              <a:t> της από το βαθμολογητή.</a:t>
            </a: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σύντομης απάντησης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990600"/>
            <a:ext cx="8610600" cy="5562600"/>
          </a:xfrm>
        </p:spPr>
        <p:txBody>
          <a:bodyPr rtlCol="0">
            <a:normAutofit/>
          </a:bodyPr>
          <a:lstStyle/>
          <a:p>
            <a:pPr marL="0" indent="0" eaLnBrk="1" fontAlgn="auto">
              <a:spcAft>
                <a:spcPts val="0"/>
              </a:spcAft>
              <a:buFont typeface="Arial" pitchFamily="34" charset="0"/>
              <a:buNone/>
              <a:defRPr/>
            </a:pPr>
            <a:r>
              <a:rPr lang="el-GR" sz="2600" b="1" u="sng" dirty="0">
                <a:solidFill>
                  <a:srgbClr val="0070C0"/>
                </a:solidFill>
              </a:rPr>
              <a:t>Εισηγήσεις για ορθή κατασκευή ερωτήσεων σύντομης απάντησης</a:t>
            </a:r>
            <a:endParaRPr lang="en-US" sz="2600" b="1" dirty="0">
              <a:solidFill>
                <a:srgbClr val="0070C0"/>
              </a:solidFill>
            </a:endParaRPr>
          </a:p>
          <a:p>
            <a:pPr eaLnBrk="1" fontAlgn="auto">
              <a:spcAft>
                <a:spcPts val="0"/>
              </a:spcAft>
              <a:buFont typeface="Arial" pitchFamily="34" charset="0"/>
              <a:buChar char="•"/>
              <a:defRPr/>
            </a:pPr>
            <a:r>
              <a:rPr lang="el-GR" sz="2400" dirty="0"/>
              <a:t>Η απάντηση που ζητείται πρέπει να βρίσκεται στα πλαίσια καταλληλότητας αυτού του είδους ερωτήσεων. Δηλαδή, δεν πρέπει να είναι ούτε μονολεκτική αλλά ούτε εκτεταμένη. </a:t>
            </a:r>
          </a:p>
          <a:p>
            <a:pPr eaLnBrk="1" fontAlgn="auto">
              <a:spcAft>
                <a:spcPts val="0"/>
              </a:spcAft>
              <a:buFont typeface="Arial" pitchFamily="34" charset="0"/>
              <a:buChar char="•"/>
              <a:defRPr/>
            </a:pPr>
            <a:r>
              <a:rPr lang="el-GR" sz="2400" dirty="0"/>
              <a:t>Πρέπει να είναι ειδικές ερωτήσεις και να ζητούν συγκεκριμένες απαντήσεις. Αυτό διευκολύνει τόσο το μαθητή όσο και το άτομο που θα διορθώσει τις απαντήσεις.  </a:t>
            </a:r>
            <a:endParaRPr lang="en-US" sz="2400" dirty="0"/>
          </a:p>
          <a:p>
            <a:pPr eaLnBrk="1" fontAlgn="auto">
              <a:spcAft>
                <a:spcPts val="0"/>
              </a:spcAft>
              <a:buFont typeface="Arial" pitchFamily="34" charset="0"/>
              <a:buChar char="•"/>
              <a:defRPr/>
            </a:pPr>
            <a:r>
              <a:rPr lang="el-GR" sz="2400" dirty="0"/>
              <a:t>Μπορούν να γίνουν νύξεις σχετικά με το μήκος της αναμενόμενης απάντησης, ώστε ο μαθητής να μην παρασύρεται και να αναφέρεται σε δευτερεύουσας σημασίας διαστάσεις του θέματος. Για παράδειγμα, μπορούμε να χρησιμοποιήσουμε φράσεις όπως “δώστε δύο λόγους ... ” , “γράψτε μια σύντομη παράγραφο ...”  κτλ.  </a:t>
            </a: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αντικειμενικού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990600"/>
            <a:ext cx="8610600" cy="5562600"/>
          </a:xfrm>
        </p:spPr>
        <p:txBody>
          <a:bodyPr rtlCol="0">
            <a:normAutofit/>
          </a:bodyPr>
          <a:lstStyle/>
          <a:p>
            <a:pPr marL="0" indent="0" eaLnBrk="1" fontAlgn="auto">
              <a:spcAft>
                <a:spcPts val="0"/>
              </a:spcAft>
              <a:buFont typeface="Arial" pitchFamily="34" charset="0"/>
              <a:buNone/>
              <a:defRPr/>
            </a:pPr>
            <a:r>
              <a:rPr lang="el-GR" sz="2600" b="1" u="sng" dirty="0">
                <a:solidFill>
                  <a:srgbClr val="0070C0"/>
                </a:solidFill>
              </a:rPr>
              <a:t>Εισηγήσεις για ορθή χρήση ερωτήσεων </a:t>
            </a:r>
            <a:r>
              <a:rPr lang="el-GR" sz="2600" b="1" u="sng" dirty="0" err="1">
                <a:solidFill>
                  <a:srgbClr val="0070C0"/>
                </a:solidFill>
              </a:rPr>
              <a:t>αντικειμένικου</a:t>
            </a:r>
            <a:r>
              <a:rPr lang="el-GR" sz="2600" b="1" u="sng" dirty="0">
                <a:solidFill>
                  <a:srgbClr val="0070C0"/>
                </a:solidFill>
              </a:rPr>
              <a:t> τύπου</a:t>
            </a:r>
            <a:endParaRPr lang="en-US" sz="2600" b="1" dirty="0">
              <a:solidFill>
                <a:srgbClr val="0070C0"/>
              </a:solidFill>
            </a:endParaRPr>
          </a:p>
          <a:p>
            <a:pPr eaLnBrk="1" fontAlgn="auto">
              <a:spcAft>
                <a:spcPts val="0"/>
              </a:spcAft>
              <a:buFont typeface="Arial" pitchFamily="34" charset="0"/>
              <a:buChar char="•"/>
              <a:defRPr/>
            </a:pPr>
            <a:r>
              <a:rPr lang="el-GR" sz="2400" dirty="0"/>
              <a:t>Αυτή η κατηγορία ερωτήσεων μπορεί να χρησιμοποιηθεί στις πιο κάτω περιπτώσεις:</a:t>
            </a:r>
            <a:endParaRPr lang="en-US" sz="2400" dirty="0"/>
          </a:p>
          <a:p>
            <a:pPr eaLnBrk="1" fontAlgn="auto">
              <a:spcAft>
                <a:spcPts val="0"/>
              </a:spcAft>
              <a:buFont typeface="Arial" pitchFamily="34" charset="0"/>
              <a:buChar char="•"/>
              <a:defRPr/>
            </a:pPr>
            <a:r>
              <a:rPr lang="el-GR" sz="2400" dirty="0"/>
              <a:t>Όταν πρόκειται να εξεταστεί μεγάλος αριθμός ατόμων και δεν υπάρχει αρκετός χρόνος για διόρθωση των ερωτήσεων.</a:t>
            </a:r>
            <a:endParaRPr lang="en-US" sz="2400" dirty="0"/>
          </a:p>
          <a:p>
            <a:pPr eaLnBrk="1" fontAlgn="auto">
              <a:spcAft>
                <a:spcPts val="0"/>
              </a:spcAft>
              <a:buFont typeface="Arial" pitchFamily="34" charset="0"/>
              <a:buChar char="•"/>
              <a:defRPr/>
            </a:pPr>
            <a:r>
              <a:rPr lang="el-GR" sz="2400" dirty="0"/>
              <a:t>Όταν ζητείται να καλυφθεί σε σύντομο χρονικό διάστημα μεγάλο μέρος της ύλης. </a:t>
            </a:r>
            <a:endParaRPr lang="en-US" sz="2400" dirty="0"/>
          </a:p>
          <a:p>
            <a:pPr eaLnBrk="1" fontAlgn="auto">
              <a:spcAft>
                <a:spcPts val="0"/>
              </a:spcAft>
              <a:buFont typeface="Arial" pitchFamily="34" charset="0"/>
              <a:buChar char="•"/>
              <a:defRPr/>
            </a:pPr>
            <a:r>
              <a:rPr lang="el-GR" sz="2400" dirty="0"/>
              <a:t>Όταν επιδιώκεται να εξασφαλιστεί όσο το δυνατό μεγαλύτερη συμφωνία ανάμεσα στα άτομα που πρόκειται να διορθώσουν ένα γραπτό. </a:t>
            </a: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184576"/>
          </a:xfrm>
        </p:spPr>
        <p:txBody>
          <a:bodyPr rtlCol="0">
            <a:normAutofit/>
          </a:bodyPr>
          <a:lstStyle/>
          <a:p>
            <a:pPr marL="0" indent="0" eaLnBrk="1" fontAlgn="auto">
              <a:spcAft>
                <a:spcPts val="0"/>
              </a:spcAft>
              <a:buFont typeface="Arial" pitchFamily="34" charset="0"/>
              <a:buNone/>
              <a:defRPr/>
            </a:pPr>
            <a:r>
              <a:rPr lang="el-GR" sz="2600" b="1" u="sng" dirty="0">
                <a:solidFill>
                  <a:srgbClr val="0070C0"/>
                </a:solidFill>
              </a:rPr>
              <a:t>Εισηγήσεις για σωστή χρήση ερωτήσεων ανοικτού τύπου</a:t>
            </a:r>
          </a:p>
          <a:p>
            <a:pPr marL="0" indent="0" eaLnBrk="1" fontAlgn="auto">
              <a:spcAft>
                <a:spcPts val="0"/>
              </a:spcAft>
              <a:buFont typeface="Arial" pitchFamily="34" charset="0"/>
              <a:buNone/>
              <a:defRPr/>
            </a:pPr>
            <a:endParaRPr lang="en-US" sz="2600" b="1" dirty="0">
              <a:solidFill>
                <a:srgbClr val="0070C0"/>
              </a:solidFill>
            </a:endParaRPr>
          </a:p>
          <a:p>
            <a:pPr eaLnBrk="1" fontAlgn="auto">
              <a:spcAft>
                <a:spcPts val="0"/>
              </a:spcAft>
              <a:buFont typeface="Wingdings" pitchFamily="2" charset="2"/>
              <a:buChar char="Ø"/>
              <a:defRPr/>
            </a:pPr>
            <a:r>
              <a:rPr lang="el-GR" sz="2400" dirty="0"/>
              <a:t>Όταν η ομάδα των εξεταζομένων είναι μικρή.</a:t>
            </a:r>
            <a:endParaRPr lang="en-US" sz="2400" dirty="0"/>
          </a:p>
          <a:p>
            <a:pPr eaLnBrk="1" fontAlgn="auto">
              <a:spcAft>
                <a:spcPts val="0"/>
              </a:spcAft>
              <a:buFont typeface="Wingdings" pitchFamily="2" charset="2"/>
              <a:buChar char="Ø"/>
              <a:defRPr/>
            </a:pPr>
            <a:r>
              <a:rPr lang="el-GR" sz="2400" dirty="0"/>
              <a:t>Όταν προσπαθούμε να αξιολογήσουμε τις </a:t>
            </a:r>
            <a:r>
              <a:rPr lang="el-GR" sz="2400" b="1" dirty="0"/>
              <a:t>απόψεις ή/και τις στάσεις</a:t>
            </a:r>
            <a:r>
              <a:rPr lang="el-GR" sz="2400" dirty="0"/>
              <a:t> των μαθητών απέναντι σε ορισμένες αξίες ή καταστάσεις ή πρόσωπα.</a:t>
            </a:r>
            <a:endParaRPr lang="en-US" sz="2400" dirty="0"/>
          </a:p>
          <a:p>
            <a:pPr eaLnBrk="1" fontAlgn="auto">
              <a:spcAft>
                <a:spcPts val="0"/>
              </a:spcAft>
              <a:buFont typeface="Wingdings" pitchFamily="2" charset="2"/>
              <a:buChar char="Ø"/>
              <a:defRPr/>
            </a:pPr>
            <a:r>
              <a:rPr lang="el-GR" sz="2400" dirty="0"/>
              <a:t>Όταν επιδιώκεται η ενθάρρυνση και ανάπτυξη των </a:t>
            </a:r>
            <a:r>
              <a:rPr lang="el-GR" sz="2400" b="1" dirty="0"/>
              <a:t>λεκτικών </a:t>
            </a:r>
            <a:r>
              <a:rPr lang="en-US" sz="2400" b="1" dirty="0"/>
              <a:t>(</a:t>
            </a:r>
            <a:r>
              <a:rPr lang="el-GR" sz="2400" b="1" dirty="0"/>
              <a:t>ή κινητικών) ικανοτήτων</a:t>
            </a:r>
            <a:r>
              <a:rPr lang="el-GR" sz="2400" dirty="0"/>
              <a:t> του μαθητή ανάλογα.</a:t>
            </a:r>
            <a:endParaRPr lang="en-US" sz="2400" dirty="0"/>
          </a:p>
          <a:p>
            <a:pPr eaLnBrk="1" fontAlgn="auto">
              <a:spcAft>
                <a:spcPts val="0"/>
              </a:spcAft>
              <a:buFont typeface="Wingdings" pitchFamily="2" charset="2"/>
              <a:buChar char="Ø"/>
              <a:defRPr/>
            </a:pPr>
            <a:r>
              <a:rPr lang="el-GR" sz="2400" dirty="0"/>
              <a:t>Όταν επιδιώκεται να γίνει </a:t>
            </a:r>
            <a:r>
              <a:rPr lang="el-GR" sz="2400" b="1" dirty="0"/>
              <a:t>συνδυασμός των τύπων γραπτής αξιολόγησης</a:t>
            </a:r>
            <a:r>
              <a:rPr lang="el-GR" sz="2400" dirty="0"/>
              <a:t>, ώστε να αξιολογήσουμε από μια πιο σφαιρική σκοπιά τις ικανότητες του μαθητή. </a:t>
            </a:r>
            <a:endParaRPr lang="en-US" sz="2400" dirty="0"/>
          </a:p>
        </p:txBody>
      </p:sp>
    </p:spTree>
    <p:extLst>
      <p:ext uri="{BB962C8B-B14F-4D97-AF65-F5344CB8AC3E}">
        <p14:creationId xmlns:p14="http://schemas.microsoft.com/office/powerpoint/2010/main" val="13811108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356448"/>
          </a:xfrm>
        </p:spPr>
        <p:txBody>
          <a:bodyPr rtlCol="0">
            <a:normAutofit/>
          </a:bodyPr>
          <a:lstStyle/>
          <a:p>
            <a:pPr eaLnBrk="1" fontAlgn="auto">
              <a:spcAft>
                <a:spcPts val="0"/>
              </a:spcAft>
              <a:buNone/>
              <a:defRPr/>
            </a:pPr>
            <a:r>
              <a:rPr lang="el-GR" b="1" u="sng" dirty="0">
                <a:solidFill>
                  <a:srgbClr val="0070C0"/>
                </a:solidFill>
              </a:rPr>
              <a:t>Πλεονεκτήματα</a:t>
            </a:r>
          </a:p>
          <a:p>
            <a:pPr eaLnBrk="1" fontAlgn="auto">
              <a:spcAft>
                <a:spcPts val="0"/>
              </a:spcAft>
              <a:buFont typeface="Arial" pitchFamily="34" charset="0"/>
              <a:buChar char="•"/>
              <a:defRPr/>
            </a:pPr>
            <a:r>
              <a:rPr lang="el-GR" sz="2400" dirty="0"/>
              <a:t>Επιτρέπουν στο μαθητή να αναπτύξει τις ιδέες του</a:t>
            </a:r>
            <a:r>
              <a:rPr lang="en-US" sz="2400" dirty="0"/>
              <a:t> </a:t>
            </a:r>
            <a:r>
              <a:rPr lang="el-GR" sz="2400" dirty="0"/>
              <a:t>και να χρησιμοποιήσει το δικό του τρόπο έκφρασης.</a:t>
            </a:r>
          </a:p>
          <a:p>
            <a:pPr eaLnBrk="1" fontAlgn="auto">
              <a:spcAft>
                <a:spcPts val="0"/>
              </a:spcAft>
              <a:buFont typeface="Arial" pitchFamily="34" charset="0"/>
              <a:buChar char="•"/>
              <a:defRPr/>
            </a:pPr>
            <a:endParaRPr lang="el-GR" sz="800" dirty="0"/>
          </a:p>
          <a:p>
            <a:pPr eaLnBrk="1" fontAlgn="auto">
              <a:spcAft>
                <a:spcPts val="0"/>
              </a:spcAft>
              <a:buFont typeface="Arial" pitchFamily="34" charset="0"/>
              <a:buChar char="•"/>
              <a:defRPr/>
            </a:pPr>
            <a:r>
              <a:rPr lang="el-GR" sz="2400" dirty="0"/>
              <a:t>Δίνουν τη δυνατότητα στο δάσκαλο να αξιολογήσει τη </a:t>
            </a:r>
            <a:r>
              <a:rPr lang="el-GR" sz="2400" b="1" dirty="0"/>
              <a:t>συνθετική ικανότητα του μαθητή</a:t>
            </a:r>
            <a:r>
              <a:rPr lang="el-GR" sz="2400" dirty="0"/>
              <a:t> και να εντοπίσει το βαθμό στον οποίο μπορεί ο μαθητής να δώσει πλήρεις και ακριβείς απαντήσεις.</a:t>
            </a:r>
            <a:endParaRPr lang="en-US" sz="2400" dirty="0"/>
          </a:p>
          <a:p>
            <a:pPr eaLnBrk="1" fontAlgn="auto">
              <a:spcAft>
                <a:spcPts val="0"/>
              </a:spcAft>
              <a:buFont typeface="Arial" pitchFamily="34" charset="0"/>
              <a:buChar char="•"/>
              <a:defRPr/>
            </a:pP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extLst>
      <p:ext uri="{BB962C8B-B14F-4D97-AF65-F5344CB8AC3E}">
        <p14:creationId xmlns:p14="http://schemas.microsoft.com/office/powerpoint/2010/main" val="3650149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184576"/>
          </a:xfrm>
        </p:spPr>
        <p:txBody>
          <a:bodyPr rtlCol="0">
            <a:normAutofit lnSpcReduction="10000"/>
          </a:bodyPr>
          <a:lstStyle/>
          <a:p>
            <a:pPr marL="0" indent="0" eaLnBrk="1" fontAlgn="auto">
              <a:spcAft>
                <a:spcPts val="0"/>
              </a:spcAft>
              <a:buFont typeface="Arial" pitchFamily="34" charset="0"/>
              <a:buNone/>
              <a:defRPr/>
            </a:pPr>
            <a:r>
              <a:rPr lang="el-GR" sz="2600" b="1" u="sng" dirty="0">
                <a:solidFill>
                  <a:srgbClr val="0070C0"/>
                </a:solidFill>
              </a:rPr>
              <a:t>Μειονεκτήματα</a:t>
            </a:r>
            <a:endParaRPr lang="el-GR" sz="2400" dirty="0"/>
          </a:p>
          <a:p>
            <a:pPr eaLnBrk="1" fontAlgn="auto">
              <a:spcAft>
                <a:spcPts val="0"/>
              </a:spcAft>
              <a:buFont typeface="Arial" pitchFamily="34" charset="0"/>
              <a:buChar char="•"/>
              <a:defRPr/>
            </a:pPr>
            <a:r>
              <a:rPr lang="el-GR" sz="2400" dirty="0"/>
              <a:t>περιορισμένη δυνατότητα </a:t>
            </a:r>
            <a:r>
              <a:rPr lang="el-GR" sz="2400" b="1" dirty="0"/>
              <a:t>ελέγχου ολόκληρης της ύλης</a:t>
            </a:r>
            <a:r>
              <a:rPr lang="el-GR" sz="2400" dirty="0"/>
              <a:t>, αφού σε ένα δοκίμιο δεν μπορούν να δοθούν πολλές ερωτήσεις</a:t>
            </a:r>
          </a:p>
          <a:p>
            <a:pPr eaLnBrk="1" fontAlgn="auto">
              <a:spcAft>
                <a:spcPts val="0"/>
              </a:spcAft>
              <a:buFont typeface="Arial" pitchFamily="34" charset="0"/>
              <a:buChar char="•"/>
              <a:defRPr/>
            </a:pPr>
            <a:endParaRPr lang="en-US" sz="2400" dirty="0"/>
          </a:p>
          <a:p>
            <a:pPr eaLnBrk="1" fontAlgn="auto">
              <a:spcAft>
                <a:spcPts val="0"/>
              </a:spcAft>
              <a:buFont typeface="Arial" pitchFamily="34" charset="0"/>
              <a:buChar char="•"/>
              <a:defRPr/>
            </a:pPr>
            <a:r>
              <a:rPr lang="el-GR" sz="2400" dirty="0"/>
              <a:t>εξάρτηση των απαντήσεων από τη </a:t>
            </a:r>
            <a:r>
              <a:rPr lang="el-GR" sz="2400" b="1" dirty="0"/>
              <a:t>γλωσσική ικανότητα </a:t>
            </a:r>
            <a:r>
              <a:rPr lang="el-GR" sz="2400" dirty="0"/>
              <a:t>του ατόμου, γεγονός που επηρεάζει άμεσα την </a:t>
            </a:r>
            <a:r>
              <a:rPr lang="el-GR" sz="2400" b="1" dirty="0"/>
              <a:t>εγκυρότητα</a:t>
            </a:r>
            <a:r>
              <a:rPr lang="el-GR" sz="2400" dirty="0"/>
              <a:t> του δοκιμίου</a:t>
            </a:r>
          </a:p>
          <a:p>
            <a:pPr eaLnBrk="1" fontAlgn="auto">
              <a:spcAft>
                <a:spcPts val="0"/>
              </a:spcAft>
              <a:buFont typeface="Arial" pitchFamily="34" charset="0"/>
              <a:buChar char="•"/>
              <a:defRPr/>
            </a:pPr>
            <a:endParaRPr lang="en-US" sz="2400" dirty="0"/>
          </a:p>
          <a:p>
            <a:pPr>
              <a:buFont typeface="Arial" pitchFamily="34" charset="0"/>
              <a:buChar char="•"/>
              <a:defRPr/>
            </a:pPr>
            <a:r>
              <a:rPr lang="el-GR" sz="2400" b="1" dirty="0"/>
              <a:t>δαπάνη χρόνου </a:t>
            </a:r>
            <a:r>
              <a:rPr lang="el-GR" sz="2400" dirty="0"/>
              <a:t>κατά τη διόρθωση των απαντήσεων</a:t>
            </a:r>
          </a:p>
          <a:p>
            <a:pPr>
              <a:buFont typeface="Arial" pitchFamily="34" charset="0"/>
              <a:buChar char="•"/>
              <a:defRPr/>
            </a:pPr>
            <a:endParaRPr lang="el-GR" sz="2400" dirty="0"/>
          </a:p>
          <a:p>
            <a:pPr>
              <a:buFont typeface="Arial" pitchFamily="34" charset="0"/>
              <a:buChar char="•"/>
              <a:defRPr/>
            </a:pPr>
            <a:r>
              <a:rPr lang="el-GR" sz="2400" dirty="0"/>
              <a:t>αδυναμίες για </a:t>
            </a:r>
            <a:r>
              <a:rPr lang="el-GR" sz="2400" b="1" dirty="0"/>
              <a:t>αντικειμενική αξιολόγηση </a:t>
            </a:r>
            <a:r>
              <a:rPr lang="el-GR" sz="2400" dirty="0"/>
              <a:t>που επηρεάζουν την </a:t>
            </a:r>
            <a:r>
              <a:rPr lang="el-GR" sz="2400" b="1" dirty="0"/>
              <a:t>αξιοπιστία</a:t>
            </a:r>
            <a:r>
              <a:rPr lang="el-GR" sz="2400" dirty="0"/>
              <a:t>, ειδικά στην περίπτωση που τα άτομα που διορθώνουν τις ερωτήσεις είναι περισσότερα από ένα </a:t>
            </a:r>
          </a:p>
          <a:p>
            <a:pPr>
              <a:buFont typeface="Arial" pitchFamily="34" charset="0"/>
              <a:buChar char="•"/>
              <a:defRPr/>
            </a:pPr>
            <a:endParaRPr lang="el-GR" sz="2400" dirty="0"/>
          </a:p>
          <a:p>
            <a:pPr eaLnBrk="1" fontAlgn="auto">
              <a:spcAft>
                <a:spcPts val="0"/>
              </a:spcAft>
              <a:buFont typeface="Arial" pitchFamily="34" charset="0"/>
              <a:buChar char="•"/>
              <a:defRPr/>
            </a:pPr>
            <a:endParaRPr lang="en-US" sz="2400" dirty="0"/>
          </a:p>
          <a:p>
            <a:pPr eaLnBrk="1" fontAlgn="auto" hangingPunct="1">
              <a:spcAft>
                <a:spcPts val="0"/>
              </a:spcAft>
              <a:buNone/>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extLst>
      <p:ext uri="{BB962C8B-B14F-4D97-AF65-F5344CB8AC3E}">
        <p14:creationId xmlns:p14="http://schemas.microsoft.com/office/powerpoint/2010/main" val="28458677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184576"/>
          </a:xfrm>
        </p:spPr>
        <p:txBody>
          <a:bodyPr rtlCol="0">
            <a:normAutofit/>
          </a:bodyPr>
          <a:lstStyle/>
          <a:p>
            <a:pPr marL="0" indent="0" eaLnBrk="1" fontAlgn="auto">
              <a:spcAft>
                <a:spcPts val="0"/>
              </a:spcAft>
              <a:buFont typeface="Arial" pitchFamily="34" charset="0"/>
              <a:buNone/>
              <a:defRPr/>
            </a:pPr>
            <a:r>
              <a:rPr lang="el-GR" sz="2600" b="1" u="sng" dirty="0">
                <a:solidFill>
                  <a:srgbClr val="0070C0"/>
                </a:solidFill>
              </a:rPr>
              <a:t>Εισηγήσεις για καλύτερη διόρθωση ερωτήσεων ανοικτού τύπου</a:t>
            </a:r>
            <a:endParaRPr lang="en-US" sz="2600" b="1" dirty="0">
              <a:solidFill>
                <a:srgbClr val="0070C0"/>
              </a:solidFill>
            </a:endParaRPr>
          </a:p>
          <a:p>
            <a:pPr>
              <a:buFont typeface="Wingdings" pitchFamily="2" charset="2"/>
              <a:buChar char="ü"/>
              <a:defRPr/>
            </a:pPr>
            <a:r>
              <a:rPr lang="el-GR" sz="2400" dirty="0"/>
              <a:t>Καθορισμός </a:t>
            </a:r>
            <a:r>
              <a:rPr lang="el-GR" sz="2400" b="1" dirty="0"/>
              <a:t>βασικών παραγόντων αξιολόγησης </a:t>
            </a:r>
            <a:r>
              <a:rPr lang="el-GR" sz="2400" dirty="0"/>
              <a:t>της απάντησης. </a:t>
            </a:r>
          </a:p>
          <a:p>
            <a:pPr>
              <a:buFont typeface="Wingdings" pitchFamily="2" charset="2"/>
              <a:buChar char="ü"/>
              <a:defRPr/>
            </a:pPr>
            <a:endParaRPr lang="el-GR" sz="2400" dirty="0"/>
          </a:p>
          <a:p>
            <a:pPr eaLnBrk="1" fontAlgn="auto">
              <a:spcAft>
                <a:spcPts val="0"/>
              </a:spcAft>
              <a:buFont typeface="Wingdings" pitchFamily="2" charset="2"/>
              <a:buChar char="ü"/>
              <a:defRPr/>
            </a:pPr>
            <a:r>
              <a:rPr lang="el-GR" sz="2400" dirty="0"/>
              <a:t>Ετοιμασία </a:t>
            </a:r>
            <a:r>
              <a:rPr lang="el-GR" sz="2400" b="1" dirty="0"/>
              <a:t>προτύπου απάντησης </a:t>
            </a:r>
            <a:r>
              <a:rPr lang="el-GR" sz="2400" dirty="0"/>
              <a:t>και επιμέρους αξιολόγηση.</a:t>
            </a:r>
          </a:p>
          <a:p>
            <a:pPr eaLnBrk="1" fontAlgn="auto">
              <a:spcAft>
                <a:spcPts val="0"/>
              </a:spcAft>
              <a:buFont typeface="Wingdings" pitchFamily="2" charset="2"/>
              <a:buChar char="ü"/>
              <a:defRPr/>
            </a:pPr>
            <a:endParaRPr lang="el-GR" sz="2400" dirty="0"/>
          </a:p>
          <a:p>
            <a:pPr eaLnBrk="1" fontAlgn="auto">
              <a:spcAft>
                <a:spcPts val="0"/>
              </a:spcAft>
              <a:buFont typeface="Wingdings" pitchFamily="2" charset="2"/>
              <a:buChar char="ü"/>
              <a:defRPr/>
            </a:pPr>
            <a:r>
              <a:rPr lang="el-GR" sz="2400" dirty="0"/>
              <a:t> Είναι προτιμότερο </a:t>
            </a:r>
            <a:r>
              <a:rPr lang="el-GR" sz="2400" b="1" dirty="0"/>
              <a:t>να αξιολογείται η ίδια ερώτηση </a:t>
            </a:r>
            <a:r>
              <a:rPr lang="el-GR" sz="2400" dirty="0"/>
              <a:t>όλων των δοκιμίων, πριν επιχειρήσουμε να αξιολογήσουμε την επόμενη ερώτηση.</a:t>
            </a:r>
          </a:p>
          <a:p>
            <a:pPr eaLnBrk="1" fontAlgn="auto">
              <a:spcAft>
                <a:spcPts val="0"/>
              </a:spcAft>
              <a:buNone/>
              <a:defRPr/>
            </a:pPr>
            <a:endParaRPr lang="el-GR" sz="2400" dirty="0"/>
          </a:p>
          <a:p>
            <a:pPr eaLnBrk="1" fontAlgn="auto">
              <a:spcAft>
                <a:spcPts val="0"/>
              </a:spcAft>
              <a:buFont typeface="Wingdings" pitchFamily="2" charset="2"/>
              <a:buChar char="ü"/>
              <a:defRPr/>
            </a:pPr>
            <a:endParaRPr lang="el-GR" sz="2400" dirty="0"/>
          </a:p>
          <a:p>
            <a:pPr marL="0" indent="0" eaLnBrk="1" fontAlgn="auto" hangingPunct="1">
              <a:spcAft>
                <a:spcPts val="0"/>
              </a:spcAft>
              <a:buFont typeface="Arial" pitchFamily="34" charset="0"/>
              <a:buNone/>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extLst>
      <p:ext uri="{BB962C8B-B14F-4D97-AF65-F5344CB8AC3E}">
        <p14:creationId xmlns:p14="http://schemas.microsoft.com/office/powerpoint/2010/main" val="12345228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184576"/>
          </a:xfrm>
        </p:spPr>
        <p:txBody>
          <a:bodyPr rtlCol="0">
            <a:normAutofit lnSpcReduction="10000"/>
          </a:bodyPr>
          <a:lstStyle/>
          <a:p>
            <a:pPr marL="0" indent="0" eaLnBrk="1" fontAlgn="auto">
              <a:spcAft>
                <a:spcPts val="0"/>
              </a:spcAft>
              <a:buFont typeface="Arial" pitchFamily="34" charset="0"/>
              <a:buNone/>
              <a:defRPr/>
            </a:pPr>
            <a:r>
              <a:rPr lang="el-GR" sz="2600" b="1" u="sng" dirty="0">
                <a:solidFill>
                  <a:srgbClr val="0070C0"/>
                </a:solidFill>
              </a:rPr>
              <a:t>Εισηγήσεις για καλύτερη διόρθωση ερωτήσεων ανοικτού τύπου</a:t>
            </a:r>
            <a:endParaRPr lang="el-GR" sz="2400" dirty="0"/>
          </a:p>
          <a:p>
            <a:pPr eaLnBrk="1" fontAlgn="auto">
              <a:spcAft>
                <a:spcPts val="0"/>
              </a:spcAft>
              <a:buFont typeface="Arial" pitchFamily="34" charset="0"/>
              <a:buChar char="•"/>
              <a:defRPr/>
            </a:pPr>
            <a:r>
              <a:rPr lang="el-GR" sz="2400" dirty="0"/>
              <a:t>Υπάρχουν τρεις τρόποι αξιολόγησης μιας ανοικτής ερώτησης:</a:t>
            </a:r>
            <a:endParaRPr lang="en-US" sz="2400" dirty="0"/>
          </a:p>
          <a:p>
            <a:pPr marL="0" indent="0" eaLnBrk="1" fontAlgn="auto">
              <a:spcAft>
                <a:spcPts val="0"/>
              </a:spcAft>
              <a:buFont typeface="Arial" pitchFamily="34" charset="0"/>
              <a:buNone/>
              <a:defRPr/>
            </a:pPr>
            <a:r>
              <a:rPr lang="el-GR" sz="2400" b="1" dirty="0"/>
              <a:t>α) Μέθοδος γενικής εντύπωσης</a:t>
            </a:r>
          </a:p>
          <a:p>
            <a:pPr marL="0" indent="0" eaLnBrk="1" fontAlgn="auto">
              <a:spcAft>
                <a:spcPts val="0"/>
              </a:spcAft>
              <a:buFont typeface="Arial" pitchFamily="34" charset="0"/>
              <a:buNone/>
              <a:defRPr/>
            </a:pPr>
            <a:endParaRPr lang="en-US" sz="2400" dirty="0"/>
          </a:p>
          <a:p>
            <a:pPr marL="0" indent="0" eaLnBrk="1" fontAlgn="auto">
              <a:spcAft>
                <a:spcPts val="0"/>
              </a:spcAft>
              <a:buFont typeface="Arial" pitchFamily="34" charset="0"/>
              <a:buNone/>
              <a:defRPr/>
            </a:pPr>
            <a:r>
              <a:rPr lang="el-GR" sz="2400" b="1" dirty="0"/>
              <a:t>β) Μέθοδος των δειγμάτων</a:t>
            </a:r>
          </a:p>
          <a:p>
            <a:pPr marL="0" indent="0" eaLnBrk="1" fontAlgn="auto">
              <a:spcAft>
                <a:spcPts val="0"/>
              </a:spcAft>
              <a:buFont typeface="Arial" pitchFamily="34" charset="0"/>
              <a:buNone/>
              <a:defRPr/>
            </a:pPr>
            <a:endParaRPr lang="en-US" sz="2400" dirty="0"/>
          </a:p>
          <a:p>
            <a:pPr marL="0" indent="0" eaLnBrk="1" fontAlgn="auto" hangingPunct="1">
              <a:spcAft>
                <a:spcPts val="0"/>
              </a:spcAft>
              <a:buFont typeface="Arial" pitchFamily="34" charset="0"/>
              <a:buNone/>
              <a:defRPr/>
            </a:pPr>
            <a:r>
              <a:rPr lang="el-GR" sz="2400" b="1" dirty="0"/>
              <a:t>γ) Μέθοδος αναλυτικής διόρθωσης – χρήση προτύπου αξιολόγησης</a:t>
            </a:r>
            <a:r>
              <a:rPr lang="el-GR" sz="2400" dirty="0"/>
              <a:t>.</a:t>
            </a:r>
          </a:p>
          <a:p>
            <a:pPr marL="0" indent="0" eaLnBrk="1" fontAlgn="auto" hangingPunct="1">
              <a:spcAft>
                <a:spcPts val="0"/>
              </a:spcAft>
              <a:buFont typeface="Arial" pitchFamily="34" charset="0"/>
              <a:buNone/>
              <a:defRPr/>
            </a:pPr>
            <a:endParaRPr lang="el-GR" sz="2400" dirty="0"/>
          </a:p>
          <a:p>
            <a:pPr eaLnBrk="1" fontAlgn="auto">
              <a:spcAft>
                <a:spcPts val="0"/>
              </a:spcAft>
              <a:buFont typeface="Wingdings" pitchFamily="2" charset="2"/>
              <a:buChar char="ü"/>
              <a:defRPr/>
            </a:pPr>
            <a:r>
              <a:rPr lang="el-GR" sz="2400" dirty="0"/>
              <a:t>Είναι προτιμότερο να χρησιμοποιηθούν περισσότερες από μια μέθοδος, ώστε να ελεγχθεί η εσωτερική εγκυρότητα του δοκιμίου. </a:t>
            </a:r>
            <a:endParaRPr lang="en-US" sz="2400" dirty="0"/>
          </a:p>
          <a:p>
            <a:pPr marL="0" indent="0" eaLnBrk="1" fontAlgn="auto" hangingPunct="1">
              <a:spcAft>
                <a:spcPts val="0"/>
              </a:spcAft>
              <a:buFont typeface="Arial" pitchFamily="34" charset="0"/>
              <a:buNone/>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extLst>
      <p:ext uri="{BB962C8B-B14F-4D97-AF65-F5344CB8AC3E}">
        <p14:creationId xmlns:p14="http://schemas.microsoft.com/office/powerpoint/2010/main" val="1234522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p:cNvSpPr>
            <a:spLocks noGrp="1"/>
          </p:cNvSpPr>
          <p:nvPr>
            <p:ph idx="1"/>
          </p:nvPr>
        </p:nvSpPr>
        <p:spPr>
          <a:xfrm>
            <a:off x="304800" y="1219200"/>
            <a:ext cx="8610600" cy="5334000"/>
          </a:xfrm>
        </p:spPr>
        <p:txBody>
          <a:bodyPr/>
          <a:lstStyle/>
          <a:p>
            <a:pPr eaLnBrk="1"/>
            <a:r>
              <a:rPr lang="el-GR" sz="2400" dirty="0"/>
              <a:t>Οι ερωτήσεις πρέπει να είναι </a:t>
            </a:r>
            <a:r>
              <a:rPr lang="el-GR" sz="2400" b="1" dirty="0"/>
              <a:t>διαφορετικού βαθμού δυσκολίας </a:t>
            </a:r>
          </a:p>
          <a:p>
            <a:pPr eaLnBrk="1"/>
            <a:r>
              <a:rPr lang="el-GR" sz="2400" b="1" dirty="0"/>
              <a:t>Διαβάθμιση</a:t>
            </a:r>
            <a:r>
              <a:rPr lang="el-GR" sz="2400" dirty="0"/>
              <a:t> ερωτήσεων</a:t>
            </a:r>
            <a:endParaRPr lang="en-US" sz="2400" dirty="0"/>
          </a:p>
          <a:p>
            <a:pPr eaLnBrk="1"/>
            <a:r>
              <a:rPr lang="el-GR" sz="2400" dirty="0"/>
              <a:t>Η κάθε ερώτηση πρέπει να είναι </a:t>
            </a:r>
            <a:r>
              <a:rPr lang="el-GR" sz="2400" b="1" dirty="0"/>
              <a:t>αυτοτελής και ανεξάρτητη </a:t>
            </a:r>
            <a:r>
              <a:rPr lang="el-GR" sz="2400" dirty="0"/>
              <a:t>από τις άλλες.</a:t>
            </a:r>
            <a:endParaRPr lang="en-US" sz="2400" dirty="0"/>
          </a:p>
          <a:p>
            <a:pPr eaLnBrk="1"/>
            <a:r>
              <a:rPr lang="el-GR" sz="2400" b="1" dirty="0"/>
              <a:t>Λέξεις ή φράσεις δύσκολες ή διφορούμενης σημασίας </a:t>
            </a:r>
            <a:r>
              <a:rPr lang="el-GR" sz="2400" dirty="0"/>
              <a:t>θα πρέπει να αποφεύγονται, ώστε να εξασφαλίζεται εσωτερική εγκυρότητα.  </a:t>
            </a:r>
            <a:endParaRPr lang="en-US" sz="2400" dirty="0"/>
          </a:p>
          <a:p>
            <a:pPr eaLnBrk="1"/>
            <a:r>
              <a:rPr lang="el-GR" sz="2400" dirty="0"/>
              <a:t>Πρέπει να δίνονται </a:t>
            </a:r>
            <a:r>
              <a:rPr lang="el-GR" sz="2400" b="1" dirty="0"/>
              <a:t>οδηγίες για κάθε τύπο ερώτησης</a:t>
            </a:r>
            <a:r>
              <a:rPr lang="el-GR" sz="2400" dirty="0"/>
              <a:t>.</a:t>
            </a:r>
          </a:p>
          <a:p>
            <a:pPr eaLnBrk="1"/>
            <a:endParaRPr lang="en-US" sz="2400" dirty="0"/>
          </a:p>
        </p:txBody>
      </p:sp>
      <p:sp>
        <p:nvSpPr>
          <p:cNvPr id="4" name="Title 1"/>
          <p:cNvSpPr>
            <a:spLocks noGrp="1"/>
          </p:cNvSpPr>
          <p:nvPr>
            <p:ph type="title"/>
          </p:nvPr>
        </p:nvSpPr>
        <p:spPr>
          <a:xfrm>
            <a:off x="152400" y="228600"/>
            <a:ext cx="8839200" cy="809625"/>
          </a:xfrm>
        </p:spPr>
        <p:txBody>
          <a:bodyPr rtlCol="0">
            <a:noAutofit/>
          </a:bodyPr>
          <a:lstStyle/>
          <a:p>
            <a:pPr eaLnBrk="1" fontAlgn="auto" hangingPunct="1">
              <a:spcAft>
                <a:spcPts val="0"/>
              </a:spcAft>
              <a:defRPr/>
            </a:pPr>
            <a:r>
              <a:rPr lang="el-GR" sz="2800" b="1" dirty="0">
                <a:solidFill>
                  <a:schemeClr val="tx1">
                    <a:lumMod val="75000"/>
                    <a:lumOff val="25000"/>
                  </a:schemeClr>
                </a:solidFill>
              </a:rPr>
              <a:t>Η επιλογή ερωτήσεων κατά τον καταρτισμό δοκιμίου</a:t>
            </a:r>
            <a:endParaRPr lang="en-US" sz="2800" b="1" dirty="0">
              <a:solidFill>
                <a:schemeClr val="tx1">
                  <a:lumMod val="75000"/>
                  <a:lumOff val="25000"/>
                </a:schemeClr>
              </a:solidFill>
            </a:endParaRPr>
          </a:p>
        </p:txBody>
      </p:sp>
    </p:spTree>
    <p:extLst>
      <p:ext uri="{BB962C8B-B14F-4D97-AF65-F5344CB8AC3E}">
        <p14:creationId xmlns:p14="http://schemas.microsoft.com/office/powerpoint/2010/main" val="2075538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839200" cy="809625"/>
          </a:xfrm>
        </p:spPr>
        <p:txBody>
          <a:bodyPr rtlCol="0">
            <a:noAutofit/>
          </a:bodyPr>
          <a:lstStyle/>
          <a:p>
            <a:pPr eaLnBrk="1" fontAlgn="auto" hangingPunct="1">
              <a:spcAft>
                <a:spcPts val="0"/>
              </a:spcAft>
              <a:defRPr/>
            </a:pPr>
            <a:r>
              <a:rPr lang="el-GR" sz="2800" b="1" dirty="0">
                <a:solidFill>
                  <a:schemeClr val="tx1">
                    <a:lumMod val="75000"/>
                    <a:lumOff val="25000"/>
                  </a:schemeClr>
                </a:solidFill>
              </a:rPr>
              <a:t>Η επιλογή ερωτήσεων κατά τον καταρτισμό δοκιμίου</a:t>
            </a:r>
            <a:endParaRPr lang="en-US" sz="2800" b="1" dirty="0">
              <a:solidFill>
                <a:schemeClr val="tx1">
                  <a:lumMod val="75000"/>
                  <a:lumOff val="25000"/>
                </a:schemeClr>
              </a:solidFill>
            </a:endParaRPr>
          </a:p>
        </p:txBody>
      </p:sp>
      <p:sp>
        <p:nvSpPr>
          <p:cNvPr id="40963" name="Content Placeholder 2"/>
          <p:cNvSpPr>
            <a:spLocks noGrp="1"/>
          </p:cNvSpPr>
          <p:nvPr>
            <p:ph idx="1"/>
          </p:nvPr>
        </p:nvSpPr>
        <p:spPr>
          <a:xfrm>
            <a:off x="304800" y="1295400"/>
            <a:ext cx="8610600" cy="4953000"/>
          </a:xfrm>
        </p:spPr>
        <p:txBody>
          <a:bodyPr>
            <a:normAutofit/>
          </a:bodyPr>
          <a:lstStyle/>
          <a:p>
            <a:pPr eaLnBrk="1"/>
            <a:endParaRPr lang="el-GR" sz="2400" dirty="0"/>
          </a:p>
          <a:p>
            <a:pPr eaLnBrk="1"/>
            <a:r>
              <a:rPr lang="el-GR" sz="2400" dirty="0"/>
              <a:t>Οι ερωτήσεις να μην αξιολογούν μόνο την ικανότητα απομνημόνευσης του μαθητή, αλλά να καλύπτουν </a:t>
            </a:r>
            <a:r>
              <a:rPr lang="el-GR" sz="2400" b="1" dirty="0"/>
              <a:t>όλα τα επίπεδα μάθησης</a:t>
            </a:r>
            <a:r>
              <a:rPr lang="el-GR" sz="2400" dirty="0"/>
              <a:t>. Η αξιολόγηση διαφορετικών επιπέδων θα πρέπει να είναι </a:t>
            </a:r>
            <a:r>
              <a:rPr lang="el-GR" sz="2400" b="1" dirty="0"/>
              <a:t>ανάλογη της έμφασης </a:t>
            </a:r>
            <a:r>
              <a:rPr lang="el-GR" sz="2400" dirty="0"/>
              <a:t>που δόθηκε σε κάθε επίπεδο κατά τη διδασκαλία του θέματος. </a:t>
            </a:r>
          </a:p>
          <a:p>
            <a:pPr eaLnBrk="1">
              <a:buNone/>
            </a:pPr>
            <a:endParaRPr lang="el-GR" sz="2400" dirty="0"/>
          </a:p>
          <a:p>
            <a:r>
              <a:rPr lang="el-GR" sz="2400" b="1" dirty="0"/>
              <a:t>Να αποφεύγονται οι ερωτήσεις-οδηγοί</a:t>
            </a:r>
            <a:endParaRPr lang="en-US" sz="2400" dirty="0"/>
          </a:p>
          <a:p>
            <a:pPr eaLnBrk="1"/>
            <a:endParaRPr lang="el-GR" sz="2400" dirty="0"/>
          </a:p>
        </p:txBody>
      </p:sp>
    </p:spTree>
    <p:extLst>
      <p:ext uri="{BB962C8B-B14F-4D97-AF65-F5344CB8AC3E}">
        <p14:creationId xmlns:p14="http://schemas.microsoft.com/office/powerpoint/2010/main" val="37805609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28600"/>
            <a:ext cx="8740080" cy="809625"/>
          </a:xfrm>
        </p:spPr>
        <p:txBody>
          <a:bodyPr rtlCol="0">
            <a:noAutofit/>
          </a:bodyPr>
          <a:lstStyle/>
          <a:p>
            <a:pPr>
              <a:defRPr/>
            </a:pPr>
            <a:r>
              <a:rPr lang="el-GR" b="1" dirty="0">
                <a:solidFill>
                  <a:schemeClr val="tx1">
                    <a:lumMod val="75000"/>
                    <a:lumOff val="25000"/>
                  </a:schemeClr>
                </a:solidFill>
              </a:rPr>
              <a:t>Τράπεζες ερωτήσεων και βασικές αρχές οργάνωσης τους</a:t>
            </a:r>
            <a:endParaRPr lang="en-US" b="1" dirty="0">
              <a:solidFill>
                <a:schemeClr val="tx1">
                  <a:lumMod val="75000"/>
                  <a:lumOff val="25000"/>
                </a:schemeClr>
              </a:solidFill>
            </a:endParaRPr>
          </a:p>
        </p:txBody>
      </p:sp>
      <p:sp>
        <p:nvSpPr>
          <p:cNvPr id="41987" name="Content Placeholder 2"/>
          <p:cNvSpPr>
            <a:spLocks noGrp="1"/>
          </p:cNvSpPr>
          <p:nvPr>
            <p:ph idx="1"/>
          </p:nvPr>
        </p:nvSpPr>
        <p:spPr>
          <a:xfrm>
            <a:off x="304800" y="1295400"/>
            <a:ext cx="8610600" cy="4953000"/>
          </a:xfrm>
        </p:spPr>
        <p:txBody>
          <a:bodyPr>
            <a:normAutofit fontScale="85000" lnSpcReduction="10000"/>
          </a:bodyPr>
          <a:lstStyle/>
          <a:p>
            <a:pPr lvl="0" hangingPunct="0"/>
            <a:r>
              <a:rPr lang="el-GR" sz="2400" dirty="0"/>
              <a:t>Σκοπός της τράπεζας ερωτήσεων είναι </a:t>
            </a:r>
            <a:r>
              <a:rPr lang="el-GR" sz="2400" b="1" dirty="0"/>
              <a:t>η δημιουργία εγκυρότερων μέσων ελέγχου της προόδου των μαθητών </a:t>
            </a:r>
            <a:r>
              <a:rPr lang="el-GR" sz="2400" dirty="0"/>
              <a:t>μιας χώρας, η επίτευξη ενός ενιαίου εθνικού συστήματος αξιολόγησης που μπορεί να χρησιμοποιήθει και για τη μέτρηση εθνικών επιπέδων.</a:t>
            </a:r>
          </a:p>
          <a:p>
            <a:pPr lvl="0" hangingPunct="0"/>
            <a:endParaRPr lang="el-GR" sz="2400" dirty="0"/>
          </a:p>
          <a:p>
            <a:pPr lvl="0" hangingPunct="0">
              <a:buNone/>
            </a:pPr>
            <a:r>
              <a:rPr lang="el-GR" sz="2400" b="1" dirty="0"/>
              <a:t>Βασικές αρχές οργάνωσης μιας τράπεζας ερωτήσεων σε εθνικό επίπεδο: </a:t>
            </a:r>
          </a:p>
          <a:p>
            <a:pPr hangingPunct="0">
              <a:buNone/>
            </a:pPr>
            <a:r>
              <a:rPr lang="el-GR" sz="2400" dirty="0"/>
              <a:t>α) Χρήση ενιαίου συστήματος </a:t>
            </a:r>
            <a:r>
              <a:rPr lang="el-GR" sz="2400" b="1" dirty="0"/>
              <a:t>μετρήσιμων κριτηρίων αξιολόγησης </a:t>
            </a:r>
            <a:r>
              <a:rPr lang="el-GR" sz="2400" dirty="0"/>
              <a:t>(μπορεί να είναι διατυπωμένα και υπό μορφή στόχων) που να αναφέρονται στους στόχους διδασκαλίας και στους επιμέρους στόχους της αξιολόγησης. </a:t>
            </a:r>
          </a:p>
          <a:p>
            <a:pPr hangingPunct="0">
              <a:buNone/>
            </a:pPr>
            <a:r>
              <a:rPr lang="el-GR" sz="2400" dirty="0"/>
              <a:t>β) Οι ερωτήσεις πρέπει να είναι ανάλογες των </a:t>
            </a:r>
            <a:r>
              <a:rPr lang="el-GR" sz="2400" b="1" dirty="0"/>
              <a:t>πνευματικών ικανοτήτων </a:t>
            </a:r>
            <a:r>
              <a:rPr lang="el-GR" sz="2400" dirty="0"/>
              <a:t>των ατόμων, προς τα οποία απευθύνονται (πορίσματα ερευνών Επιστημών της Αγωγής και Ψυχολογίας).</a:t>
            </a:r>
          </a:p>
          <a:p>
            <a:pPr hangingPunct="0">
              <a:buNone/>
            </a:pPr>
            <a:r>
              <a:rPr lang="el-GR" sz="2400" dirty="0"/>
              <a:t>γ) Για τη διευκόλυνση της ταξινόμησης των ερωτήσεων κάθε μαθήματος είναι καλό να υπάρχει </a:t>
            </a:r>
            <a:r>
              <a:rPr lang="el-GR" sz="2400" b="1" dirty="0"/>
              <a:t>ενιαίο σύστημα κωδικοποίησης των ερωτήσεων</a:t>
            </a:r>
            <a:r>
              <a:rPr lang="el-GR" sz="2400" dirty="0"/>
              <a:t>. Να καταγράφονται επίσης στοιχεία σχετικά με την κάθε ερώτηση όπως: στόχος, βαθμός δυσκολίας, διακριτικότητα, δείγμα στο οποίο δοκιμάστηκε κτλ. </a:t>
            </a:r>
          </a:p>
        </p:txBody>
      </p:sp>
    </p:spTree>
    <p:extLst>
      <p:ext uri="{BB962C8B-B14F-4D97-AF65-F5344CB8AC3E}">
        <p14:creationId xmlns:p14="http://schemas.microsoft.com/office/powerpoint/2010/main" val="2081308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28600"/>
            <a:ext cx="8740080" cy="809625"/>
          </a:xfrm>
        </p:spPr>
        <p:txBody>
          <a:bodyPr rtlCol="0">
            <a:noAutofit/>
          </a:bodyPr>
          <a:lstStyle/>
          <a:p>
            <a:pPr>
              <a:defRPr/>
            </a:pPr>
            <a:r>
              <a:rPr lang="el-GR" b="1" dirty="0">
                <a:solidFill>
                  <a:schemeClr val="tx1">
                    <a:lumMod val="75000"/>
                    <a:lumOff val="25000"/>
                  </a:schemeClr>
                </a:solidFill>
              </a:rPr>
              <a:t>Τράπεζες ερωτήσεων και βασικές αρχές οργάνωσης τους</a:t>
            </a:r>
            <a:endParaRPr lang="en-US" b="1" dirty="0">
              <a:solidFill>
                <a:schemeClr val="tx1">
                  <a:lumMod val="75000"/>
                  <a:lumOff val="25000"/>
                </a:schemeClr>
              </a:solidFill>
            </a:endParaRPr>
          </a:p>
        </p:txBody>
      </p:sp>
      <p:sp>
        <p:nvSpPr>
          <p:cNvPr id="41987" name="Content Placeholder 2"/>
          <p:cNvSpPr>
            <a:spLocks noGrp="1"/>
          </p:cNvSpPr>
          <p:nvPr>
            <p:ph idx="1"/>
          </p:nvPr>
        </p:nvSpPr>
        <p:spPr>
          <a:xfrm>
            <a:off x="304800" y="1295400"/>
            <a:ext cx="8610600" cy="4953000"/>
          </a:xfrm>
        </p:spPr>
        <p:txBody>
          <a:bodyPr>
            <a:normAutofit fontScale="85000" lnSpcReduction="20000"/>
          </a:bodyPr>
          <a:lstStyle/>
          <a:p>
            <a:pPr>
              <a:buNone/>
            </a:pPr>
            <a:r>
              <a:rPr lang="el-GR" sz="2400" dirty="0"/>
              <a:t>	</a:t>
            </a:r>
            <a:r>
              <a:rPr lang="el-GR" sz="2800" b="1" dirty="0">
                <a:solidFill>
                  <a:srgbClr val="0070C0"/>
                </a:solidFill>
              </a:rPr>
              <a:t>Η δημιουργία ατομικής τράπεζας ερωτήσεων και συλλογικής τράπεζας ερωτήσεων σε σχολική κλίμακα</a:t>
            </a:r>
            <a:endParaRPr lang="el-GR" sz="2400" b="1" dirty="0">
              <a:solidFill>
                <a:srgbClr val="0070C0"/>
              </a:solidFill>
            </a:endParaRPr>
          </a:p>
          <a:p>
            <a:pPr>
              <a:buNone/>
            </a:pPr>
            <a:endParaRPr lang="el-GR" sz="2400" dirty="0"/>
          </a:p>
          <a:p>
            <a:r>
              <a:rPr lang="el-GR" sz="2400" dirty="0"/>
              <a:t>Οι τράπεζες ερωτήσεων αποσκοπούν στην οργάνωση των διαφόρων τύπων ερωτήσεων αξιολόγησης ούτως ώστε να </a:t>
            </a:r>
            <a:r>
              <a:rPr lang="el-GR" sz="2400" b="1" dirty="0"/>
              <a:t>διευκολυνθεί η επιλογή ερωτήσεων κατά τον καταρτισμό δοκιμίων αξιολόγησης του μαθητή.</a:t>
            </a:r>
          </a:p>
          <a:p>
            <a:r>
              <a:rPr lang="el-GR" sz="2400" dirty="0"/>
              <a:t>Η τράπεζες ερωτήσεων σε σχολική βάση μπορεί να βοηθήσουν το σχολείο να μετρήσει την αποτελεσματικότητα του και να αναπτύξει </a:t>
            </a:r>
            <a:r>
              <a:rPr lang="el-GR" sz="2400" b="1" dirty="0"/>
              <a:t>πολιτική </a:t>
            </a:r>
            <a:r>
              <a:rPr lang="el-GR" sz="2400" dirty="0"/>
              <a:t>σε σχέση με την αξιολόγηση. </a:t>
            </a:r>
          </a:p>
          <a:p>
            <a:endParaRPr lang="el-GR" sz="2400" dirty="0"/>
          </a:p>
          <a:p>
            <a:r>
              <a:rPr lang="el-GR" sz="2400" dirty="0"/>
              <a:t>Οι ερωτήσεις μπορούν να οργανωθούν ανάλογα με:</a:t>
            </a:r>
          </a:p>
          <a:p>
            <a:pPr lvl="1"/>
            <a:r>
              <a:rPr lang="el-GR" sz="2100" dirty="0"/>
              <a:t>Το είδος τους π.χ. Ανοικτού/κλειστού τύπου, ερωτήσεις λύσης προβλήματος, ερωτήσεις σύντομης απάντησης κ.τ.λ. </a:t>
            </a:r>
          </a:p>
          <a:p>
            <a:pPr lvl="1"/>
            <a:r>
              <a:rPr lang="el-GR" sz="2100" dirty="0"/>
              <a:t>Το σκοπό που εξυπηρετούν π.χ. έλεγχο γνώσης, κατανόησης, εφαρμογής</a:t>
            </a:r>
          </a:p>
          <a:p>
            <a:pPr lvl="1"/>
            <a:r>
              <a:rPr lang="el-GR" sz="2100" dirty="0"/>
              <a:t>Το βαθμό δυσκολίας τους</a:t>
            </a:r>
            <a:endParaRPr lang="el-GR" sz="2400" dirty="0"/>
          </a:p>
          <a:p>
            <a:pPr lvl="1"/>
            <a:r>
              <a:rPr lang="el-GR" sz="2400" dirty="0"/>
              <a:t>...</a:t>
            </a:r>
            <a:endParaRPr lang="el-GR" sz="2100" dirty="0"/>
          </a:p>
        </p:txBody>
      </p:sp>
    </p:spTree>
    <p:extLst>
      <p:ext uri="{BB962C8B-B14F-4D97-AF65-F5344CB8AC3E}">
        <p14:creationId xmlns:p14="http://schemas.microsoft.com/office/powerpoint/2010/main" val="208130852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3245</TotalTime>
  <Words>3586</Words>
  <Application>Microsoft Office PowerPoint</Application>
  <PresentationFormat>On-screen Show (4:3)</PresentationFormat>
  <Paragraphs>426</Paragraphs>
  <Slides>49</Slides>
  <Notes>21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49</vt:i4>
      </vt:variant>
    </vt:vector>
  </HeadingPairs>
  <TitlesOfParts>
    <vt:vector size="59" baseType="lpstr">
      <vt:lpstr>Arial</vt:lpstr>
      <vt:lpstr>Bookman Old Style</vt:lpstr>
      <vt:lpstr>Calibri</vt:lpstr>
      <vt:lpstr>Cambria</vt:lpstr>
      <vt:lpstr>Gill Sans MT</vt:lpstr>
      <vt:lpstr>Wingdings</vt:lpstr>
      <vt:lpstr>Wingdings 3</vt:lpstr>
      <vt:lpstr>1_Custom Design</vt:lpstr>
      <vt:lpstr>Custom Design</vt:lpstr>
      <vt:lpstr>Origin</vt:lpstr>
      <vt:lpstr> ΠΡΥ 004: Αξιολόγηση του Μαθητή </vt:lpstr>
      <vt:lpstr>Οι αρχές ενός δυναμικού μοντέλου διαμορφωτικής αξιολόγησης</vt:lpstr>
      <vt:lpstr>Οι αρχές ενός δυναμικού μοντέλου διαμορφωτικής αξιολόγησης</vt:lpstr>
      <vt:lpstr>Οι αρχές ενός δυναμικού μοντέλου διαμορφωτικής αξιολόγησης</vt:lpstr>
      <vt:lpstr>Οι αρχές ενός δυναμικού μοντέλου διαμορφωτικής αξιολόγησης</vt:lpstr>
      <vt:lpstr>Οι φάσεις της αξιολόγησης</vt:lpstr>
      <vt:lpstr>Οι τεχνικές αξιολόγησης</vt:lpstr>
      <vt:lpstr>Οι τεχνικές αξιολόγησης</vt:lpstr>
      <vt:lpstr>Οι τεχνικές αξιολόγησης</vt:lpstr>
      <vt:lpstr>Τεχνικές αξιολόγησης</vt:lpstr>
      <vt:lpstr>Κριτήρια διάκρισης των τεχνικών αξιολόγησης</vt:lpstr>
      <vt:lpstr>Γραπτή Αξιολόγηση</vt:lpstr>
      <vt:lpstr>Γραπτή αξιολόγηση - Πλεονεκτήματα</vt:lpstr>
      <vt:lpstr>PowerPoint Presentation</vt:lpstr>
      <vt:lpstr>PowerPoint Presentation</vt:lpstr>
      <vt:lpstr>Γραπτή αξιολόγηση με ανοικτά βιβλία</vt:lpstr>
      <vt:lpstr>Γραπτή αξιολόγηση με ανοικτά βιβλία</vt:lpstr>
      <vt:lpstr>Γραπτή αξιολόγηση με ανοικτά βιβλία</vt:lpstr>
      <vt:lpstr>Γραπτή αξιολόγηση με ανοικτά βιβλία στο σπίτι</vt:lpstr>
      <vt:lpstr>Γραπτή αξιολόγηση με ανοικτά βιβλία στο σπίτι</vt:lpstr>
      <vt:lpstr>Τύποι και είδη ερωτήσεων</vt:lpstr>
      <vt:lpstr>PowerPoint Presentation</vt:lpstr>
      <vt:lpstr>Ερωτήσεις πολλαπλής επιλογής (multiple-choice questions)</vt:lpstr>
      <vt:lpstr>Ερωτήσεις πολλαπλής επιλογής</vt:lpstr>
      <vt:lpstr>Ερωτήσεις πολλαπλής επιλογής</vt:lpstr>
      <vt:lpstr>Ερωτήσεις του τύπου “ορθό - λάθος”</vt:lpstr>
      <vt:lpstr>Ερωτήσεις σύζευξης/συσχέτισης (matching questions)</vt:lpstr>
      <vt:lpstr>Ερωτήσεις σύζευξης/συσχέτισης</vt:lpstr>
      <vt:lpstr>Ερωτήσεις σύζευξης/συσχέτισης</vt:lpstr>
      <vt:lpstr>Ερωτήσεις σύζευξης/συσχέτισης</vt:lpstr>
      <vt:lpstr>Ερωτήσεις σύζευξης/συσχέτισης</vt:lpstr>
      <vt:lpstr>Ερωτήσεις σύζευξης/συσχέτισης</vt:lpstr>
      <vt:lpstr>Ερωτήσεις συμπλήρωσης</vt:lpstr>
      <vt:lpstr>Ερωτήσεις συμπλήρωσης</vt:lpstr>
      <vt:lpstr>Ερωτήσεις συμπλήρωσης</vt:lpstr>
      <vt:lpstr>Ερωτήσεις διάταξης ή ιεράρχησης </vt:lpstr>
      <vt:lpstr>Ερωτήσεις σύντομης απάντησης</vt:lpstr>
      <vt:lpstr>Ερωτήσεις σύντομης απάντησης</vt:lpstr>
      <vt:lpstr>Ερωτήσεις σύντομης απάντησης</vt:lpstr>
      <vt:lpstr>Ερωτήσεις αντικειμενικού τύπου</vt:lpstr>
      <vt:lpstr>Ερωτήσεις ανοικτού τύπου</vt:lpstr>
      <vt:lpstr>Ερωτήσεις ανοικτού τύπου</vt:lpstr>
      <vt:lpstr>Ερωτήσεις ανοικτού τύπου</vt:lpstr>
      <vt:lpstr>Ερωτήσεις ανοικτού τύπου</vt:lpstr>
      <vt:lpstr>Ερωτήσεις ανοικτού τύπου</vt:lpstr>
      <vt:lpstr>Η επιλογή ερωτήσεων κατά τον καταρτισμό δοκιμίου</vt:lpstr>
      <vt:lpstr>Η επιλογή ερωτήσεων κατά τον καταρτισμό δοκιμίου</vt:lpstr>
      <vt:lpstr>Τράπεζες ερωτήσεων και βασικές αρχές οργάνωσης τους</vt:lpstr>
      <vt:lpstr>Τράπεζες ερωτήσεων και βασικές αρχές οργάνωσης τους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EΠΑ 304: Εκπαιδευτική Αξιολόγηση Συνάντηση 1η</dc:title>
  <dc:creator>User</dc:creator>
  <cp:lastModifiedBy>Leonidas Kyriakides</cp:lastModifiedBy>
  <cp:revision>245</cp:revision>
  <dcterms:created xsi:type="dcterms:W3CDTF">2013-07-23T09:32:43Z</dcterms:created>
  <dcterms:modified xsi:type="dcterms:W3CDTF">2026-10-05T20:18:26Z</dcterms:modified>
</cp:coreProperties>
</file>