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7" r:id="rId2"/>
    <p:sldId id="276" r:id="rId3"/>
    <p:sldId id="280" r:id="rId4"/>
    <p:sldId id="287" r:id="rId5"/>
    <p:sldId id="278" r:id="rId6"/>
    <p:sldId id="299" r:id="rId7"/>
    <p:sldId id="300" r:id="rId8"/>
    <p:sldId id="328" r:id="rId9"/>
    <p:sldId id="329" r:id="rId10"/>
    <p:sldId id="331" r:id="rId11"/>
    <p:sldId id="288" r:id="rId12"/>
    <p:sldId id="332" r:id="rId13"/>
    <p:sldId id="313" r:id="rId14"/>
    <p:sldId id="314" r:id="rId15"/>
    <p:sldId id="317" r:id="rId16"/>
    <p:sldId id="337" r:id="rId17"/>
    <p:sldId id="338" r:id="rId18"/>
    <p:sldId id="339" r:id="rId19"/>
    <p:sldId id="340" r:id="rId20"/>
    <p:sldId id="341" r:id="rId21"/>
    <p:sldId id="342" r:id="rId22"/>
    <p:sldId id="292" r:id="rId23"/>
    <p:sldId id="343" r:id="rId24"/>
    <p:sldId id="345" r:id="rId25"/>
    <p:sldId id="346" r:id="rId26"/>
    <p:sldId id="348" r:id="rId27"/>
    <p:sldId id="347" r:id="rId28"/>
    <p:sldId id="349" r:id="rId29"/>
    <p:sldId id="27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 autoAdjust="0"/>
    <p:restoredTop sz="86118" autoAdjust="0"/>
  </p:normalViewPr>
  <p:slideViewPr>
    <p:cSldViewPr>
      <p:cViewPr varScale="1">
        <p:scale>
          <a:sx n="79" d="100"/>
          <a:sy n="79" d="100"/>
        </p:scale>
        <p:origin x="100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560DE-9EEB-4D43-9BB6-0B9646C56B50}" type="doc">
      <dgm:prSet loTypeId="urn:microsoft.com/office/officeart/2005/8/layout/h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4F2DEC2-623E-410E-B538-75F89A81871D}">
      <dgm:prSet phldrT="[Text]"/>
      <dgm:spPr/>
      <dgm:t>
        <a:bodyPr/>
        <a:lstStyle/>
        <a:p>
          <a:r>
            <a:rPr lang="el-GR" dirty="0"/>
            <a:t>Σχεδιασμός</a:t>
          </a:r>
          <a:endParaRPr lang="en-US" dirty="0"/>
        </a:p>
      </dgm:t>
    </dgm:pt>
    <dgm:pt modelId="{52DFD896-E37B-444D-8F77-21C82FF2A981}" type="parTrans" cxnId="{58D8CB55-A7EE-4958-8DCD-D536048AA8FB}">
      <dgm:prSet/>
      <dgm:spPr/>
      <dgm:t>
        <a:bodyPr/>
        <a:lstStyle/>
        <a:p>
          <a:endParaRPr lang="en-US"/>
        </a:p>
      </dgm:t>
    </dgm:pt>
    <dgm:pt modelId="{30D60C95-B632-426E-8F42-F67CDE952CC8}" type="sibTrans" cxnId="{58D8CB55-A7EE-4958-8DCD-D536048AA8FB}">
      <dgm:prSet/>
      <dgm:spPr/>
      <dgm:t>
        <a:bodyPr/>
        <a:lstStyle/>
        <a:p>
          <a:endParaRPr lang="en-US"/>
        </a:p>
      </dgm:t>
    </dgm:pt>
    <dgm:pt modelId="{8AB53EA1-1625-47C7-B5DD-680438EC026A}">
      <dgm:prSet phldrT="[Text]"/>
      <dgm:spPr/>
      <dgm:t>
        <a:bodyPr/>
        <a:lstStyle/>
        <a:p>
          <a:r>
            <a:rPr lang="el-GR" dirty="0"/>
            <a:t>Χρήση </a:t>
          </a:r>
          <a:r>
            <a:rPr lang="el-GR" dirty="0" err="1"/>
            <a:t>σχέδιου</a:t>
          </a:r>
          <a:r>
            <a:rPr lang="el-GR" dirty="0"/>
            <a:t> μαθήματος</a:t>
          </a:r>
          <a:endParaRPr lang="en-US" dirty="0"/>
        </a:p>
      </dgm:t>
    </dgm:pt>
    <dgm:pt modelId="{F7117152-47F9-4106-B9E4-261BFEBAE560}" type="parTrans" cxnId="{4A9722FF-9929-4570-AD35-7BFA982AA638}">
      <dgm:prSet/>
      <dgm:spPr/>
      <dgm:t>
        <a:bodyPr/>
        <a:lstStyle/>
        <a:p>
          <a:endParaRPr lang="en-US"/>
        </a:p>
      </dgm:t>
    </dgm:pt>
    <dgm:pt modelId="{E9BA8D2E-D04C-42EE-AFC3-174AC975FF38}" type="sibTrans" cxnId="{4A9722FF-9929-4570-AD35-7BFA982AA638}">
      <dgm:prSet/>
      <dgm:spPr/>
      <dgm:t>
        <a:bodyPr/>
        <a:lstStyle/>
        <a:p>
          <a:endParaRPr lang="en-US"/>
        </a:p>
      </dgm:t>
    </dgm:pt>
    <dgm:pt modelId="{36B623D4-14D0-495F-B84A-C2FB12BAD029}">
      <dgm:prSet phldrT="[Text]"/>
      <dgm:spPr/>
      <dgm:t>
        <a:bodyPr/>
        <a:lstStyle/>
        <a:p>
          <a:r>
            <a:rPr lang="el-GR" dirty="0"/>
            <a:t>Υλοποίηση</a:t>
          </a:r>
          <a:endParaRPr lang="en-US" dirty="0"/>
        </a:p>
      </dgm:t>
    </dgm:pt>
    <dgm:pt modelId="{12438A59-C3E8-4E84-BE8F-6231881F175F}" type="parTrans" cxnId="{AA6F1D53-218D-4425-9DAF-B222A6D6F761}">
      <dgm:prSet/>
      <dgm:spPr/>
      <dgm:t>
        <a:bodyPr/>
        <a:lstStyle/>
        <a:p>
          <a:endParaRPr lang="en-US"/>
        </a:p>
      </dgm:t>
    </dgm:pt>
    <dgm:pt modelId="{B4E8698B-B935-4B4D-BA30-088703340418}" type="sibTrans" cxnId="{AA6F1D53-218D-4425-9DAF-B222A6D6F761}">
      <dgm:prSet/>
      <dgm:spPr/>
      <dgm:t>
        <a:bodyPr/>
        <a:lstStyle/>
        <a:p>
          <a:endParaRPr lang="en-US"/>
        </a:p>
      </dgm:t>
    </dgm:pt>
    <dgm:pt modelId="{A5B3114C-BB1F-4789-BD40-A4931FD59879}">
      <dgm:prSet phldrT="[Text]"/>
      <dgm:spPr/>
      <dgm:t>
        <a:bodyPr/>
        <a:lstStyle/>
        <a:p>
          <a:r>
            <a:rPr lang="el-GR" dirty="0"/>
            <a:t>15’ διδασκαλία σε μικρή ομάδα.</a:t>
          </a:r>
          <a:endParaRPr lang="en-US" dirty="0"/>
        </a:p>
      </dgm:t>
    </dgm:pt>
    <dgm:pt modelId="{A2BF8932-FE5E-4D10-A443-B72F1C9DE1E9}" type="parTrans" cxnId="{CA954E45-4940-4279-B59A-78AEBCFB6C06}">
      <dgm:prSet/>
      <dgm:spPr/>
      <dgm:t>
        <a:bodyPr/>
        <a:lstStyle/>
        <a:p>
          <a:endParaRPr lang="en-US"/>
        </a:p>
      </dgm:t>
    </dgm:pt>
    <dgm:pt modelId="{66ED8C1E-37C8-48AD-879B-2202B700AEA8}" type="sibTrans" cxnId="{CA954E45-4940-4279-B59A-78AEBCFB6C06}">
      <dgm:prSet/>
      <dgm:spPr/>
      <dgm:t>
        <a:bodyPr/>
        <a:lstStyle/>
        <a:p>
          <a:endParaRPr lang="en-US"/>
        </a:p>
      </dgm:t>
    </dgm:pt>
    <dgm:pt modelId="{9B4078A7-C967-4470-B44F-774E74635ACB}">
      <dgm:prSet phldrT="[Text]"/>
      <dgm:spPr/>
      <dgm:t>
        <a:bodyPr/>
        <a:lstStyle/>
        <a:p>
          <a:r>
            <a:rPr lang="el-GR" dirty="0"/>
            <a:t>Αξιολόγηση - </a:t>
          </a:r>
          <a:r>
            <a:rPr lang="el-GR" dirty="0" err="1"/>
            <a:t>Αναστοχασμός</a:t>
          </a:r>
          <a:endParaRPr lang="en-US" dirty="0"/>
        </a:p>
      </dgm:t>
    </dgm:pt>
    <dgm:pt modelId="{F55C71A7-0284-4860-9DD1-A1B54179EBB9}" type="parTrans" cxnId="{149989CC-B64D-49D8-833F-0E149DC133A1}">
      <dgm:prSet/>
      <dgm:spPr/>
      <dgm:t>
        <a:bodyPr/>
        <a:lstStyle/>
        <a:p>
          <a:endParaRPr lang="en-US"/>
        </a:p>
      </dgm:t>
    </dgm:pt>
    <dgm:pt modelId="{19A8C9B4-2348-4D8A-BB8D-7E5541F3AE21}" type="sibTrans" cxnId="{149989CC-B64D-49D8-833F-0E149DC133A1}">
      <dgm:prSet/>
      <dgm:spPr/>
      <dgm:t>
        <a:bodyPr/>
        <a:lstStyle/>
        <a:p>
          <a:endParaRPr lang="en-US"/>
        </a:p>
      </dgm:t>
    </dgm:pt>
    <dgm:pt modelId="{74A6914B-870C-461F-BC4B-04544006A689}">
      <dgm:prSet phldrT="[Text]"/>
      <dgm:spPr/>
      <dgm:t>
        <a:bodyPr/>
        <a:lstStyle/>
        <a:p>
          <a:r>
            <a:rPr lang="el-GR" b="0" dirty="0"/>
            <a:t>Αξιολόγηση από τον συντονιστή και από τους συναδέλφους.</a:t>
          </a:r>
          <a:endParaRPr lang="en-US" b="0" dirty="0"/>
        </a:p>
      </dgm:t>
    </dgm:pt>
    <dgm:pt modelId="{60061673-FF54-4076-8D86-9FCF8843E466}" type="parTrans" cxnId="{7ACA8976-2DFF-45B4-97F3-1F459B04ACFF}">
      <dgm:prSet/>
      <dgm:spPr/>
      <dgm:t>
        <a:bodyPr/>
        <a:lstStyle/>
        <a:p>
          <a:endParaRPr lang="en-US"/>
        </a:p>
      </dgm:t>
    </dgm:pt>
    <dgm:pt modelId="{619C6839-02C1-4013-98B9-48CBE4E1EEE6}" type="sibTrans" cxnId="{7ACA8976-2DFF-45B4-97F3-1F459B04ACFF}">
      <dgm:prSet/>
      <dgm:spPr/>
      <dgm:t>
        <a:bodyPr/>
        <a:lstStyle/>
        <a:p>
          <a:endParaRPr lang="en-US"/>
        </a:p>
      </dgm:t>
    </dgm:pt>
    <dgm:pt modelId="{D33F5A14-D354-45FE-ADAC-8331AAF3A276}">
      <dgm:prSet phldrT="[Text]"/>
      <dgm:spPr/>
      <dgm:t>
        <a:bodyPr/>
        <a:lstStyle/>
        <a:p>
          <a:r>
            <a:rPr lang="el-GR" b="0" dirty="0" err="1"/>
            <a:t>Αναστοχασμός</a:t>
          </a:r>
          <a:r>
            <a:rPr lang="el-GR" b="0" dirty="0"/>
            <a:t> από τον εκπαιδευτικό </a:t>
          </a:r>
          <a:endParaRPr lang="en-US" b="0" dirty="0"/>
        </a:p>
      </dgm:t>
    </dgm:pt>
    <dgm:pt modelId="{88533C19-6F07-4630-BA4C-D7592F9C32B2}" type="parTrans" cxnId="{A88FBFFE-9EFE-4E30-B03C-A571273B7F99}">
      <dgm:prSet/>
      <dgm:spPr/>
      <dgm:t>
        <a:bodyPr/>
        <a:lstStyle/>
        <a:p>
          <a:endParaRPr lang="en-CY"/>
        </a:p>
      </dgm:t>
    </dgm:pt>
    <dgm:pt modelId="{EA10D53F-71E7-4370-8B86-1EA7745EE2DB}" type="sibTrans" cxnId="{A88FBFFE-9EFE-4E30-B03C-A571273B7F99}">
      <dgm:prSet/>
      <dgm:spPr/>
      <dgm:t>
        <a:bodyPr/>
        <a:lstStyle/>
        <a:p>
          <a:endParaRPr lang="en-CY"/>
        </a:p>
      </dgm:t>
    </dgm:pt>
    <dgm:pt modelId="{D351587F-3441-4E3E-9F56-97570A81D290}" type="pres">
      <dgm:prSet presAssocID="{C72560DE-9EEB-4D43-9BB6-0B9646C56B50}" presName="Name0" presStyleCnt="0">
        <dgm:presLayoutVars>
          <dgm:dir/>
          <dgm:animLvl val="lvl"/>
          <dgm:resizeHandles val="exact"/>
        </dgm:presLayoutVars>
      </dgm:prSet>
      <dgm:spPr/>
    </dgm:pt>
    <dgm:pt modelId="{E6C37B40-18A0-4D03-B6E8-8E3D7D0EA009}" type="pres">
      <dgm:prSet presAssocID="{84F2DEC2-623E-410E-B538-75F89A81871D}" presName="composite" presStyleCnt="0"/>
      <dgm:spPr/>
    </dgm:pt>
    <dgm:pt modelId="{FD3124AA-F0C6-4091-B923-9AB6F0C33B0F}" type="pres">
      <dgm:prSet presAssocID="{84F2DEC2-623E-410E-B538-75F89A81871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D6EC6C8-D46A-4749-B5FE-EE2D87917632}" type="pres">
      <dgm:prSet presAssocID="{84F2DEC2-623E-410E-B538-75F89A81871D}" presName="desTx" presStyleLbl="alignAccFollowNode1" presStyleIdx="0" presStyleCnt="3">
        <dgm:presLayoutVars>
          <dgm:bulletEnabled val="1"/>
        </dgm:presLayoutVars>
      </dgm:prSet>
      <dgm:spPr/>
    </dgm:pt>
    <dgm:pt modelId="{7A622252-8756-4E5C-B7AC-1E85E0A38AC0}" type="pres">
      <dgm:prSet presAssocID="{30D60C95-B632-426E-8F42-F67CDE952CC8}" presName="space" presStyleCnt="0"/>
      <dgm:spPr/>
    </dgm:pt>
    <dgm:pt modelId="{6E4F2C96-FE96-4601-A94B-0EAAA5F8F52C}" type="pres">
      <dgm:prSet presAssocID="{36B623D4-14D0-495F-B84A-C2FB12BAD029}" presName="composite" presStyleCnt="0"/>
      <dgm:spPr/>
    </dgm:pt>
    <dgm:pt modelId="{1B874E87-3D10-45C7-83CA-BE3963DDFD51}" type="pres">
      <dgm:prSet presAssocID="{36B623D4-14D0-495F-B84A-C2FB12BAD02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30CB6CB-F46C-41A3-8DB5-08822497F88E}" type="pres">
      <dgm:prSet presAssocID="{36B623D4-14D0-495F-B84A-C2FB12BAD029}" presName="desTx" presStyleLbl="alignAccFollowNode1" presStyleIdx="1" presStyleCnt="3">
        <dgm:presLayoutVars>
          <dgm:bulletEnabled val="1"/>
        </dgm:presLayoutVars>
      </dgm:prSet>
      <dgm:spPr/>
    </dgm:pt>
    <dgm:pt modelId="{91C3639D-1370-411E-959F-4DB645F9075C}" type="pres">
      <dgm:prSet presAssocID="{B4E8698B-B935-4B4D-BA30-088703340418}" presName="space" presStyleCnt="0"/>
      <dgm:spPr/>
    </dgm:pt>
    <dgm:pt modelId="{7E6074E0-0822-479D-B541-554605744328}" type="pres">
      <dgm:prSet presAssocID="{9B4078A7-C967-4470-B44F-774E74635ACB}" presName="composite" presStyleCnt="0"/>
      <dgm:spPr/>
    </dgm:pt>
    <dgm:pt modelId="{F2E6D6ED-784B-46E3-9E3C-6ADA4D3906AA}" type="pres">
      <dgm:prSet presAssocID="{9B4078A7-C967-4470-B44F-774E74635AC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3417FB0-47FC-49AD-81C0-3A9B7CD337CA}" type="pres">
      <dgm:prSet presAssocID="{9B4078A7-C967-4470-B44F-774E74635AC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2E3783C-FC51-403D-B4F2-B2D42D2FE6E8}" type="presOf" srcId="{9B4078A7-C967-4470-B44F-774E74635ACB}" destId="{F2E6D6ED-784B-46E3-9E3C-6ADA4D3906AA}" srcOrd="0" destOrd="0" presId="urn:microsoft.com/office/officeart/2005/8/layout/hList1"/>
    <dgm:cxn modelId="{1E830340-7667-487F-ABA8-A6B269519E62}" type="presOf" srcId="{36B623D4-14D0-495F-B84A-C2FB12BAD029}" destId="{1B874E87-3D10-45C7-83CA-BE3963DDFD51}" srcOrd="0" destOrd="0" presId="urn:microsoft.com/office/officeart/2005/8/layout/hList1"/>
    <dgm:cxn modelId="{E1CED45F-09FF-489B-9626-A12F6BE53470}" type="presOf" srcId="{C72560DE-9EEB-4D43-9BB6-0B9646C56B50}" destId="{D351587F-3441-4E3E-9F56-97570A81D290}" srcOrd="0" destOrd="0" presId="urn:microsoft.com/office/officeart/2005/8/layout/hList1"/>
    <dgm:cxn modelId="{CA954E45-4940-4279-B59A-78AEBCFB6C06}" srcId="{36B623D4-14D0-495F-B84A-C2FB12BAD029}" destId="{A5B3114C-BB1F-4789-BD40-A4931FD59879}" srcOrd="0" destOrd="0" parTransId="{A2BF8932-FE5E-4D10-A443-B72F1C9DE1E9}" sibTransId="{66ED8C1E-37C8-48AD-879B-2202B700AEA8}"/>
    <dgm:cxn modelId="{0BF3076D-4708-41B4-9116-0457C8A840E2}" type="presOf" srcId="{A5B3114C-BB1F-4789-BD40-A4931FD59879}" destId="{F30CB6CB-F46C-41A3-8DB5-08822497F88E}" srcOrd="0" destOrd="0" presId="urn:microsoft.com/office/officeart/2005/8/layout/hList1"/>
    <dgm:cxn modelId="{AA6F1D53-218D-4425-9DAF-B222A6D6F761}" srcId="{C72560DE-9EEB-4D43-9BB6-0B9646C56B50}" destId="{36B623D4-14D0-495F-B84A-C2FB12BAD029}" srcOrd="1" destOrd="0" parTransId="{12438A59-C3E8-4E84-BE8F-6231881F175F}" sibTransId="{B4E8698B-B935-4B4D-BA30-088703340418}"/>
    <dgm:cxn modelId="{58D8CB55-A7EE-4958-8DCD-D536048AA8FB}" srcId="{C72560DE-9EEB-4D43-9BB6-0B9646C56B50}" destId="{84F2DEC2-623E-410E-B538-75F89A81871D}" srcOrd="0" destOrd="0" parTransId="{52DFD896-E37B-444D-8F77-21C82FF2A981}" sibTransId="{30D60C95-B632-426E-8F42-F67CDE952CC8}"/>
    <dgm:cxn modelId="{7ACA8976-2DFF-45B4-97F3-1F459B04ACFF}" srcId="{9B4078A7-C967-4470-B44F-774E74635ACB}" destId="{74A6914B-870C-461F-BC4B-04544006A689}" srcOrd="0" destOrd="0" parTransId="{60061673-FF54-4076-8D86-9FCF8843E466}" sibTransId="{619C6839-02C1-4013-98B9-48CBE4E1EEE6}"/>
    <dgm:cxn modelId="{1D3C6582-88BF-4395-A92C-748CAE0C9333}" type="presOf" srcId="{84F2DEC2-623E-410E-B538-75F89A81871D}" destId="{FD3124AA-F0C6-4091-B923-9AB6F0C33B0F}" srcOrd="0" destOrd="0" presId="urn:microsoft.com/office/officeart/2005/8/layout/hList1"/>
    <dgm:cxn modelId="{E0E1EBB1-BA7F-4066-A424-4F2612253D94}" type="presOf" srcId="{8AB53EA1-1625-47C7-B5DD-680438EC026A}" destId="{0D6EC6C8-D46A-4749-B5FE-EE2D87917632}" srcOrd="0" destOrd="0" presId="urn:microsoft.com/office/officeart/2005/8/layout/hList1"/>
    <dgm:cxn modelId="{149989CC-B64D-49D8-833F-0E149DC133A1}" srcId="{C72560DE-9EEB-4D43-9BB6-0B9646C56B50}" destId="{9B4078A7-C967-4470-B44F-774E74635ACB}" srcOrd="2" destOrd="0" parTransId="{F55C71A7-0284-4860-9DD1-A1B54179EBB9}" sibTransId="{19A8C9B4-2348-4D8A-BB8D-7E5541F3AE21}"/>
    <dgm:cxn modelId="{0BF5B6E6-117F-4E0E-8E27-B1B625EDC709}" type="presOf" srcId="{74A6914B-870C-461F-BC4B-04544006A689}" destId="{13417FB0-47FC-49AD-81C0-3A9B7CD337CA}" srcOrd="0" destOrd="0" presId="urn:microsoft.com/office/officeart/2005/8/layout/hList1"/>
    <dgm:cxn modelId="{7F856DF5-18D9-4067-9E06-91384C6201DC}" type="presOf" srcId="{D33F5A14-D354-45FE-ADAC-8331AAF3A276}" destId="{13417FB0-47FC-49AD-81C0-3A9B7CD337CA}" srcOrd="0" destOrd="1" presId="urn:microsoft.com/office/officeart/2005/8/layout/hList1"/>
    <dgm:cxn modelId="{A88FBFFE-9EFE-4E30-B03C-A571273B7F99}" srcId="{9B4078A7-C967-4470-B44F-774E74635ACB}" destId="{D33F5A14-D354-45FE-ADAC-8331AAF3A276}" srcOrd="1" destOrd="0" parTransId="{88533C19-6F07-4630-BA4C-D7592F9C32B2}" sibTransId="{EA10D53F-71E7-4370-8B86-1EA7745EE2DB}"/>
    <dgm:cxn modelId="{4A9722FF-9929-4570-AD35-7BFA982AA638}" srcId="{84F2DEC2-623E-410E-B538-75F89A81871D}" destId="{8AB53EA1-1625-47C7-B5DD-680438EC026A}" srcOrd="0" destOrd="0" parTransId="{F7117152-47F9-4106-B9E4-261BFEBAE560}" sibTransId="{E9BA8D2E-D04C-42EE-AFC3-174AC975FF38}"/>
    <dgm:cxn modelId="{76CC1EFA-BA08-403B-9BA2-6520C70F7187}" type="presParOf" srcId="{D351587F-3441-4E3E-9F56-97570A81D290}" destId="{E6C37B40-18A0-4D03-B6E8-8E3D7D0EA009}" srcOrd="0" destOrd="0" presId="urn:microsoft.com/office/officeart/2005/8/layout/hList1"/>
    <dgm:cxn modelId="{6A5BFF9D-D2E3-4C89-A7EE-CCCB00AC7B1E}" type="presParOf" srcId="{E6C37B40-18A0-4D03-B6E8-8E3D7D0EA009}" destId="{FD3124AA-F0C6-4091-B923-9AB6F0C33B0F}" srcOrd="0" destOrd="0" presId="urn:microsoft.com/office/officeart/2005/8/layout/hList1"/>
    <dgm:cxn modelId="{D36512ED-2564-49C8-BE89-3B8DB3FB7096}" type="presParOf" srcId="{E6C37B40-18A0-4D03-B6E8-8E3D7D0EA009}" destId="{0D6EC6C8-D46A-4749-B5FE-EE2D87917632}" srcOrd="1" destOrd="0" presId="urn:microsoft.com/office/officeart/2005/8/layout/hList1"/>
    <dgm:cxn modelId="{FBD39CA3-81F1-473B-A004-1281FFDD263B}" type="presParOf" srcId="{D351587F-3441-4E3E-9F56-97570A81D290}" destId="{7A622252-8756-4E5C-B7AC-1E85E0A38AC0}" srcOrd="1" destOrd="0" presId="urn:microsoft.com/office/officeart/2005/8/layout/hList1"/>
    <dgm:cxn modelId="{F6ED354A-A555-466F-9750-75831973A423}" type="presParOf" srcId="{D351587F-3441-4E3E-9F56-97570A81D290}" destId="{6E4F2C96-FE96-4601-A94B-0EAAA5F8F52C}" srcOrd="2" destOrd="0" presId="urn:microsoft.com/office/officeart/2005/8/layout/hList1"/>
    <dgm:cxn modelId="{FC9EE89E-5D16-4261-B7F5-68D059437DE1}" type="presParOf" srcId="{6E4F2C96-FE96-4601-A94B-0EAAA5F8F52C}" destId="{1B874E87-3D10-45C7-83CA-BE3963DDFD51}" srcOrd="0" destOrd="0" presId="urn:microsoft.com/office/officeart/2005/8/layout/hList1"/>
    <dgm:cxn modelId="{8C11BB35-19FD-4EDD-9D26-7F6BEFA59945}" type="presParOf" srcId="{6E4F2C96-FE96-4601-A94B-0EAAA5F8F52C}" destId="{F30CB6CB-F46C-41A3-8DB5-08822497F88E}" srcOrd="1" destOrd="0" presId="urn:microsoft.com/office/officeart/2005/8/layout/hList1"/>
    <dgm:cxn modelId="{51FE7086-CAC2-47B8-9FB2-18D6B781BF31}" type="presParOf" srcId="{D351587F-3441-4E3E-9F56-97570A81D290}" destId="{91C3639D-1370-411E-959F-4DB645F9075C}" srcOrd="3" destOrd="0" presId="urn:microsoft.com/office/officeart/2005/8/layout/hList1"/>
    <dgm:cxn modelId="{05FDDE16-0052-4734-809A-4DDBCFF02B6C}" type="presParOf" srcId="{D351587F-3441-4E3E-9F56-97570A81D290}" destId="{7E6074E0-0822-479D-B541-554605744328}" srcOrd="4" destOrd="0" presId="urn:microsoft.com/office/officeart/2005/8/layout/hList1"/>
    <dgm:cxn modelId="{8B48A1DC-54E6-4AAD-A9EA-07D3B5244DD7}" type="presParOf" srcId="{7E6074E0-0822-479D-B541-554605744328}" destId="{F2E6D6ED-784B-46E3-9E3C-6ADA4D3906AA}" srcOrd="0" destOrd="0" presId="urn:microsoft.com/office/officeart/2005/8/layout/hList1"/>
    <dgm:cxn modelId="{D5D949F7-9E5B-45C4-8ED1-0D3917BFEBE3}" type="presParOf" srcId="{7E6074E0-0822-479D-B541-554605744328}" destId="{13417FB0-47FC-49AD-81C0-3A9B7CD337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124AA-F0C6-4091-B923-9AB6F0C33B0F}">
      <dsp:nvSpPr>
        <dsp:cNvPr id="0" name=""/>
        <dsp:cNvSpPr/>
      </dsp:nvSpPr>
      <dsp:spPr>
        <a:xfrm>
          <a:off x="2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Σχεδιασμός</a:t>
          </a:r>
          <a:endParaRPr lang="en-US" sz="2500" kern="1200" dirty="0"/>
        </a:p>
      </dsp:txBody>
      <dsp:txXfrm>
        <a:off x="2571" y="117619"/>
        <a:ext cx="2507456" cy="905707"/>
      </dsp:txXfrm>
    </dsp:sp>
    <dsp:sp modelId="{0D6EC6C8-D46A-4749-B5FE-EE2D87917632}">
      <dsp:nvSpPr>
        <dsp:cNvPr id="0" name=""/>
        <dsp:cNvSpPr/>
      </dsp:nvSpPr>
      <dsp:spPr>
        <a:xfrm>
          <a:off x="2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Χρήση </a:t>
          </a:r>
          <a:r>
            <a:rPr lang="el-GR" sz="2500" kern="1200" dirty="0" err="1"/>
            <a:t>σχέδιου</a:t>
          </a:r>
          <a:r>
            <a:rPr lang="el-GR" sz="2500" kern="1200" dirty="0"/>
            <a:t> μαθήματος</a:t>
          </a:r>
          <a:endParaRPr lang="en-US" sz="2500" kern="1200" dirty="0"/>
        </a:p>
      </dsp:txBody>
      <dsp:txXfrm>
        <a:off x="2571" y="1023326"/>
        <a:ext cx="2507456" cy="3253253"/>
      </dsp:txXfrm>
    </dsp:sp>
    <dsp:sp modelId="{1B874E87-3D10-45C7-83CA-BE3963DDFD51}">
      <dsp:nvSpPr>
        <dsp:cNvPr id="0" name=""/>
        <dsp:cNvSpPr/>
      </dsp:nvSpPr>
      <dsp:spPr>
        <a:xfrm>
          <a:off x="28610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Υλοποίηση</a:t>
          </a:r>
          <a:endParaRPr lang="en-US" sz="2500" kern="1200" dirty="0"/>
        </a:p>
      </dsp:txBody>
      <dsp:txXfrm>
        <a:off x="2861071" y="117619"/>
        <a:ext cx="2507456" cy="905707"/>
      </dsp:txXfrm>
    </dsp:sp>
    <dsp:sp modelId="{F30CB6CB-F46C-41A3-8DB5-08822497F88E}">
      <dsp:nvSpPr>
        <dsp:cNvPr id="0" name=""/>
        <dsp:cNvSpPr/>
      </dsp:nvSpPr>
      <dsp:spPr>
        <a:xfrm>
          <a:off x="28610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kern="1200" dirty="0"/>
            <a:t>15’ διδασκαλία σε μικρή ομάδα.</a:t>
          </a:r>
          <a:endParaRPr lang="en-US" sz="2500" kern="1200" dirty="0"/>
        </a:p>
      </dsp:txBody>
      <dsp:txXfrm>
        <a:off x="2861071" y="1023326"/>
        <a:ext cx="2507456" cy="3253253"/>
      </dsp:txXfrm>
    </dsp:sp>
    <dsp:sp modelId="{F2E6D6ED-784B-46E3-9E3C-6ADA4D3906AA}">
      <dsp:nvSpPr>
        <dsp:cNvPr id="0" name=""/>
        <dsp:cNvSpPr/>
      </dsp:nvSpPr>
      <dsp:spPr>
        <a:xfrm>
          <a:off x="5719571" y="117619"/>
          <a:ext cx="2507456" cy="9057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 dirty="0"/>
            <a:t>Αξιολόγηση - </a:t>
          </a:r>
          <a:r>
            <a:rPr lang="el-GR" sz="2500" kern="1200" dirty="0" err="1"/>
            <a:t>Αναστοχασμός</a:t>
          </a:r>
          <a:endParaRPr lang="en-US" sz="2500" kern="1200" dirty="0"/>
        </a:p>
      </dsp:txBody>
      <dsp:txXfrm>
        <a:off x="5719571" y="117619"/>
        <a:ext cx="2507456" cy="905707"/>
      </dsp:txXfrm>
    </dsp:sp>
    <dsp:sp modelId="{13417FB0-47FC-49AD-81C0-3A9B7CD337CA}">
      <dsp:nvSpPr>
        <dsp:cNvPr id="0" name=""/>
        <dsp:cNvSpPr/>
      </dsp:nvSpPr>
      <dsp:spPr>
        <a:xfrm>
          <a:off x="5719571" y="1023326"/>
          <a:ext cx="2507456" cy="3253253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/>
            <a:t>Αξιολόγηση από τον συντονιστή και από τους συναδέλφους.</a:t>
          </a:r>
          <a:endParaRPr lang="en-US" sz="2500" b="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2500" b="0" kern="1200" dirty="0" err="1"/>
            <a:t>Αναστοχασμός</a:t>
          </a:r>
          <a:r>
            <a:rPr lang="el-GR" sz="2500" b="0" kern="1200" dirty="0"/>
            <a:t> από τον εκπαιδευτικό </a:t>
          </a:r>
          <a:endParaRPr lang="en-US" sz="2500" b="0" kern="1200" dirty="0"/>
        </a:p>
      </dsp:txBody>
      <dsp:txXfrm>
        <a:off x="5719571" y="1023326"/>
        <a:ext cx="2507456" cy="3253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51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47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914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3513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23299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800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42349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84175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68970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97DA-90A3-58F6-104D-E6EC9E5F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C75A6-E7D4-099D-D88F-553F30C2B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98F97-3510-C3CD-2623-BC4B5D87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F25-73AD-AD9D-B0B6-E529748413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65929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6705-4D73-D5C4-C29B-FC50B089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8CF3-BC43-6111-24FD-0BA50397C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BBA7E-DE88-AAA1-08C4-1243A493D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E3B29-A7D2-7F8E-483A-361AFAA98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51624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CDBA-1E24-6D55-BAC0-554E9A50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78939B-BB46-C1DE-83A0-5E3357D3B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FA401-5DAD-1C0F-20D4-CC566297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510D-8EAA-5756-F893-2C5462584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7403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7101-F3C6-C8CB-DF20-C4211269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D305D-D404-DB72-066B-B4B911C3E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B3CE3-64D5-B2DF-717C-677DCBE07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9742D-E5C5-3893-7D16-CA4EA4E9B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8689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F70CA-D167-3EFF-A6F7-FC8D80F4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D4E94-943F-E575-0BCF-ACC0562E0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56229-FB99-4153-85CC-59B60774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F961-284D-AF4F-0091-8EBF8F730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98648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DF36-E6BD-27DA-97F3-7AEC097C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C1E42-B10D-AE9F-CEBF-531D09CB2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2CDBF-3C59-ACFE-CCB9-019121FFB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09B8F-B570-8CFB-916B-621679EA0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050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F21B-0841-956A-049A-D9CEE2A3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0F9AB-57E3-5F13-FF7F-23870E252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62BD4-D668-9EFE-4961-C9CFC6E51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B1731-1477-C96A-B52D-3FABC7BDD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24219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A668-295C-7828-E9A5-C01FE657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87D5E-E9A8-4E3B-3FE8-64D7136AA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7ECFD-22D4-FA9C-F4B4-1AD299922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26E31-7058-5BCA-33BE-559819CC0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2965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854C-085F-44C3-B3E8-09B72823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247FB5-51E4-BB8D-0342-8086BC6F0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4CDF6-EDC1-2925-ED10-D18CD827D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9339-7F6E-75C8-0471-8409EE191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44275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FDEC-7DBD-AE82-3D72-AA8CC984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C2741-BEBC-FAFA-F164-645E0DFAC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A1D46-EF22-F923-0B98-7A4BCB39B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952AC-97D9-E61F-D7D8-90E05C3C3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1547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E8E58-5E3F-95CA-FD81-5D9EE74B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23CF8-AFDA-CE28-8E98-FF27A7BD7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51B0B-7EED-2783-B0F0-ADC9B708E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73052-2853-06AE-132F-A53CDF836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7529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1B42-3222-E932-E69F-5899E8BF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DB5AF-AC72-263F-B477-07C2DC40F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02BB9-00F2-8C25-1F8F-92D029395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4751A-18F3-20FA-8CA9-042A81E9D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28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3074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8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5" Type="http://schemas.openxmlformats.org/officeDocument/2006/relationships/hyperlink" Target="https://forms.gle/owtA63rtt8Te7NGz6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hyperlink" Target="https://tinyurl.com/katc4" TargetMode="Externa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6" Type="http://schemas.openxmlformats.org/officeDocument/2006/relationships/hyperlink" Target="https://tinyurl.com/efarmb" TargetMode="External"/><Relationship Id="rId5" Type="http://schemas.openxmlformats.org/officeDocument/2006/relationships/hyperlink" Target="https://tinyurl.com/aplirof" TargetMode="Externa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5" Type="http://schemas.openxmlformats.org/officeDocument/2006/relationships/image" Target="../media/image7.org&amp;utm_campaign=index&amp;utm_content=origina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4862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Δημιουργία Σχέδιου Μαθήματος (Μέσα διδασκαλίας, Οργάνωση τάξης, Πορεία Διδασκαλίας)</a:t>
              </a:r>
              <a:endParaRPr lang="en-GB" sz="2800" dirty="0"/>
            </a:p>
            <a:p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Χρήσιμα Εργαλεία</a:t>
              </a:r>
              <a:endParaRPr lang="en-GB" sz="28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 err="1"/>
                <a:t>Μικροδιδασκαλία</a:t>
              </a:r>
              <a:r>
                <a:rPr lang="en-US" sz="2800" dirty="0"/>
                <a:t> </a:t>
              </a:r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l-GR" dirty="0"/>
              <a:t>Δημιουργία Σχέδιου Μαθήματος (Μέσα διδασκαλίας, Οργάνωση τάξης, Πορεία Διδασκαλίας)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/>
          <a:lstStyle/>
          <a:p>
            <a:r>
              <a:rPr lang="el-GR" dirty="0"/>
              <a:t>Μέσα Διδασκαλίας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lvl="1" indent="0">
              <a:buNone/>
            </a:pPr>
            <a:r>
              <a:rPr lang="el-GR" sz="3200" dirty="0"/>
              <a:t>Ότι θα μέσο θα χρησιμοποιήσετε στην τάξη.</a:t>
            </a:r>
          </a:p>
          <a:p>
            <a:pPr marL="457200" lvl="1" indent="0">
              <a:buNone/>
            </a:pPr>
            <a:r>
              <a:rPr lang="el-GR" sz="3200" dirty="0"/>
              <a:t>Παραδείγματα:</a:t>
            </a:r>
          </a:p>
          <a:p>
            <a:pPr lvl="1"/>
            <a:r>
              <a:rPr lang="el-GR" sz="3200" dirty="0"/>
              <a:t>Υπολογιστές μαθητών – για πρακτική εξάσκηση και εκτέλεση δραστηριοτήτων.</a:t>
            </a:r>
          </a:p>
          <a:p>
            <a:pPr lvl="1"/>
            <a:r>
              <a:rPr lang="el-GR" sz="3200" dirty="0"/>
              <a:t>Υπολογιστής και προβολέας καθηγητή – για επίδειξη, καθοδήγηση και επεξήγηση εννοιών.</a:t>
            </a:r>
          </a:p>
          <a:p>
            <a:pPr lvl="1"/>
            <a:r>
              <a:rPr lang="el-GR" sz="3200" dirty="0"/>
              <a:t>Φύλλα Εργασίας – για καθοδήγηση, εμπέδωση και αξιολόγηση.</a:t>
            </a:r>
          </a:p>
          <a:p>
            <a:pPr lvl="1"/>
            <a:r>
              <a:rPr lang="el-GR" sz="3200" dirty="0"/>
              <a:t>Προγραμματιστικά περιβάλλοντα / εφαρμογές – ανάλογα με το μάθημα (π.χ. Excel,  </a:t>
            </a:r>
            <a:r>
              <a:rPr lang="en-US" sz="3200" dirty="0" err="1"/>
              <a:t>Codeblocks</a:t>
            </a:r>
            <a:r>
              <a:rPr lang="el-GR" sz="3200" dirty="0"/>
              <a:t>.</a:t>
            </a:r>
            <a:endParaRPr lang="en-US" sz="3200" dirty="0"/>
          </a:p>
          <a:p>
            <a:pPr lvl="1"/>
            <a:r>
              <a:rPr lang="el-GR" sz="3200" dirty="0" err="1"/>
              <a:t>Διαδραστικές</a:t>
            </a:r>
            <a:r>
              <a:rPr lang="el-GR" sz="3200" dirty="0"/>
              <a:t> παρουσιάσεις</a:t>
            </a:r>
            <a:r>
              <a:rPr lang="en-US" sz="3200" dirty="0"/>
              <a:t>,</a:t>
            </a:r>
            <a:r>
              <a:rPr lang="el-GR" sz="3200" dirty="0"/>
              <a:t> </a:t>
            </a:r>
            <a:r>
              <a:rPr lang="el-GR" sz="3200" dirty="0" err="1"/>
              <a:t>Quiz</a:t>
            </a:r>
            <a:r>
              <a:rPr lang="en-US" sz="3200" dirty="0"/>
              <a:t>, </a:t>
            </a:r>
            <a:r>
              <a:rPr lang="el-GR" sz="3200" dirty="0"/>
              <a:t>άλλες πλατφόρμες (</a:t>
            </a:r>
            <a:r>
              <a:rPr lang="el-GR" sz="3200" dirty="0" err="1"/>
              <a:t>Moodle</a:t>
            </a:r>
            <a:r>
              <a:rPr lang="el-GR" sz="3200" dirty="0"/>
              <a:t>, </a:t>
            </a:r>
            <a:r>
              <a:rPr lang="el-GR" sz="3200" dirty="0" err="1"/>
              <a:t>YouTube</a:t>
            </a:r>
            <a:r>
              <a:rPr lang="el-GR" sz="3200" dirty="0"/>
              <a:t>, </a:t>
            </a:r>
            <a:r>
              <a:rPr lang="el-GR" sz="3200" dirty="0" err="1"/>
              <a:t>NetSupport</a:t>
            </a:r>
            <a:r>
              <a:rPr lang="el-GR" sz="3200" dirty="0"/>
              <a:t>) – για ενεργό συμμετοχή και </a:t>
            </a:r>
            <a:r>
              <a:rPr lang="el-GR" sz="3200" dirty="0" err="1"/>
              <a:t>αυτοαξιολόγηση</a:t>
            </a:r>
            <a:r>
              <a:rPr lang="el-GR" sz="3200" dirty="0"/>
              <a:t>.</a:t>
            </a:r>
          </a:p>
          <a:p>
            <a:pPr lvl="1"/>
            <a:r>
              <a:rPr lang="el-GR" sz="3200" dirty="0"/>
              <a:t>Τετράδιο Μαθητή – για καταγραφή, ανάλυση και εμπέδωση γνώσεων.</a:t>
            </a:r>
            <a:endParaRPr lang="en-US" sz="3200" dirty="0"/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620268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89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Οργάνωση Τάξης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Ακροαματική / Μαιευτική Μέθοδος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 εκπαιδευτικός καθοδηγεί τη συζήτηση με ερωτήσεις, ώστε οι μαθητές να ανακαλύπτουν τη γνώση.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Εξατομικευμένη Εργασία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Κάθε μαθητής εργάζεται στον υπολογιστή του, εφαρμόζοντας τις νέες έννοιες στην πράξη.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Συνεργατική Μάθηση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Οι μαθητές δουλεύουν σε μικρές ομάδες, ανταλλάσσοντας ιδέες και λύσεις.</a:t>
            </a:r>
          </a:p>
          <a:p>
            <a:pPr marL="608013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Συζήτηση στην Ολομέλεια</a:t>
            </a:r>
          </a:p>
          <a:p>
            <a:pPr marL="1008063" lvl="1">
              <a:spcBef>
                <a:spcPts val="400"/>
              </a:spcBef>
            </a:pP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Παρουσίαση και ανάλυση των αποτελεσμάτων όλων, με καθοδήγηση και ανατροφοδότηση.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614140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0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1600" b="1" dirty="0"/>
              <a:t>Εισαγωγή</a:t>
            </a:r>
          </a:p>
          <a:p>
            <a:pPr lvl="1"/>
            <a:r>
              <a:rPr lang="el-GR" sz="1600" dirty="0"/>
              <a:t>Ενεργοποίηση πρότερων γνώσεων και </a:t>
            </a:r>
            <a:r>
              <a:rPr lang="el-GR" sz="1600" dirty="0" err="1"/>
              <a:t>προαπαιτούμενων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Παρουσίαση των </a:t>
            </a:r>
            <a:r>
              <a:rPr lang="el-GR" sz="1600" b="1" dirty="0"/>
              <a:t>Δεικτών Επιτυχίας</a:t>
            </a:r>
            <a:r>
              <a:rPr lang="el-GR" sz="1600" dirty="0"/>
              <a:t> του μαθήματος.</a:t>
            </a:r>
          </a:p>
          <a:p>
            <a:pPr lvl="1"/>
            <a:r>
              <a:rPr lang="el-GR" sz="1600" dirty="0"/>
              <a:t>Διατύπωση στόχων και </a:t>
            </a:r>
            <a:r>
              <a:rPr lang="el-GR" sz="1600" dirty="0" err="1"/>
              <a:t>αφόρμηση</a:t>
            </a:r>
            <a:r>
              <a:rPr lang="el-GR" sz="1600" dirty="0"/>
              <a:t> με παράδειγμα ή ερώτημα.</a:t>
            </a:r>
          </a:p>
          <a:p>
            <a:r>
              <a:rPr lang="el-GR" sz="1600" b="1" dirty="0"/>
              <a:t>Παρουσίαση / Εμπέδωση</a:t>
            </a:r>
          </a:p>
          <a:p>
            <a:pPr lvl="1"/>
            <a:r>
              <a:rPr lang="el-GR" sz="1600" dirty="0"/>
              <a:t>Διερεύνηση της νέας γνώσης με </a:t>
            </a:r>
            <a:r>
              <a:rPr lang="el-GR" sz="1600" b="1" dirty="0" err="1"/>
              <a:t>μαθητοκεντρικές</a:t>
            </a:r>
            <a:r>
              <a:rPr lang="el-GR" sz="1600" b="1" dirty="0"/>
              <a:t> δραστηριότητες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Εφαρμογή μέσω </a:t>
            </a:r>
            <a:r>
              <a:rPr lang="el-GR" sz="1600" b="1" dirty="0"/>
              <a:t>λογισμικών, φύλλων εργασίας ή </a:t>
            </a:r>
            <a:r>
              <a:rPr lang="el-GR" sz="1600" b="1" dirty="0" err="1"/>
              <a:t>διαδραστικών</a:t>
            </a:r>
            <a:r>
              <a:rPr lang="el-GR" sz="1600" b="1" dirty="0"/>
              <a:t> ασκήσεων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Ενίσχυση συνεργασίας και ανάπτυξη κομβικών ικανοτήτων.</a:t>
            </a:r>
          </a:p>
          <a:p>
            <a:r>
              <a:rPr lang="el-GR" sz="1600" b="1" dirty="0"/>
              <a:t>Αξιολόγηση</a:t>
            </a:r>
          </a:p>
          <a:p>
            <a:pPr lvl="1"/>
            <a:r>
              <a:rPr lang="el-GR" sz="1600" b="1" dirty="0"/>
              <a:t>Συντρέχουσα αξιολόγηση</a:t>
            </a:r>
            <a:r>
              <a:rPr lang="el-GR" sz="1600" dirty="0"/>
              <a:t> κατά τη διάρκεια των δραστηριοτήτων.</a:t>
            </a:r>
          </a:p>
          <a:p>
            <a:pPr lvl="1"/>
            <a:r>
              <a:rPr lang="el-GR" sz="1600" dirty="0"/>
              <a:t>Ερωτήσεις, </a:t>
            </a:r>
            <a:r>
              <a:rPr lang="el-GR" sz="1600" dirty="0" err="1"/>
              <a:t>quiz</a:t>
            </a:r>
            <a:r>
              <a:rPr lang="el-GR" sz="1600" dirty="0"/>
              <a:t>, ή σύντομες πρακτικές ασκήσεις.</a:t>
            </a:r>
          </a:p>
          <a:p>
            <a:r>
              <a:rPr lang="el-GR" sz="1600" b="1" dirty="0"/>
              <a:t>Σύνοψη – Εργασία στο σπίτι</a:t>
            </a:r>
          </a:p>
          <a:p>
            <a:pPr lvl="1"/>
            <a:r>
              <a:rPr lang="el-GR" sz="1600" dirty="0"/>
              <a:t>Ανατροφοδότηση και </a:t>
            </a:r>
            <a:r>
              <a:rPr lang="el-GR" sz="1600" dirty="0" err="1"/>
              <a:t>αυτοαξιολόγηση</a:t>
            </a:r>
            <a:r>
              <a:rPr lang="el-GR" sz="1600" dirty="0"/>
              <a:t>.</a:t>
            </a:r>
            <a:endParaRPr lang="en-US" sz="1600" dirty="0"/>
          </a:p>
          <a:p>
            <a:pPr lvl="1"/>
            <a:r>
              <a:rPr lang="el-GR" sz="1600" dirty="0"/>
              <a:t>Ανακεφαλαίωση των δεικτών επιτυχίας.</a:t>
            </a:r>
          </a:p>
          <a:p>
            <a:pPr lvl="1"/>
            <a:r>
              <a:rPr lang="el-GR" sz="1600" dirty="0"/>
              <a:t>Συζήτηση και </a:t>
            </a:r>
            <a:r>
              <a:rPr lang="el-GR" sz="1600" dirty="0" err="1"/>
              <a:t>αναστοχασμός</a:t>
            </a:r>
            <a:r>
              <a:rPr lang="el-GR" sz="1600" dirty="0"/>
              <a:t>.</a:t>
            </a:r>
          </a:p>
          <a:p>
            <a:pPr lvl="1"/>
            <a:r>
              <a:rPr lang="el-GR" sz="1600" dirty="0"/>
              <a:t>Εργασία ή δραστηριότητα εμπέδωσης στο σπίτι.</a:t>
            </a:r>
          </a:p>
          <a:p>
            <a:endParaRPr lang="en-GB" sz="1600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287072"/>
              </p:ext>
            </p:extLst>
          </p:nvPr>
        </p:nvGraphicFramePr>
        <p:xfrm>
          <a:off x="472440" y="1600200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96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2000" dirty="0"/>
              <a:t>Εδώ</a:t>
            </a:r>
            <a:r>
              <a:rPr lang="el-GR" sz="2000" b="1" dirty="0"/>
              <a:t> </a:t>
            </a:r>
            <a:r>
              <a:rPr lang="el-GR" sz="2000" dirty="0"/>
              <a:t>περιγράφεται </a:t>
            </a:r>
            <a:r>
              <a:rPr lang="el-GR" sz="2000" b="1" dirty="0"/>
              <a:t>τι ακριβώς κάνουν ο εκπαιδευτικός και οι μαθητές</a:t>
            </a:r>
            <a:r>
              <a:rPr lang="el-GR" sz="2000" dirty="0"/>
              <a:t> σε κάθε φάση του μαθήματος — δηλαδή τη ροή της διδασκαλίας βήμα προς βήμα.</a:t>
            </a:r>
          </a:p>
          <a:p>
            <a:r>
              <a:rPr lang="el-GR" sz="2000" dirty="0"/>
              <a:t>Παραδείγματα:</a:t>
            </a:r>
          </a:p>
          <a:p>
            <a:pPr lvl="1"/>
            <a:r>
              <a:rPr lang="el-GR" sz="2000" dirty="0"/>
              <a:t>Υπενθύμιση των δεικτών επιτυχίας του προηγούμενου μαθήματος.</a:t>
            </a:r>
          </a:p>
          <a:p>
            <a:pPr lvl="1"/>
            <a:r>
              <a:rPr lang="el-GR" sz="2000" dirty="0"/>
              <a:t>Ο καθηγητής ελέγχει τις ασκήσεις της προηγούμενης ημέρας</a:t>
            </a:r>
          </a:p>
          <a:p>
            <a:pPr lvl="1"/>
            <a:r>
              <a:rPr lang="el-GR" sz="2000" dirty="0"/>
              <a:t>Παρουσίαση του αλγόριθμου ταξινόμησης. Αναφορά σε παραδείγματα από την καθημερινότητα. </a:t>
            </a:r>
          </a:p>
          <a:p>
            <a:pPr lvl="1"/>
            <a:r>
              <a:rPr lang="el-GR" sz="2000" dirty="0"/>
              <a:t>Οι μαθητές απαντούν σε σύντομο </a:t>
            </a:r>
            <a:r>
              <a:rPr lang="el-GR" sz="2000" dirty="0" err="1"/>
              <a:t>quiz</a:t>
            </a:r>
            <a:endParaRPr lang="el-GR" sz="2000" dirty="0"/>
          </a:p>
          <a:p>
            <a:pPr lvl="1"/>
            <a:r>
              <a:rPr lang="el-GR" sz="2000" dirty="0"/>
              <a:t>Οι μαθητές ανεβάζουν τις εργασίες τους στο </a:t>
            </a:r>
            <a:r>
              <a:rPr lang="en-US" sz="2000" dirty="0"/>
              <a:t>Teams</a:t>
            </a:r>
          </a:p>
          <a:p>
            <a:pPr lvl="1"/>
            <a:r>
              <a:rPr lang="el-GR" sz="2000" dirty="0"/>
              <a:t>Συζήτηση στην ολομέλεια – ανακεφαλαίωση των βασικών σημείων</a:t>
            </a:r>
          </a:p>
          <a:p>
            <a:endParaRPr lang="en-GB" sz="2000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99471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520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1826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Δ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effectLst/>
                        </a:rPr>
                        <a:t>ε</a:t>
                      </a:r>
                      <a:r>
                        <a:rPr lang="el-GR" sz="1400" dirty="0" err="1">
                          <a:solidFill>
                            <a:srgbClr val="FF0000"/>
                          </a:solidFill>
                          <a:effectLst/>
                        </a:rPr>
                        <a:t>ίκτες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Οργάνωση</a:t>
                      </a:r>
                      <a:endParaRPr lang="en-GB" sz="14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Τάξης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Μέσα</a:t>
                      </a:r>
                      <a:endParaRPr lang="en-GB" sz="14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effectLst/>
                        </a:rPr>
                        <a:t>διδασκαλίας</a:t>
                      </a:r>
                      <a:endParaRPr lang="en-GB" sz="14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643700"/>
              </p:ext>
            </p:extLst>
          </p:nvPr>
        </p:nvGraphicFramePr>
        <p:xfrm>
          <a:off x="563262" y="2133916"/>
          <a:ext cx="7986993" cy="4159584"/>
        </p:xfrm>
        <a:graphic>
          <a:graphicData uri="http://schemas.openxmlformats.org/drawingml/2006/table">
            <a:tbl>
              <a:tblPr/>
              <a:tblGrid>
                <a:gridCol w="2662331">
                  <a:extLst>
                    <a:ext uri="{9D8B030D-6E8A-4147-A177-3AD203B41FA5}">
                      <a16:colId xmlns:a16="http://schemas.microsoft.com/office/drawing/2014/main" val="3249620596"/>
                    </a:ext>
                  </a:extLst>
                </a:gridCol>
                <a:gridCol w="2662331">
                  <a:extLst>
                    <a:ext uri="{9D8B030D-6E8A-4147-A177-3AD203B41FA5}">
                      <a16:colId xmlns:a16="http://schemas.microsoft.com/office/drawing/2014/main" val="56334033"/>
                    </a:ext>
                  </a:extLst>
                </a:gridCol>
                <a:gridCol w="2662331">
                  <a:extLst>
                    <a:ext uri="{9D8B030D-6E8A-4147-A177-3AD203B41FA5}">
                      <a16:colId xmlns:a16="http://schemas.microsoft.com/office/drawing/2014/main" val="2415127669"/>
                    </a:ext>
                  </a:extLst>
                </a:gridCol>
              </a:tblGrid>
              <a:tr h="604047">
                <a:tc>
                  <a:txBody>
                    <a:bodyPr/>
                    <a:lstStyle/>
                    <a:p>
                      <a:r>
                        <a:rPr lang="el-GR" sz="1700" b="1" dirty="0"/>
                        <a:t>Φάση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1" dirty="0"/>
                        <a:t>Τι κάνεις στη δραστηριότητα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1" dirty="0"/>
                        <a:t>Τι γράφεις στη στήλη “Δείκτες”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36740"/>
                  </a:ext>
                </a:extLst>
              </a:tr>
              <a:tr h="861907">
                <a:tc>
                  <a:txBody>
                    <a:bodyPr/>
                    <a:lstStyle/>
                    <a:p>
                      <a:r>
                        <a:rPr lang="el-GR" sz="1700" b="0" dirty="0"/>
                        <a:t>Εισαγωγή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/>
                        <a:t>Παρουσίαση εννοιών ή υπενθύμιση προηγούμενων γνώσεων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981571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 dirty="0"/>
                        <a:t>Παρουσίαση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εκπαιδευτικός εξηγεί, δείχνει, διδάσκει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Επάρκειας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521502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 dirty="0"/>
                        <a:t>Εμπέδωση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μαθητής εφαρμόζει, δημιουργεί, επιλύει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 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504571"/>
                  </a:ext>
                </a:extLst>
              </a:tr>
              <a:tr h="604047">
                <a:tc>
                  <a:txBody>
                    <a:bodyPr/>
                    <a:lstStyle/>
                    <a:p>
                      <a:r>
                        <a:rPr lang="el-GR" sz="1700" b="0"/>
                        <a:t>Αξιολόγηση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Ο μαθητής απαντά ή επιλύει δραστηριότητες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Δείκτες Επιτυχίας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5537578"/>
                  </a:ext>
                </a:extLst>
              </a:tr>
              <a:tr h="861907">
                <a:tc>
                  <a:txBody>
                    <a:bodyPr/>
                    <a:lstStyle/>
                    <a:p>
                      <a:r>
                        <a:rPr lang="el-GR" sz="1700" b="0" dirty="0"/>
                        <a:t>Σύνοψη / Κλείσιμο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/>
                        <a:t>Ανακεφαλαίωση και σύνδεση με επόμενο μάθημα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l-GR" sz="1700" b="0" dirty="0"/>
                        <a:t>Ξανά οι Δείκτες Επιτυχίας του μαθήματος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777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5939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Πορεία Μαθήματος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2000" b="1" dirty="0"/>
              <a:t>Οργάνωση Τάξης:</a:t>
            </a:r>
          </a:p>
          <a:p>
            <a:pPr lvl="1"/>
            <a:r>
              <a:rPr lang="el-GR" sz="2000" dirty="0"/>
              <a:t>Δείχνει τη </a:t>
            </a:r>
            <a:r>
              <a:rPr lang="el-GR" sz="2000" b="1" dirty="0"/>
              <a:t>μορφή εργασίας</a:t>
            </a:r>
            <a:r>
              <a:rPr lang="el-GR" sz="2000" dirty="0"/>
              <a:t>: ατομική, ομαδική, εξατομικευμένη, συνεργατική, ολομέλεια.</a:t>
            </a:r>
          </a:p>
          <a:p>
            <a:pPr lvl="1"/>
            <a:r>
              <a:rPr lang="el-GR" sz="2000" dirty="0"/>
              <a:t>Αναφέρει τη </a:t>
            </a:r>
            <a:r>
              <a:rPr lang="el-GR" sz="2000" b="1" dirty="0"/>
              <a:t>μέθοδο</a:t>
            </a:r>
            <a:r>
              <a:rPr lang="el-GR" sz="2000" dirty="0"/>
              <a:t>: ακροαματική, μαιευτική, διερευνητική, βιωματική, καθοδηγούμενη ανακάλυψη.</a:t>
            </a:r>
          </a:p>
          <a:p>
            <a:r>
              <a:rPr lang="el-GR" sz="2000" b="1" dirty="0"/>
              <a:t>Μέσα Διδασκαλίας</a:t>
            </a:r>
            <a:r>
              <a:rPr lang="el-GR" sz="2000" dirty="0"/>
              <a:t>:</a:t>
            </a:r>
          </a:p>
          <a:p>
            <a:pPr lvl="1"/>
            <a:r>
              <a:rPr lang="el-GR" sz="2000" dirty="0"/>
              <a:t>Τεχνολογικά μέσα: υπολογιστές μαθητών, υπολογιστής/προβολέας καθηγητή, </a:t>
            </a:r>
            <a:r>
              <a:rPr lang="en-GB" sz="2000" dirty="0" err="1"/>
              <a:t>NetSupport</a:t>
            </a:r>
            <a:r>
              <a:rPr lang="en-GB" sz="2000" dirty="0"/>
              <a:t>, Moodle, YouTube, </a:t>
            </a:r>
            <a:r>
              <a:rPr lang="el-GR" sz="2000" dirty="0"/>
              <a:t>κ.ά.</a:t>
            </a:r>
          </a:p>
          <a:p>
            <a:pPr lvl="1"/>
            <a:r>
              <a:rPr lang="el-GR" sz="2000" dirty="0"/>
              <a:t>Διδακτικά υλικά: φύλλα εργασίας, </a:t>
            </a:r>
            <a:r>
              <a:rPr lang="el-GR" sz="2000" dirty="0" err="1"/>
              <a:t>διαδραστικές</a:t>
            </a:r>
            <a:r>
              <a:rPr lang="el-GR" sz="2000" dirty="0"/>
              <a:t> παρουσιάσεις, </a:t>
            </a:r>
            <a:r>
              <a:rPr lang="en-GB" sz="2000" dirty="0"/>
              <a:t>quiz, </a:t>
            </a:r>
            <a:r>
              <a:rPr lang="el-GR" sz="2000" dirty="0"/>
              <a:t>τετράδιο μαθητή.</a:t>
            </a:r>
          </a:p>
          <a:p>
            <a:pPr lvl="1"/>
            <a:r>
              <a:rPr lang="el-GR" sz="2000" dirty="0"/>
              <a:t>Λογισμικό: </a:t>
            </a:r>
            <a:r>
              <a:rPr lang="en-GB" sz="2000" dirty="0"/>
              <a:t>Excel, Scratch, </a:t>
            </a:r>
            <a:r>
              <a:rPr lang="el-GR" sz="2000" dirty="0"/>
              <a:t>κ.ά.</a:t>
            </a:r>
          </a:p>
          <a:p>
            <a:pPr lvl="1"/>
            <a:r>
              <a:rPr lang="el-GR" sz="2000" dirty="0"/>
              <a:t>Συμπληρωματικά μέσα: πίνακας, βίντεο, φύλλο οδηγιών, </a:t>
            </a:r>
            <a:r>
              <a:rPr lang="en-GB" sz="2000" dirty="0"/>
              <a:t>check list.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44509"/>
              </p:ext>
            </p:extLst>
          </p:nvPr>
        </p:nvGraphicFramePr>
        <p:xfrm>
          <a:off x="441959" y="1562417"/>
          <a:ext cx="8229601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1571463861"/>
                    </a:ext>
                  </a:extLst>
                </a:gridCol>
                <a:gridCol w="3775741">
                  <a:extLst>
                    <a:ext uri="{9D8B030D-6E8A-4147-A177-3AD203B41FA5}">
                      <a16:colId xmlns:a16="http://schemas.microsoft.com/office/drawing/2014/main" val="444262059"/>
                    </a:ext>
                  </a:extLst>
                </a:gridCol>
                <a:gridCol w="674827">
                  <a:extLst>
                    <a:ext uri="{9D8B030D-6E8A-4147-A177-3AD203B41FA5}">
                      <a16:colId xmlns:a16="http://schemas.microsoft.com/office/drawing/2014/main" val="800243719"/>
                    </a:ext>
                  </a:extLst>
                </a:gridCol>
                <a:gridCol w="1050097">
                  <a:extLst>
                    <a:ext uri="{9D8B030D-6E8A-4147-A177-3AD203B41FA5}">
                      <a16:colId xmlns:a16="http://schemas.microsoft.com/office/drawing/2014/main" val="1932395294"/>
                    </a:ext>
                  </a:extLst>
                </a:gridCol>
                <a:gridCol w="1412200">
                  <a:extLst>
                    <a:ext uri="{9D8B030D-6E8A-4147-A177-3AD203B41FA5}">
                      <a16:colId xmlns:a16="http://schemas.microsoft.com/office/drawing/2014/main" val="3057367036"/>
                    </a:ext>
                  </a:extLst>
                </a:gridCol>
              </a:tblGrid>
              <a:tr h="2733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Φάση μαθήματος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chemeClr val="tx1"/>
                          </a:solidFill>
                          <a:effectLst/>
                        </a:rPr>
                        <a:t>Πορεία εργασίας – Δραστηριότητες</a:t>
                      </a:r>
                      <a:endParaRPr lang="en-GB" sz="14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>
                          <a:effectLst/>
                        </a:rPr>
                        <a:t>Δ</a:t>
                      </a:r>
                      <a:r>
                        <a:rPr lang="en-US" sz="1400">
                          <a:effectLst/>
                        </a:rPr>
                        <a:t>ε</a:t>
                      </a:r>
                      <a:r>
                        <a:rPr lang="el-GR" sz="1400">
                          <a:effectLst/>
                        </a:rPr>
                        <a:t>ίκτες</a:t>
                      </a:r>
                      <a:endParaRPr lang="en-GB" sz="14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Οργάνωση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Τάξης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Μέσα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1400" dirty="0">
                          <a:solidFill>
                            <a:srgbClr val="FF0000"/>
                          </a:solidFill>
                          <a:effectLst/>
                        </a:rPr>
                        <a:t>διδασκαλίας</a:t>
                      </a:r>
                      <a:endParaRPr lang="en-GB" sz="14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96" marR="61496" marT="0" marB="0" anchor="ctr"/>
                </a:tc>
                <a:extLst>
                  <a:ext uri="{0D108BD9-81ED-4DB2-BD59-A6C34878D82A}">
                    <a16:rowId xmlns:a16="http://schemas.microsoft.com/office/drawing/2014/main" val="19885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828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l-GR" dirty="0" err="1"/>
              <a:t>Μικροδιδασκαλία</a:t>
            </a:r>
            <a:r>
              <a:rPr lang="en-US" dirty="0"/>
              <a:t> 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02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94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Σκοπός</a:t>
            </a:r>
            <a:endParaRPr lang="el-GR" sz="3600" b="1" dirty="0"/>
          </a:p>
        </p:txBody>
      </p:sp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Ανάπτυξη διδακτικών δεξιοτήτων.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Εξάσκηση σε συγκεκριμένες φάσεις ενός μαθήματος.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Εμπέδωση παιδαγωγικών αρχών.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Απόκτηση αυτοπεποίθησης στη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και βελτίωση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466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Βασικές αρχές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6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799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Πραγματική αλλά ελεγχόμενη διδασκαλία.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Επικεντρώνεται στους συγκεκριμένους στόχους.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Προσαρμόζεται στα χαρακτηριστικά της ομάδας.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Περιλαμβάνει ανατροφοδότηση και </a:t>
            </a:r>
            <a:r>
              <a:rPr lang="el-GR" sz="2400" dirty="0" err="1"/>
              <a:t>αυτοαξιολόγηση</a:t>
            </a:r>
            <a:r>
              <a:rPr lang="el-GR" sz="2400" dirty="0"/>
              <a:t>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Ενισχύει την εποικοδομητική σκέψη, όχι την κριτική..</a:t>
            </a:r>
          </a:p>
        </p:txBody>
      </p:sp>
    </p:spTree>
    <p:extLst>
      <p:ext uri="{BB962C8B-B14F-4D97-AF65-F5344CB8AC3E}">
        <p14:creationId xmlns:p14="http://schemas.microsoft.com/office/powerpoint/2010/main" val="2613997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Τα μέρη της </a:t>
            </a:r>
            <a:r>
              <a:rPr lang="el-GR" sz="3600" dirty="0" err="1"/>
              <a:t>Μικροδιδασκαλίας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891102945"/>
              </p:ext>
            </p:extLst>
          </p:nvPr>
        </p:nvGraphicFramePr>
        <p:xfrm>
          <a:off x="457200" y="1397000"/>
          <a:ext cx="8229600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085452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Ομάδες 1 -3 άτομα (Να συμπληρωθεί η φόρμα μέχρι 1/11 </a:t>
            </a:r>
            <a:r>
              <a:rPr lang="en-GB" sz="2400" dirty="0">
                <a:hlinkClick r:id="rId5"/>
              </a:rPr>
              <a:t>https://forms.gle/owtA63rtt8Te7NGz6</a:t>
            </a:r>
            <a:r>
              <a:rPr lang="el-GR" sz="2400" dirty="0"/>
              <a:t>)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Παρουσίαση στην τάξη 18/11 και 25/11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Παραδοτέα: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Σχέδιο μαθήματος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/>
              <a:t>Υλικό δραστηριότητας  (15/11)</a:t>
            </a:r>
          </a:p>
          <a:p>
            <a:pPr marL="950913" lvl="1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(29/11)</a:t>
            </a:r>
          </a:p>
        </p:txBody>
      </p:sp>
    </p:spTree>
    <p:extLst>
      <p:ext uri="{BB962C8B-B14F-4D97-AF65-F5344CB8AC3E}">
        <p14:creationId xmlns:p14="http://schemas.microsoft.com/office/powerpoint/2010/main" val="2054986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BF51747-7046-33C7-39C5-87421551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70BC4F-FDBB-73B4-318B-2E3F86A3100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CAD35464-9244-4A82-9471-533F5F6D0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A00F97A-4433-DBB0-EC95-3FC064033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Κάθε ομάδα θα έχει στη διάθεση της 18 λεπτά.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Θα μπορεί να επιλέξει τους δείκτες επιτυχίας/ επάρκειας που επιθυμεί.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Φάσεις που θα γίνουν σε πραγματικό χρόνο: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Φάσεις που θα θεωρηθούν ως γενόμενες: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Εμπέδωση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Αξιολόγηση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ΟΛΕΣ οι φάσεις θα πρέπει να συνοδεύονται από το υλικό τους.</a:t>
            </a:r>
          </a:p>
        </p:txBody>
      </p:sp>
    </p:spTree>
    <p:extLst>
      <p:ext uri="{BB962C8B-B14F-4D97-AF65-F5344CB8AC3E}">
        <p14:creationId xmlns:p14="http://schemas.microsoft.com/office/powerpoint/2010/main" val="2632511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FD9FBFE-3690-F059-DD21-D3FFDFFF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07E905-2035-7D35-7C40-D1CBBD8A5D3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9069813C-F685-3C80-0844-53BA86807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A78814-A72C-FBEE-97D5-B5949A4E6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Κάθε ομάδα θα έχει στη διάθεση της 18 λεπτά.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Θα μπορεί να επιλέξει τους δείκτες επιτυχίας/ επάρκειας που επιθυμεί.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Φάσεις που θα γίνουν σε πραγματικό χρόνο: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Φάσεις που θα θεωρηθούν ως γενόμενες: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Εμπέδωση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Αξιολόγηση</a:t>
            </a:r>
          </a:p>
          <a:p>
            <a:pPr marL="550863">
              <a:spcBef>
                <a:spcPts val="400"/>
              </a:spcBef>
            </a:pPr>
            <a:r>
              <a:rPr lang="el-GR" sz="2400" dirty="0"/>
              <a:t>ΟΛΕΣ οι φάσεις θα πρέπει να συνοδεύονται από το υλικό τους.</a:t>
            </a:r>
          </a:p>
        </p:txBody>
      </p:sp>
    </p:spTree>
    <p:extLst>
      <p:ext uri="{BB962C8B-B14F-4D97-AF65-F5344CB8AC3E}">
        <p14:creationId xmlns:p14="http://schemas.microsoft.com/office/powerpoint/2010/main" val="3361842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2A58C2A-8CCA-8871-706F-31A9A40F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45A906-168D-FFBB-52ED-0F0C33A48EF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Εργασία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A4E076AD-88B2-D1AB-9393-77B9C1A4A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6E5F6C-7C16-9751-7B3A-685D26410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Το υλικό πρέπει να είναι πρωτότυπο (όχι ΦΕ από το βιβλίο).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Όλοι οι συμμετέχοντες θα πρέπει να έχουν ενεργή συμμετοχή.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Η σειρά παρουσίασης θα γίνει με κλήρωση. 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dirty="0"/>
              <a:t>Δεν μπορείτε να αλλάξετε τα παραδοτέα σας πριν την παρουσίαση.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190045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DE1B69A-DE42-FD7E-8A6B-F5C920ECA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95776A-E541-90CE-54EF-2CE5AA45D68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15C73DE2-09BE-EC56-4374-4F81C6E52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5BA24B-DB64-98C1-856E-3C3D0641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Σχέδιο μαθήματος (6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Ευθυγράμμιση υλικού με δείκτες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Προαπαιτούμενες</a:t>
            </a:r>
            <a:endParaRPr lang="el-GR" sz="2000" dirty="0"/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Φάσεις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Οργάνωση τάξης (θα πρέπει να μπορεί να δικαιολογηθεί μέσα από τις δραστηριότητες)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Μπορείτε να παραλείψετε τις κομβικές ικανότητες και τα μέσα διδασκαλίας.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713495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D5B0BA3-0170-5ADD-221F-A3C3D7C0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73CEF8-CC22-7CDB-AA70-80594DD6101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3C9C0D77-E3A6-DDD8-F76D-5FB0FCBCE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7BA2E4-1F00-31F9-BC61-89690027A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/>
              <a:t>Υλικό Δραστηριότητας (5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Πρωτοτυπία/ Δημιουργικότητα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 err="1"/>
              <a:t>Καταλληλότητα</a:t>
            </a:r>
            <a:r>
              <a:rPr lang="el-GR" sz="2000" dirty="0"/>
              <a:t> υλικού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Πληρότητα υλικού (καλύπτει όλες τις φάσεις)</a:t>
            </a:r>
          </a:p>
          <a:p>
            <a:pPr marL="550863">
              <a:spcBef>
                <a:spcPts val="400"/>
              </a:spcBef>
            </a:pPr>
            <a:r>
              <a:rPr lang="el-GR" sz="2400" dirty="0" err="1"/>
              <a:t>Μικροδιδασκαλία</a:t>
            </a:r>
            <a:r>
              <a:rPr lang="el-GR" sz="2400" dirty="0"/>
              <a:t> (7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Εισαγωγή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Παρουσίαση/ Διδακτική προσέγγιση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Σύνοψη (διαμορφωτική αξιολόγηση/ </a:t>
            </a:r>
            <a:r>
              <a:rPr lang="el-GR" sz="2000" dirty="0" err="1"/>
              <a:t>αυτοαξιολόγηση</a:t>
            </a:r>
            <a:r>
              <a:rPr lang="el-GR" sz="2000" dirty="0"/>
              <a:t>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Συμμετοχή μελών της ομάδας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Επικοινωνία/ αλληλεπίδραση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Διαχείριση χρόνου/ ροή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212390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9269106-6BA2-7BDC-A073-908B5677B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B6799A-6CF3-FEEC-E196-538FE88D175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Κριτήρια Βαθμολόγησης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21ECF8FF-832F-0FCD-EC33-25B8E7FA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FF5E95-4CE9-F907-9407-066E5891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Autofit/>
          </a:bodyPr>
          <a:lstStyle/>
          <a:p>
            <a:pPr marL="550863" indent="-285750">
              <a:spcBef>
                <a:spcPts val="400"/>
              </a:spcBef>
            </a:pPr>
            <a:r>
              <a:rPr lang="el-GR" sz="2400" dirty="0" err="1"/>
              <a:t>Αναστοχασμός</a:t>
            </a:r>
            <a:r>
              <a:rPr lang="el-GR" sz="2400" dirty="0"/>
              <a:t> (2 μονάδες)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Τεκμηρίωση</a:t>
            </a:r>
          </a:p>
          <a:p>
            <a:pPr marL="950913" lvl="1">
              <a:spcBef>
                <a:spcPts val="400"/>
              </a:spcBef>
            </a:pPr>
            <a:r>
              <a:rPr lang="el-GR" sz="2000" dirty="0"/>
              <a:t>Ποιότητα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688820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Χρήσιμα Εργαλεία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03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16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FCFB6A8-DB9B-4193-145E-9AFB1BB3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DDD833-1E6F-6E52-E83F-94AC831881E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/>
              <a:t>Διαχείριση Τάξης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EDC1175C-D4F1-A712-DC23-2E0D304A1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pic>
        <p:nvPicPr>
          <p:cNvPr id="2" name="Picture 1" descr="Microsoft Teams | IT@Cornell">
            <a:extLst>
              <a:ext uri="{FF2B5EF4-FFF2-40B4-BE49-F238E27FC236}">
                <a16:creationId xmlns:a16="http://schemas.microsoft.com/office/drawing/2014/main" id="{DD1136F8-3F31-8FA7-C117-75FACD37B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905001"/>
            <a:ext cx="2286000" cy="1428750"/>
          </a:xfrm>
          <a:prstGeom prst="rect">
            <a:avLst/>
          </a:prstGeom>
        </p:spPr>
      </p:pic>
      <p:pic>
        <p:nvPicPr>
          <p:cNvPr id="3" name="Picture 2" descr="Google Classroom Logo and symbol, meaning, history, PNG">
            <a:extLst>
              <a:ext uri="{FF2B5EF4-FFF2-40B4-BE49-F238E27FC236}">
                <a16:creationId xmlns:a16="http://schemas.microsoft.com/office/drawing/2014/main" id="{9E80E080-D8AC-431F-0930-DCC7299E2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777" y="1752600"/>
            <a:ext cx="3065823" cy="1929765"/>
          </a:xfrm>
          <a:prstGeom prst="rect">
            <a:avLst/>
          </a:prstGeom>
        </p:spPr>
      </p:pic>
      <p:pic>
        <p:nvPicPr>
          <p:cNvPr id="6" name="Graphic 5" descr="Download Moodle Logo in SVG Vector or PNG File Format - Logo ...">
            <a:extLst>
              <a:ext uri="{FF2B5EF4-FFF2-40B4-BE49-F238E27FC236}">
                <a16:creationId xmlns:a16="http://schemas.microsoft.com/office/drawing/2014/main" id="{427CCF35-9612-6F82-AD80-48CC54B96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3636079"/>
            <a:ext cx="3505200" cy="2336800"/>
          </a:xfrm>
          <a:prstGeom prst="rect">
            <a:avLst/>
          </a:prstGeom>
        </p:spPr>
      </p:pic>
      <p:pic>
        <p:nvPicPr>
          <p:cNvPr id="8" name="Picture 7" descr="5+ Notion Logo PNG &amp; SVG Vectors HD Quality">
            <a:extLst>
              <a:ext uri="{FF2B5EF4-FFF2-40B4-BE49-F238E27FC236}">
                <a16:creationId xmlns:a16="http://schemas.microsoft.com/office/drawing/2014/main" id="{862885E5-3A27-427F-8ED0-118225EC7D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433917" y="3714791"/>
            <a:ext cx="2239542" cy="223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17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074506E-1913-4105-E65E-5EBEA4AA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C4E0C1-0E9D-CA75-9471-D7A0B3D1C80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n-US" sz="3600" b="1" dirty="0"/>
              <a:t>Links </a:t>
            </a:r>
            <a:r>
              <a:rPr lang="el-GR" sz="3600" b="1" dirty="0"/>
              <a:t>για </a:t>
            </a:r>
            <a:r>
              <a:rPr lang="en-US" sz="3600" b="1" dirty="0"/>
              <a:t>Notion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E202A8CE-7DF3-9838-1C64-6E1933F32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E9DD69-3120-4A18-10EA-550D236E7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672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n-US" sz="3600" b="1" dirty="0">
                <a:hlinkClick r:id="rId5"/>
              </a:rPr>
              <a:t>A’ </a:t>
            </a:r>
            <a:r>
              <a:rPr lang="el-GR" sz="3600" b="1" dirty="0">
                <a:hlinkClick r:id="rId5"/>
              </a:rPr>
              <a:t>Λυκείου</a:t>
            </a:r>
            <a:endParaRPr lang="el-GR" sz="36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3600" b="1" dirty="0">
                <a:hlinkClick r:id="rId6"/>
              </a:rPr>
              <a:t>Β’ Λυκείου Εφαρμογές</a:t>
            </a:r>
            <a:endParaRPr lang="el-GR" sz="36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3600" b="1" dirty="0">
                <a:hlinkClick r:id="rId7"/>
              </a:rPr>
              <a:t>Γ’ Λυκείου Πληροφορική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4450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37CEFBF-D186-F5C5-36D1-6CA24284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656D42-A021-B92D-925C-B22A9BD9B8F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b="1" dirty="0"/>
              <a:t>Εκπαιδευτική χρήση των HTML </a:t>
            </a:r>
            <a:r>
              <a:rPr lang="el-GR" sz="3600" b="1" dirty="0" err="1"/>
              <a:t>apps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F1449485-10B9-40C4-7B6A-54596384F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D00118-C032-8C3B-5A5B-30325DD9D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2672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Διαμορφωτική αξιολόγηση</a:t>
            </a:r>
            <a:r>
              <a:rPr lang="el-GR" sz="1800" dirty="0"/>
              <a:t>: Αναδεικνύουν δυσκολίες και παρανοήσεις, παρέχοντας άμεση ανατροφοδότηση που καθοδηγεί τα επόμενα βήματα της μάθησης.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 err="1"/>
              <a:t>Αυτοαξιολόγηση</a:t>
            </a:r>
            <a:r>
              <a:rPr lang="el-GR" sz="1800" dirty="0"/>
              <a:t>: Βοηθούν τους μαθητές να αναγνωρίζουν τι κατανόησαν και πού χρειάζονται περισσότερη εξάσκηση ή βοήθεια.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Νοητικό στήριγμα</a:t>
            </a:r>
            <a:r>
              <a:rPr lang="el-GR" sz="1800" dirty="0"/>
              <a:t>: Βοηθούν τους μαθητές να κατανοούν δύσκολες έννοιες, βλέποντας παραδείγματα και δοκιμάζοντας βήμα προς βήμα.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 err="1"/>
              <a:t>Ενεργοποιητές</a:t>
            </a:r>
            <a:r>
              <a:rPr lang="el-GR" sz="1800" b="1" dirty="0"/>
              <a:t> μάθησης</a:t>
            </a:r>
            <a:r>
              <a:rPr lang="el-GR" sz="1800" dirty="0"/>
              <a:t>: Κινούν το ενδιαφέρον των μαθητών και τους ενθαρρύνουν να δοκιμάζουν, να παρατηρούν και να ανακαλύπτουν.</a:t>
            </a:r>
          </a:p>
          <a:p>
            <a:pPr marL="265113" indent="0">
              <a:spcBef>
                <a:spcPts val="400"/>
              </a:spcBef>
              <a:buNone/>
            </a:pPr>
            <a:r>
              <a:rPr lang="el-GR" sz="1800" b="1" dirty="0"/>
              <a:t>Προσομοιωτές</a:t>
            </a:r>
            <a:r>
              <a:rPr lang="el-GR" sz="1800" dirty="0"/>
              <a:t>: Επιτρέπουν στους μαθητές να εξασκούνται σε ένα περιβάλλον που μοιάζει με το πραγματικό, δοκιμάζοντας ενέργειες και βλέποντας τα αποτελέσματά τους</a:t>
            </a:r>
          </a:p>
        </p:txBody>
      </p:sp>
    </p:spTree>
    <p:extLst>
      <p:ext uri="{BB962C8B-B14F-4D97-AF65-F5344CB8AC3E}">
        <p14:creationId xmlns:p14="http://schemas.microsoft.com/office/powerpoint/2010/main" val="7487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EF99F2-5DA5-4417-59F2-C4511905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509FF5-153A-99B7-158B-78F98A3C286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n-US" sz="3600" b="1" dirty="0"/>
              <a:t>Online Judge - </a:t>
            </a:r>
            <a:r>
              <a:rPr lang="en-US" sz="3600" b="1" dirty="0" err="1"/>
              <a:t>Hackerrank</a:t>
            </a:r>
            <a:endParaRPr lang="el-GR" sz="3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7F2F0EBB-B208-73B2-B5B4-F69EFEC22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2AE27-F698-4625-29B1-0FBACD7C4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4000"/>
            <a:ext cx="8854440" cy="4724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Το </a:t>
            </a:r>
            <a:r>
              <a:rPr lang="el-GR" sz="2400" dirty="0" err="1"/>
              <a:t>HackerRank</a:t>
            </a:r>
            <a:r>
              <a:rPr lang="el-GR" sz="2400" dirty="0"/>
              <a:t> είναι μια διαδικτυακή πλατφόρμα όπου οι μαθητές λύνουν προγραμματιστικά προβλήματα και ελέγχουν τον κώδικά τους με αυτόματες δοκιμές.</a:t>
            </a:r>
            <a:endParaRPr lang="el-GR" sz="2400" b="1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2400" b="1" dirty="0"/>
              <a:t>Εκπαιδευτική αξία: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Μάθηση μέσα από την πράξη: </a:t>
            </a:r>
            <a:r>
              <a:rPr lang="el-GR" sz="2400" dirty="0"/>
              <a:t>Οι μαθητές γράφουν, δοκιμάζουν και βελτιώνουν τον κώδικά τους.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Άμεση ανατροφοδότηση: </a:t>
            </a:r>
            <a:r>
              <a:rPr lang="el-GR" sz="2400" dirty="0"/>
              <a:t>Βλέπουν ποιες δοκιμές πέρασε η λύση τους και πού χρειάζεται διόρθωση.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 err="1"/>
              <a:t>Αυτοαξιολόγηση</a:t>
            </a:r>
            <a:r>
              <a:rPr lang="el-GR" sz="2400" dirty="0"/>
              <a:t>: Αναγνωρίζουν τι μπορούν να λύσουν και πού χρειάζονται εξάσκηση.</a:t>
            </a:r>
          </a:p>
          <a:p>
            <a:pPr marL="550863" indent="-285750">
              <a:spcBef>
                <a:spcPts val="400"/>
              </a:spcBef>
            </a:pPr>
            <a:r>
              <a:rPr lang="el-GR" sz="2400" b="1" dirty="0"/>
              <a:t>Διαμορφωτική αξιολόγηση: </a:t>
            </a:r>
            <a:r>
              <a:rPr lang="el-GR" sz="2400" dirty="0"/>
              <a:t>Ο εκπαιδευτικός μπορεί να αξιοποιεί τις δυσκολίες τους για να προσαρμόζει τη διδασκαλία.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2" name="Picture 1" descr="File:HackerRank logo.png - Wikimedia Commons">
            <a:extLst>
              <a:ext uri="{FF2B5EF4-FFF2-40B4-BE49-F238E27FC236}">
                <a16:creationId xmlns:a16="http://schemas.microsoft.com/office/drawing/2014/main" id="{D61E0F4E-738B-234B-4CEB-973E30AA7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706" y="106362"/>
            <a:ext cx="1417638" cy="141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347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2BF6AF9-BEE7-3B1A-D51E-CEC34683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8A84A1-72E1-920F-7BAA-B21B3C0A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2600" b="1" dirty="0"/>
              <a:t>Άσκηση: Δημιουργία HTML </a:t>
            </a:r>
            <a:r>
              <a:rPr lang="el-GR" sz="2600" b="1" dirty="0" err="1"/>
              <a:t>app</a:t>
            </a:r>
            <a:r>
              <a:rPr lang="el-GR" sz="2600" b="1" dirty="0"/>
              <a:t> για διαμορφωτική αξιολόγηση</a:t>
            </a:r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8B8FE4FA-1DC2-63FE-E331-5A5DC0252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6EFE766-B557-431F-70B6-10A45ED99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020762"/>
            <a:ext cx="8869680" cy="5486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b="1" dirty="0"/>
              <a:t>Επιλέξτε ένα μάθημα και δημιουργήστε, με τη βοήθεια εργαλείου Τεχνητής Νοημοσύνης, ένα </a:t>
            </a:r>
            <a:r>
              <a:rPr lang="el-GR" sz="2400" b="1" dirty="0" err="1"/>
              <a:t>διαδραστικό</a:t>
            </a:r>
            <a:r>
              <a:rPr lang="el-GR" sz="2400" b="1" dirty="0"/>
              <a:t> HTML </a:t>
            </a:r>
            <a:r>
              <a:rPr lang="el-GR" sz="2400" b="1" dirty="0" err="1"/>
              <a:t>app</a:t>
            </a:r>
            <a:r>
              <a:rPr lang="el-GR" sz="2400" b="1" dirty="0"/>
              <a:t> που θα βοηθά τον/την εκπαιδευτικό να εντοπίζει τι κατανόησαν οι μαθητές και πού χρειάζονται υποστήριξη. </a:t>
            </a:r>
            <a:r>
              <a:rPr lang="el-GR" sz="2400" dirty="0"/>
              <a:t>Η εφαρμογή πρέπει να: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ζητά από τον μαθητή όνομα και τμήμα.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περιλαμβάνει 5–6 σύντομες δραστηριότητες.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Να παρέχει άμεση ανατροφοδότηση και να εξηγεί το λάθος σε περίπτωση λανθασμένης απάντησης.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Στο τέλος, να παρουσιάζει μια έκθεση με το τι πέτυχε ο μαθητής.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Να διαθέτει κουμπί «Αποθήκευση αποτελεσμάτων σε PDF». Το PDF να περιλαμβάνει όνομα, τμήμα, μάθημα, ημερομηνία, απαντήσεις και επίδοση.</a:t>
            </a:r>
          </a:p>
          <a:p>
            <a:pPr marL="608013">
              <a:spcBef>
                <a:spcPts val="400"/>
              </a:spcBef>
              <a:buFont typeface="+mj-lt"/>
              <a:buAutoNum type="arabicPeriod"/>
            </a:pPr>
            <a:r>
              <a:rPr lang="el-GR" sz="2400" dirty="0"/>
              <a:t>Να λειτουργεί χωρίς Internet, με όλο τον κώδικα σε ένα HTML αρχείο.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816334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A3F6AAC-D35B-3F4F-5728-6E704282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6838673-326C-CB94-6829-56CAC54F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2600" b="1" dirty="0"/>
              <a:t>Άσκηση: Ετοιμασία άσκησης στο </a:t>
            </a:r>
            <a:r>
              <a:rPr lang="en-US" sz="2600" b="1" dirty="0" err="1"/>
              <a:t>hackerrank</a:t>
            </a:r>
            <a:endParaRPr lang="el-GR" sz="2600" b="1" dirty="0"/>
          </a:p>
        </p:txBody>
      </p:sp>
      <p:pic>
        <p:nvPicPr>
          <p:cNvPr id="5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972C95F4-DF01-7702-9866-551D9486B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86600" y="6172200"/>
            <a:ext cx="1920240" cy="533400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7C97CE-C0D9-FFDC-B653-58CA312C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020762"/>
            <a:ext cx="8869680" cy="5486400"/>
          </a:xfrm>
        </p:spPr>
        <p:txBody>
          <a:bodyPr>
            <a:noAutofit/>
          </a:bodyPr>
          <a:lstStyle/>
          <a:p>
            <a:pPr marL="265113" indent="0">
              <a:spcBef>
                <a:spcPts val="400"/>
              </a:spcBef>
              <a:buNone/>
            </a:pPr>
            <a:r>
              <a:rPr lang="el-GR" sz="2400" b="1" dirty="0"/>
              <a:t>Με βάση τον κατάλογο που σας έχει δοθεί να ετοιμάσετε μια άσκηση στο </a:t>
            </a:r>
            <a:r>
              <a:rPr lang="en-US" sz="2400" b="1" dirty="0" err="1"/>
              <a:t>hackerrank</a:t>
            </a:r>
            <a:r>
              <a:rPr lang="en-US" sz="2400" b="1" dirty="0"/>
              <a:t>. </a:t>
            </a:r>
            <a:r>
              <a:rPr lang="el-GR" sz="2400" b="1" dirty="0"/>
              <a:t>Η άσκηση σας πρέπει να έχει τα εξής χαρακτηριστικά: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Ονομασία: </a:t>
            </a:r>
            <a:r>
              <a:rPr lang="en-US" sz="2400" dirty="0" err="1"/>
              <a:t>Python_A</a:t>
            </a:r>
            <a:r>
              <a:rPr lang="en-US" sz="2400" i="1" dirty="0"/>
              <a:t>_</a:t>
            </a:r>
            <a:r>
              <a:rPr lang="el-GR" sz="2400" i="1" dirty="0"/>
              <a:t>μάθημα</a:t>
            </a:r>
            <a:r>
              <a:rPr lang="en-US" sz="2400" i="1" dirty="0"/>
              <a:t>_</a:t>
            </a:r>
            <a:r>
              <a:rPr lang="el-GR" sz="2400" i="1" dirty="0" err="1"/>
              <a:t>αριθμός_άσκησης</a:t>
            </a:r>
            <a:r>
              <a:rPr lang="el-GR" sz="2400" i="1" dirty="0"/>
              <a:t> (π.χ. </a:t>
            </a:r>
            <a:r>
              <a:rPr lang="en-US" sz="2400" i="1" dirty="0"/>
              <a:t>Python_A_M4_1)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Κάθε άσκηση πρέπει να έχει 5 τεστ εκ των οποίων το ένα να είναι </a:t>
            </a:r>
            <a:r>
              <a:rPr lang="en-US" sz="2400" dirty="0"/>
              <a:t>sample.</a:t>
            </a:r>
          </a:p>
          <a:p>
            <a:pPr marL="608013">
              <a:spcBef>
                <a:spcPts val="400"/>
              </a:spcBef>
            </a:pPr>
            <a:r>
              <a:rPr lang="el-GR" sz="2400" dirty="0"/>
              <a:t>Να είναι επιλεγμένη μόνο η γλώσσα </a:t>
            </a:r>
            <a:r>
              <a:rPr lang="en-US" sz="2400" dirty="0"/>
              <a:t>Python 3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  <a:p>
            <a:pPr marL="265113" indent="0">
              <a:spcBef>
                <a:spcPts val="400"/>
              </a:spcBef>
              <a:buNone/>
            </a:pPr>
            <a:r>
              <a:rPr lang="el-GR" sz="2400" dirty="0"/>
              <a:t>Στο τέλος να γίνει </a:t>
            </a:r>
            <a:r>
              <a:rPr lang="en-US" sz="2400" dirty="0"/>
              <a:t>moderator </a:t>
            </a:r>
            <a:r>
              <a:rPr lang="el-GR" sz="2400" dirty="0"/>
              <a:t>ο λογαριασμός </a:t>
            </a:r>
            <a:r>
              <a:rPr lang="en-US" sz="2400" dirty="0" err="1"/>
              <a:t>ppavlikas</a:t>
            </a:r>
            <a:r>
              <a:rPr lang="en-US" sz="2400" dirty="0"/>
              <a:t> </a:t>
            </a:r>
            <a:r>
              <a:rPr lang="el-GR" sz="2400" dirty="0"/>
              <a:t>        και να προσθέσετε την άσκηση στον διαγωνισμό σας.</a:t>
            </a:r>
          </a:p>
          <a:p>
            <a:pPr marL="265113" indent="0">
              <a:spcBef>
                <a:spcPts val="400"/>
              </a:spcBef>
              <a:buNone/>
            </a:pPr>
            <a:endParaRPr lang="el-GR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29A81B-9B4E-12C0-A2CF-A8813FD95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4648200"/>
            <a:ext cx="342930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87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0"/>
            <a:ext cx="9144000" cy="1828800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l-GR" sz="5400" b="1" dirty="0">
                <a:latin typeface="+mn-lt"/>
                <a:cs typeface="Arial" pitchFamily="34" charset="0"/>
              </a:rPr>
              <a:t>Ερωτήσεις</a:t>
            </a:r>
            <a:r>
              <a:rPr lang="en-US" sz="5400" b="1" dirty="0">
                <a:latin typeface="+mn-lt"/>
                <a:cs typeface="Arial" pitchFamily="34" charset="0"/>
              </a:rPr>
              <a:t>;</a:t>
            </a:r>
          </a:p>
        </p:txBody>
      </p:sp>
      <p:pic>
        <p:nvPicPr>
          <p:cNvPr id="11266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6480" y="0"/>
            <a:ext cx="3017520" cy="838200"/>
          </a:xfrm>
          <a:prstGeom prst="rect">
            <a:avLst/>
          </a:prstGeom>
          <a:noFill/>
        </p:spPr>
      </p:pic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4851</TotalTime>
  <Words>1434</Words>
  <Application>Microsoft Office PowerPoint</Application>
  <PresentationFormat>On-screen Show (4:3)</PresentationFormat>
  <Paragraphs>247</Paragraphs>
  <Slides>29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Δημιουργία Σχέδιου Μαθήματος (Μέσα διδασκαλίας, Οργάνωση τάξης, Πορεία Διδασκαλίας)</vt:lpstr>
      <vt:lpstr>Μέσα Διδασκαλίας</vt:lpstr>
      <vt:lpstr>Οργάνωση Τάξης</vt:lpstr>
      <vt:lpstr>Πορεία Μαθήματος</vt:lpstr>
      <vt:lpstr>Πορεία Μαθήματος</vt:lpstr>
      <vt:lpstr>Πορεία Μαθήματος</vt:lpstr>
      <vt:lpstr>Πορεία Μαθήματος</vt:lpstr>
      <vt:lpstr>Μικροδιδασκαλία </vt:lpstr>
      <vt:lpstr>Σκοπός</vt:lpstr>
      <vt:lpstr>Βασικές αρχές</vt:lpstr>
      <vt:lpstr>Τα μέρη της Μικροδιδασκαλίας</vt:lpstr>
      <vt:lpstr>Εργασία</vt:lpstr>
      <vt:lpstr>Εργασία</vt:lpstr>
      <vt:lpstr>Εργασία</vt:lpstr>
      <vt:lpstr>Εργασία</vt:lpstr>
      <vt:lpstr>Κριτήρια Βαθμολόγησης</vt:lpstr>
      <vt:lpstr>Κριτήρια Βαθμολόγησης</vt:lpstr>
      <vt:lpstr>Κριτήρια Βαθμολόγησης</vt:lpstr>
      <vt:lpstr>Χρήσιμα Εργαλεία</vt:lpstr>
      <vt:lpstr>Διαχείριση Τάξης</vt:lpstr>
      <vt:lpstr>Links για Notion</vt:lpstr>
      <vt:lpstr>Εκπαιδευτική χρήση των HTML apps</vt:lpstr>
      <vt:lpstr>Online Judge - Hackerrank</vt:lpstr>
      <vt:lpstr>Άσκηση: Δημιουργία HTML app για διαμορφωτική αξιολόγηση</vt:lpstr>
      <vt:lpstr>Άσκηση: Ετοιμασία άσκησης στο hackerrank</vt:lpstr>
      <vt:lpstr>Ερωτήσεις;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Παύλος Παυλικκάς</cp:lastModifiedBy>
  <cp:revision>151</cp:revision>
  <dcterms:created xsi:type="dcterms:W3CDTF">2015-09-15T19:28:21Z</dcterms:created>
  <dcterms:modified xsi:type="dcterms:W3CDTF">2026-10-14T09:38:40Z</dcterms:modified>
</cp:coreProperties>
</file>