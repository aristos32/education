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7" r:id="rId2"/>
    <p:sldId id="276" r:id="rId3"/>
    <p:sldId id="292" r:id="rId4"/>
    <p:sldId id="343" r:id="rId5"/>
    <p:sldId id="345" r:id="rId6"/>
    <p:sldId id="346" r:id="rId7"/>
    <p:sldId id="348" r:id="rId8"/>
    <p:sldId id="347" r:id="rId9"/>
    <p:sldId id="349" r:id="rId10"/>
    <p:sldId id="27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 autoAdjust="0"/>
    <p:restoredTop sz="86118" autoAdjust="0"/>
  </p:normalViewPr>
  <p:slideViewPr>
    <p:cSldViewPr>
      <p:cViewPr varScale="1">
        <p:scale>
          <a:sx n="137" d="100"/>
          <a:sy n="137" d="100"/>
        </p:scale>
        <p:origin x="23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 modSld">
      <pc:chgData name="Άριστος Αρέστη" userId="813aa191-2d4c-464f-9d05-0a7e494d859f" providerId="ADAL" clId="{49C7B61D-1ACF-4AFF-A04E-A3B433E32474}" dt="2026-10-22T13:31:00.665" v="2" actId="114"/>
      <pc:docMkLst>
        <pc:docMk/>
      </pc:docMkLst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3542971618" sldId="280"/>
        </pc:sldMkLst>
      </pc:sldChg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74208894" sldId="299"/>
        </pc:sldMkLst>
      </pc:sldChg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87196975" sldId="300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1085452984" sldId="314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22T11:58:34.961" v="1" actId="47"/>
        <pc:sldMkLst>
          <pc:docMk/>
          <pc:sldMk cId="3238520119" sldId="328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3355939526" sldId="329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3435828759" sldId="331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3704660987" sldId="332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632511756" sldId="337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3361842378" sldId="338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190045608" sldId="339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713495517" sldId="340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2212390222" sldId="341"/>
        </pc:sldMkLst>
      </pc:sldChg>
      <pc:sldChg chg="del">
        <pc:chgData name="Άριστος Αρέστη" userId="813aa191-2d4c-464f-9d05-0a7e494d859f" providerId="ADAL" clId="{49C7B61D-1ACF-4AFF-A04E-A3B433E32474}" dt="2026-10-22T11:58:27.629" v="0" actId="47"/>
        <pc:sldMkLst>
          <pc:docMk/>
          <pc:sldMk cId="688820640" sldId="342"/>
        </pc:sldMkLst>
      </pc:sldChg>
      <pc:sldChg chg="modSp mod">
        <pc:chgData name="Άριστος Αρέστη" userId="813aa191-2d4c-464f-9d05-0a7e494d859f" providerId="ADAL" clId="{49C7B61D-1ACF-4AFF-A04E-A3B433E32474}" dt="2026-10-22T13:31:00.665" v="2" actId="114"/>
        <pc:sldMkLst>
          <pc:docMk/>
          <pc:sldMk cId="2816334843" sldId="347"/>
        </pc:sldMkLst>
        <pc:spChg chg="mod">
          <ac:chgData name="Άριστος Αρέστη" userId="813aa191-2d4c-464f-9d05-0a7e494d859f" providerId="ADAL" clId="{49C7B61D-1ACF-4AFF-A04E-A3B433E32474}" dt="2026-10-22T13:31:00.665" v="2" actId="114"/>
          <ac:spMkLst>
            <pc:docMk/>
            <pc:sldMk cId="2816334843" sldId="347"/>
            <ac:spMk id="7" creationId="{66EFE766-B557-431F-70B6-10A45ED99A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F21B-0841-956A-049A-D9CEE2A3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0F9AB-57E3-5F13-FF7F-23870E252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62BD4-D668-9EFE-4961-C9CFC6E51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B1731-1477-C96A-B52D-3FABC7BDD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24219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A668-295C-7828-E9A5-C01FE657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87D5E-E9A8-4E3B-3FE8-64D7136AA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7ECFD-22D4-FA9C-F4B4-1AD299922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6E31-7058-5BCA-33BE-559819CC0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296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854C-085F-44C3-B3E8-09B72823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47FB5-51E4-BB8D-0342-8086BC6F0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4CDF6-EDC1-2925-ED10-D18CD827D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9339-7F6E-75C8-0471-8409EE191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4275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FDEC-7DBD-AE82-3D72-AA8CC984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C2741-BEBC-FAFA-F164-645E0DFAC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A1D46-EF22-F923-0B98-7A4BCB39B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952AC-97D9-E61F-D7D8-90E05C3C3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1547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8E58-5E3F-95CA-FD81-5D9EE74B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23CF8-AFDA-CE28-8E98-FF27A7BD7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51B0B-7EED-2783-B0F0-ADC9B708E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73052-2853-06AE-132F-A53CDF836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7529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1B42-3222-E932-E69F-5899E8BF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DB5AF-AC72-263F-B477-07C2DC40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02BB9-00F2-8C25-1F8F-92D029395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4751A-18F3-20FA-8CA9-042A81E9D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3074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hyperlink" Target="https://tinyurl.com/katc4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hyperlink" Target="https://tinyurl.com/efarmb" TargetMode="External"/><Relationship Id="rId5" Type="http://schemas.openxmlformats.org/officeDocument/2006/relationships/hyperlink" Target="https://tinyurl.com/aplirof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7.org&amp;utm_campaign=index&amp;utm_content=origi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Χρήσιμα Εργαλεία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FCFB6A8-DB9B-4193-145E-9AFB1BB3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DD833-1E6F-6E52-E83F-94AC831881E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/>
              <a:t>Διαχείριση Τάξης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EDC1175C-D4F1-A712-DC23-2E0D304A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pic>
        <p:nvPicPr>
          <p:cNvPr id="2" name="Picture 1" descr="Microsoft Teams | IT@Cornell">
            <a:extLst>
              <a:ext uri="{FF2B5EF4-FFF2-40B4-BE49-F238E27FC236}">
                <a16:creationId xmlns:a16="http://schemas.microsoft.com/office/drawing/2014/main" id="{DD1136F8-3F31-8FA7-C117-75FACD37B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05001"/>
            <a:ext cx="2286000" cy="1428750"/>
          </a:xfrm>
          <a:prstGeom prst="rect">
            <a:avLst/>
          </a:prstGeom>
        </p:spPr>
      </p:pic>
      <p:pic>
        <p:nvPicPr>
          <p:cNvPr id="3" name="Picture 2" descr="Google Classroom Logo and symbol, meaning, history, PNG">
            <a:extLst>
              <a:ext uri="{FF2B5EF4-FFF2-40B4-BE49-F238E27FC236}">
                <a16:creationId xmlns:a16="http://schemas.microsoft.com/office/drawing/2014/main" id="{9E80E080-D8AC-431F-0930-DCC7299E2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777" y="1752600"/>
            <a:ext cx="3065823" cy="1929765"/>
          </a:xfrm>
          <a:prstGeom prst="rect">
            <a:avLst/>
          </a:prstGeom>
        </p:spPr>
      </p:pic>
      <p:pic>
        <p:nvPicPr>
          <p:cNvPr id="6" name="Graphic 5" descr="Download Moodle Logo in SVG Vector or PNG File Format - Logo ...">
            <a:extLst>
              <a:ext uri="{FF2B5EF4-FFF2-40B4-BE49-F238E27FC236}">
                <a16:creationId xmlns:a16="http://schemas.microsoft.com/office/drawing/2014/main" id="{427CCF35-9612-6F82-AD80-48CC54B96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3636079"/>
            <a:ext cx="3505200" cy="2336800"/>
          </a:xfrm>
          <a:prstGeom prst="rect">
            <a:avLst/>
          </a:prstGeom>
        </p:spPr>
      </p:pic>
      <p:pic>
        <p:nvPicPr>
          <p:cNvPr id="8" name="Picture 7" descr="5+ Notion Logo PNG &amp; SVG Vectors HD Quality">
            <a:extLst>
              <a:ext uri="{FF2B5EF4-FFF2-40B4-BE49-F238E27FC236}">
                <a16:creationId xmlns:a16="http://schemas.microsoft.com/office/drawing/2014/main" id="{862885E5-3A27-427F-8ED0-118225EC7D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433917" y="3714791"/>
            <a:ext cx="2239542" cy="22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17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074506E-1913-4105-E65E-5EBEA4AA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C4E0C1-0E9D-CA75-9471-D7A0B3D1C8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n-US" sz="3600" b="1" dirty="0"/>
              <a:t>Links </a:t>
            </a:r>
            <a:r>
              <a:rPr lang="el-GR" sz="3600" b="1" dirty="0"/>
              <a:t>για </a:t>
            </a:r>
            <a:r>
              <a:rPr lang="en-US" sz="3600" b="1" dirty="0"/>
              <a:t>Notion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E202A8CE-7DF3-9838-1C64-6E1933F32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E9DD69-3120-4A18-10EA-550D236E7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672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n-US" sz="3600" b="1" dirty="0">
                <a:hlinkClick r:id="rId5"/>
              </a:rPr>
              <a:t>A’ </a:t>
            </a:r>
            <a:r>
              <a:rPr lang="el-GR" sz="3600" b="1" dirty="0">
                <a:hlinkClick r:id="rId5"/>
              </a:rPr>
              <a:t>Λυκείου</a:t>
            </a:r>
            <a:endParaRPr lang="el-GR" sz="36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3600" b="1" dirty="0">
                <a:hlinkClick r:id="rId6"/>
              </a:rPr>
              <a:t>Β’ Λυκείου Εφαρμογές</a:t>
            </a:r>
            <a:endParaRPr lang="el-GR" sz="36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3600" b="1" dirty="0">
                <a:hlinkClick r:id="rId7"/>
              </a:rPr>
              <a:t>Γ’ Λυκείου Πληροφορική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445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37CEFBF-D186-F5C5-36D1-6CA24284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56D42-A021-B92D-925C-B22A9BD9B8F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Εκπαιδευτική χρήση των HTML </a:t>
            </a:r>
            <a:r>
              <a:rPr lang="el-GR" sz="3600" b="1" dirty="0" err="1"/>
              <a:t>apps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F1449485-10B9-40C4-7B6A-54596384F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D00118-C032-8C3B-5A5B-30325DD9D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672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Διαμορφωτική αξιολόγηση</a:t>
            </a:r>
            <a:r>
              <a:rPr lang="el-GR" sz="1800" dirty="0"/>
              <a:t>: Αναδεικνύουν δυσκολίες και παρανοήσεις, παρέχοντας άμεση ανατροφοδότηση που καθοδηγεί τα επόμενα βήματα της μάθησης.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 err="1"/>
              <a:t>Αυτοαξιολόγηση</a:t>
            </a:r>
            <a:r>
              <a:rPr lang="el-GR" sz="1800" dirty="0"/>
              <a:t>: Βοηθούν τους μαθητές να αναγνωρίζουν τι κατανόησαν και πού χρειάζονται περισσότερη εξάσκηση ή βοήθεια.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Νοητικό στήριγμα</a:t>
            </a:r>
            <a:r>
              <a:rPr lang="el-GR" sz="1800" dirty="0"/>
              <a:t>: Βοηθούν τους μαθητές να κατανοούν δύσκολες έννοιες, βλέποντας παραδείγματα και δοκιμάζοντας βήμα προς βήμα.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 err="1"/>
              <a:t>Ενεργοποιητές</a:t>
            </a:r>
            <a:r>
              <a:rPr lang="el-GR" sz="1800" b="1" dirty="0"/>
              <a:t> μάθησης</a:t>
            </a:r>
            <a:r>
              <a:rPr lang="el-GR" sz="1800" dirty="0"/>
              <a:t>: Κινούν το ενδιαφέρον των μαθητών και τους ενθαρρύνουν να δοκιμάζουν, να παρατηρούν και να ανακαλύπτουν.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Προσομοιωτές</a:t>
            </a:r>
            <a:r>
              <a:rPr lang="el-GR" sz="1800" dirty="0"/>
              <a:t>: Επιτρέπουν στους μαθητές να εξασκούνται σε ένα περιβάλλον που μοιάζει με το πραγματικό, δοκιμάζοντας ενέργειες και βλέποντας τα αποτελέσματά τους</a:t>
            </a:r>
          </a:p>
        </p:txBody>
      </p:sp>
    </p:spTree>
    <p:extLst>
      <p:ext uri="{BB962C8B-B14F-4D97-AF65-F5344CB8AC3E}">
        <p14:creationId xmlns:p14="http://schemas.microsoft.com/office/powerpoint/2010/main" val="7487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EF99F2-5DA5-4417-59F2-C4511905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509FF5-153A-99B7-158B-78F98A3C286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n-US" sz="3600" b="1" dirty="0"/>
              <a:t>Online Judge - </a:t>
            </a:r>
            <a:r>
              <a:rPr lang="en-US" sz="3600" b="1" dirty="0" err="1"/>
              <a:t>Hackerrank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7F2F0EBB-B208-73B2-B5B4-F69EFEC22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2AE27-F698-4625-29B1-0FBACD7C4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854440" cy="4724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Το </a:t>
            </a:r>
            <a:r>
              <a:rPr lang="el-GR" sz="2400" dirty="0" err="1"/>
              <a:t>HackerRank</a:t>
            </a:r>
            <a:r>
              <a:rPr lang="el-GR" sz="2400" dirty="0"/>
              <a:t> είναι μια διαδικτυακή πλατφόρμα όπου οι μαθητές λύνουν προγραμματιστικά προβλήματα και ελέγχουν τον κώδικά τους με αυτόματες δοκιμές.</a:t>
            </a:r>
            <a:endParaRPr lang="el-GR" sz="24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2400" b="1" dirty="0"/>
              <a:t>Εκπαιδευτική αξία: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Μάθηση μέσα από την πράξη: </a:t>
            </a:r>
            <a:r>
              <a:rPr lang="el-GR" sz="2400" dirty="0"/>
              <a:t>Οι μαθητές γράφουν, δοκιμάζουν και βελτιώνουν τον κώδικά τους.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Άμεση ανατροφοδότηση: </a:t>
            </a:r>
            <a:r>
              <a:rPr lang="el-GR" sz="2400" dirty="0"/>
              <a:t>Βλέπουν ποιες δοκιμές πέρασε η λύση τους και πού χρειάζεται διόρθωση.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 err="1"/>
              <a:t>Αυτοαξιολόγηση</a:t>
            </a:r>
            <a:r>
              <a:rPr lang="el-GR" sz="2400" dirty="0"/>
              <a:t>: Αναγνωρίζουν τι μπορούν να λύσουν και πού χρειάζονται εξάσκηση.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Διαμορφωτική αξιολόγηση: </a:t>
            </a:r>
            <a:r>
              <a:rPr lang="el-GR" sz="2400" dirty="0"/>
              <a:t>Ο εκπαιδευτικός μπορεί να αξιοποιεί τις δυσκολίες τους για να προσαρμόζει τη διδασκαλία.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2" name="Picture 1" descr="File:HackerRank logo.png - Wikimedia Commons">
            <a:extLst>
              <a:ext uri="{FF2B5EF4-FFF2-40B4-BE49-F238E27FC236}">
                <a16:creationId xmlns:a16="http://schemas.microsoft.com/office/drawing/2014/main" id="{D61E0F4E-738B-234B-4CEB-973E30AA7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706" y="106362"/>
            <a:ext cx="1417638" cy="141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47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BF6AF9-BEE7-3B1A-D51E-CEC34683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8A84A1-72E1-920F-7BAA-B21B3C0A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2600" b="1" dirty="0"/>
              <a:t>Άσκηση: Δημιουργία HTML </a:t>
            </a:r>
            <a:r>
              <a:rPr lang="el-GR" sz="2600" b="1" dirty="0" err="1"/>
              <a:t>app</a:t>
            </a:r>
            <a:r>
              <a:rPr lang="el-GR" sz="2600" b="1" dirty="0"/>
              <a:t> για διαμορφωτική αξιολόγηση</a:t>
            </a:r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8B8FE4FA-1DC2-63FE-E331-5A5DC0252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EFE766-B557-431F-70B6-10A45ED99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020762"/>
            <a:ext cx="8869680" cy="5486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b="1" i="1" dirty="0"/>
              <a:t>Επιλέξτε ένα μάθημα και δημιουργήστε, με τη βοήθεια εργαλείου Τεχνητής Νοημοσύνης, ένα </a:t>
            </a:r>
            <a:r>
              <a:rPr lang="el-GR" sz="2400" b="1" i="1" dirty="0" err="1"/>
              <a:t>διαδραστικό</a:t>
            </a:r>
            <a:r>
              <a:rPr lang="el-GR" sz="2400" b="1" i="1" dirty="0"/>
              <a:t> HTML </a:t>
            </a:r>
            <a:r>
              <a:rPr lang="el-GR" sz="2400" b="1" i="1" dirty="0" err="1"/>
              <a:t>app</a:t>
            </a:r>
            <a:r>
              <a:rPr lang="el-GR" sz="2400" b="1" i="1" dirty="0"/>
              <a:t> που θα βοηθά τον/την εκπαιδευτικό να εντοπίζει τι κατανόησαν οι μαθητές και πού χρειάζονται υποστήριξη. </a:t>
            </a:r>
            <a:r>
              <a:rPr lang="el-GR" sz="2400" i="1" dirty="0"/>
              <a:t>Η εφαρμογή πρέπει να: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ζητά από τον μαθητή όνομα και τμήμα.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περιλαμβάνει 5–6 σύντομες δραστηριότητες.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Να παρέχει άμεση ανατροφοδότηση και να εξηγεί το λάθος σε περίπτωση λανθασμένης απάντησης.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Στο τέλος, να παρουσιάζει μια έκθεση με το τι πέτυχε ο μαθητής.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Να διαθέτει κουμπί «Αποθήκευση αποτελεσμάτων σε PDF». Το PDF να περιλαμβάνει όνομα, τμήμα, μάθημα, ημερομηνία, απαντήσεις και επίδοση.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i="1" dirty="0"/>
              <a:t>Να λειτουργεί χωρίς Internet, με όλο τον κώδικα σε ένα HTML αρχείο.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816334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A3F6AAC-D35B-3F4F-5728-6E704282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838673-326C-CB94-6829-56CAC54F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2600" b="1" dirty="0"/>
              <a:t>Άσκηση: Ετοιμασία άσκησης στο </a:t>
            </a:r>
            <a:r>
              <a:rPr lang="en-US" sz="2600" b="1" dirty="0" err="1"/>
              <a:t>hackerrank</a:t>
            </a:r>
            <a:endParaRPr lang="el-GR" sz="2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972C95F4-DF01-7702-9866-551D9486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7C97CE-C0D9-FFDC-B653-58CA312C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020762"/>
            <a:ext cx="8869680" cy="5486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b="1" dirty="0"/>
              <a:t>Με βάση τον κατάλογο που σας έχει δοθεί να ετοιμάσετε μια άσκηση στο </a:t>
            </a:r>
            <a:r>
              <a:rPr lang="en-US" sz="2400" b="1" dirty="0" err="1"/>
              <a:t>hackerrank</a:t>
            </a:r>
            <a:r>
              <a:rPr lang="en-US" sz="2400" b="1" dirty="0"/>
              <a:t>. </a:t>
            </a:r>
            <a:r>
              <a:rPr lang="el-GR" sz="2400" b="1" dirty="0"/>
              <a:t>Η άσκηση σας πρέπει να έχει τα εξής χαρακτηριστικά: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Ονομασία: </a:t>
            </a:r>
            <a:r>
              <a:rPr lang="en-US" sz="2400" dirty="0" err="1"/>
              <a:t>Python_A</a:t>
            </a:r>
            <a:r>
              <a:rPr lang="en-US" sz="2400" i="1" dirty="0"/>
              <a:t>_</a:t>
            </a:r>
            <a:r>
              <a:rPr lang="el-GR" sz="2400" i="1" dirty="0"/>
              <a:t>μάθημα</a:t>
            </a:r>
            <a:r>
              <a:rPr lang="en-US" sz="2400" i="1" dirty="0"/>
              <a:t>_</a:t>
            </a:r>
            <a:r>
              <a:rPr lang="el-GR" sz="2400" i="1" dirty="0" err="1"/>
              <a:t>αριθμός_άσκησης</a:t>
            </a:r>
            <a:r>
              <a:rPr lang="el-GR" sz="2400" i="1" dirty="0"/>
              <a:t> (π.χ. </a:t>
            </a:r>
            <a:r>
              <a:rPr lang="en-US" sz="2400" i="1" dirty="0"/>
              <a:t>Python_A_M4_1)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Κάθε άσκηση πρέπει να έχει 5 τεστ εκ των οποίων το ένα να είναι </a:t>
            </a:r>
            <a:r>
              <a:rPr lang="en-US" sz="2400" dirty="0"/>
              <a:t>sample.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Να είναι επιλεγμένη μόνο η γλώσσα </a:t>
            </a:r>
            <a:r>
              <a:rPr lang="en-US" sz="2400" dirty="0"/>
              <a:t>Python 3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Στο τέλος να γίνει </a:t>
            </a:r>
            <a:r>
              <a:rPr lang="en-US" sz="2400" dirty="0"/>
              <a:t>moderator </a:t>
            </a:r>
            <a:r>
              <a:rPr lang="el-GR" sz="2400" dirty="0"/>
              <a:t>ο λογαριασμός </a:t>
            </a:r>
            <a:r>
              <a:rPr lang="en-US" sz="2400" dirty="0" err="1"/>
              <a:t>ppavlikas</a:t>
            </a:r>
            <a:r>
              <a:rPr lang="en-US" sz="2400" dirty="0"/>
              <a:t> </a:t>
            </a:r>
            <a:r>
              <a:rPr lang="el-GR" sz="2400" dirty="0"/>
              <a:t>        και να προσθέσετε την άσκηση στον διαγωνισμό σας.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29A81B-9B4E-12C0-A2CF-A8813FD95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648200"/>
            <a:ext cx="342930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  <a:ext cx="9144000" cy="18288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5400" b="1" dirty="0">
                <a:latin typeface="+mn-lt"/>
                <a:cs typeface="Arial" pitchFamily="34" charset="0"/>
              </a:rPr>
              <a:t>Ερωτήσεις</a:t>
            </a:r>
            <a:r>
              <a:rPr lang="en-US" sz="5400" b="1" dirty="0">
                <a:latin typeface="+mn-lt"/>
                <a:cs typeface="Arial" pitchFamily="34" charset="0"/>
              </a:rPr>
              <a:t>;</a:t>
            </a: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6480" y="0"/>
            <a:ext cx="3017520" cy="838200"/>
          </a:xfrm>
          <a:prstGeom prst="rect">
            <a:avLst/>
          </a:prstGeom>
          <a:noFill/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4864</TotalTime>
  <Words>449</Words>
  <Application>Microsoft Office PowerPoint</Application>
  <PresentationFormat>On-screen Show (4:3)</PresentationFormat>
  <Paragraphs>44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Χρήσιμα Εργαλεία</vt:lpstr>
      <vt:lpstr>Διαχείριση Τάξης</vt:lpstr>
      <vt:lpstr>Links για Notion</vt:lpstr>
      <vt:lpstr>Εκπαιδευτική χρήση των HTML apps</vt:lpstr>
      <vt:lpstr>Online Judge - Hackerrank</vt:lpstr>
      <vt:lpstr>Άσκηση: Δημιουργία HTML app για διαμορφωτική αξιολόγηση</vt:lpstr>
      <vt:lpstr>Άσκηση: Ετοιμασία άσκησης στο hackerrank</vt:lpstr>
      <vt:lpstr>Ερωτήσεις;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151</cp:revision>
  <dcterms:created xsi:type="dcterms:W3CDTF">2015-09-15T19:28:21Z</dcterms:created>
  <dcterms:modified xsi:type="dcterms:W3CDTF">2026-10-22T13:31:11Z</dcterms:modified>
</cp:coreProperties>
</file>