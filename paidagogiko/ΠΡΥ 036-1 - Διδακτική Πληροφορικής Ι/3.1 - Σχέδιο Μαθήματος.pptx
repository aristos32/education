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7" r:id="rId2"/>
    <p:sldId id="276" r:id="rId3"/>
    <p:sldId id="280" r:id="rId4"/>
    <p:sldId id="287" r:id="rId5"/>
    <p:sldId id="278" r:id="rId6"/>
    <p:sldId id="299" r:id="rId7"/>
    <p:sldId id="300" r:id="rId8"/>
    <p:sldId id="328" r:id="rId9"/>
    <p:sldId id="329" r:id="rId10"/>
    <p:sldId id="33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28" autoAdjust="0"/>
    <p:restoredTop sz="86118" autoAdjust="0"/>
  </p:normalViewPr>
  <p:slideViewPr>
    <p:cSldViewPr>
      <p:cViewPr varScale="1">
        <p:scale>
          <a:sx n="95" d="100"/>
          <a:sy n="95" d="100"/>
        </p:scale>
        <p:origin x="166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delSld">
      <pc:chgData name="Άριστος Αρέστη" userId="813aa191-2d4c-464f-9d05-0a7e494d859f" providerId="ADAL" clId="{49C7B61D-1ACF-4AFF-A04E-A3B433E32474}" dt="2026-10-22T11:57:12.053" v="0" actId="47"/>
      <pc:docMkLst>
        <pc:docMk/>
      </pc:docMkLst>
      <pc:sldChg chg="del">
        <pc:chgData name="Άριστος Αρέστη" userId="813aa191-2d4c-464f-9d05-0a7e494d859f" providerId="ADAL" clId="{49C7B61D-1ACF-4AFF-A04E-A3B433E32474}" dt="2026-10-22T11:57:12.053" v="0" actId="47"/>
        <pc:sldMkLst>
          <pc:docMk/>
          <pc:sldMk cId="0" sldId="274"/>
        </pc:sldMkLst>
      </pc:sldChg>
      <pc:sldChg chg="del">
        <pc:chgData name="Άριστος Αρέστη" userId="813aa191-2d4c-464f-9d05-0a7e494d859f" providerId="ADAL" clId="{49C7B61D-1ACF-4AFF-A04E-A3B433E32474}" dt="2026-10-22T11:57:12.053" v="0" actId="47"/>
        <pc:sldMkLst>
          <pc:docMk/>
          <pc:sldMk cId="2418946017" sldId="288"/>
        </pc:sldMkLst>
      </pc:sldChg>
      <pc:sldChg chg="del">
        <pc:chgData name="Άριστος Αρέστη" userId="813aa191-2d4c-464f-9d05-0a7e494d859f" providerId="ADAL" clId="{49C7B61D-1ACF-4AFF-A04E-A3B433E32474}" dt="2026-10-22T11:57:12.053" v="0" actId="47"/>
        <pc:sldMkLst>
          <pc:docMk/>
          <pc:sldMk cId="3446216825" sldId="292"/>
        </pc:sldMkLst>
      </pc:sldChg>
      <pc:sldChg chg="del">
        <pc:chgData name="Άριστος Αρέστη" userId="813aa191-2d4c-464f-9d05-0a7e494d859f" providerId="ADAL" clId="{49C7B61D-1ACF-4AFF-A04E-A3B433E32474}" dt="2026-10-22T11:57:12.053" v="0" actId="47"/>
        <pc:sldMkLst>
          <pc:docMk/>
          <pc:sldMk cId="2613997454" sldId="313"/>
        </pc:sldMkLst>
      </pc:sldChg>
      <pc:sldChg chg="del">
        <pc:chgData name="Άριστος Αρέστη" userId="813aa191-2d4c-464f-9d05-0a7e494d859f" providerId="ADAL" clId="{49C7B61D-1ACF-4AFF-A04E-A3B433E32474}" dt="2026-10-22T11:57:12.053" v="0" actId="47"/>
        <pc:sldMkLst>
          <pc:docMk/>
          <pc:sldMk cId="1085452984" sldId="314"/>
        </pc:sldMkLst>
      </pc:sldChg>
      <pc:sldChg chg="del">
        <pc:chgData name="Άριστος Αρέστη" userId="813aa191-2d4c-464f-9d05-0a7e494d859f" providerId="ADAL" clId="{49C7B61D-1ACF-4AFF-A04E-A3B433E32474}" dt="2026-10-22T11:57:12.053" v="0" actId="47"/>
        <pc:sldMkLst>
          <pc:docMk/>
          <pc:sldMk cId="2054986358" sldId="317"/>
        </pc:sldMkLst>
      </pc:sldChg>
      <pc:sldChg chg="del">
        <pc:chgData name="Άριστος Αρέστη" userId="813aa191-2d4c-464f-9d05-0a7e494d859f" providerId="ADAL" clId="{49C7B61D-1ACF-4AFF-A04E-A3B433E32474}" dt="2026-10-22T11:57:12.053" v="0" actId="47"/>
        <pc:sldMkLst>
          <pc:docMk/>
          <pc:sldMk cId="3704660987" sldId="332"/>
        </pc:sldMkLst>
      </pc:sldChg>
      <pc:sldChg chg="del">
        <pc:chgData name="Άριστος Αρέστη" userId="813aa191-2d4c-464f-9d05-0a7e494d859f" providerId="ADAL" clId="{49C7B61D-1ACF-4AFF-A04E-A3B433E32474}" dt="2026-10-22T11:57:12.053" v="0" actId="47"/>
        <pc:sldMkLst>
          <pc:docMk/>
          <pc:sldMk cId="2632511756" sldId="337"/>
        </pc:sldMkLst>
      </pc:sldChg>
      <pc:sldChg chg="del">
        <pc:chgData name="Άριστος Αρέστη" userId="813aa191-2d4c-464f-9d05-0a7e494d859f" providerId="ADAL" clId="{49C7B61D-1ACF-4AFF-A04E-A3B433E32474}" dt="2026-10-22T11:57:12.053" v="0" actId="47"/>
        <pc:sldMkLst>
          <pc:docMk/>
          <pc:sldMk cId="3361842378" sldId="338"/>
        </pc:sldMkLst>
      </pc:sldChg>
      <pc:sldChg chg="del">
        <pc:chgData name="Άριστος Αρέστη" userId="813aa191-2d4c-464f-9d05-0a7e494d859f" providerId="ADAL" clId="{49C7B61D-1ACF-4AFF-A04E-A3B433E32474}" dt="2026-10-22T11:57:12.053" v="0" actId="47"/>
        <pc:sldMkLst>
          <pc:docMk/>
          <pc:sldMk cId="190045608" sldId="339"/>
        </pc:sldMkLst>
      </pc:sldChg>
      <pc:sldChg chg="del">
        <pc:chgData name="Άριστος Αρέστη" userId="813aa191-2d4c-464f-9d05-0a7e494d859f" providerId="ADAL" clId="{49C7B61D-1ACF-4AFF-A04E-A3B433E32474}" dt="2026-10-22T11:57:12.053" v="0" actId="47"/>
        <pc:sldMkLst>
          <pc:docMk/>
          <pc:sldMk cId="2713495517" sldId="340"/>
        </pc:sldMkLst>
      </pc:sldChg>
      <pc:sldChg chg="del">
        <pc:chgData name="Άριστος Αρέστη" userId="813aa191-2d4c-464f-9d05-0a7e494d859f" providerId="ADAL" clId="{49C7B61D-1ACF-4AFF-A04E-A3B433E32474}" dt="2026-10-22T11:57:12.053" v="0" actId="47"/>
        <pc:sldMkLst>
          <pc:docMk/>
          <pc:sldMk cId="2212390222" sldId="341"/>
        </pc:sldMkLst>
      </pc:sldChg>
      <pc:sldChg chg="del">
        <pc:chgData name="Άριστος Αρέστη" userId="813aa191-2d4c-464f-9d05-0a7e494d859f" providerId="ADAL" clId="{49C7B61D-1ACF-4AFF-A04E-A3B433E32474}" dt="2026-10-22T11:57:12.053" v="0" actId="47"/>
        <pc:sldMkLst>
          <pc:docMk/>
          <pc:sldMk cId="688820640" sldId="342"/>
        </pc:sldMkLst>
      </pc:sldChg>
      <pc:sldChg chg="del">
        <pc:chgData name="Άριστος Αρέστη" userId="813aa191-2d4c-464f-9d05-0a7e494d859f" providerId="ADAL" clId="{49C7B61D-1ACF-4AFF-A04E-A3B433E32474}" dt="2026-10-22T11:57:12.053" v="0" actId="47"/>
        <pc:sldMkLst>
          <pc:docMk/>
          <pc:sldMk cId="1083717274" sldId="343"/>
        </pc:sldMkLst>
      </pc:sldChg>
      <pc:sldChg chg="del">
        <pc:chgData name="Άριστος Αρέστη" userId="813aa191-2d4c-464f-9d05-0a7e494d859f" providerId="ADAL" clId="{49C7B61D-1ACF-4AFF-A04E-A3B433E32474}" dt="2026-10-22T11:57:12.053" v="0" actId="47"/>
        <pc:sldMkLst>
          <pc:docMk/>
          <pc:sldMk cId="3714450618" sldId="345"/>
        </pc:sldMkLst>
      </pc:sldChg>
      <pc:sldChg chg="del">
        <pc:chgData name="Άριστος Αρέστη" userId="813aa191-2d4c-464f-9d05-0a7e494d859f" providerId="ADAL" clId="{49C7B61D-1ACF-4AFF-A04E-A3B433E32474}" dt="2026-10-22T11:57:12.053" v="0" actId="47"/>
        <pc:sldMkLst>
          <pc:docMk/>
          <pc:sldMk cId="74871046" sldId="346"/>
        </pc:sldMkLst>
      </pc:sldChg>
      <pc:sldChg chg="del">
        <pc:chgData name="Άριστος Αρέστη" userId="813aa191-2d4c-464f-9d05-0a7e494d859f" providerId="ADAL" clId="{49C7B61D-1ACF-4AFF-A04E-A3B433E32474}" dt="2026-10-22T11:57:12.053" v="0" actId="47"/>
        <pc:sldMkLst>
          <pc:docMk/>
          <pc:sldMk cId="2816334843" sldId="347"/>
        </pc:sldMkLst>
      </pc:sldChg>
      <pc:sldChg chg="del">
        <pc:chgData name="Άριστος Αρέστη" userId="813aa191-2d4c-464f-9d05-0a7e494d859f" providerId="ADAL" clId="{49C7B61D-1ACF-4AFF-A04E-A3B433E32474}" dt="2026-10-22T11:57:12.053" v="0" actId="47"/>
        <pc:sldMkLst>
          <pc:docMk/>
          <pc:sldMk cId="2150347099" sldId="348"/>
        </pc:sldMkLst>
      </pc:sldChg>
      <pc:sldChg chg="del">
        <pc:chgData name="Άριστος Αρέστη" userId="813aa191-2d4c-464f-9d05-0a7e494d859f" providerId="ADAL" clId="{49C7B61D-1ACF-4AFF-A04E-A3B433E32474}" dt="2026-10-22T11:57:12.053" v="0" actId="47"/>
        <pc:sldMkLst>
          <pc:docMk/>
          <pc:sldMk cId="3881687124" sldId="34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67DA2-3ABD-4083-9D89-D1C9CC448C3D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F438E-B2CF-4AE8-BCBD-5C0C582401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57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3519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6147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59145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3513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23299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0B2B7-3155-4641-A8F2-C1656F8110F8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accent6">
                <a:lumMod val="0"/>
                <a:lumOff val="100000"/>
              </a:schemeClr>
            </a:gs>
            <a:gs pos="29000">
              <a:schemeClr val="accent6">
                <a:lumMod val="0"/>
                <a:lumOff val="100000"/>
              </a:schemeClr>
            </a:gs>
            <a:gs pos="51000">
              <a:srgbClr val="FAC09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1219200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0" y="4038600"/>
            <a:ext cx="3886200" cy="1950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>
                <a:latin typeface="+mn-lt"/>
                <a:cs typeface="Arial" pitchFamily="34" charset="0"/>
              </a:rPr>
              <a:t>Πρόγραμμα </a:t>
            </a:r>
            <a:r>
              <a:rPr lang="el-GR" sz="4000" b="1" dirty="0" err="1">
                <a:latin typeface="+mn-lt"/>
                <a:cs typeface="Arial" pitchFamily="34" charset="0"/>
              </a:rPr>
              <a:t>Προϋπηρεσιακής</a:t>
            </a:r>
            <a:r>
              <a:rPr lang="el-GR" sz="4000" b="1" dirty="0">
                <a:latin typeface="+mn-lt"/>
                <a:cs typeface="Arial" pitchFamily="34" charset="0"/>
              </a:rPr>
              <a:t> Κατάρτισης</a:t>
            </a:r>
            <a:endParaRPr lang="en-US" sz="4000" b="1" dirty="0">
              <a:latin typeface="+mn-lt"/>
              <a:cs typeface="Arial" pitchFamily="34" charset="0"/>
            </a:endParaRPr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4625" y="55306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3788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chemeClr val="accent6">
                <a:lumMod val="0"/>
                <a:lumOff val="100000"/>
              </a:schemeClr>
            </a:gs>
            <a:gs pos="51000">
              <a:schemeClr val="accent6">
                <a:lumMod val="0"/>
                <a:lumOff val="100000"/>
              </a:schemeClr>
            </a:gs>
            <a:gs pos="73000">
              <a:srgbClr val="FAC090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2956559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81454" y="5440680"/>
            <a:ext cx="8153400" cy="1417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/>
              <a:t>ΠΡΥ036 - Διδακτική Πληροφορικής Ι</a:t>
            </a:r>
            <a:r>
              <a:rPr lang="en-US" sz="4000" b="1" dirty="0"/>
              <a:t> </a:t>
            </a:r>
          </a:p>
        </p:txBody>
      </p:sp>
      <p:pic>
        <p:nvPicPr>
          <p:cNvPr id="27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611" y="152400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60641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3086100" cy="6858000"/>
            <a:chOff x="0" y="0"/>
            <a:chExt cx="3086100" cy="6858000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3086100" cy="685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TextBox 6"/>
            <p:cNvSpPr txBox="1"/>
            <p:nvPr/>
          </p:nvSpPr>
          <p:spPr>
            <a:xfrm flipH="1">
              <a:off x="83820" y="1447800"/>
              <a:ext cx="2971799" cy="4862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01 </a:t>
              </a:r>
            </a:p>
            <a:p>
              <a:pPr lvl="0"/>
              <a:r>
                <a:rPr lang="el-GR" sz="2800" dirty="0"/>
                <a:t>Δημιουργία Σχέδιου Μαθήματος (Μέσα διδασκαλίας, Οργάνωση τάξης, Πορεία Διδασκαλίας)</a:t>
              </a:r>
              <a:endParaRPr lang="en-GB" sz="2800" dirty="0"/>
            </a:p>
            <a:p>
              <a:endParaRPr lang="en-GB" sz="32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115050" y="0"/>
            <a:ext cx="3086100" cy="6858000"/>
            <a:chOff x="6172200" y="0"/>
            <a:chExt cx="3086100" cy="6858000"/>
          </a:xfrm>
        </p:grpSpPr>
        <p:sp>
          <p:nvSpPr>
            <p:cNvPr id="6" name="Rectangle 5"/>
            <p:cNvSpPr/>
            <p:nvPr/>
          </p:nvSpPr>
          <p:spPr>
            <a:xfrm>
              <a:off x="6172200" y="0"/>
              <a:ext cx="2971800" cy="685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/>
            <p:cNvSpPr txBox="1"/>
            <p:nvPr/>
          </p:nvSpPr>
          <p:spPr>
            <a:xfrm flipH="1">
              <a:off x="6286501" y="1463039"/>
              <a:ext cx="2971799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03 </a:t>
              </a:r>
            </a:p>
            <a:p>
              <a:pPr lvl="0"/>
              <a:r>
                <a:rPr lang="el-GR" sz="2800" dirty="0"/>
                <a:t>Χρήσιμα Εργαλεία</a:t>
              </a:r>
              <a:endParaRPr lang="en-GB" sz="28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028950" y="0"/>
            <a:ext cx="3086100" cy="6858000"/>
            <a:chOff x="3086100" y="0"/>
            <a:chExt cx="3086100" cy="6858000"/>
          </a:xfrm>
        </p:grpSpPr>
        <p:sp>
          <p:nvSpPr>
            <p:cNvPr id="4" name="Rectangle 3"/>
            <p:cNvSpPr/>
            <p:nvPr/>
          </p:nvSpPr>
          <p:spPr>
            <a:xfrm>
              <a:off x="3086100" y="0"/>
              <a:ext cx="3086100" cy="6858000"/>
            </a:xfrm>
            <a:prstGeom prst="rect">
              <a:avLst/>
            </a:prstGeom>
            <a:solidFill>
              <a:srgbClr val="FAC0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/>
            <p:cNvSpPr txBox="1"/>
            <p:nvPr/>
          </p:nvSpPr>
          <p:spPr>
            <a:xfrm flipH="1">
              <a:off x="3116581" y="1463039"/>
              <a:ext cx="2971799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02 </a:t>
              </a:r>
            </a:p>
            <a:p>
              <a:r>
                <a:rPr lang="el-GR" sz="2800" dirty="0" err="1"/>
                <a:t>Μικροδιδασκαλία</a:t>
              </a:r>
              <a:r>
                <a:rPr lang="en-US" sz="2800" dirty="0"/>
                <a:t> </a:t>
              </a:r>
              <a:endParaRPr lang="en-GB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4297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l-GR" dirty="0"/>
              <a:t>Δημιουργία Σχέδιου Μαθήματος (Μέσα διδασκαλίας, Οργάνωση τάξης, Πορεία Διδασκαλίας)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>
          <a:xfrm>
            <a:off x="1371600" y="362585"/>
            <a:ext cx="6400800" cy="1752600"/>
          </a:xfrm>
        </p:spPr>
        <p:txBody>
          <a:bodyPr>
            <a:normAutofit/>
          </a:bodyPr>
          <a:lstStyle/>
          <a:p>
            <a:r>
              <a:rPr lang="el-GR" sz="8000" dirty="0">
                <a:solidFill>
                  <a:schemeClr val="tx1"/>
                </a:solidFill>
              </a:rPr>
              <a:t>01</a:t>
            </a:r>
            <a:endParaRPr lang="en-GB" sz="8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73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/>
          <a:lstStyle/>
          <a:p>
            <a:r>
              <a:rPr lang="el-GR" dirty="0"/>
              <a:t>Μέσα Διδασκαλίας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0" lvl="1" indent="0">
              <a:buNone/>
            </a:pPr>
            <a:r>
              <a:rPr lang="el-GR" sz="3200" dirty="0"/>
              <a:t>Ότι θα μέσο θα χρησιμοποιήσετε στην τάξη.</a:t>
            </a:r>
          </a:p>
          <a:p>
            <a:pPr marL="457200" lvl="1" indent="0">
              <a:buNone/>
            </a:pPr>
            <a:r>
              <a:rPr lang="el-GR" sz="3200" dirty="0"/>
              <a:t>Παραδείγματα:</a:t>
            </a:r>
          </a:p>
          <a:p>
            <a:pPr lvl="1"/>
            <a:r>
              <a:rPr lang="el-GR" sz="3200" dirty="0"/>
              <a:t>Υπολογιστές μαθητών – για πρακτική εξάσκηση και εκτέλεση δραστηριοτήτων.</a:t>
            </a:r>
          </a:p>
          <a:p>
            <a:pPr lvl="1"/>
            <a:r>
              <a:rPr lang="el-GR" sz="3200" dirty="0"/>
              <a:t>Υπολογιστής και προβολέας καθηγητή – για επίδειξη, καθοδήγηση και επεξήγηση εννοιών.</a:t>
            </a:r>
          </a:p>
          <a:p>
            <a:pPr lvl="1"/>
            <a:r>
              <a:rPr lang="el-GR" sz="3200" dirty="0"/>
              <a:t>Φύλλα Εργασίας – για καθοδήγηση, εμπέδωση και αξιολόγηση.</a:t>
            </a:r>
          </a:p>
          <a:p>
            <a:pPr lvl="1"/>
            <a:r>
              <a:rPr lang="el-GR" sz="3200" dirty="0"/>
              <a:t>Προγραμματιστικά περιβάλλοντα / εφαρμογές – ανάλογα με το μάθημα (π.χ. Excel,  </a:t>
            </a:r>
            <a:r>
              <a:rPr lang="en-US" sz="3200" dirty="0" err="1"/>
              <a:t>Codeblocks</a:t>
            </a:r>
            <a:r>
              <a:rPr lang="el-GR" sz="3200" dirty="0"/>
              <a:t>.</a:t>
            </a:r>
            <a:endParaRPr lang="en-US" sz="3200" dirty="0"/>
          </a:p>
          <a:p>
            <a:pPr lvl="1"/>
            <a:r>
              <a:rPr lang="el-GR" sz="3200" dirty="0" err="1"/>
              <a:t>Διαδραστικές</a:t>
            </a:r>
            <a:r>
              <a:rPr lang="el-GR" sz="3200" dirty="0"/>
              <a:t> παρουσιάσεις</a:t>
            </a:r>
            <a:r>
              <a:rPr lang="en-US" sz="3200" dirty="0"/>
              <a:t>,</a:t>
            </a:r>
            <a:r>
              <a:rPr lang="el-GR" sz="3200" dirty="0"/>
              <a:t> </a:t>
            </a:r>
            <a:r>
              <a:rPr lang="el-GR" sz="3200" dirty="0" err="1"/>
              <a:t>Quiz</a:t>
            </a:r>
            <a:r>
              <a:rPr lang="en-US" sz="3200" dirty="0"/>
              <a:t>, </a:t>
            </a:r>
            <a:r>
              <a:rPr lang="el-GR" sz="3200" dirty="0"/>
              <a:t>άλλες πλατφόρμες (</a:t>
            </a:r>
            <a:r>
              <a:rPr lang="el-GR" sz="3200" dirty="0" err="1"/>
              <a:t>Moodle</a:t>
            </a:r>
            <a:r>
              <a:rPr lang="el-GR" sz="3200" dirty="0"/>
              <a:t>, </a:t>
            </a:r>
            <a:r>
              <a:rPr lang="el-GR" sz="3200" dirty="0" err="1"/>
              <a:t>YouTube</a:t>
            </a:r>
            <a:r>
              <a:rPr lang="el-GR" sz="3200" dirty="0"/>
              <a:t>, </a:t>
            </a:r>
            <a:r>
              <a:rPr lang="el-GR" sz="3200" dirty="0" err="1"/>
              <a:t>NetSupport</a:t>
            </a:r>
            <a:r>
              <a:rPr lang="el-GR" sz="3200" dirty="0"/>
              <a:t>) – για ενεργό συμμετοχή και </a:t>
            </a:r>
            <a:r>
              <a:rPr lang="el-GR" sz="3200" dirty="0" err="1"/>
              <a:t>αυτοαξιολόγηση</a:t>
            </a:r>
            <a:r>
              <a:rPr lang="el-GR" sz="3200" dirty="0"/>
              <a:t>.</a:t>
            </a:r>
          </a:p>
          <a:p>
            <a:pPr lvl="1"/>
            <a:r>
              <a:rPr lang="el-GR" sz="3200" dirty="0"/>
              <a:t>Τετράδιο Μαθητή – για καταγραφή, ανάλυση και εμπέδωση γνώσεων.</a:t>
            </a:r>
            <a:endParaRPr lang="en-US" sz="3200" dirty="0"/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0400" y="6202681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44892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/>
              <a:t>Οργάνωση Τάξης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608013">
              <a:spcBef>
                <a:spcPts val="400"/>
              </a:spcBef>
            </a:pPr>
            <a:r>
              <a:rPr lang="el-G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Ακροαματική / Μαιευτική Μέθοδος</a:t>
            </a:r>
          </a:p>
          <a:p>
            <a:pPr marL="1008063" lvl="1">
              <a:spcBef>
                <a:spcPts val="400"/>
              </a:spcBef>
            </a:pPr>
            <a:r>
              <a:rPr lang="el-G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Ο εκπαιδευτικός καθοδηγεί τη συζήτηση με ερωτήσεις, ώστε οι μαθητές να ανακαλύπτουν τη γνώση.</a:t>
            </a:r>
          </a:p>
          <a:p>
            <a:pPr marL="608013">
              <a:spcBef>
                <a:spcPts val="400"/>
              </a:spcBef>
            </a:pPr>
            <a:r>
              <a:rPr lang="el-G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Εξατομικευμένη Εργασία</a:t>
            </a:r>
          </a:p>
          <a:p>
            <a:pPr marL="1008063" lvl="1">
              <a:spcBef>
                <a:spcPts val="400"/>
              </a:spcBef>
            </a:pPr>
            <a:r>
              <a:rPr lang="el-G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Κάθε μαθητής εργάζεται στον υπολογιστή του, εφαρμόζοντας τις νέες έννοιες στην πράξη.</a:t>
            </a:r>
          </a:p>
          <a:p>
            <a:pPr marL="608013">
              <a:spcBef>
                <a:spcPts val="400"/>
              </a:spcBef>
            </a:pPr>
            <a:r>
              <a:rPr lang="el-G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Συνεργατική Μάθηση</a:t>
            </a:r>
          </a:p>
          <a:p>
            <a:pPr marL="1008063" lvl="1">
              <a:spcBef>
                <a:spcPts val="400"/>
              </a:spcBef>
            </a:pPr>
            <a:r>
              <a:rPr lang="el-G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Οι μαθητές δουλεύουν σε μικρές ομάδες, ανταλλάσσοντας ιδέες και λύσεις.</a:t>
            </a:r>
          </a:p>
          <a:p>
            <a:pPr marL="608013">
              <a:spcBef>
                <a:spcPts val="400"/>
              </a:spcBef>
            </a:pPr>
            <a:r>
              <a:rPr lang="el-G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Συζήτηση στην Ολομέλεια</a:t>
            </a:r>
          </a:p>
          <a:p>
            <a:pPr marL="1008063" lvl="1">
              <a:spcBef>
                <a:spcPts val="400"/>
              </a:spcBef>
            </a:pPr>
            <a:r>
              <a:rPr lang="el-G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Παρουσίαση και ανάλυση των αποτελεσμάτων όλων, με καθοδήγηση και ανατροφοδότηση.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34200" y="6141403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4208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/>
              <a:t>Πορεία Μαθήματος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958658"/>
            <a:ext cx="8473440" cy="4670742"/>
          </a:xfrm>
        </p:spPr>
        <p:txBody>
          <a:bodyPr>
            <a:noAutofit/>
          </a:bodyPr>
          <a:lstStyle/>
          <a:p>
            <a:r>
              <a:rPr lang="el-GR" sz="1600" b="1" dirty="0"/>
              <a:t>Εισαγωγή</a:t>
            </a:r>
          </a:p>
          <a:p>
            <a:pPr lvl="1"/>
            <a:r>
              <a:rPr lang="el-GR" sz="1600" dirty="0"/>
              <a:t>Ενεργοποίηση πρότερων γνώσεων και </a:t>
            </a:r>
            <a:r>
              <a:rPr lang="el-GR" sz="1600" dirty="0" err="1"/>
              <a:t>προαπαιτούμενων</a:t>
            </a:r>
            <a:r>
              <a:rPr lang="el-GR" sz="1600" dirty="0"/>
              <a:t>.</a:t>
            </a:r>
          </a:p>
          <a:p>
            <a:pPr lvl="1"/>
            <a:r>
              <a:rPr lang="el-GR" sz="1600" dirty="0"/>
              <a:t>Παρουσίαση των </a:t>
            </a:r>
            <a:r>
              <a:rPr lang="el-GR" sz="1600" b="1" dirty="0"/>
              <a:t>Δεικτών Επιτυχίας</a:t>
            </a:r>
            <a:r>
              <a:rPr lang="el-GR" sz="1600" dirty="0"/>
              <a:t> του μαθήματος.</a:t>
            </a:r>
          </a:p>
          <a:p>
            <a:pPr lvl="1"/>
            <a:r>
              <a:rPr lang="el-GR" sz="1600" dirty="0"/>
              <a:t>Διατύπωση στόχων και </a:t>
            </a:r>
            <a:r>
              <a:rPr lang="el-GR" sz="1600" dirty="0" err="1"/>
              <a:t>αφόρμηση</a:t>
            </a:r>
            <a:r>
              <a:rPr lang="el-GR" sz="1600" dirty="0"/>
              <a:t> με παράδειγμα ή ερώτημα.</a:t>
            </a:r>
          </a:p>
          <a:p>
            <a:r>
              <a:rPr lang="el-GR" sz="1600" b="1" dirty="0"/>
              <a:t>Παρουσίαση / Εμπέδωση</a:t>
            </a:r>
          </a:p>
          <a:p>
            <a:pPr lvl="1"/>
            <a:r>
              <a:rPr lang="el-GR" sz="1600" dirty="0"/>
              <a:t>Διερεύνηση της νέας γνώσης με </a:t>
            </a:r>
            <a:r>
              <a:rPr lang="el-GR" sz="1600" b="1" dirty="0" err="1"/>
              <a:t>μαθητοκεντρικές</a:t>
            </a:r>
            <a:r>
              <a:rPr lang="el-GR" sz="1600" b="1" dirty="0"/>
              <a:t> δραστηριότητες</a:t>
            </a:r>
            <a:r>
              <a:rPr lang="el-GR" sz="1600" dirty="0"/>
              <a:t>.</a:t>
            </a:r>
          </a:p>
          <a:p>
            <a:pPr lvl="1"/>
            <a:r>
              <a:rPr lang="el-GR" sz="1600" dirty="0"/>
              <a:t>Εφαρμογή μέσω </a:t>
            </a:r>
            <a:r>
              <a:rPr lang="el-GR" sz="1600" b="1" dirty="0"/>
              <a:t>λογισμικών, φύλλων εργασίας ή </a:t>
            </a:r>
            <a:r>
              <a:rPr lang="el-GR" sz="1600" b="1" dirty="0" err="1"/>
              <a:t>διαδραστικών</a:t>
            </a:r>
            <a:r>
              <a:rPr lang="el-GR" sz="1600" b="1" dirty="0"/>
              <a:t> ασκήσεων</a:t>
            </a:r>
            <a:r>
              <a:rPr lang="el-GR" sz="1600" dirty="0"/>
              <a:t>.</a:t>
            </a:r>
          </a:p>
          <a:p>
            <a:pPr lvl="1"/>
            <a:r>
              <a:rPr lang="el-GR" sz="1600" dirty="0"/>
              <a:t>Ενίσχυση συνεργασίας και ανάπτυξη κομβικών ικανοτήτων.</a:t>
            </a:r>
          </a:p>
          <a:p>
            <a:r>
              <a:rPr lang="el-GR" sz="1600" b="1" dirty="0"/>
              <a:t>Αξιολόγηση</a:t>
            </a:r>
          </a:p>
          <a:p>
            <a:pPr lvl="1"/>
            <a:r>
              <a:rPr lang="el-GR" sz="1600" b="1" dirty="0"/>
              <a:t>Συντρέχουσα αξιολόγηση</a:t>
            </a:r>
            <a:r>
              <a:rPr lang="el-GR" sz="1600" dirty="0"/>
              <a:t> κατά τη διάρκεια των δραστηριοτήτων.</a:t>
            </a:r>
          </a:p>
          <a:p>
            <a:pPr lvl="1"/>
            <a:r>
              <a:rPr lang="el-GR" sz="1600" dirty="0"/>
              <a:t>Ερωτήσεις, </a:t>
            </a:r>
            <a:r>
              <a:rPr lang="el-GR" sz="1600" dirty="0" err="1"/>
              <a:t>quiz</a:t>
            </a:r>
            <a:r>
              <a:rPr lang="el-GR" sz="1600" dirty="0"/>
              <a:t>, ή σύντομες πρακτικές ασκήσεις.</a:t>
            </a:r>
          </a:p>
          <a:p>
            <a:r>
              <a:rPr lang="el-GR" sz="1600" b="1" dirty="0"/>
              <a:t>Σύνοψη – Εργασία στο σπίτι</a:t>
            </a:r>
          </a:p>
          <a:p>
            <a:pPr lvl="1"/>
            <a:r>
              <a:rPr lang="el-GR" sz="1600" dirty="0"/>
              <a:t>Ανατροφοδότηση και </a:t>
            </a:r>
            <a:r>
              <a:rPr lang="el-GR" sz="1600" dirty="0" err="1"/>
              <a:t>αυτοαξιολόγηση</a:t>
            </a:r>
            <a:r>
              <a:rPr lang="el-GR" sz="1600" dirty="0"/>
              <a:t>.</a:t>
            </a:r>
            <a:endParaRPr lang="en-US" sz="1600" dirty="0"/>
          </a:p>
          <a:p>
            <a:pPr lvl="1"/>
            <a:r>
              <a:rPr lang="el-GR" sz="1600" dirty="0"/>
              <a:t>Ανακεφαλαίωση των δεικτών επιτυχίας.</a:t>
            </a:r>
          </a:p>
          <a:p>
            <a:pPr lvl="1"/>
            <a:r>
              <a:rPr lang="el-GR" sz="1600" dirty="0"/>
              <a:t>Συζήτηση και </a:t>
            </a:r>
            <a:r>
              <a:rPr lang="el-GR" sz="1600" dirty="0" err="1"/>
              <a:t>αναστοχασμός</a:t>
            </a:r>
            <a:r>
              <a:rPr lang="el-GR" sz="1600" dirty="0"/>
              <a:t>.</a:t>
            </a:r>
          </a:p>
          <a:p>
            <a:pPr lvl="1"/>
            <a:r>
              <a:rPr lang="el-GR" sz="1600" dirty="0"/>
              <a:t>Εργασία ή δραστηριότητα εμπέδωσης στο σπίτι.</a:t>
            </a:r>
          </a:p>
          <a:p>
            <a:endParaRPr lang="en-GB" sz="1600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0400" y="6217921"/>
            <a:ext cx="1920240" cy="533400"/>
          </a:xfrm>
          <a:prstGeom prst="rect">
            <a:avLst/>
          </a:prstGeom>
          <a:noFill/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287072"/>
              </p:ext>
            </p:extLst>
          </p:nvPr>
        </p:nvGraphicFramePr>
        <p:xfrm>
          <a:off x="472440" y="1600200"/>
          <a:ext cx="8229601" cy="42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6736">
                  <a:extLst>
                    <a:ext uri="{9D8B030D-6E8A-4147-A177-3AD203B41FA5}">
                      <a16:colId xmlns:a16="http://schemas.microsoft.com/office/drawing/2014/main" val="1571463861"/>
                    </a:ext>
                  </a:extLst>
                </a:gridCol>
                <a:gridCol w="3775741">
                  <a:extLst>
                    <a:ext uri="{9D8B030D-6E8A-4147-A177-3AD203B41FA5}">
                      <a16:colId xmlns:a16="http://schemas.microsoft.com/office/drawing/2014/main" val="444262059"/>
                    </a:ext>
                  </a:extLst>
                </a:gridCol>
                <a:gridCol w="674827">
                  <a:extLst>
                    <a:ext uri="{9D8B030D-6E8A-4147-A177-3AD203B41FA5}">
                      <a16:colId xmlns:a16="http://schemas.microsoft.com/office/drawing/2014/main" val="800243719"/>
                    </a:ext>
                  </a:extLst>
                </a:gridCol>
                <a:gridCol w="1050097">
                  <a:extLst>
                    <a:ext uri="{9D8B030D-6E8A-4147-A177-3AD203B41FA5}">
                      <a16:colId xmlns:a16="http://schemas.microsoft.com/office/drawing/2014/main" val="1932395294"/>
                    </a:ext>
                  </a:extLst>
                </a:gridCol>
                <a:gridCol w="1412200">
                  <a:extLst>
                    <a:ext uri="{9D8B030D-6E8A-4147-A177-3AD203B41FA5}">
                      <a16:colId xmlns:a16="http://schemas.microsoft.com/office/drawing/2014/main" val="3057367036"/>
                    </a:ext>
                  </a:extLst>
                </a:gridCol>
              </a:tblGrid>
              <a:tr h="2733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rgbClr val="FF0000"/>
                          </a:solidFill>
                          <a:effectLst/>
                        </a:rPr>
                        <a:t>Φάση μαθήματος</a:t>
                      </a:r>
                      <a:endParaRPr lang="en-GB" sz="14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Πορεία εργασίας – Δραστηριότητες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Δ</a:t>
                      </a:r>
                      <a:r>
                        <a:rPr lang="en-US" sz="1400">
                          <a:effectLst/>
                        </a:rPr>
                        <a:t>ε</a:t>
                      </a:r>
                      <a:r>
                        <a:rPr lang="el-GR" sz="1400">
                          <a:effectLst/>
                        </a:rPr>
                        <a:t>ίκτες</a:t>
                      </a:r>
                      <a:endParaRPr lang="en-GB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Οργάνωση</a:t>
                      </a:r>
                      <a:endParaRPr lang="en-GB" sz="14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Τάξης</a:t>
                      </a:r>
                      <a:endParaRPr lang="en-GB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Μέσα</a:t>
                      </a: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διδασκαλίας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extLst>
                  <a:ext uri="{0D108BD9-81ED-4DB2-BD59-A6C34878D82A}">
                    <a16:rowId xmlns:a16="http://schemas.microsoft.com/office/drawing/2014/main" val="1988536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96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/>
              <a:t>Πορεία Μαθήματος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958658"/>
            <a:ext cx="8473440" cy="4670742"/>
          </a:xfrm>
        </p:spPr>
        <p:txBody>
          <a:bodyPr>
            <a:noAutofit/>
          </a:bodyPr>
          <a:lstStyle/>
          <a:p>
            <a:r>
              <a:rPr lang="el-GR" sz="2000" dirty="0"/>
              <a:t>Εδώ</a:t>
            </a:r>
            <a:r>
              <a:rPr lang="el-GR" sz="2000" b="1" dirty="0"/>
              <a:t> </a:t>
            </a:r>
            <a:r>
              <a:rPr lang="el-GR" sz="2000" dirty="0"/>
              <a:t>περιγράφεται </a:t>
            </a:r>
            <a:r>
              <a:rPr lang="el-GR" sz="2000" b="1" dirty="0"/>
              <a:t>τι ακριβώς κάνουν ο εκπαιδευτικός και οι μαθητές</a:t>
            </a:r>
            <a:r>
              <a:rPr lang="el-GR" sz="2000" dirty="0"/>
              <a:t> σε κάθε φάση του μαθήματος — δηλαδή τη ροή της διδασκαλίας βήμα προς βήμα.</a:t>
            </a:r>
          </a:p>
          <a:p>
            <a:r>
              <a:rPr lang="el-GR" sz="2000" dirty="0"/>
              <a:t>Παραδείγματα:</a:t>
            </a:r>
          </a:p>
          <a:p>
            <a:pPr lvl="1"/>
            <a:r>
              <a:rPr lang="el-GR" sz="2000" dirty="0"/>
              <a:t>Υπενθύμιση των δεικτών επιτυχίας του προηγούμενου μαθήματος.</a:t>
            </a:r>
          </a:p>
          <a:p>
            <a:pPr lvl="1"/>
            <a:r>
              <a:rPr lang="el-GR" sz="2000" dirty="0"/>
              <a:t>Ο καθηγητής ελέγχει τις ασκήσεις της προηγούμενης ημέρας</a:t>
            </a:r>
          </a:p>
          <a:p>
            <a:pPr lvl="1"/>
            <a:r>
              <a:rPr lang="el-GR" sz="2000" dirty="0"/>
              <a:t>Παρουσίαση του αλγόριθμου ταξινόμησης. Αναφορά σε παραδείγματα από την καθημερινότητα. </a:t>
            </a:r>
          </a:p>
          <a:p>
            <a:pPr lvl="1"/>
            <a:r>
              <a:rPr lang="el-GR" sz="2000" dirty="0"/>
              <a:t>Οι μαθητές απαντούν σε σύντομο </a:t>
            </a:r>
            <a:r>
              <a:rPr lang="el-GR" sz="2000" dirty="0" err="1"/>
              <a:t>quiz</a:t>
            </a:r>
            <a:endParaRPr lang="el-GR" sz="2000" dirty="0"/>
          </a:p>
          <a:p>
            <a:pPr lvl="1"/>
            <a:r>
              <a:rPr lang="el-GR" sz="2000" dirty="0"/>
              <a:t>Οι μαθητές ανεβάζουν τις εργασίες τους στο </a:t>
            </a:r>
            <a:r>
              <a:rPr lang="en-US" sz="2000" dirty="0"/>
              <a:t>Teams</a:t>
            </a:r>
          </a:p>
          <a:p>
            <a:pPr lvl="1"/>
            <a:r>
              <a:rPr lang="el-GR" sz="2000" dirty="0"/>
              <a:t>Συζήτηση στην ολομέλεια – ανακεφαλαίωση των βασικών σημείων</a:t>
            </a:r>
          </a:p>
          <a:p>
            <a:endParaRPr lang="en-GB" sz="2000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0400" y="6217921"/>
            <a:ext cx="1920240" cy="533400"/>
          </a:xfrm>
          <a:prstGeom prst="rect">
            <a:avLst/>
          </a:prstGeom>
          <a:noFill/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299471"/>
              </p:ext>
            </p:extLst>
          </p:nvPr>
        </p:nvGraphicFramePr>
        <p:xfrm>
          <a:off x="441959" y="1562417"/>
          <a:ext cx="8229601" cy="42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6736">
                  <a:extLst>
                    <a:ext uri="{9D8B030D-6E8A-4147-A177-3AD203B41FA5}">
                      <a16:colId xmlns:a16="http://schemas.microsoft.com/office/drawing/2014/main" val="1571463861"/>
                    </a:ext>
                  </a:extLst>
                </a:gridCol>
                <a:gridCol w="3775741">
                  <a:extLst>
                    <a:ext uri="{9D8B030D-6E8A-4147-A177-3AD203B41FA5}">
                      <a16:colId xmlns:a16="http://schemas.microsoft.com/office/drawing/2014/main" val="444262059"/>
                    </a:ext>
                  </a:extLst>
                </a:gridCol>
                <a:gridCol w="674827">
                  <a:extLst>
                    <a:ext uri="{9D8B030D-6E8A-4147-A177-3AD203B41FA5}">
                      <a16:colId xmlns:a16="http://schemas.microsoft.com/office/drawing/2014/main" val="800243719"/>
                    </a:ext>
                  </a:extLst>
                </a:gridCol>
                <a:gridCol w="1050097">
                  <a:extLst>
                    <a:ext uri="{9D8B030D-6E8A-4147-A177-3AD203B41FA5}">
                      <a16:colId xmlns:a16="http://schemas.microsoft.com/office/drawing/2014/main" val="1932395294"/>
                    </a:ext>
                  </a:extLst>
                </a:gridCol>
                <a:gridCol w="1412200">
                  <a:extLst>
                    <a:ext uri="{9D8B030D-6E8A-4147-A177-3AD203B41FA5}">
                      <a16:colId xmlns:a16="http://schemas.microsoft.com/office/drawing/2014/main" val="3057367036"/>
                    </a:ext>
                  </a:extLst>
                </a:gridCol>
              </a:tblGrid>
              <a:tr h="2733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chemeClr val="tx1"/>
                          </a:solidFill>
                          <a:effectLst/>
                        </a:rPr>
                        <a:t>Φάση μαθήματος</a:t>
                      </a:r>
                      <a:endParaRPr lang="en-GB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rgbClr val="FF0000"/>
                          </a:solidFill>
                          <a:effectLst/>
                        </a:rPr>
                        <a:t>Πορεία εργασίας – Δραστηριότητες</a:t>
                      </a:r>
                      <a:endParaRPr lang="en-GB" sz="14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Δ</a:t>
                      </a:r>
                      <a:r>
                        <a:rPr lang="en-US" sz="1400">
                          <a:effectLst/>
                        </a:rPr>
                        <a:t>ε</a:t>
                      </a:r>
                      <a:r>
                        <a:rPr lang="el-GR" sz="1400">
                          <a:effectLst/>
                        </a:rPr>
                        <a:t>ίκτες</a:t>
                      </a:r>
                      <a:endParaRPr lang="en-GB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Οργάνωση</a:t>
                      </a:r>
                      <a:endParaRPr lang="en-GB" sz="14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Τάξης</a:t>
                      </a:r>
                      <a:endParaRPr lang="en-GB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Μέσα</a:t>
                      </a: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διδασκαλίας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extLst>
                  <a:ext uri="{0D108BD9-81ED-4DB2-BD59-A6C34878D82A}">
                    <a16:rowId xmlns:a16="http://schemas.microsoft.com/office/drawing/2014/main" val="1988536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8520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/>
              <a:t>Πορεία Μαθήματος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801826"/>
              </p:ext>
            </p:extLst>
          </p:nvPr>
        </p:nvGraphicFramePr>
        <p:xfrm>
          <a:off x="441959" y="1562417"/>
          <a:ext cx="8229601" cy="42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6736">
                  <a:extLst>
                    <a:ext uri="{9D8B030D-6E8A-4147-A177-3AD203B41FA5}">
                      <a16:colId xmlns:a16="http://schemas.microsoft.com/office/drawing/2014/main" val="1571463861"/>
                    </a:ext>
                  </a:extLst>
                </a:gridCol>
                <a:gridCol w="3775741">
                  <a:extLst>
                    <a:ext uri="{9D8B030D-6E8A-4147-A177-3AD203B41FA5}">
                      <a16:colId xmlns:a16="http://schemas.microsoft.com/office/drawing/2014/main" val="444262059"/>
                    </a:ext>
                  </a:extLst>
                </a:gridCol>
                <a:gridCol w="674827">
                  <a:extLst>
                    <a:ext uri="{9D8B030D-6E8A-4147-A177-3AD203B41FA5}">
                      <a16:colId xmlns:a16="http://schemas.microsoft.com/office/drawing/2014/main" val="800243719"/>
                    </a:ext>
                  </a:extLst>
                </a:gridCol>
                <a:gridCol w="1050097">
                  <a:extLst>
                    <a:ext uri="{9D8B030D-6E8A-4147-A177-3AD203B41FA5}">
                      <a16:colId xmlns:a16="http://schemas.microsoft.com/office/drawing/2014/main" val="1932395294"/>
                    </a:ext>
                  </a:extLst>
                </a:gridCol>
                <a:gridCol w="1412200">
                  <a:extLst>
                    <a:ext uri="{9D8B030D-6E8A-4147-A177-3AD203B41FA5}">
                      <a16:colId xmlns:a16="http://schemas.microsoft.com/office/drawing/2014/main" val="3057367036"/>
                    </a:ext>
                  </a:extLst>
                </a:gridCol>
              </a:tblGrid>
              <a:tr h="2733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chemeClr val="tx1"/>
                          </a:solidFill>
                          <a:effectLst/>
                        </a:rPr>
                        <a:t>Φάση μαθήματος</a:t>
                      </a:r>
                      <a:endParaRPr lang="en-GB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chemeClr val="tx1"/>
                          </a:solidFill>
                          <a:effectLst/>
                        </a:rPr>
                        <a:t>Πορεία εργασίας – Δραστηριότητες</a:t>
                      </a:r>
                      <a:endParaRPr lang="en-GB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rgbClr val="FF0000"/>
                          </a:solidFill>
                          <a:effectLst/>
                        </a:rPr>
                        <a:t>Δ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</a:rPr>
                        <a:t>ε</a:t>
                      </a:r>
                      <a:r>
                        <a:rPr lang="el-GR" sz="1400" dirty="0" err="1">
                          <a:solidFill>
                            <a:srgbClr val="FF0000"/>
                          </a:solidFill>
                          <a:effectLst/>
                        </a:rPr>
                        <a:t>ίκτες</a:t>
                      </a:r>
                      <a:endParaRPr lang="en-GB" sz="14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Οργάνωση</a:t>
                      </a:r>
                      <a:endParaRPr lang="en-GB" sz="14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Τάξης</a:t>
                      </a:r>
                      <a:endParaRPr lang="en-GB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Μέσα</a:t>
                      </a: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διδασκαλίας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extLst>
                  <a:ext uri="{0D108BD9-81ED-4DB2-BD59-A6C34878D82A}">
                    <a16:rowId xmlns:a16="http://schemas.microsoft.com/office/drawing/2014/main" val="198853632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643700"/>
              </p:ext>
            </p:extLst>
          </p:nvPr>
        </p:nvGraphicFramePr>
        <p:xfrm>
          <a:off x="563262" y="2133916"/>
          <a:ext cx="7986993" cy="4159584"/>
        </p:xfrm>
        <a:graphic>
          <a:graphicData uri="http://schemas.openxmlformats.org/drawingml/2006/table">
            <a:tbl>
              <a:tblPr/>
              <a:tblGrid>
                <a:gridCol w="2662331">
                  <a:extLst>
                    <a:ext uri="{9D8B030D-6E8A-4147-A177-3AD203B41FA5}">
                      <a16:colId xmlns:a16="http://schemas.microsoft.com/office/drawing/2014/main" val="3249620596"/>
                    </a:ext>
                  </a:extLst>
                </a:gridCol>
                <a:gridCol w="2662331">
                  <a:extLst>
                    <a:ext uri="{9D8B030D-6E8A-4147-A177-3AD203B41FA5}">
                      <a16:colId xmlns:a16="http://schemas.microsoft.com/office/drawing/2014/main" val="56334033"/>
                    </a:ext>
                  </a:extLst>
                </a:gridCol>
                <a:gridCol w="2662331">
                  <a:extLst>
                    <a:ext uri="{9D8B030D-6E8A-4147-A177-3AD203B41FA5}">
                      <a16:colId xmlns:a16="http://schemas.microsoft.com/office/drawing/2014/main" val="2415127669"/>
                    </a:ext>
                  </a:extLst>
                </a:gridCol>
              </a:tblGrid>
              <a:tr h="604047">
                <a:tc>
                  <a:txBody>
                    <a:bodyPr/>
                    <a:lstStyle/>
                    <a:p>
                      <a:r>
                        <a:rPr lang="el-GR" sz="1700" b="1" dirty="0"/>
                        <a:t>Φάση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1" dirty="0"/>
                        <a:t>Τι κάνεις στη δραστηριότητα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1" dirty="0"/>
                        <a:t>Τι γράφεις στη στήλη “Δείκτες”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736740"/>
                  </a:ext>
                </a:extLst>
              </a:tr>
              <a:tr h="861907">
                <a:tc>
                  <a:txBody>
                    <a:bodyPr/>
                    <a:lstStyle/>
                    <a:p>
                      <a:r>
                        <a:rPr lang="el-GR" sz="1700" b="0" dirty="0"/>
                        <a:t>Εισαγωγή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0"/>
                        <a:t>Παρουσίαση εννοιών ή υπενθύμιση προηγούμενων γνώσεων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0" dirty="0"/>
                        <a:t>Δείκτες Επιτυχίας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981571"/>
                  </a:ext>
                </a:extLst>
              </a:tr>
              <a:tr h="604047">
                <a:tc>
                  <a:txBody>
                    <a:bodyPr/>
                    <a:lstStyle/>
                    <a:p>
                      <a:r>
                        <a:rPr lang="el-GR" sz="1700" b="0" dirty="0"/>
                        <a:t>Παρουσίαση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0" dirty="0"/>
                        <a:t>Ο εκπαιδευτικός εξηγεί, δείχνει, διδάσκει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0" dirty="0"/>
                        <a:t>Δείκτες Επάρκειας 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4521502"/>
                  </a:ext>
                </a:extLst>
              </a:tr>
              <a:tr h="604047">
                <a:tc>
                  <a:txBody>
                    <a:bodyPr/>
                    <a:lstStyle/>
                    <a:p>
                      <a:r>
                        <a:rPr lang="el-GR" sz="1700" b="0" dirty="0"/>
                        <a:t>Εμπέδωση 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0" dirty="0"/>
                        <a:t>Ο μαθητής εφαρμόζει, δημιουργεί, επιλύει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0" dirty="0"/>
                        <a:t>Δείκτες Επιτυχίας 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504571"/>
                  </a:ext>
                </a:extLst>
              </a:tr>
              <a:tr h="604047">
                <a:tc>
                  <a:txBody>
                    <a:bodyPr/>
                    <a:lstStyle/>
                    <a:p>
                      <a:r>
                        <a:rPr lang="el-GR" sz="1700" b="0"/>
                        <a:t>Αξιολόγηση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0" dirty="0"/>
                        <a:t>Ο μαθητής απαντά ή επιλύει δραστηριότητες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0" dirty="0"/>
                        <a:t>Δείκτες Επιτυχίας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5537578"/>
                  </a:ext>
                </a:extLst>
              </a:tr>
              <a:tr h="861907">
                <a:tc>
                  <a:txBody>
                    <a:bodyPr/>
                    <a:lstStyle/>
                    <a:p>
                      <a:r>
                        <a:rPr lang="el-GR" sz="1700" b="0" dirty="0"/>
                        <a:t>Σύνοψη / Κλείσιμο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0"/>
                        <a:t>Ανακεφαλαίωση και σύνδεση με επόμενο μάθημα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0" dirty="0"/>
                        <a:t>Ξανά οι Δείκτες Επιτυχίας του μαθήματος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1777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5939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/>
              <a:t>Πορεία Μαθήματος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958658"/>
            <a:ext cx="8473440" cy="4670742"/>
          </a:xfrm>
        </p:spPr>
        <p:txBody>
          <a:bodyPr>
            <a:noAutofit/>
          </a:bodyPr>
          <a:lstStyle/>
          <a:p>
            <a:r>
              <a:rPr lang="el-GR" sz="2000" b="1" dirty="0"/>
              <a:t>Οργάνωση Τάξης:</a:t>
            </a:r>
          </a:p>
          <a:p>
            <a:pPr lvl="1"/>
            <a:r>
              <a:rPr lang="el-GR" sz="2000" dirty="0"/>
              <a:t>Δείχνει τη </a:t>
            </a:r>
            <a:r>
              <a:rPr lang="el-GR" sz="2000" b="1" dirty="0"/>
              <a:t>μορφή εργασίας</a:t>
            </a:r>
            <a:r>
              <a:rPr lang="el-GR" sz="2000" dirty="0"/>
              <a:t>: ατομική, ομαδική, εξατομικευμένη, συνεργατική, ολομέλεια.</a:t>
            </a:r>
          </a:p>
          <a:p>
            <a:pPr lvl="1"/>
            <a:r>
              <a:rPr lang="el-GR" sz="2000" dirty="0"/>
              <a:t>Αναφέρει τη </a:t>
            </a:r>
            <a:r>
              <a:rPr lang="el-GR" sz="2000" b="1" dirty="0"/>
              <a:t>μέθοδο</a:t>
            </a:r>
            <a:r>
              <a:rPr lang="el-GR" sz="2000" dirty="0"/>
              <a:t>: ακροαματική, μαιευτική, διερευνητική, βιωματική, καθοδηγούμενη ανακάλυψη.</a:t>
            </a:r>
          </a:p>
          <a:p>
            <a:r>
              <a:rPr lang="el-GR" sz="2000" b="1" dirty="0"/>
              <a:t>Μέσα Διδασκαλίας</a:t>
            </a:r>
            <a:r>
              <a:rPr lang="el-GR" sz="2000" dirty="0"/>
              <a:t>:</a:t>
            </a:r>
          </a:p>
          <a:p>
            <a:pPr lvl="1"/>
            <a:r>
              <a:rPr lang="el-GR" sz="2000" dirty="0"/>
              <a:t>Τεχνολογικά μέσα: υπολογιστές μαθητών, υπολογιστής/προβολέας καθηγητή, </a:t>
            </a:r>
            <a:r>
              <a:rPr lang="en-GB" sz="2000" dirty="0" err="1"/>
              <a:t>NetSupport</a:t>
            </a:r>
            <a:r>
              <a:rPr lang="en-GB" sz="2000" dirty="0"/>
              <a:t>, Moodle, YouTube, </a:t>
            </a:r>
            <a:r>
              <a:rPr lang="el-GR" sz="2000" dirty="0"/>
              <a:t>κ.ά.</a:t>
            </a:r>
          </a:p>
          <a:p>
            <a:pPr lvl="1"/>
            <a:r>
              <a:rPr lang="el-GR" sz="2000" dirty="0"/>
              <a:t>Διδακτικά υλικά: φύλλα εργασίας, </a:t>
            </a:r>
            <a:r>
              <a:rPr lang="el-GR" sz="2000" dirty="0" err="1"/>
              <a:t>διαδραστικές</a:t>
            </a:r>
            <a:r>
              <a:rPr lang="el-GR" sz="2000" dirty="0"/>
              <a:t> παρουσιάσεις, </a:t>
            </a:r>
            <a:r>
              <a:rPr lang="en-GB" sz="2000" dirty="0"/>
              <a:t>quiz, </a:t>
            </a:r>
            <a:r>
              <a:rPr lang="el-GR" sz="2000" dirty="0"/>
              <a:t>τετράδιο μαθητή.</a:t>
            </a:r>
          </a:p>
          <a:p>
            <a:pPr lvl="1"/>
            <a:r>
              <a:rPr lang="el-GR" sz="2000" dirty="0"/>
              <a:t>Λογισμικό: </a:t>
            </a:r>
            <a:r>
              <a:rPr lang="en-GB" sz="2000" dirty="0"/>
              <a:t>Excel, Scratch, </a:t>
            </a:r>
            <a:r>
              <a:rPr lang="el-GR" sz="2000" dirty="0"/>
              <a:t>κ.ά.</a:t>
            </a:r>
          </a:p>
          <a:p>
            <a:pPr lvl="1"/>
            <a:r>
              <a:rPr lang="el-GR" sz="2000" dirty="0"/>
              <a:t>Συμπληρωματικά μέσα: πίνακας, βίντεο, φύλλο οδηγιών, </a:t>
            </a:r>
            <a:r>
              <a:rPr lang="en-GB" sz="2000" dirty="0"/>
              <a:t>check list.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0400" y="6217921"/>
            <a:ext cx="1920240" cy="533400"/>
          </a:xfrm>
          <a:prstGeom prst="rect">
            <a:avLst/>
          </a:prstGeom>
          <a:noFill/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644509"/>
              </p:ext>
            </p:extLst>
          </p:nvPr>
        </p:nvGraphicFramePr>
        <p:xfrm>
          <a:off x="441959" y="1562417"/>
          <a:ext cx="8229601" cy="42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6736">
                  <a:extLst>
                    <a:ext uri="{9D8B030D-6E8A-4147-A177-3AD203B41FA5}">
                      <a16:colId xmlns:a16="http://schemas.microsoft.com/office/drawing/2014/main" val="1571463861"/>
                    </a:ext>
                  </a:extLst>
                </a:gridCol>
                <a:gridCol w="3775741">
                  <a:extLst>
                    <a:ext uri="{9D8B030D-6E8A-4147-A177-3AD203B41FA5}">
                      <a16:colId xmlns:a16="http://schemas.microsoft.com/office/drawing/2014/main" val="444262059"/>
                    </a:ext>
                  </a:extLst>
                </a:gridCol>
                <a:gridCol w="674827">
                  <a:extLst>
                    <a:ext uri="{9D8B030D-6E8A-4147-A177-3AD203B41FA5}">
                      <a16:colId xmlns:a16="http://schemas.microsoft.com/office/drawing/2014/main" val="800243719"/>
                    </a:ext>
                  </a:extLst>
                </a:gridCol>
                <a:gridCol w="1050097">
                  <a:extLst>
                    <a:ext uri="{9D8B030D-6E8A-4147-A177-3AD203B41FA5}">
                      <a16:colId xmlns:a16="http://schemas.microsoft.com/office/drawing/2014/main" val="1932395294"/>
                    </a:ext>
                  </a:extLst>
                </a:gridCol>
                <a:gridCol w="1412200">
                  <a:extLst>
                    <a:ext uri="{9D8B030D-6E8A-4147-A177-3AD203B41FA5}">
                      <a16:colId xmlns:a16="http://schemas.microsoft.com/office/drawing/2014/main" val="3057367036"/>
                    </a:ext>
                  </a:extLst>
                </a:gridCol>
              </a:tblGrid>
              <a:tr h="2733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chemeClr val="tx1"/>
                          </a:solidFill>
                          <a:effectLst/>
                        </a:rPr>
                        <a:t>Φάση μαθήματος</a:t>
                      </a:r>
                      <a:endParaRPr lang="en-GB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chemeClr val="tx1"/>
                          </a:solidFill>
                          <a:effectLst/>
                        </a:rPr>
                        <a:t>Πορεία εργασίας – Δραστηριότητες</a:t>
                      </a:r>
                      <a:endParaRPr lang="en-GB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Δ</a:t>
                      </a:r>
                      <a:r>
                        <a:rPr lang="en-US" sz="1400">
                          <a:effectLst/>
                        </a:rPr>
                        <a:t>ε</a:t>
                      </a:r>
                      <a:r>
                        <a:rPr lang="el-GR" sz="1400">
                          <a:effectLst/>
                        </a:rPr>
                        <a:t>ίκτες</a:t>
                      </a:r>
                      <a:endParaRPr lang="en-GB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rgbClr val="FF0000"/>
                          </a:solidFill>
                          <a:effectLst/>
                        </a:rPr>
                        <a:t>Οργάνωση</a:t>
                      </a:r>
                      <a:endParaRPr lang="en-GB" sz="14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rgbClr val="FF0000"/>
                          </a:solidFill>
                          <a:effectLst/>
                        </a:rPr>
                        <a:t>Τάξης</a:t>
                      </a:r>
                      <a:endParaRPr lang="en-GB" sz="14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rgbClr val="FF0000"/>
                          </a:solidFill>
                          <a:effectLst/>
                        </a:rPr>
                        <a:t>Μέσα</a:t>
                      </a:r>
                      <a:endParaRPr lang="en-GB" sz="14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rgbClr val="FF0000"/>
                          </a:solidFill>
                          <a:effectLst/>
                        </a:rPr>
                        <a:t>διδασκαλίας</a:t>
                      </a:r>
                      <a:endParaRPr lang="en-GB" sz="14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extLst>
                  <a:ext uri="{0D108BD9-81ED-4DB2-BD59-A6C34878D82A}">
                    <a16:rowId xmlns:a16="http://schemas.microsoft.com/office/drawing/2014/main" val="1988536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5828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4851</TotalTime>
  <Words>599</Words>
  <Application>Microsoft Office PowerPoint</Application>
  <PresentationFormat>On-screen Show (4:3)</PresentationFormat>
  <Paragraphs>115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Δημιουργία Σχέδιου Μαθήματος (Μέσα διδασκαλίας, Οργάνωση τάξης, Πορεία Διδασκαλίας)</vt:lpstr>
      <vt:lpstr>Μέσα Διδασκαλίας</vt:lpstr>
      <vt:lpstr>Οργάνωση Τάξης</vt:lpstr>
      <vt:lpstr>Πορεία Μαθήματος</vt:lpstr>
      <vt:lpstr>Πορεία Μαθήματος</vt:lpstr>
      <vt:lpstr>Πορεία Μαθήματος</vt:lpstr>
      <vt:lpstr>Πορεία Μαθήματος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Άριστος Αρέστη</cp:lastModifiedBy>
  <cp:revision>151</cp:revision>
  <dcterms:created xsi:type="dcterms:W3CDTF">2015-09-15T19:28:21Z</dcterms:created>
  <dcterms:modified xsi:type="dcterms:W3CDTF">2026-10-22T11:57:14Z</dcterms:modified>
</cp:coreProperties>
</file>