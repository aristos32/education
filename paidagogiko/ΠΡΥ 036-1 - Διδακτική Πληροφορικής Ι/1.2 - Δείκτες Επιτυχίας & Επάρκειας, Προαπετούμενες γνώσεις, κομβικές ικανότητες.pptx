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7" r:id="rId2"/>
    <p:sldId id="276" r:id="rId3"/>
    <p:sldId id="288" r:id="rId4"/>
    <p:sldId id="294" r:id="rId5"/>
    <p:sldId id="295" r:id="rId6"/>
    <p:sldId id="296" r:id="rId7"/>
    <p:sldId id="300" r:id="rId8"/>
    <p:sldId id="301" r:id="rId9"/>
    <p:sldId id="302" r:id="rId10"/>
    <p:sldId id="305" r:id="rId11"/>
    <p:sldId id="30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28" autoAdjust="0"/>
    <p:restoredTop sz="86118" autoAdjust="0"/>
  </p:normalViewPr>
  <p:slideViewPr>
    <p:cSldViewPr>
      <p:cViewPr varScale="1">
        <p:scale>
          <a:sx n="95" d="100"/>
          <a:sy n="95" d="100"/>
        </p:scale>
        <p:origin x="166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delSld">
      <pc:chgData name="Άριστος Αρέστη" userId="813aa191-2d4c-464f-9d05-0a7e494d859f" providerId="ADAL" clId="{49C7B61D-1ACF-4AFF-A04E-A3B433E32474}" dt="2026-10-18T18:43:17.495" v="2" actId="47"/>
      <pc:docMkLst>
        <pc:docMk/>
      </pc:docMkLst>
      <pc:sldChg chg="del">
        <pc:chgData name="Άριστος Αρέστη" userId="813aa191-2d4c-464f-9d05-0a7e494d859f" providerId="ADAL" clId="{49C7B61D-1ACF-4AFF-A04E-A3B433E32474}" dt="2026-10-18T18:43:17.495" v="2" actId="47"/>
        <pc:sldMkLst>
          <pc:docMk/>
          <pc:sldMk cId="0" sldId="269"/>
        </pc:sldMkLst>
      </pc:sldChg>
      <pc:sldChg chg="del">
        <pc:chgData name="Άριστος Αρέστη" userId="813aa191-2d4c-464f-9d05-0a7e494d859f" providerId="ADAL" clId="{49C7B61D-1ACF-4AFF-A04E-A3B433E32474}" dt="2026-10-18T18:43:17.495" v="2" actId="47"/>
        <pc:sldMkLst>
          <pc:docMk/>
          <pc:sldMk cId="0" sldId="271"/>
        </pc:sldMkLst>
      </pc:sldChg>
      <pc:sldChg chg="del">
        <pc:chgData name="Άριστος Αρέστη" userId="813aa191-2d4c-464f-9d05-0a7e494d859f" providerId="ADAL" clId="{49C7B61D-1ACF-4AFF-A04E-A3B433E32474}" dt="2026-10-18T18:43:17.495" v="2" actId="47"/>
        <pc:sldMkLst>
          <pc:docMk/>
          <pc:sldMk cId="2844892332" sldId="278"/>
        </pc:sldMkLst>
      </pc:sldChg>
      <pc:sldChg chg="del">
        <pc:chgData name="Άριστος Αρέστη" userId="813aa191-2d4c-464f-9d05-0a7e494d859f" providerId="ADAL" clId="{49C7B61D-1ACF-4AFF-A04E-A3B433E32474}" dt="2026-10-18T18:43:17.495" v="2" actId="47"/>
        <pc:sldMkLst>
          <pc:docMk/>
          <pc:sldMk cId="3542971618" sldId="280"/>
        </pc:sldMkLst>
      </pc:sldChg>
      <pc:sldChg chg="del">
        <pc:chgData name="Άριστος Αρέστη" userId="813aa191-2d4c-464f-9d05-0a7e494d859f" providerId="ADAL" clId="{49C7B61D-1ACF-4AFF-A04E-A3B433E32474}" dt="2026-10-18T18:42:20.603" v="0" actId="47"/>
        <pc:sldMkLst>
          <pc:docMk/>
          <pc:sldMk cId="2555972214" sldId="281"/>
        </pc:sldMkLst>
      </pc:sldChg>
      <pc:sldChg chg="del">
        <pc:chgData name="Άριστος Αρέστη" userId="813aa191-2d4c-464f-9d05-0a7e494d859f" providerId="ADAL" clId="{49C7B61D-1ACF-4AFF-A04E-A3B433E32474}" dt="2026-10-18T18:42:20.603" v="0" actId="47"/>
        <pc:sldMkLst>
          <pc:docMk/>
          <pc:sldMk cId="1991282256" sldId="284"/>
        </pc:sldMkLst>
      </pc:sldChg>
      <pc:sldChg chg="del">
        <pc:chgData name="Άριστος Αρέστη" userId="813aa191-2d4c-464f-9d05-0a7e494d859f" providerId="ADAL" clId="{49C7B61D-1ACF-4AFF-A04E-A3B433E32474}" dt="2026-10-18T18:42:20.603" v="0" actId="47"/>
        <pc:sldMkLst>
          <pc:docMk/>
          <pc:sldMk cId="3512170117" sldId="285"/>
        </pc:sldMkLst>
      </pc:sldChg>
      <pc:sldChg chg="del">
        <pc:chgData name="Άριστος Αρέστη" userId="813aa191-2d4c-464f-9d05-0a7e494d859f" providerId="ADAL" clId="{49C7B61D-1ACF-4AFF-A04E-A3B433E32474}" dt="2026-10-18T18:42:20.603" v="0" actId="47"/>
        <pc:sldMkLst>
          <pc:docMk/>
          <pc:sldMk cId="3737734990" sldId="287"/>
        </pc:sldMkLst>
      </pc:sldChg>
      <pc:sldChg chg="del">
        <pc:chgData name="Άριστος Αρέστη" userId="813aa191-2d4c-464f-9d05-0a7e494d859f" providerId="ADAL" clId="{49C7B61D-1ACF-4AFF-A04E-A3B433E32474}" dt="2026-10-18T18:42:20.603" v="0" actId="47"/>
        <pc:sldMkLst>
          <pc:docMk/>
          <pc:sldMk cId="427579237" sldId="289"/>
        </pc:sldMkLst>
      </pc:sldChg>
      <pc:sldChg chg="del">
        <pc:chgData name="Άριστος Αρέστη" userId="813aa191-2d4c-464f-9d05-0a7e494d859f" providerId="ADAL" clId="{49C7B61D-1ACF-4AFF-A04E-A3B433E32474}" dt="2026-10-18T18:42:20.603" v="0" actId="47"/>
        <pc:sldMkLst>
          <pc:docMk/>
          <pc:sldMk cId="305677120" sldId="290"/>
        </pc:sldMkLst>
      </pc:sldChg>
      <pc:sldChg chg="del">
        <pc:chgData name="Άριστος Αρέστη" userId="813aa191-2d4c-464f-9d05-0a7e494d859f" providerId="ADAL" clId="{49C7B61D-1ACF-4AFF-A04E-A3B433E32474}" dt="2026-10-18T18:42:20.603" v="0" actId="47"/>
        <pc:sldMkLst>
          <pc:docMk/>
          <pc:sldMk cId="1976540317" sldId="291"/>
        </pc:sldMkLst>
      </pc:sldChg>
      <pc:sldChg chg="del">
        <pc:chgData name="Άριστος Αρέστη" userId="813aa191-2d4c-464f-9d05-0a7e494d859f" providerId="ADAL" clId="{49C7B61D-1ACF-4AFF-A04E-A3B433E32474}" dt="2026-10-18T18:42:32.121" v="1" actId="47"/>
        <pc:sldMkLst>
          <pc:docMk/>
          <pc:sldMk cId="3446216825" sldId="292"/>
        </pc:sldMkLst>
      </pc:sldChg>
      <pc:sldChg chg="del">
        <pc:chgData name="Άριστος Αρέστη" userId="813aa191-2d4c-464f-9d05-0a7e494d859f" providerId="ADAL" clId="{49C7B61D-1ACF-4AFF-A04E-A3B433E32474}" dt="2026-10-18T18:42:20.603" v="0" actId="47"/>
        <pc:sldMkLst>
          <pc:docMk/>
          <pc:sldMk cId="2002014267" sldId="293"/>
        </pc:sldMkLst>
      </pc:sldChg>
      <pc:sldChg chg="del">
        <pc:chgData name="Άριστος Αρέστη" userId="813aa191-2d4c-464f-9d05-0a7e494d859f" providerId="ADAL" clId="{49C7B61D-1ACF-4AFF-A04E-A3B433E32474}" dt="2026-10-18T18:42:32.121" v="1" actId="47"/>
        <pc:sldMkLst>
          <pc:docMk/>
          <pc:sldMk cId="1273143668" sldId="297"/>
        </pc:sldMkLst>
      </pc:sldChg>
      <pc:sldChg chg="del">
        <pc:chgData name="Άριστος Αρέστη" userId="813aa191-2d4c-464f-9d05-0a7e494d859f" providerId="ADAL" clId="{49C7B61D-1ACF-4AFF-A04E-A3B433E32474}" dt="2026-10-18T18:42:32.121" v="1" actId="47"/>
        <pc:sldMkLst>
          <pc:docMk/>
          <pc:sldMk cId="3916576341" sldId="298"/>
        </pc:sldMkLst>
      </pc:sldChg>
      <pc:sldChg chg="del">
        <pc:chgData name="Άριστος Αρέστη" userId="813aa191-2d4c-464f-9d05-0a7e494d859f" providerId="ADAL" clId="{49C7B61D-1ACF-4AFF-A04E-A3B433E32474}" dt="2026-10-18T18:43:17.495" v="2" actId="47"/>
        <pc:sldMkLst>
          <pc:docMk/>
          <pc:sldMk cId="1255013265" sldId="299"/>
        </pc:sldMkLst>
      </pc:sldChg>
      <pc:sldChg chg="del">
        <pc:chgData name="Άριστος Αρέστη" userId="813aa191-2d4c-464f-9d05-0a7e494d859f" providerId="ADAL" clId="{49C7B61D-1ACF-4AFF-A04E-A3B433E32474}" dt="2026-10-18T18:42:32.121" v="1" actId="47"/>
        <pc:sldMkLst>
          <pc:docMk/>
          <pc:sldMk cId="3589790218" sldId="312"/>
        </pc:sldMkLst>
      </pc:sldChg>
      <pc:sldChg chg="del">
        <pc:chgData name="Άριστος Αρέστη" userId="813aa191-2d4c-464f-9d05-0a7e494d859f" providerId="ADAL" clId="{49C7B61D-1ACF-4AFF-A04E-A3B433E32474}" dt="2026-10-18T18:42:32.121" v="1" actId="47"/>
        <pc:sldMkLst>
          <pc:docMk/>
          <pc:sldMk cId="2613997454" sldId="313"/>
        </pc:sldMkLst>
      </pc:sldChg>
      <pc:sldChg chg="del">
        <pc:chgData name="Άριστος Αρέστη" userId="813aa191-2d4c-464f-9d05-0a7e494d859f" providerId="ADAL" clId="{49C7B61D-1ACF-4AFF-A04E-A3B433E32474}" dt="2026-10-18T18:42:32.121" v="1" actId="47"/>
        <pc:sldMkLst>
          <pc:docMk/>
          <pc:sldMk cId="1085452984" sldId="314"/>
        </pc:sldMkLst>
      </pc:sldChg>
      <pc:sldChg chg="del">
        <pc:chgData name="Άριστος Αρέστη" userId="813aa191-2d4c-464f-9d05-0a7e494d859f" providerId="ADAL" clId="{49C7B61D-1ACF-4AFF-A04E-A3B433E32474}" dt="2026-10-18T18:42:32.121" v="1" actId="47"/>
        <pc:sldMkLst>
          <pc:docMk/>
          <pc:sldMk cId="4111115180" sldId="315"/>
        </pc:sldMkLst>
      </pc:sldChg>
      <pc:sldChg chg="del">
        <pc:chgData name="Άριστος Αρέστη" userId="813aa191-2d4c-464f-9d05-0a7e494d859f" providerId="ADAL" clId="{49C7B61D-1ACF-4AFF-A04E-A3B433E32474}" dt="2026-10-18T18:42:32.121" v="1" actId="47"/>
        <pc:sldMkLst>
          <pc:docMk/>
          <pc:sldMk cId="2054986358" sldId="317"/>
        </pc:sldMkLst>
      </pc:sldChg>
      <pc:sldChg chg="del">
        <pc:chgData name="Άριστος Αρέστη" userId="813aa191-2d4c-464f-9d05-0a7e494d859f" providerId="ADAL" clId="{49C7B61D-1ACF-4AFF-A04E-A3B433E32474}" dt="2026-10-18T18:43:17.495" v="2" actId="47"/>
        <pc:sldMkLst>
          <pc:docMk/>
          <pc:sldMk cId="1518592675" sldId="318"/>
        </pc:sldMkLst>
      </pc:sldChg>
      <pc:sldChg chg="del">
        <pc:chgData name="Άριστος Αρέστη" userId="813aa191-2d4c-464f-9d05-0a7e494d859f" providerId="ADAL" clId="{49C7B61D-1ACF-4AFF-A04E-A3B433E32474}" dt="2026-10-18T18:42:32.121" v="1" actId="47"/>
        <pc:sldMkLst>
          <pc:docMk/>
          <pc:sldMk cId="1313183543" sldId="32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67DA2-3ABD-4083-9D89-D1C9CC448C3D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F438E-B2CF-4AE8-BCBD-5C0C582401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577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F438E-B2CF-4AE8-BCBD-5C0C5824013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700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F438E-B2CF-4AE8-BCBD-5C0C5824013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336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3519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6147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13974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4245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16569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0B2B7-3155-4641-A8F2-C1656F8110F8}" type="datetimeFigureOut">
              <a:rPr lang="en-US" smtClean="0"/>
              <a:pPr/>
              <a:t>18-Oct-26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accent6">
                <a:lumMod val="0"/>
                <a:lumOff val="100000"/>
              </a:schemeClr>
            </a:gs>
            <a:gs pos="29000">
              <a:schemeClr val="accent6">
                <a:lumMod val="0"/>
                <a:lumOff val="100000"/>
              </a:schemeClr>
            </a:gs>
            <a:gs pos="51000">
              <a:srgbClr val="FAC09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1219200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0" y="4038600"/>
            <a:ext cx="3886200" cy="19507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>
                <a:latin typeface="+mn-lt"/>
                <a:cs typeface="Arial" pitchFamily="34" charset="0"/>
              </a:rPr>
              <a:t>Πρόγραμμα </a:t>
            </a:r>
            <a:r>
              <a:rPr lang="el-GR" sz="4000" b="1" dirty="0" err="1">
                <a:latin typeface="+mn-lt"/>
                <a:cs typeface="Arial" pitchFamily="34" charset="0"/>
              </a:rPr>
              <a:t>Προϋπηρεσιακής</a:t>
            </a:r>
            <a:r>
              <a:rPr lang="el-GR" sz="4000" b="1" dirty="0">
                <a:latin typeface="+mn-lt"/>
                <a:cs typeface="Arial" pitchFamily="34" charset="0"/>
              </a:rPr>
              <a:t> Κατάρτισης</a:t>
            </a:r>
            <a:endParaRPr lang="en-US" sz="4000" b="1" dirty="0">
              <a:latin typeface="+mn-lt"/>
              <a:cs typeface="Arial" pitchFamily="34" charset="0"/>
            </a:endParaRPr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4625" y="55306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3788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chemeClr val="accent6">
                <a:lumMod val="0"/>
                <a:lumOff val="100000"/>
              </a:schemeClr>
            </a:gs>
            <a:gs pos="51000">
              <a:schemeClr val="accent6">
                <a:lumMod val="0"/>
                <a:lumOff val="100000"/>
              </a:schemeClr>
            </a:gs>
            <a:gs pos="73000">
              <a:srgbClr val="FAC090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2956559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81454" y="5440680"/>
            <a:ext cx="8153400" cy="1417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/>
              <a:t>ΠΡΥ036 - Διδακτική Πληροφορικής Ι</a:t>
            </a:r>
            <a:r>
              <a:rPr lang="en-US" sz="4000" b="1" dirty="0"/>
              <a:t> </a:t>
            </a:r>
          </a:p>
        </p:txBody>
      </p:sp>
      <p:pic>
        <p:nvPicPr>
          <p:cNvPr id="27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611" y="152400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6064196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610600" cy="1470025"/>
          </a:xfrm>
        </p:spPr>
        <p:txBody>
          <a:bodyPr>
            <a:normAutofit fontScale="90000"/>
          </a:bodyPr>
          <a:lstStyle/>
          <a:p>
            <a:pPr lvl="0"/>
            <a:r>
              <a:rPr lang="el-GR" dirty="0"/>
              <a:t>Δείκτες Επιτυχίας &amp; Επάρκειας, </a:t>
            </a:r>
            <a:r>
              <a:rPr lang="el-GR" dirty="0" err="1"/>
              <a:t>Προαπετούμενες</a:t>
            </a:r>
            <a:r>
              <a:rPr lang="el-GR" dirty="0"/>
              <a:t> γνώσεις, κομβικές ικανότητες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>
          <a:xfrm>
            <a:off x="1371600" y="362585"/>
            <a:ext cx="6400800" cy="1752600"/>
          </a:xfrm>
        </p:spPr>
        <p:txBody>
          <a:bodyPr>
            <a:normAutofit/>
          </a:bodyPr>
          <a:lstStyle/>
          <a:p>
            <a:r>
              <a:rPr lang="el-GR" sz="8000" dirty="0">
                <a:solidFill>
                  <a:schemeClr val="tx1"/>
                </a:solidFill>
              </a:rPr>
              <a:t>02</a:t>
            </a:r>
            <a:endParaRPr lang="en-GB" sz="8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946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21919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l-GR" b="1" dirty="0"/>
              <a:t>Δείκτες Επιτυχίας 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0" y="1447800"/>
            <a:ext cx="914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Οι Δείκτες Επιτυχίας αναφέρονται στα Μαθησιακά Αποτελέσματα, τα οποία αναμένεται να επιτύχει ο μαθητής. Δηλαδή, αναφέρονται στον μαθητή και τα επιτεύγματά του.</a:t>
            </a:r>
          </a:p>
          <a:p>
            <a:r>
              <a:rPr lang="el-GR" sz="2800" dirty="0"/>
              <a:t> π.χ.</a:t>
            </a:r>
          </a:p>
          <a:p>
            <a:r>
              <a:rPr lang="el-GR" sz="2800" dirty="0"/>
              <a:t>Να χρησιμοποιούν μια εφαρμογή παρουσιάσεων για να μορφοποιούν διαφάνειες.</a:t>
            </a:r>
          </a:p>
          <a:p>
            <a:endParaRPr lang="el-GR" sz="2800" dirty="0"/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15200" y="6357620"/>
            <a:ext cx="1691640" cy="469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970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219199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l-GR" b="1" dirty="0"/>
              <a:t>Δείκτες Επάρκειας 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0" y="1447800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Οι Δείκτες Επάρκειας αναφέρονται στο τι πρέπει να διδαχθεί ο μαθητής, για να επιτύχει τα αντίστοιχα καθορισμένα Μαθησιακά Αποτελέσματα. Δηλαδή, αναφέρονται στον εκπαιδευτικό και τα διδακτέα</a:t>
            </a:r>
          </a:p>
          <a:p>
            <a:r>
              <a:rPr lang="el-GR" sz="2800" dirty="0"/>
              <a:t> π.χ.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Σχεδίαση Φόντου διαφάνειας (</a:t>
            </a:r>
            <a:r>
              <a:rPr lang="el-GR" sz="2800" dirty="0" err="1"/>
              <a:t>Format</a:t>
            </a:r>
            <a:r>
              <a:rPr lang="el-GR" sz="2800" dirty="0"/>
              <a:t> </a:t>
            </a:r>
            <a:r>
              <a:rPr lang="el-GR" sz="2800" dirty="0" err="1"/>
              <a:t>Background</a:t>
            </a:r>
            <a:r>
              <a:rPr lang="el-GR" sz="2800" dirty="0"/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Εφαρμογή Προτύπου σχεδίασης (</a:t>
            </a:r>
            <a:r>
              <a:rPr lang="el-GR" sz="2800" dirty="0" err="1"/>
              <a:t>Design</a:t>
            </a:r>
            <a:r>
              <a:rPr lang="el-GR" sz="2800" dirty="0"/>
              <a:t> </a:t>
            </a:r>
            <a:r>
              <a:rPr lang="el-GR" sz="2800" dirty="0" err="1"/>
              <a:t>Themes</a:t>
            </a:r>
            <a:r>
              <a:rPr lang="el-GR" sz="2800" dirty="0"/>
              <a:t>) ως φόντο διαφάνειας.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sz="2800" dirty="0"/>
              <a:t>Προσθήκη κειμένου στο Υποσέλιδο συγκεκριμένων ή όλων των διαφανειών μιας παρουσίασης (</a:t>
            </a:r>
            <a:r>
              <a:rPr lang="el-GR" sz="2800" dirty="0" err="1"/>
              <a:t>Header</a:t>
            </a:r>
            <a:r>
              <a:rPr lang="el-GR" sz="2800" dirty="0"/>
              <a:t> &amp; </a:t>
            </a:r>
            <a:r>
              <a:rPr lang="el-GR" sz="2800" dirty="0" err="1"/>
              <a:t>Footer</a:t>
            </a:r>
            <a:r>
              <a:rPr lang="el-GR" sz="2800" dirty="0"/>
              <a:t>).</a:t>
            </a:r>
          </a:p>
          <a:p>
            <a:endParaRPr lang="el-GR" sz="2800" dirty="0"/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15200" y="6357620"/>
            <a:ext cx="1691640" cy="469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2185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600200"/>
            <a:ext cx="8582025" cy="5086350"/>
          </a:xfrm>
          <a:prstGeom prst="rect">
            <a:avLst/>
          </a:prstGeom>
        </p:spPr>
      </p:pic>
      <p:sp>
        <p:nvSpPr>
          <p:cNvPr id="5" name="Title 5"/>
          <p:cNvSpPr txBox="1">
            <a:spLocks/>
          </p:cNvSpPr>
          <p:nvPr/>
        </p:nvSpPr>
        <p:spPr>
          <a:xfrm>
            <a:off x="0" y="1"/>
            <a:ext cx="9144000" cy="12191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b="1" dirty="0"/>
              <a:t>Παράδειγμα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70488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sz="3600" dirty="0"/>
              <a:t>Απαραίτητες διευκρινίσεις…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608013">
              <a:spcBef>
                <a:spcPts val="400"/>
              </a:spcBef>
              <a:buClr>
                <a:srgbClr val="FF0000"/>
              </a:buClr>
            </a:pP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Οι </a:t>
            </a:r>
            <a:r>
              <a:rPr lang="el-GR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Δείκτες Επιτυχίας </a:t>
            </a: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κατά τάξη </a:t>
            </a:r>
            <a:r>
              <a:rPr lang="el-GR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δεν αναφέρονται στο Γενικό Τελικό και Αναμενόμενο Αποτέλεσμα επίτευξης</a:t>
            </a: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(=στόχοι αναλυτικού προγράμματος), αλλά στα διδακτέα / προϋποθέσεις για να φτάσουμε στο τελικό αποτέλεσμα.</a:t>
            </a:r>
            <a:endParaRPr lang="el-GR" sz="1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08013">
              <a:spcBef>
                <a:spcPts val="400"/>
              </a:spcBef>
              <a:buClr>
                <a:srgbClr val="FF0000"/>
              </a:buClr>
            </a:pP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Οι </a:t>
            </a:r>
            <a:r>
              <a:rPr lang="el-GR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Δείκτες Επάρκειας </a:t>
            </a:r>
            <a:r>
              <a:rPr lang="el-GR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δεν αναφέρονται σε μεθοδολογία διδασκαλίας</a:t>
            </a: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αλλά σε ΣΚΑΛΟΠΑΤΙΑ μάθησης, ΙΕΡΑΡΧΙΕΣ ή/και προαπαιτούμενη γνώση για να επιτευχθεί ο Δείκτης Επιτυχίας.</a:t>
            </a:r>
            <a:endParaRPr lang="el-GR" sz="18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08013">
              <a:spcBef>
                <a:spcPts val="400"/>
              </a:spcBef>
              <a:buClr>
                <a:srgbClr val="FF0000"/>
              </a:buClr>
            </a:pP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Οι </a:t>
            </a:r>
            <a:r>
              <a:rPr lang="el-GR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Δείκτες Επάρκειας </a:t>
            </a:r>
            <a:r>
              <a:rPr lang="el-GR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δεν αναφέρονται στο περιεχόμενο συγκεκριμένου εγχειριδίου</a:t>
            </a: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608013">
              <a:spcBef>
                <a:spcPts val="400"/>
              </a:spcBef>
              <a:buClr>
                <a:srgbClr val="FF0000"/>
              </a:buClr>
            </a:pP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Οι </a:t>
            </a:r>
            <a:r>
              <a:rPr lang="el-GR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Δείκτες Επιτυχίας </a:t>
            </a: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και </a:t>
            </a:r>
            <a:r>
              <a:rPr lang="el-GR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Επάρκειας</a:t>
            </a: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l-GR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δεν πρέπει να εξαντλούν τον συνολικό διδακτικό χρόνο</a:t>
            </a: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608013">
              <a:spcBef>
                <a:spcPts val="400"/>
              </a:spcBef>
              <a:buClr>
                <a:srgbClr val="FF0000"/>
              </a:buClr>
            </a:pP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Η αρχή πάνω στην οποία θεμελιώνονται οι Δείκτες είναι ότι </a:t>
            </a:r>
            <a:r>
              <a:rPr lang="el-GR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διδάσκω</a:t>
            </a: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l-GR" sz="1800" u="sng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σημαίνει</a:t>
            </a: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endParaRPr lang="el-GR" sz="1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82663" lvl="2" indent="-342900">
              <a:spcBef>
                <a:spcPts val="400"/>
              </a:spcBef>
              <a:buClr>
                <a:srgbClr val="00B050"/>
              </a:buClr>
              <a:buFont typeface="Wingdings" panose="05000000000000000000" pitchFamily="2" charset="2"/>
              <a:buChar char="v"/>
            </a:pPr>
            <a:r>
              <a:rPr lang="el-GR" sz="18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Μαθαίνει ο μαθητής και </a:t>
            </a:r>
            <a:r>
              <a:rPr lang="el-GR" sz="18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όχι</a:t>
            </a:r>
            <a:r>
              <a:rPr lang="el-GR" sz="18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ΚΑΛΥΠΤΩ ΤΗΝ ΥΛΗ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34200" y="6141403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4208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sz="3600" dirty="0" err="1"/>
              <a:t>Προαπαιτούμενες</a:t>
            </a:r>
            <a:r>
              <a:rPr lang="el-GR" sz="3600" dirty="0"/>
              <a:t> Γνώσεις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Οι </a:t>
            </a:r>
            <a:r>
              <a:rPr lang="el-GR" sz="2400" dirty="0" err="1"/>
              <a:t>προαπαιτούμενες</a:t>
            </a:r>
            <a:r>
              <a:rPr lang="el-GR" sz="2400" dirty="0"/>
              <a:t> γνώσεις είναι δείκτες επιτυχίας που έχουν ήδη αναπτυχθεί σε προηγούμενα μαθήματα ή προηγούμενες χρονιές και είναι απαραίτητες για να κατακτήσουν οι μαθητές τους δείκτες του τρέχοντος μαθήματος.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Δηλαδή: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/>
              <a:t>Δεν είναι γενικές “προϋποθέσεις”, αλλά συγκεκριμένες μαθησιακές ικανότητες που ο μαθητής πρέπει ήδη να κατέχει.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/>
              <a:t>Διατυπώνονται με τον ίδιο τρόπο όπως οι δείκτες επιτυχίας, δηλαδή με ρήματα (π.χ. “Να χρησιμοποιούν…”, “Να αναγνωρίζουν…”).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0400" y="6217921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19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sz="3600" dirty="0"/>
              <a:t>Σκοπός των </a:t>
            </a:r>
            <a:r>
              <a:rPr lang="el-GR" sz="3600" dirty="0" err="1"/>
              <a:t>Προαπαιτούμενων</a:t>
            </a:r>
            <a:r>
              <a:rPr lang="el-GR" sz="3600" dirty="0"/>
              <a:t> Γνώσεων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Οι </a:t>
            </a:r>
            <a:r>
              <a:rPr lang="el-GR" sz="2400" dirty="0" err="1"/>
              <a:t>προαπαιτούμενες</a:t>
            </a:r>
            <a:r>
              <a:rPr lang="el-GR" sz="2400" dirty="0"/>
              <a:t> γνώσεις: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/>
              <a:t>Εξασφαλίζουν τη συνέχεια στη μάθηση (από απλό → σύνθετο).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/>
              <a:t>Επιτρέπουν στον εκπαιδευτικό να διαπιστώσει εάν η τάξη είναι έτοιμη για το επόμενο επίπεδο.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/>
              <a:t>Βοηθούν στη διαφοροποίηση της διδασκαλίας, αν κάποιοι μαθητές δεν έχουν κατακτήσει πλήρως τις βασικές έννοιες.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/>
              <a:t>Συνδέονται άμεσα με τη διαμορφωτική αξιολόγηση στην αρχή του μαθήματος.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0400" y="6126163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05582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dirty="0"/>
              <a:t>Κομβικές Ικανότητες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Οι κομβικές ικανότητες είναι οι γενικές δεξιότητες που καλλιεργούνται μέσα από τη διδασκαλία όλων των μαθημάτων και όχι μόνο της Πληροφορικής.</a:t>
            </a:r>
            <a:endParaRPr lang="en-US" sz="2400" dirty="0"/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Στόχος τους είναι η ολιστική ανάπτυξη του μαθητή — γνωστική, κοινωνική, συναισθηματική και τεχνολογική.</a:t>
            </a:r>
            <a:endParaRPr lang="en-US" sz="2400" dirty="0"/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Δηλαδή, πέρα από τη γνώση, ενδιαφερόμαστε και για το πώς ο μαθητής σκέφτεται, συνεργάζεται, επικοινωνεί και χρησιμοποιεί υπεύθυνα την τεχνολογία.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6126163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77577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 fontScale="90000"/>
          </a:bodyPr>
          <a:lstStyle/>
          <a:p>
            <a:r>
              <a:rPr lang="el-GR" dirty="0"/>
              <a:t>Ο ρόλος τους στο Σχέδιο Μαθήματος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Δεν αποτελούν “ξεχωριστή ενότητα”, αλλά καλλιεργούνται μέσα από τις δραστηριότητες.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Καταγράφονται συνήθως στην ειδική ενότητα “Κομβικές Ικανότητες που καλλιεργούνται” ή/και στη στήλη “Δείκτες” δίπλα στις φάσεις του μαθήματος.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Ο εκπαιδευτικός επιλέγει ποιες ικανότητες καλλιεργούνται σε κάθε μάθημα, όχι απαραίτητα όλες.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6233796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40548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3414</TotalTime>
  <Words>509</Words>
  <Application>Microsoft Office PowerPoint</Application>
  <PresentationFormat>On-screen Show (4:3)</PresentationFormat>
  <Paragraphs>48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Verdana</vt:lpstr>
      <vt:lpstr>Wingdings</vt:lpstr>
      <vt:lpstr>Office Theme</vt:lpstr>
      <vt:lpstr>PowerPoint Presentation</vt:lpstr>
      <vt:lpstr>PowerPoint Presentation</vt:lpstr>
      <vt:lpstr>Δείκτες Επιτυχίας &amp; Επάρκειας, Προαπετούμενες γνώσεις, κομβικές ικανότητες</vt:lpstr>
      <vt:lpstr>Δείκτες Επιτυχίας </vt:lpstr>
      <vt:lpstr>Δείκτες Επάρκειας </vt:lpstr>
      <vt:lpstr>PowerPoint Presentation</vt:lpstr>
      <vt:lpstr>Απαραίτητες διευκρινίσεις…</vt:lpstr>
      <vt:lpstr>Προαπαιτούμενες Γνώσεις</vt:lpstr>
      <vt:lpstr>Σκοπός των Προαπαιτούμενων Γνώσεων</vt:lpstr>
      <vt:lpstr>Κομβικές Ικανότητες</vt:lpstr>
      <vt:lpstr>Ο ρόλος τους στο Σχέδιο Μαθήματος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Άριστος Αρέστη</cp:lastModifiedBy>
  <cp:revision>101</cp:revision>
  <dcterms:created xsi:type="dcterms:W3CDTF">2015-09-15T19:28:21Z</dcterms:created>
  <dcterms:modified xsi:type="dcterms:W3CDTF">2026-10-18T18:43:17Z</dcterms:modified>
</cp:coreProperties>
</file>