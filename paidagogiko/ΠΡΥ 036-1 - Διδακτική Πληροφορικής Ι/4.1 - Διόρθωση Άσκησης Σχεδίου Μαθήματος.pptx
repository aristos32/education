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7" r:id="rId2"/>
    <p:sldId id="276" r:id="rId3"/>
    <p:sldId id="280" r:id="rId4"/>
    <p:sldId id="287" r:id="rId5"/>
    <p:sldId id="278" r:id="rId6"/>
    <p:sldId id="342" r:id="rId7"/>
    <p:sldId id="343" r:id="rId8"/>
    <p:sldId id="299" r:id="rId9"/>
    <p:sldId id="300" r:id="rId10"/>
    <p:sldId id="328" r:id="rId11"/>
    <p:sldId id="329" r:id="rId12"/>
    <p:sldId id="330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228" autoAdjust="0"/>
    <p:restoredTop sz="86118" autoAdjust="0"/>
  </p:normalViewPr>
  <p:slideViewPr>
    <p:cSldViewPr>
      <p:cViewPr varScale="1">
        <p:scale>
          <a:sx n="137" d="100"/>
          <a:sy n="137" d="100"/>
        </p:scale>
        <p:origin x="238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delSld">
      <pc:chgData name="Άριστος Αρέστη" userId="813aa191-2d4c-464f-9d05-0a7e494d859f" providerId="ADAL" clId="{49C7B61D-1ACF-4AFF-A04E-A3B433E32474}" dt="2026-10-31T05:50:10.338" v="0" actId="47"/>
      <pc:docMkLst>
        <pc:docMk/>
      </pc:docMkLst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0" sldId="274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418946017" sldId="288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446216825" sldId="292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589790218" sldId="312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613997454" sldId="313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054986358" sldId="317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1889573002" sldId="318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23195847" sldId="319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4240815766" sldId="320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688893505" sldId="321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803131493" sldId="322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69430479" sldId="323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1738663" sldId="324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293801379" sldId="325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467604370" sldId="326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48497479" sldId="327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704660987" sldId="332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2428536457" sldId="333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1341062930" sldId="337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1551589924" sldId="338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4168887938" sldId="339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3198360036" sldId="340"/>
        </pc:sldMkLst>
      </pc:sldChg>
      <pc:sldChg chg="del">
        <pc:chgData name="Άριστος Αρέστη" userId="813aa191-2d4c-464f-9d05-0a7e494d859f" providerId="ADAL" clId="{49C7B61D-1ACF-4AFF-A04E-A3B433E32474}" dt="2026-10-31T05:50:10.338" v="0" actId="47"/>
        <pc:sldMkLst>
          <pc:docMk/>
          <pc:sldMk cId="4158064368" sldId="341"/>
        </pc:sldMkLst>
      </pc:sldChg>
      <pc:sldMasterChg chg="delSldLayout">
        <pc:chgData name="Άριστος Αρέστη" userId="813aa191-2d4c-464f-9d05-0a7e494d859f" providerId="ADAL" clId="{49C7B61D-1ACF-4AFF-A04E-A3B433E32474}" dt="2026-10-31T05:50:10.338" v="0" actId="47"/>
        <pc:sldMasterMkLst>
          <pc:docMk/>
          <pc:sldMasterMk cId="0" sldId="2147483648"/>
        </pc:sldMasterMkLst>
        <pc:sldLayoutChg chg="del">
          <pc:chgData name="Άριστος Αρέστη" userId="813aa191-2d4c-464f-9d05-0a7e494d859f" providerId="ADAL" clId="{49C7B61D-1ACF-4AFF-A04E-A3B433E32474}" dt="2026-10-31T05:50:10.338" v="0" actId="47"/>
          <pc:sldLayoutMkLst>
            <pc:docMk/>
            <pc:sldMasterMk cId="0" sldId="2147483648"/>
            <pc:sldLayoutMk cId="1957124866" sldId="2147483660"/>
          </pc:sldLayoutMkLst>
        </pc:sldLayoutChg>
        <pc:sldLayoutChg chg="del">
          <pc:chgData name="Άριστος Αρέστη" userId="813aa191-2d4c-464f-9d05-0a7e494d859f" providerId="ADAL" clId="{49C7B61D-1ACF-4AFF-A04E-A3B433E32474}" dt="2026-10-31T05:50:10.338" v="0" actId="47"/>
          <pc:sldLayoutMkLst>
            <pc:docMk/>
            <pc:sldMasterMk cId="0" sldId="2147483648"/>
            <pc:sldLayoutMk cId="2791988042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567DA2-3ABD-4083-9D89-D1C9CC448C3D}" type="datetimeFigureOut">
              <a:rPr lang="en-GB" smtClean="0"/>
              <a:t>31/10/2026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F438E-B2CF-4AE8-BCBD-5C0C5824013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15773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73519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46147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59145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835133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63F591-F0B7-4228-BB71-5A60929AFF28}" type="slidenum">
              <a:rPr lang="el-GR" smtClean="0"/>
              <a:pPr/>
              <a:t>12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27535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80B2B7-3155-4641-A8F2-C1656F8110F8}" type="datetimeFigureOut">
              <a:rPr lang="en-US" smtClean="0"/>
              <a:pPr/>
              <a:t>31-Oct-26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BD3ACA-0F0F-432C-927D-6EE186D4D50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chemeClr val="accent6">
                <a:lumMod val="0"/>
                <a:lumOff val="100000"/>
              </a:schemeClr>
            </a:gs>
            <a:gs pos="29000">
              <a:schemeClr val="accent6">
                <a:lumMod val="0"/>
                <a:lumOff val="100000"/>
              </a:schemeClr>
            </a:gs>
            <a:gs pos="51000">
              <a:srgbClr val="FAC090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1219200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0" y="4038600"/>
            <a:ext cx="3886200" cy="19507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>
                <a:latin typeface="+mn-lt"/>
                <a:cs typeface="Arial" pitchFamily="34" charset="0"/>
              </a:rPr>
              <a:t>Πρόγραμμα </a:t>
            </a:r>
            <a:r>
              <a:rPr lang="el-GR" sz="4000" b="1" dirty="0" err="1">
                <a:latin typeface="+mn-lt"/>
                <a:cs typeface="Arial" pitchFamily="34" charset="0"/>
              </a:rPr>
              <a:t>Προϋπηρεσιακής</a:t>
            </a:r>
            <a:r>
              <a:rPr lang="el-GR" sz="4000" b="1" dirty="0">
                <a:latin typeface="+mn-lt"/>
                <a:cs typeface="Arial" pitchFamily="34" charset="0"/>
              </a:rPr>
              <a:t> Κατάρτισης</a:t>
            </a:r>
            <a:endParaRPr lang="en-US" sz="4000" b="1" dirty="0">
              <a:latin typeface="+mn-lt"/>
              <a:cs typeface="Arial" pitchFamily="34" charset="0"/>
            </a:endParaRP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625" y="55306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37881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000">
              <a:schemeClr val="accent6">
                <a:lumMod val="0"/>
                <a:lumOff val="100000"/>
              </a:schemeClr>
            </a:gs>
            <a:gs pos="51000">
              <a:schemeClr val="accent6">
                <a:lumMod val="0"/>
                <a:lumOff val="100000"/>
              </a:schemeClr>
            </a:gs>
            <a:gs pos="73000">
              <a:srgbClr val="FAC090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/>
          <p:cNvSpPr/>
          <p:nvPr/>
        </p:nvSpPr>
        <p:spPr>
          <a:xfrm>
            <a:off x="3886200" y="-2956559"/>
            <a:ext cx="8686799" cy="8869680"/>
          </a:xfrm>
          <a:custGeom>
            <a:avLst/>
            <a:gdLst>
              <a:gd name="connsiteX0" fmla="*/ 6705599 w 8686799"/>
              <a:gd name="connsiteY0" fmla="*/ 6736080 h 8869680"/>
              <a:gd name="connsiteX1" fmla="*/ 7162799 w 8686799"/>
              <a:gd name="connsiteY1" fmla="*/ 5821680 h 8869680"/>
              <a:gd name="connsiteX2" fmla="*/ 8229599 w 8686799"/>
              <a:gd name="connsiteY2" fmla="*/ 5821680 h 8869680"/>
              <a:gd name="connsiteX3" fmla="*/ 8686799 w 8686799"/>
              <a:gd name="connsiteY3" fmla="*/ 6736080 h 8869680"/>
              <a:gd name="connsiteX4" fmla="*/ 8229599 w 8686799"/>
              <a:gd name="connsiteY4" fmla="*/ 7650480 h 8869680"/>
              <a:gd name="connsiteX5" fmla="*/ 7162799 w 8686799"/>
              <a:gd name="connsiteY5" fmla="*/ 7650480 h 8869680"/>
              <a:gd name="connsiteX6" fmla="*/ 6659879 w 8686799"/>
              <a:gd name="connsiteY6" fmla="*/ 2743200 h 8869680"/>
              <a:gd name="connsiteX7" fmla="*/ 7117079 w 8686799"/>
              <a:gd name="connsiteY7" fmla="*/ 1828800 h 8869680"/>
              <a:gd name="connsiteX8" fmla="*/ 8183879 w 8686799"/>
              <a:gd name="connsiteY8" fmla="*/ 1828800 h 8869680"/>
              <a:gd name="connsiteX9" fmla="*/ 8641079 w 8686799"/>
              <a:gd name="connsiteY9" fmla="*/ 2743200 h 8869680"/>
              <a:gd name="connsiteX10" fmla="*/ 8183879 w 8686799"/>
              <a:gd name="connsiteY10" fmla="*/ 3657600 h 8869680"/>
              <a:gd name="connsiteX11" fmla="*/ 7117079 w 8686799"/>
              <a:gd name="connsiteY11" fmla="*/ 3657600 h 8869680"/>
              <a:gd name="connsiteX12" fmla="*/ 6659879 w 8686799"/>
              <a:gd name="connsiteY12" fmla="*/ 4739640 h 8869680"/>
              <a:gd name="connsiteX13" fmla="*/ 7117079 w 8686799"/>
              <a:gd name="connsiteY13" fmla="*/ 3825240 h 8869680"/>
              <a:gd name="connsiteX14" fmla="*/ 8183879 w 8686799"/>
              <a:gd name="connsiteY14" fmla="*/ 3825240 h 8869680"/>
              <a:gd name="connsiteX15" fmla="*/ 8641079 w 8686799"/>
              <a:gd name="connsiteY15" fmla="*/ 4739640 h 8869680"/>
              <a:gd name="connsiteX16" fmla="*/ 8183879 w 8686799"/>
              <a:gd name="connsiteY16" fmla="*/ 5654040 h 8869680"/>
              <a:gd name="connsiteX17" fmla="*/ 7117079 w 8686799"/>
              <a:gd name="connsiteY17" fmla="*/ 5654040 h 8869680"/>
              <a:gd name="connsiteX18" fmla="*/ 5084013 w 8686799"/>
              <a:gd name="connsiteY18" fmla="*/ 7828689 h 8869680"/>
              <a:gd name="connsiteX19" fmla="*/ 5541213 w 8686799"/>
              <a:gd name="connsiteY19" fmla="*/ 6914287 h 8869680"/>
              <a:gd name="connsiteX20" fmla="*/ 6608013 w 8686799"/>
              <a:gd name="connsiteY20" fmla="*/ 6914287 h 8869680"/>
              <a:gd name="connsiteX21" fmla="*/ 7065213 w 8686799"/>
              <a:gd name="connsiteY21" fmla="*/ 7828689 h 8869680"/>
              <a:gd name="connsiteX22" fmla="*/ 6608013 w 8686799"/>
              <a:gd name="connsiteY22" fmla="*/ 8743089 h 8869680"/>
              <a:gd name="connsiteX23" fmla="*/ 5541213 w 8686799"/>
              <a:gd name="connsiteY23" fmla="*/ 8743089 h 8869680"/>
              <a:gd name="connsiteX24" fmla="*/ 5044439 w 8686799"/>
              <a:gd name="connsiteY24" fmla="*/ 5821680 h 8869680"/>
              <a:gd name="connsiteX25" fmla="*/ 5501639 w 8686799"/>
              <a:gd name="connsiteY25" fmla="*/ 4907280 h 8869680"/>
              <a:gd name="connsiteX26" fmla="*/ 6568439 w 8686799"/>
              <a:gd name="connsiteY26" fmla="*/ 4907280 h 8869680"/>
              <a:gd name="connsiteX27" fmla="*/ 7025639 w 8686799"/>
              <a:gd name="connsiteY27" fmla="*/ 5821680 h 8869680"/>
              <a:gd name="connsiteX28" fmla="*/ 6568439 w 8686799"/>
              <a:gd name="connsiteY28" fmla="*/ 6736080 h 8869680"/>
              <a:gd name="connsiteX29" fmla="*/ 5501639 w 8686799"/>
              <a:gd name="connsiteY29" fmla="*/ 6736080 h 8869680"/>
              <a:gd name="connsiteX30" fmla="*/ 4998719 w 8686799"/>
              <a:gd name="connsiteY30" fmla="*/ 1828800 h 8869680"/>
              <a:gd name="connsiteX31" fmla="*/ 5455919 w 8686799"/>
              <a:gd name="connsiteY31" fmla="*/ 914400 h 8869680"/>
              <a:gd name="connsiteX32" fmla="*/ 6522719 w 8686799"/>
              <a:gd name="connsiteY32" fmla="*/ 914400 h 8869680"/>
              <a:gd name="connsiteX33" fmla="*/ 6979919 w 8686799"/>
              <a:gd name="connsiteY33" fmla="*/ 1828800 h 8869680"/>
              <a:gd name="connsiteX34" fmla="*/ 6522719 w 8686799"/>
              <a:gd name="connsiteY34" fmla="*/ 2743200 h 8869680"/>
              <a:gd name="connsiteX35" fmla="*/ 5455919 w 8686799"/>
              <a:gd name="connsiteY35" fmla="*/ 2743200 h 8869680"/>
              <a:gd name="connsiteX36" fmla="*/ 4998719 w 8686799"/>
              <a:gd name="connsiteY36" fmla="*/ 3825240 h 8869680"/>
              <a:gd name="connsiteX37" fmla="*/ 5455919 w 8686799"/>
              <a:gd name="connsiteY37" fmla="*/ 2910840 h 8869680"/>
              <a:gd name="connsiteX38" fmla="*/ 6522719 w 8686799"/>
              <a:gd name="connsiteY38" fmla="*/ 2910840 h 8869680"/>
              <a:gd name="connsiteX39" fmla="*/ 6979919 w 8686799"/>
              <a:gd name="connsiteY39" fmla="*/ 3825240 h 8869680"/>
              <a:gd name="connsiteX40" fmla="*/ 6522719 w 8686799"/>
              <a:gd name="connsiteY40" fmla="*/ 4739640 h 8869680"/>
              <a:gd name="connsiteX41" fmla="*/ 5455919 w 8686799"/>
              <a:gd name="connsiteY41" fmla="*/ 4739640 h 8869680"/>
              <a:gd name="connsiteX42" fmla="*/ 3383280 w 8686799"/>
              <a:gd name="connsiteY42" fmla="*/ 4907280 h 8869680"/>
              <a:gd name="connsiteX43" fmla="*/ 3840480 w 8686799"/>
              <a:gd name="connsiteY43" fmla="*/ 3992880 h 8869680"/>
              <a:gd name="connsiteX44" fmla="*/ 4907279 w 8686799"/>
              <a:gd name="connsiteY44" fmla="*/ 3992880 h 8869680"/>
              <a:gd name="connsiteX45" fmla="*/ 5364479 w 8686799"/>
              <a:gd name="connsiteY45" fmla="*/ 4907280 h 8869680"/>
              <a:gd name="connsiteX46" fmla="*/ 4907279 w 8686799"/>
              <a:gd name="connsiteY46" fmla="*/ 5821680 h 8869680"/>
              <a:gd name="connsiteX47" fmla="*/ 3840480 w 8686799"/>
              <a:gd name="connsiteY47" fmla="*/ 5821680 h 8869680"/>
              <a:gd name="connsiteX48" fmla="*/ 3353291 w 8686799"/>
              <a:gd name="connsiteY48" fmla="*/ 6899541 h 8869680"/>
              <a:gd name="connsiteX49" fmla="*/ 3810491 w 8686799"/>
              <a:gd name="connsiteY49" fmla="*/ 5985141 h 8869680"/>
              <a:gd name="connsiteX50" fmla="*/ 4877291 w 8686799"/>
              <a:gd name="connsiteY50" fmla="*/ 5985141 h 8869680"/>
              <a:gd name="connsiteX51" fmla="*/ 5334491 w 8686799"/>
              <a:gd name="connsiteY51" fmla="*/ 6899541 h 8869680"/>
              <a:gd name="connsiteX52" fmla="*/ 4877291 w 8686799"/>
              <a:gd name="connsiteY52" fmla="*/ 7813941 h 8869680"/>
              <a:gd name="connsiteX53" fmla="*/ 3810491 w 8686799"/>
              <a:gd name="connsiteY53" fmla="*/ 7813941 h 8869680"/>
              <a:gd name="connsiteX54" fmla="*/ 3337560 w 8686799"/>
              <a:gd name="connsiteY54" fmla="*/ 914400 h 8869680"/>
              <a:gd name="connsiteX55" fmla="*/ 3794760 w 8686799"/>
              <a:gd name="connsiteY55" fmla="*/ 0 h 8869680"/>
              <a:gd name="connsiteX56" fmla="*/ 4861559 w 8686799"/>
              <a:gd name="connsiteY56" fmla="*/ 0 h 8869680"/>
              <a:gd name="connsiteX57" fmla="*/ 5318759 w 8686799"/>
              <a:gd name="connsiteY57" fmla="*/ 914400 h 8869680"/>
              <a:gd name="connsiteX58" fmla="*/ 4861559 w 8686799"/>
              <a:gd name="connsiteY58" fmla="*/ 1828800 h 8869680"/>
              <a:gd name="connsiteX59" fmla="*/ 3794760 w 8686799"/>
              <a:gd name="connsiteY59" fmla="*/ 1828800 h 8869680"/>
              <a:gd name="connsiteX60" fmla="*/ 3337560 w 8686799"/>
              <a:gd name="connsiteY60" fmla="*/ 2910840 h 8869680"/>
              <a:gd name="connsiteX61" fmla="*/ 3794760 w 8686799"/>
              <a:gd name="connsiteY61" fmla="*/ 1996440 h 8869680"/>
              <a:gd name="connsiteX62" fmla="*/ 4861559 w 8686799"/>
              <a:gd name="connsiteY62" fmla="*/ 1996440 h 8869680"/>
              <a:gd name="connsiteX63" fmla="*/ 5318759 w 8686799"/>
              <a:gd name="connsiteY63" fmla="*/ 2910840 h 8869680"/>
              <a:gd name="connsiteX64" fmla="*/ 4861559 w 8686799"/>
              <a:gd name="connsiteY64" fmla="*/ 3825240 h 8869680"/>
              <a:gd name="connsiteX65" fmla="*/ 3794760 w 8686799"/>
              <a:gd name="connsiteY65" fmla="*/ 3825240 h 8869680"/>
              <a:gd name="connsiteX66" fmla="*/ 1721873 w 8686799"/>
              <a:gd name="connsiteY66" fmla="*/ 7955280 h 8869680"/>
              <a:gd name="connsiteX67" fmla="*/ 2179073 w 8686799"/>
              <a:gd name="connsiteY67" fmla="*/ 7040880 h 8869680"/>
              <a:gd name="connsiteX68" fmla="*/ 3245873 w 8686799"/>
              <a:gd name="connsiteY68" fmla="*/ 7040880 h 8869680"/>
              <a:gd name="connsiteX69" fmla="*/ 3703073 w 8686799"/>
              <a:gd name="connsiteY69" fmla="*/ 7955280 h 8869680"/>
              <a:gd name="connsiteX70" fmla="*/ 3245873 w 8686799"/>
              <a:gd name="connsiteY70" fmla="*/ 8869680 h 8869680"/>
              <a:gd name="connsiteX71" fmla="*/ 2179073 w 8686799"/>
              <a:gd name="connsiteY71" fmla="*/ 8869680 h 8869680"/>
              <a:gd name="connsiteX72" fmla="*/ 1691640 w 8686799"/>
              <a:gd name="connsiteY72" fmla="*/ 5989320 h 8869680"/>
              <a:gd name="connsiteX73" fmla="*/ 2148841 w 8686799"/>
              <a:gd name="connsiteY73" fmla="*/ 5074920 h 8869680"/>
              <a:gd name="connsiteX74" fmla="*/ 3215640 w 8686799"/>
              <a:gd name="connsiteY74" fmla="*/ 5074920 h 8869680"/>
              <a:gd name="connsiteX75" fmla="*/ 3672840 w 8686799"/>
              <a:gd name="connsiteY75" fmla="*/ 5989320 h 8869680"/>
              <a:gd name="connsiteX76" fmla="*/ 3215640 w 8686799"/>
              <a:gd name="connsiteY76" fmla="*/ 6903719 h 8869680"/>
              <a:gd name="connsiteX77" fmla="*/ 2148840 w 8686799"/>
              <a:gd name="connsiteY77" fmla="*/ 6903719 h 8869680"/>
              <a:gd name="connsiteX78" fmla="*/ 1645920 w 8686799"/>
              <a:gd name="connsiteY78" fmla="*/ 1996440 h 8869680"/>
              <a:gd name="connsiteX79" fmla="*/ 2103120 w 8686799"/>
              <a:gd name="connsiteY79" fmla="*/ 1082040 h 8869680"/>
              <a:gd name="connsiteX80" fmla="*/ 3169920 w 8686799"/>
              <a:gd name="connsiteY80" fmla="*/ 1082040 h 8869680"/>
              <a:gd name="connsiteX81" fmla="*/ 3627120 w 8686799"/>
              <a:gd name="connsiteY81" fmla="*/ 1996440 h 8869680"/>
              <a:gd name="connsiteX82" fmla="*/ 3169920 w 8686799"/>
              <a:gd name="connsiteY82" fmla="*/ 2910840 h 8869680"/>
              <a:gd name="connsiteX83" fmla="*/ 2103120 w 8686799"/>
              <a:gd name="connsiteY83" fmla="*/ 2910840 h 8869680"/>
              <a:gd name="connsiteX84" fmla="*/ 1645920 w 8686799"/>
              <a:gd name="connsiteY84" fmla="*/ 3992880 h 8869680"/>
              <a:gd name="connsiteX85" fmla="*/ 2103120 w 8686799"/>
              <a:gd name="connsiteY85" fmla="*/ 3078480 h 8869680"/>
              <a:gd name="connsiteX86" fmla="*/ 3169920 w 8686799"/>
              <a:gd name="connsiteY86" fmla="*/ 3078480 h 8869680"/>
              <a:gd name="connsiteX87" fmla="*/ 3627120 w 8686799"/>
              <a:gd name="connsiteY87" fmla="*/ 3992880 h 8869680"/>
              <a:gd name="connsiteX88" fmla="*/ 3169920 w 8686799"/>
              <a:gd name="connsiteY88" fmla="*/ 4907280 h 8869680"/>
              <a:gd name="connsiteX89" fmla="*/ 2103120 w 8686799"/>
              <a:gd name="connsiteY89" fmla="*/ 4907280 h 8869680"/>
              <a:gd name="connsiteX90" fmla="*/ 45720 w 8686799"/>
              <a:gd name="connsiteY90" fmla="*/ 5059680 h 8869680"/>
              <a:gd name="connsiteX91" fmla="*/ 502920 w 8686799"/>
              <a:gd name="connsiteY91" fmla="*/ 4145280 h 8869680"/>
              <a:gd name="connsiteX92" fmla="*/ 1569720 w 8686799"/>
              <a:gd name="connsiteY92" fmla="*/ 4145280 h 8869680"/>
              <a:gd name="connsiteX93" fmla="*/ 2026920 w 8686799"/>
              <a:gd name="connsiteY93" fmla="*/ 5059680 h 8869680"/>
              <a:gd name="connsiteX94" fmla="*/ 1569720 w 8686799"/>
              <a:gd name="connsiteY94" fmla="*/ 5974080 h 8869680"/>
              <a:gd name="connsiteX95" fmla="*/ 502920 w 8686799"/>
              <a:gd name="connsiteY95" fmla="*/ 5974080 h 8869680"/>
              <a:gd name="connsiteX96" fmla="*/ 45719 w 8686799"/>
              <a:gd name="connsiteY96" fmla="*/ 6987539 h 8869680"/>
              <a:gd name="connsiteX97" fmla="*/ 502919 w 8686799"/>
              <a:gd name="connsiteY97" fmla="*/ 6073140 h 8869680"/>
              <a:gd name="connsiteX98" fmla="*/ 1569719 w 8686799"/>
              <a:gd name="connsiteY98" fmla="*/ 6073140 h 8869680"/>
              <a:gd name="connsiteX99" fmla="*/ 2026919 w 8686799"/>
              <a:gd name="connsiteY99" fmla="*/ 6987539 h 8869680"/>
              <a:gd name="connsiteX100" fmla="*/ 1569719 w 8686799"/>
              <a:gd name="connsiteY100" fmla="*/ 7901940 h 8869680"/>
              <a:gd name="connsiteX101" fmla="*/ 502919 w 8686799"/>
              <a:gd name="connsiteY101" fmla="*/ 7901940 h 8869680"/>
              <a:gd name="connsiteX102" fmla="*/ 0 w 8686799"/>
              <a:gd name="connsiteY102" fmla="*/ 3063240 h 8869680"/>
              <a:gd name="connsiteX103" fmla="*/ 457200 w 8686799"/>
              <a:gd name="connsiteY103" fmla="*/ 2148840 h 8869680"/>
              <a:gd name="connsiteX104" fmla="*/ 1524000 w 8686799"/>
              <a:gd name="connsiteY104" fmla="*/ 2148840 h 8869680"/>
              <a:gd name="connsiteX105" fmla="*/ 1981200 w 8686799"/>
              <a:gd name="connsiteY105" fmla="*/ 3063240 h 8869680"/>
              <a:gd name="connsiteX106" fmla="*/ 1524000 w 8686799"/>
              <a:gd name="connsiteY106" fmla="*/ 3977640 h 8869680"/>
              <a:gd name="connsiteX107" fmla="*/ 457200 w 8686799"/>
              <a:gd name="connsiteY107" fmla="*/ 3977640 h 8869680"/>
              <a:gd name="connsiteX108" fmla="*/ 0 w 8686799"/>
              <a:gd name="connsiteY108" fmla="*/ 1066800 h 8869680"/>
              <a:gd name="connsiteX109" fmla="*/ 457200 w 8686799"/>
              <a:gd name="connsiteY109" fmla="*/ 152400 h 8869680"/>
              <a:gd name="connsiteX110" fmla="*/ 1524000 w 8686799"/>
              <a:gd name="connsiteY110" fmla="*/ 152400 h 8869680"/>
              <a:gd name="connsiteX111" fmla="*/ 1981200 w 8686799"/>
              <a:gd name="connsiteY111" fmla="*/ 1066800 h 8869680"/>
              <a:gd name="connsiteX112" fmla="*/ 1524000 w 8686799"/>
              <a:gd name="connsiteY112" fmla="*/ 1981200 h 8869680"/>
              <a:gd name="connsiteX113" fmla="*/ 457200 w 8686799"/>
              <a:gd name="connsiteY113" fmla="*/ 1981200 h 8869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8686799" h="8869680">
                <a:moveTo>
                  <a:pt x="6705599" y="6736080"/>
                </a:moveTo>
                <a:lnTo>
                  <a:pt x="7162799" y="5821680"/>
                </a:lnTo>
                <a:lnTo>
                  <a:pt x="8229599" y="5821680"/>
                </a:lnTo>
                <a:lnTo>
                  <a:pt x="8686799" y="6736080"/>
                </a:lnTo>
                <a:lnTo>
                  <a:pt x="8229599" y="7650480"/>
                </a:lnTo>
                <a:lnTo>
                  <a:pt x="7162799" y="7650480"/>
                </a:lnTo>
                <a:close/>
                <a:moveTo>
                  <a:pt x="6659879" y="2743200"/>
                </a:moveTo>
                <a:lnTo>
                  <a:pt x="7117079" y="1828800"/>
                </a:lnTo>
                <a:lnTo>
                  <a:pt x="8183879" y="1828800"/>
                </a:lnTo>
                <a:lnTo>
                  <a:pt x="8641079" y="2743200"/>
                </a:lnTo>
                <a:lnTo>
                  <a:pt x="8183879" y="3657600"/>
                </a:lnTo>
                <a:lnTo>
                  <a:pt x="7117079" y="3657600"/>
                </a:lnTo>
                <a:close/>
                <a:moveTo>
                  <a:pt x="6659879" y="4739640"/>
                </a:moveTo>
                <a:lnTo>
                  <a:pt x="7117079" y="3825240"/>
                </a:lnTo>
                <a:lnTo>
                  <a:pt x="8183879" y="3825240"/>
                </a:lnTo>
                <a:lnTo>
                  <a:pt x="8641079" y="4739640"/>
                </a:lnTo>
                <a:lnTo>
                  <a:pt x="8183879" y="5654040"/>
                </a:lnTo>
                <a:lnTo>
                  <a:pt x="7117079" y="5654040"/>
                </a:lnTo>
                <a:close/>
                <a:moveTo>
                  <a:pt x="5084013" y="7828689"/>
                </a:moveTo>
                <a:lnTo>
                  <a:pt x="5541213" y="6914287"/>
                </a:lnTo>
                <a:lnTo>
                  <a:pt x="6608013" y="6914287"/>
                </a:lnTo>
                <a:lnTo>
                  <a:pt x="7065213" y="7828689"/>
                </a:lnTo>
                <a:lnTo>
                  <a:pt x="6608013" y="8743089"/>
                </a:lnTo>
                <a:lnTo>
                  <a:pt x="5541213" y="8743089"/>
                </a:lnTo>
                <a:close/>
                <a:moveTo>
                  <a:pt x="5044439" y="5821680"/>
                </a:moveTo>
                <a:lnTo>
                  <a:pt x="5501639" y="4907280"/>
                </a:lnTo>
                <a:lnTo>
                  <a:pt x="6568439" y="4907280"/>
                </a:lnTo>
                <a:lnTo>
                  <a:pt x="7025639" y="5821680"/>
                </a:lnTo>
                <a:lnTo>
                  <a:pt x="6568439" y="6736080"/>
                </a:lnTo>
                <a:lnTo>
                  <a:pt x="5501639" y="6736080"/>
                </a:lnTo>
                <a:close/>
                <a:moveTo>
                  <a:pt x="4998719" y="1828800"/>
                </a:moveTo>
                <a:lnTo>
                  <a:pt x="5455919" y="914400"/>
                </a:lnTo>
                <a:lnTo>
                  <a:pt x="6522719" y="914400"/>
                </a:lnTo>
                <a:lnTo>
                  <a:pt x="6979919" y="1828800"/>
                </a:lnTo>
                <a:lnTo>
                  <a:pt x="6522719" y="2743200"/>
                </a:lnTo>
                <a:lnTo>
                  <a:pt x="5455919" y="2743200"/>
                </a:lnTo>
                <a:close/>
                <a:moveTo>
                  <a:pt x="4998719" y="3825240"/>
                </a:moveTo>
                <a:lnTo>
                  <a:pt x="5455919" y="2910840"/>
                </a:lnTo>
                <a:lnTo>
                  <a:pt x="6522719" y="2910840"/>
                </a:lnTo>
                <a:lnTo>
                  <a:pt x="6979919" y="3825240"/>
                </a:lnTo>
                <a:lnTo>
                  <a:pt x="6522719" y="4739640"/>
                </a:lnTo>
                <a:lnTo>
                  <a:pt x="5455919" y="4739640"/>
                </a:lnTo>
                <a:close/>
                <a:moveTo>
                  <a:pt x="3383280" y="4907280"/>
                </a:moveTo>
                <a:lnTo>
                  <a:pt x="3840480" y="3992880"/>
                </a:lnTo>
                <a:lnTo>
                  <a:pt x="4907279" y="3992880"/>
                </a:lnTo>
                <a:lnTo>
                  <a:pt x="5364479" y="4907280"/>
                </a:lnTo>
                <a:lnTo>
                  <a:pt x="4907279" y="5821680"/>
                </a:lnTo>
                <a:lnTo>
                  <a:pt x="3840480" y="5821680"/>
                </a:lnTo>
                <a:close/>
                <a:moveTo>
                  <a:pt x="3353291" y="6899541"/>
                </a:moveTo>
                <a:lnTo>
                  <a:pt x="3810491" y="5985141"/>
                </a:lnTo>
                <a:lnTo>
                  <a:pt x="4877291" y="5985141"/>
                </a:lnTo>
                <a:lnTo>
                  <a:pt x="5334491" y="6899541"/>
                </a:lnTo>
                <a:lnTo>
                  <a:pt x="4877291" y="7813941"/>
                </a:lnTo>
                <a:lnTo>
                  <a:pt x="3810491" y="7813941"/>
                </a:lnTo>
                <a:close/>
                <a:moveTo>
                  <a:pt x="3337560" y="914400"/>
                </a:moveTo>
                <a:lnTo>
                  <a:pt x="3794760" y="0"/>
                </a:lnTo>
                <a:lnTo>
                  <a:pt x="4861559" y="0"/>
                </a:lnTo>
                <a:lnTo>
                  <a:pt x="5318759" y="914400"/>
                </a:lnTo>
                <a:lnTo>
                  <a:pt x="4861559" y="1828800"/>
                </a:lnTo>
                <a:lnTo>
                  <a:pt x="3794760" y="1828800"/>
                </a:lnTo>
                <a:close/>
                <a:moveTo>
                  <a:pt x="3337560" y="2910840"/>
                </a:moveTo>
                <a:lnTo>
                  <a:pt x="3794760" y="1996440"/>
                </a:lnTo>
                <a:lnTo>
                  <a:pt x="4861559" y="1996440"/>
                </a:lnTo>
                <a:lnTo>
                  <a:pt x="5318759" y="2910840"/>
                </a:lnTo>
                <a:lnTo>
                  <a:pt x="4861559" y="3825240"/>
                </a:lnTo>
                <a:lnTo>
                  <a:pt x="3794760" y="3825240"/>
                </a:lnTo>
                <a:close/>
                <a:moveTo>
                  <a:pt x="1721873" y="7955280"/>
                </a:moveTo>
                <a:lnTo>
                  <a:pt x="2179073" y="7040880"/>
                </a:lnTo>
                <a:lnTo>
                  <a:pt x="3245873" y="7040880"/>
                </a:lnTo>
                <a:lnTo>
                  <a:pt x="3703073" y="7955280"/>
                </a:lnTo>
                <a:lnTo>
                  <a:pt x="3245873" y="8869680"/>
                </a:lnTo>
                <a:lnTo>
                  <a:pt x="2179073" y="8869680"/>
                </a:lnTo>
                <a:close/>
                <a:moveTo>
                  <a:pt x="1691640" y="5989320"/>
                </a:moveTo>
                <a:lnTo>
                  <a:pt x="2148841" y="5074920"/>
                </a:lnTo>
                <a:lnTo>
                  <a:pt x="3215640" y="5074920"/>
                </a:lnTo>
                <a:lnTo>
                  <a:pt x="3672840" y="5989320"/>
                </a:lnTo>
                <a:lnTo>
                  <a:pt x="3215640" y="6903719"/>
                </a:lnTo>
                <a:lnTo>
                  <a:pt x="2148840" y="6903719"/>
                </a:lnTo>
                <a:close/>
                <a:moveTo>
                  <a:pt x="1645920" y="1996440"/>
                </a:moveTo>
                <a:lnTo>
                  <a:pt x="2103120" y="1082040"/>
                </a:lnTo>
                <a:lnTo>
                  <a:pt x="3169920" y="1082040"/>
                </a:lnTo>
                <a:lnTo>
                  <a:pt x="3627120" y="1996440"/>
                </a:lnTo>
                <a:lnTo>
                  <a:pt x="3169920" y="2910840"/>
                </a:lnTo>
                <a:lnTo>
                  <a:pt x="2103120" y="2910840"/>
                </a:lnTo>
                <a:close/>
                <a:moveTo>
                  <a:pt x="1645920" y="3992880"/>
                </a:moveTo>
                <a:lnTo>
                  <a:pt x="2103120" y="3078480"/>
                </a:lnTo>
                <a:lnTo>
                  <a:pt x="3169920" y="3078480"/>
                </a:lnTo>
                <a:lnTo>
                  <a:pt x="3627120" y="3992880"/>
                </a:lnTo>
                <a:lnTo>
                  <a:pt x="3169920" y="4907280"/>
                </a:lnTo>
                <a:lnTo>
                  <a:pt x="2103120" y="4907280"/>
                </a:lnTo>
                <a:close/>
                <a:moveTo>
                  <a:pt x="45720" y="5059680"/>
                </a:moveTo>
                <a:lnTo>
                  <a:pt x="502920" y="4145280"/>
                </a:lnTo>
                <a:lnTo>
                  <a:pt x="1569720" y="4145280"/>
                </a:lnTo>
                <a:lnTo>
                  <a:pt x="2026920" y="5059680"/>
                </a:lnTo>
                <a:lnTo>
                  <a:pt x="1569720" y="5974080"/>
                </a:lnTo>
                <a:lnTo>
                  <a:pt x="502920" y="5974080"/>
                </a:lnTo>
                <a:close/>
                <a:moveTo>
                  <a:pt x="45719" y="6987539"/>
                </a:moveTo>
                <a:lnTo>
                  <a:pt x="502919" y="6073140"/>
                </a:lnTo>
                <a:lnTo>
                  <a:pt x="1569719" y="6073140"/>
                </a:lnTo>
                <a:lnTo>
                  <a:pt x="2026919" y="6987539"/>
                </a:lnTo>
                <a:lnTo>
                  <a:pt x="1569719" y="7901940"/>
                </a:lnTo>
                <a:lnTo>
                  <a:pt x="502919" y="7901940"/>
                </a:lnTo>
                <a:close/>
                <a:moveTo>
                  <a:pt x="0" y="3063240"/>
                </a:moveTo>
                <a:lnTo>
                  <a:pt x="457200" y="2148840"/>
                </a:lnTo>
                <a:lnTo>
                  <a:pt x="1524000" y="2148840"/>
                </a:lnTo>
                <a:lnTo>
                  <a:pt x="1981200" y="3063240"/>
                </a:lnTo>
                <a:lnTo>
                  <a:pt x="1524000" y="3977640"/>
                </a:lnTo>
                <a:lnTo>
                  <a:pt x="457200" y="3977640"/>
                </a:lnTo>
                <a:close/>
                <a:moveTo>
                  <a:pt x="0" y="1066800"/>
                </a:moveTo>
                <a:lnTo>
                  <a:pt x="457200" y="152400"/>
                </a:lnTo>
                <a:lnTo>
                  <a:pt x="1524000" y="152400"/>
                </a:lnTo>
                <a:lnTo>
                  <a:pt x="1981200" y="1066800"/>
                </a:lnTo>
                <a:lnTo>
                  <a:pt x="1524000" y="1981200"/>
                </a:lnTo>
                <a:lnTo>
                  <a:pt x="457200" y="1981200"/>
                </a:lnTo>
                <a:close/>
              </a:path>
            </a:pathLst>
          </a:cu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itle 1"/>
          <p:cNvSpPr txBox="1">
            <a:spLocks/>
          </p:cNvSpPr>
          <p:nvPr/>
        </p:nvSpPr>
        <p:spPr>
          <a:xfrm>
            <a:off x="81454" y="5440680"/>
            <a:ext cx="8153400" cy="14173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l-GR" sz="4000" b="1" dirty="0"/>
              <a:t>ΠΡΥ036 - Διδακτική Πληροφορικής Ι</a:t>
            </a:r>
            <a:r>
              <a:rPr lang="en-US" sz="4000" b="1" dirty="0"/>
              <a:t> </a:t>
            </a:r>
          </a:p>
        </p:txBody>
      </p:sp>
      <p:pic>
        <p:nvPicPr>
          <p:cNvPr id="27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7611" y="152400"/>
            <a:ext cx="3566156" cy="990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60641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3086100" cy="6858000"/>
            <a:chOff x="0" y="0"/>
            <a:chExt cx="3086100" cy="6858000"/>
          </a:xfrm>
        </p:grpSpPr>
        <p:sp>
          <p:nvSpPr>
            <p:cNvPr id="5" name="Rectangle 4"/>
            <p:cNvSpPr/>
            <p:nvPr/>
          </p:nvSpPr>
          <p:spPr>
            <a:xfrm>
              <a:off x="0" y="0"/>
              <a:ext cx="3086100" cy="68580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TextBox 6"/>
            <p:cNvSpPr txBox="1"/>
            <p:nvPr/>
          </p:nvSpPr>
          <p:spPr>
            <a:xfrm flipH="1">
              <a:off x="83820" y="1447800"/>
              <a:ext cx="2971799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01 </a:t>
              </a:r>
            </a:p>
            <a:p>
              <a:pPr lvl="0"/>
              <a:r>
                <a:rPr lang="el-GR" sz="2800" dirty="0"/>
                <a:t>Διόρθωση Άσκησης Σχεδίου Μαθήματος</a:t>
              </a:r>
              <a:endParaRPr lang="en-GB" sz="3200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115050" y="0"/>
            <a:ext cx="3086100" cy="6858000"/>
            <a:chOff x="6172200" y="0"/>
            <a:chExt cx="3086100" cy="6858000"/>
          </a:xfrm>
        </p:grpSpPr>
        <p:sp>
          <p:nvSpPr>
            <p:cNvPr id="6" name="Rectangle 5"/>
            <p:cNvSpPr/>
            <p:nvPr/>
          </p:nvSpPr>
          <p:spPr>
            <a:xfrm>
              <a:off x="6172200" y="0"/>
              <a:ext cx="2971800" cy="6858000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6286501" y="1463039"/>
              <a:ext cx="2971799" cy="26468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03 </a:t>
              </a:r>
            </a:p>
            <a:p>
              <a:pPr lvl="0"/>
              <a:r>
                <a:rPr lang="el-GR" sz="2800" dirty="0"/>
                <a:t>Σύγχρονες παιδαγωγικές αρχές  - </a:t>
              </a:r>
              <a:r>
                <a:rPr lang="en-GB" sz="2800" dirty="0"/>
                <a:t>Gamification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3028950" y="0"/>
            <a:ext cx="3086100" cy="6858000"/>
            <a:chOff x="3086100" y="0"/>
            <a:chExt cx="3086100" cy="6858000"/>
          </a:xfrm>
        </p:grpSpPr>
        <p:sp>
          <p:nvSpPr>
            <p:cNvPr id="4" name="Rectangle 3"/>
            <p:cNvSpPr/>
            <p:nvPr/>
          </p:nvSpPr>
          <p:spPr>
            <a:xfrm>
              <a:off x="3086100" y="0"/>
              <a:ext cx="3086100" cy="6858000"/>
            </a:xfrm>
            <a:prstGeom prst="rect">
              <a:avLst/>
            </a:prstGeom>
            <a:solidFill>
              <a:srgbClr val="FAC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/>
            <p:cNvSpPr txBox="1"/>
            <p:nvPr/>
          </p:nvSpPr>
          <p:spPr>
            <a:xfrm flipH="1">
              <a:off x="3116581" y="1463039"/>
              <a:ext cx="2971799" cy="18466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sz="5400" dirty="0"/>
                <a:t>02 </a:t>
              </a:r>
            </a:p>
            <a:p>
              <a:r>
                <a:rPr lang="el-GR" sz="2800" dirty="0"/>
                <a:t>Διαχείριση Τάξης</a:t>
              </a:r>
              <a:endParaRPr lang="en-GB" sz="2800" dirty="0"/>
            </a:p>
            <a:p>
              <a:pPr lvl="0"/>
              <a:endParaRPr lang="en-GB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4297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el-GR" dirty="0"/>
              <a:t>Διόρθωση Άσκησης Σχεδίου Μαθήματος</a:t>
            </a:r>
            <a:endParaRPr lang="en-GB" sz="4800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1371600" y="362585"/>
            <a:ext cx="6400800" cy="1752600"/>
          </a:xfrm>
        </p:spPr>
        <p:txBody>
          <a:bodyPr>
            <a:normAutofit/>
          </a:bodyPr>
          <a:lstStyle/>
          <a:p>
            <a:r>
              <a:rPr lang="el-GR" sz="8000" dirty="0">
                <a:solidFill>
                  <a:schemeClr val="tx1"/>
                </a:solidFill>
              </a:rPr>
              <a:t>01</a:t>
            </a:r>
            <a:endParaRPr lang="en-GB" sz="8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734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dirty="0"/>
              <a:t>Συντρέχουσα Αξιολόγηση (τι είναι)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l-GR" sz="3200" dirty="0"/>
              <a:t>Γίνεται κατά τη διάρκεια της μαθησιακής διαδικασίας, παράλληλα με τη διδασκαλία/δραστηριότητες.</a:t>
            </a:r>
          </a:p>
          <a:p>
            <a:pPr lvl="1"/>
            <a:r>
              <a:rPr lang="el-GR" sz="3200" dirty="0"/>
              <a:t>Ο εκπαιδευτικός παρατηρεί συστηματικά την εργασία και τις απαντήσεις των μαθητών.</a:t>
            </a:r>
          </a:p>
          <a:p>
            <a:pPr lvl="1"/>
            <a:r>
              <a:rPr lang="el-GR" sz="3200" dirty="0"/>
              <a:t>Ελέγχει συγκεκριμένα στοιχεία που συνδέονται με τους Δείκτες Επιτυχίας.</a:t>
            </a:r>
          </a:p>
          <a:p>
            <a:pPr lvl="1"/>
            <a:r>
              <a:rPr lang="el-GR" sz="3200" dirty="0"/>
              <a:t>Συλλέγει στοιχεία για το τι έχει κατανοήσει ή μπορεί να κάνει ο μαθητής εκείνη τη στιγμή.</a:t>
            </a:r>
          </a:p>
          <a:p>
            <a:pPr lvl="1"/>
            <a:r>
              <a:rPr lang="el-GR" sz="3200" dirty="0"/>
              <a:t>Εντοπίζει λάθη, δυσκολίες ή παρανοήσεις.</a:t>
            </a:r>
          </a:p>
          <a:p>
            <a:pPr lvl="1"/>
            <a:r>
              <a:rPr lang="el-GR" sz="3200" dirty="0"/>
              <a:t>Παρέχει </a:t>
            </a:r>
            <a:r>
              <a:rPr lang="el-GR" sz="3200" dirty="0" err="1"/>
              <a:t>στοχευμένη</a:t>
            </a:r>
            <a:r>
              <a:rPr lang="el-GR" sz="3200" dirty="0"/>
              <a:t> ανατροφοδότηση με βάση αυτά που διαπίστωσε.</a:t>
            </a:r>
          </a:p>
        </p:txBody>
      </p:sp>
      <p:pic>
        <p:nvPicPr>
          <p:cNvPr id="4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620268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4489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8F76-D1C6-2233-84D8-C8A4EB1DB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B1F5-34BA-21B6-4ACF-62657DA0C9A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Συντρέχουσα Αξιολόγηση (τι δεν είναι)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946F2-73D7-EEE0-D308-43ADF51FB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0200"/>
            <a:ext cx="8686800" cy="4525963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l-GR" sz="3200" dirty="0"/>
              <a:t>Απλώς να περιφέρεται ο εκπαιδευτικός στην τάξη.</a:t>
            </a:r>
          </a:p>
          <a:p>
            <a:pPr lvl="1"/>
            <a:r>
              <a:rPr lang="el-GR" sz="3200" dirty="0"/>
              <a:t>Απλώς να λύνει απορίες.</a:t>
            </a:r>
          </a:p>
          <a:p>
            <a:pPr lvl="1"/>
            <a:r>
              <a:rPr lang="el-GR" sz="3200" dirty="0"/>
              <a:t>Απλώς να δίνει διευκρινίσεις ή βοήθεια.</a:t>
            </a:r>
          </a:p>
          <a:p>
            <a:pPr lvl="1"/>
            <a:r>
              <a:rPr lang="el-GR" sz="3200" dirty="0"/>
              <a:t>Να παρακολουθεί γενικά αν οι μαθητές «δουλεύουν».</a:t>
            </a:r>
          </a:p>
          <a:p>
            <a:pPr lvl="1"/>
            <a:r>
              <a:rPr lang="el-GR" sz="3200" dirty="0"/>
              <a:t>Να διορθώνει ένα λάθος χωρίς να φαίνεται τι αξιολογεί και σε σχέση με ποιον μαθησιακό στόχο.</a:t>
            </a:r>
          </a:p>
          <a:p>
            <a:pPr lvl="1"/>
            <a:r>
              <a:rPr lang="el-GR" sz="3200" dirty="0"/>
              <a:t>Μια δραστηριότητα γίνεται συντρέχουσα αξιολόγηση μόνο και μόνο επειδή πραγματοποιείται κατά τη διάρκεια του μαθήματος</a:t>
            </a:r>
          </a:p>
        </p:txBody>
      </p:sp>
      <p:pic>
        <p:nvPicPr>
          <p:cNvPr id="4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BD796ADF-3B58-1290-A29F-09DC48836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620268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096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3D5EC-6AC3-272F-4B1C-8FFD8445D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AD36C-0CE4-C9D6-8B6C-0841575CDEA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Autofit/>
          </a:bodyPr>
          <a:lstStyle/>
          <a:p>
            <a:r>
              <a:rPr lang="el-GR" sz="3600" dirty="0"/>
              <a:t>Συντρέχουσα Αξιολόγηση</a:t>
            </a:r>
            <a:endParaRPr lang="en-GB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AD17-E75B-3A31-53F4-764C6C13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00200"/>
            <a:ext cx="8686800" cy="213360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l-GR" sz="3200" dirty="0"/>
              <a:t>Αν το σχέδιο λέει μόνο </a:t>
            </a:r>
            <a:r>
              <a:rPr lang="el-GR" sz="3200" b="1" dirty="0"/>
              <a:t>«περιφέρεται, λύνει απορίες και δίνει διευκρινίσεις»,</a:t>
            </a:r>
            <a:r>
              <a:rPr lang="el-GR" sz="3200" dirty="0"/>
              <a:t> έχουμε υποστήριξη/καθοδήγηση, αλλά δεν τεκμηριώνεται συντρέχουσα αξιολόγηση.</a:t>
            </a:r>
          </a:p>
        </p:txBody>
      </p:sp>
      <p:pic>
        <p:nvPicPr>
          <p:cNvPr id="4" name="Picture 2" descr="http://ucy.ac.cy/proypiresiaki/images/template_img/logo_el.png">
            <a:extLst>
              <a:ext uri="{FF2B5EF4-FFF2-40B4-BE49-F238E27FC236}">
                <a16:creationId xmlns:a16="http://schemas.microsoft.com/office/drawing/2014/main" id="{50F6D878-7A63-B4B2-E6C7-43DFB1CF2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10400" y="6202681"/>
            <a:ext cx="1920240" cy="533400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672B9A-D70C-8554-F3C6-B8ED18481CE7}"/>
              </a:ext>
            </a:extLst>
          </p:cNvPr>
          <p:cNvSpPr txBox="1">
            <a:spLocks/>
          </p:cNvSpPr>
          <p:nvPr/>
        </p:nvSpPr>
        <p:spPr>
          <a:xfrm>
            <a:off x="152400" y="3916362"/>
            <a:ext cx="8686800" cy="213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l-GR" sz="3200" dirty="0"/>
              <a:t>Αν το σχέδιο λέει «</a:t>
            </a:r>
            <a:r>
              <a:rPr lang="el-GR" sz="3200" b="1" dirty="0"/>
              <a:t>παρακολουθεί την πορεία εργασίας των μαθητών σε σχέση με τους Δείκτες Επιτυχίας, εντοπίζει δυσκολίες/παρανοήσεις και παρέχει </a:t>
            </a:r>
            <a:r>
              <a:rPr lang="el-GR" sz="3200" b="1" dirty="0" err="1"/>
              <a:t>στοχευμένη</a:t>
            </a:r>
            <a:r>
              <a:rPr lang="el-GR" sz="3200" b="1" dirty="0"/>
              <a:t> ανατροφοδότηση</a:t>
            </a:r>
            <a:r>
              <a:rPr lang="el-GR" sz="3200" dirty="0"/>
              <a:t>»,  τεκμηριώνεται συντρέχουσα αξιολόγηση.</a:t>
            </a:r>
          </a:p>
        </p:txBody>
      </p:sp>
    </p:spTree>
    <p:extLst>
      <p:ext uri="{BB962C8B-B14F-4D97-AF65-F5344CB8AC3E}">
        <p14:creationId xmlns:p14="http://schemas.microsoft.com/office/powerpoint/2010/main" val="298335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 err="1"/>
              <a:t>Αυτοαξιολόγηση</a:t>
            </a:r>
            <a:r>
              <a:rPr lang="el-GR" sz="3600" dirty="0"/>
              <a:t> (τι είναι)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marL="608013">
              <a:spcBef>
                <a:spcPts val="400"/>
              </a:spcBef>
            </a:pPr>
            <a:r>
              <a:rPr lang="el-G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Ο ίδιος ο μαθητής αποτιμά τη μάθησή του.</a:t>
            </a:r>
          </a:p>
          <a:p>
            <a:pPr marL="608013">
              <a:spcBef>
                <a:spcPts val="400"/>
              </a:spcBef>
            </a:pPr>
            <a:r>
              <a:rPr lang="el-G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Αναλογίζεται τι έχει κατακτήσει και πού εξακολουθεί να δυσκολεύεται.</a:t>
            </a:r>
          </a:p>
          <a:p>
            <a:pPr marL="608013">
              <a:spcBef>
                <a:spcPts val="400"/>
              </a:spcBef>
            </a:pPr>
            <a:r>
              <a:rPr lang="el-G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Συγκρίνει την επίδοσή του με γνωστούς στόχους ή κριτήρια επιτυχίας.</a:t>
            </a:r>
          </a:p>
          <a:p>
            <a:pPr marL="608013">
              <a:spcBef>
                <a:spcPts val="400"/>
              </a:spcBef>
            </a:pPr>
            <a:r>
              <a:rPr lang="el-G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Αναγνωρίζει τα δυνατά του σημεία και τις αδυναμίες του.</a:t>
            </a:r>
          </a:p>
          <a:p>
            <a:pPr marL="608013">
              <a:spcBef>
                <a:spcPts val="400"/>
              </a:spcBef>
            </a:pPr>
            <a:r>
              <a:rPr lang="el-GR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Ιδανικά αποφασίζει τι χρειάζεται να βελτιώσει ή να επαναλάβει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6141403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4208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 err="1"/>
              <a:t>Αυτοαξιολόγηση</a:t>
            </a:r>
            <a:r>
              <a:rPr lang="el-GR" sz="3600" dirty="0"/>
              <a:t> (τι δεν είναι)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958658"/>
            <a:ext cx="8473440" cy="4670742"/>
          </a:xfrm>
        </p:spPr>
        <p:txBody>
          <a:bodyPr>
            <a:noAutofit/>
          </a:bodyPr>
          <a:lstStyle/>
          <a:p>
            <a:r>
              <a:rPr lang="el-GR" sz="2800" dirty="0"/>
              <a:t>Απλώς να βλέπει ο μαθητής αν απάντησε σωστά ή λάθος.</a:t>
            </a:r>
          </a:p>
          <a:p>
            <a:r>
              <a:rPr lang="el-GR" sz="2800" dirty="0"/>
              <a:t>Να παίρνει έναν βαθμό ή ένα ποσοστό από το </a:t>
            </a:r>
            <a:r>
              <a:rPr lang="el-GR" sz="2800" dirty="0" err="1"/>
              <a:t>Kahoot</a:t>
            </a:r>
            <a:r>
              <a:rPr lang="el-GR" sz="2800" dirty="0"/>
              <a:t>.</a:t>
            </a:r>
          </a:p>
          <a:p>
            <a:r>
              <a:rPr lang="el-GR" sz="2800" dirty="0"/>
              <a:t>Να του δίνει το σύστημα αυτόματα τη σωστή απάντηση.</a:t>
            </a:r>
          </a:p>
          <a:p>
            <a:r>
              <a:rPr lang="el-GR" sz="2800" dirty="0"/>
              <a:t>Να διορθώνει ο εκπαιδευτικός τις απαντήσεις του.</a:t>
            </a:r>
          </a:p>
          <a:p>
            <a:r>
              <a:rPr lang="el-GR" sz="2800" dirty="0"/>
              <a:t>Κάθε ατομικό </a:t>
            </a:r>
            <a:r>
              <a:rPr lang="el-GR" sz="2800" dirty="0" err="1"/>
              <a:t>quiz</a:t>
            </a:r>
            <a:r>
              <a:rPr lang="el-GR" sz="2800" dirty="0"/>
              <a:t> δεν είναι αυτομάτως </a:t>
            </a:r>
            <a:r>
              <a:rPr lang="el-GR" sz="2800" dirty="0" err="1"/>
              <a:t>αυτοαξιολόγηση</a:t>
            </a:r>
            <a:r>
              <a:rPr lang="el-GR" sz="2800" dirty="0"/>
              <a:t>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69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Διαμορφωτική Αξιολόγηση (τι είναι)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5280" y="1562419"/>
            <a:ext cx="8473440" cy="4670742"/>
          </a:xfrm>
        </p:spPr>
        <p:txBody>
          <a:bodyPr>
            <a:noAutofit/>
          </a:bodyPr>
          <a:lstStyle/>
          <a:p>
            <a:r>
              <a:rPr lang="el-GR" sz="2600" dirty="0"/>
              <a:t>Γίνεται κατά τη διάρκεια ή στο πλαίσιο της μαθησιακής διαδικασίας, με στόχο τη βελτίωση της μάθησης.</a:t>
            </a:r>
          </a:p>
          <a:p>
            <a:r>
              <a:rPr lang="el-GR" sz="2600" dirty="0"/>
              <a:t>Δίνει στον εκπαιδευτικό πληροφορίες για το τι έχουν κατανοήσει οι μαθητές και πού δυσκολεύονται.</a:t>
            </a:r>
          </a:p>
          <a:p>
            <a:r>
              <a:rPr lang="el-GR" sz="2600" dirty="0"/>
              <a:t>Συνδέεται με τους μαθησιακούς στόχους/Δείκτες Επιτυχίας.</a:t>
            </a:r>
          </a:p>
          <a:p>
            <a:r>
              <a:rPr lang="el-GR" sz="2600" dirty="0"/>
              <a:t>Ο εκπαιδευτικός αξιοποιεί τα αποτελέσματα για να δώσει ανατροφοδότηση και, όπου χρειάζεται, να προσαρμόσει τη διδασκαλία.</a:t>
            </a:r>
          </a:p>
          <a:p>
            <a:r>
              <a:rPr lang="el-GR" sz="2600" dirty="0"/>
              <a:t>Μπορεί να γίνει με σύντομο </a:t>
            </a:r>
            <a:r>
              <a:rPr lang="el-GR" sz="2600" dirty="0" err="1"/>
              <a:t>quiz</a:t>
            </a:r>
            <a:r>
              <a:rPr lang="el-GR" sz="2600" dirty="0"/>
              <a:t>, ερωτήσεις, δραστηριότητα, </a:t>
            </a:r>
            <a:r>
              <a:rPr lang="el-GR" sz="2600" dirty="0" err="1"/>
              <a:t>exit</a:t>
            </a:r>
            <a:r>
              <a:rPr lang="el-GR" sz="2600" dirty="0"/>
              <a:t> </a:t>
            </a:r>
            <a:r>
              <a:rPr lang="el-GR" sz="2600" dirty="0" err="1"/>
              <a:t>ticket</a:t>
            </a:r>
            <a:r>
              <a:rPr lang="el-GR" sz="2600" dirty="0"/>
              <a:t>, παρατήρηση κ.λπ.</a:t>
            </a:r>
          </a:p>
          <a:p>
            <a:r>
              <a:rPr lang="el-GR" sz="2600" dirty="0"/>
              <a:t>Δεν χρειάζεται να βαθμολογείται.</a:t>
            </a:r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38520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/>
              <a:t>Διαμορφωτική Αξιολόγηση (τι δεν είναι)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/>
              <a:t> Απλώς ένα </a:t>
            </a:r>
            <a:r>
              <a:rPr lang="el-GR" dirty="0" err="1"/>
              <a:t>quiz</a:t>
            </a:r>
            <a:r>
              <a:rPr lang="el-GR" dirty="0"/>
              <a:t> επειδή έχει σωστές και λανθασμένες απαντήσεις.</a:t>
            </a:r>
          </a:p>
          <a:p>
            <a:r>
              <a:rPr lang="el-GR" dirty="0"/>
              <a:t>Μια δραστηριότητα της οποίας τα αποτελέσματα δεν αξιοποιούνται καθόλου.</a:t>
            </a:r>
          </a:p>
          <a:p>
            <a:r>
              <a:rPr lang="el-GR" dirty="0"/>
              <a:t>Υποχρεωτικά τελική ή βαθμολογούμενη αξιολόγηση.</a:t>
            </a:r>
          </a:p>
        </p:txBody>
      </p:sp>
    </p:spTree>
    <p:extLst>
      <p:ext uri="{BB962C8B-B14F-4D97-AF65-F5344CB8AC3E}">
        <p14:creationId xmlns:p14="http://schemas.microsoft.com/office/powerpoint/2010/main" val="33559395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solidFill>
            <a:srgbClr val="FAC090"/>
          </a:solidFill>
        </p:spPr>
        <p:txBody>
          <a:bodyPr>
            <a:normAutofit/>
          </a:bodyPr>
          <a:lstStyle/>
          <a:p>
            <a:r>
              <a:rPr lang="el-GR" sz="3600" dirty="0" err="1"/>
              <a:t>Αυτοαξιολόγηση</a:t>
            </a:r>
            <a:r>
              <a:rPr lang="el-GR" sz="3600" dirty="0"/>
              <a:t> </a:t>
            </a:r>
            <a:r>
              <a:rPr lang="en-US" sz="3600" dirty="0"/>
              <a:t>Vs </a:t>
            </a:r>
            <a:r>
              <a:rPr lang="el-GR" sz="3600" dirty="0"/>
              <a:t>Διαμορφωτική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5280" y="1547179"/>
            <a:ext cx="8473440" cy="4670742"/>
          </a:xfrm>
        </p:spPr>
        <p:txBody>
          <a:bodyPr>
            <a:noAutofit/>
          </a:bodyPr>
          <a:lstStyle/>
          <a:p>
            <a:r>
              <a:rPr lang="el-GR" sz="2800" b="1" dirty="0"/>
              <a:t>Διαμορφωτική</a:t>
            </a:r>
            <a:r>
              <a:rPr lang="el-GR" sz="2800" dirty="0"/>
              <a:t>: «Τι έχουν καταλάβει οι μαθητές και πώς θα τους βοηθήσω να προχωρήσουν;»</a:t>
            </a:r>
          </a:p>
          <a:p>
            <a:r>
              <a:rPr lang="el-GR" sz="2800" b="1" dirty="0" err="1"/>
              <a:t>Αυτοαξιολόγηση</a:t>
            </a:r>
            <a:r>
              <a:rPr lang="el-GR" sz="2800" dirty="0"/>
              <a:t>:«Τι έχω καταλάβει εγώ (ο μαθητής), πού δυσκολεύομαι και τι πρέπει να βελτιώσω;»</a:t>
            </a:r>
            <a:endParaRPr lang="en-GB" sz="2800" dirty="0"/>
          </a:p>
        </p:txBody>
      </p:sp>
      <p:pic>
        <p:nvPicPr>
          <p:cNvPr id="5" name="Picture 2" descr="http://ucy.ac.cy/proypiresiaki/images/template_img/logo_el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10400" y="6217921"/>
            <a:ext cx="1920240" cy="533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4780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6005</TotalTime>
  <Words>504</Words>
  <Application>Microsoft Office PowerPoint</Application>
  <PresentationFormat>On-screen Show (4:3)</PresentationFormat>
  <Paragraphs>58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Διόρθωση Άσκησης Σχεδίου Μαθήματος</vt:lpstr>
      <vt:lpstr>Συντρέχουσα Αξιολόγηση (τι είναι)</vt:lpstr>
      <vt:lpstr>Συντρέχουσα Αξιολόγηση (τι δεν είναι)</vt:lpstr>
      <vt:lpstr>Συντρέχουσα Αξιολόγηση</vt:lpstr>
      <vt:lpstr>Αυτοαξιολόγηση (τι είναι)</vt:lpstr>
      <vt:lpstr>Αυτοαξιολόγηση (τι δεν είναι)</vt:lpstr>
      <vt:lpstr>Διαμορφωτική Αξιολόγηση (τι είναι)</vt:lpstr>
      <vt:lpstr>Διαμορφωτική Αξιολόγηση (τι δεν είναι)</vt:lpstr>
      <vt:lpstr>Αυτοαξιολόγηση Vs Διαμορφωτική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Άριστος Αρέστη</cp:lastModifiedBy>
  <cp:revision>169</cp:revision>
  <dcterms:created xsi:type="dcterms:W3CDTF">2015-09-15T19:28:21Z</dcterms:created>
  <dcterms:modified xsi:type="dcterms:W3CDTF">2026-10-31T05:50:15Z</dcterms:modified>
</cp:coreProperties>
</file>