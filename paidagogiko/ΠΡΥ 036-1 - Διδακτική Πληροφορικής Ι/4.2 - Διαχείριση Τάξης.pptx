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7" r:id="rId2"/>
    <p:sldId id="276" r:id="rId3"/>
    <p:sldId id="280" r:id="rId4"/>
    <p:sldId id="288" r:id="rId5"/>
    <p:sldId id="337" r:id="rId6"/>
    <p:sldId id="312" r:id="rId7"/>
    <p:sldId id="332" r:id="rId8"/>
    <p:sldId id="313" r:id="rId9"/>
    <p:sldId id="338" r:id="rId10"/>
    <p:sldId id="339" r:id="rId11"/>
    <p:sldId id="340" r:id="rId12"/>
    <p:sldId id="341" r:id="rId13"/>
    <p:sldId id="333" r:id="rId14"/>
    <p:sldId id="31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8" autoAdjust="0"/>
    <p:restoredTop sz="86118" autoAdjust="0"/>
  </p:normalViewPr>
  <p:slideViewPr>
    <p:cSldViewPr>
      <p:cViewPr varScale="1">
        <p:scale>
          <a:sx n="137" d="100"/>
          <a:sy n="137" d="100"/>
        </p:scale>
        <p:origin x="238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31T05:50:39.258" v="1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31T05:50:39.258" v="1" actId="47"/>
        <pc:sldMkLst>
          <pc:docMk/>
          <pc:sldMk cId="0" sldId="274"/>
        </pc:sldMkLst>
      </pc:sldChg>
      <pc:sldChg chg="del">
        <pc:chgData name="Άριστος Αρέστη" userId="813aa191-2d4c-464f-9d05-0a7e494d859f" providerId="ADAL" clId="{49C7B61D-1ACF-4AFF-A04E-A3B433E32474}" dt="2026-10-31T05:50:28.968" v="0" actId="47"/>
        <pc:sldMkLst>
          <pc:docMk/>
          <pc:sldMk cId="2844892332" sldId="278"/>
        </pc:sldMkLst>
      </pc:sldChg>
      <pc:sldChg chg="del">
        <pc:chgData name="Άριστος Αρέστη" userId="813aa191-2d4c-464f-9d05-0a7e494d859f" providerId="ADAL" clId="{49C7B61D-1ACF-4AFF-A04E-A3B433E32474}" dt="2026-10-31T05:50:28.968" v="0" actId="47"/>
        <pc:sldMkLst>
          <pc:docMk/>
          <pc:sldMk cId="3737734990" sldId="287"/>
        </pc:sldMkLst>
      </pc:sldChg>
      <pc:sldChg chg="del">
        <pc:chgData name="Άριστος Αρέστη" userId="813aa191-2d4c-464f-9d05-0a7e494d859f" providerId="ADAL" clId="{49C7B61D-1ACF-4AFF-A04E-A3B433E32474}" dt="2026-10-31T05:50:39.258" v="1" actId="47"/>
        <pc:sldMkLst>
          <pc:docMk/>
          <pc:sldMk cId="3446216825" sldId="292"/>
        </pc:sldMkLst>
      </pc:sldChg>
      <pc:sldChg chg="del">
        <pc:chgData name="Άριστος Αρέστη" userId="813aa191-2d4c-464f-9d05-0a7e494d859f" providerId="ADAL" clId="{49C7B61D-1ACF-4AFF-A04E-A3B433E32474}" dt="2026-10-31T05:50:28.968" v="0" actId="47"/>
        <pc:sldMkLst>
          <pc:docMk/>
          <pc:sldMk cId="74208894" sldId="299"/>
        </pc:sldMkLst>
      </pc:sldChg>
      <pc:sldChg chg="del">
        <pc:chgData name="Άριστος Αρέστη" userId="813aa191-2d4c-464f-9d05-0a7e494d859f" providerId="ADAL" clId="{49C7B61D-1ACF-4AFF-A04E-A3B433E32474}" dt="2026-10-31T05:50:28.968" v="0" actId="47"/>
        <pc:sldMkLst>
          <pc:docMk/>
          <pc:sldMk cId="87196975" sldId="300"/>
        </pc:sldMkLst>
      </pc:sldChg>
      <pc:sldChg chg="del">
        <pc:chgData name="Άριστος Αρέστη" userId="813aa191-2d4c-464f-9d05-0a7e494d859f" providerId="ADAL" clId="{49C7B61D-1ACF-4AFF-A04E-A3B433E32474}" dt="2026-10-31T05:50:39.258" v="1" actId="47"/>
        <pc:sldMkLst>
          <pc:docMk/>
          <pc:sldMk cId="1889573002" sldId="318"/>
        </pc:sldMkLst>
      </pc:sldChg>
      <pc:sldChg chg="del">
        <pc:chgData name="Άριστος Αρέστη" userId="813aa191-2d4c-464f-9d05-0a7e494d859f" providerId="ADAL" clId="{49C7B61D-1ACF-4AFF-A04E-A3B433E32474}" dt="2026-10-31T05:50:39.258" v="1" actId="47"/>
        <pc:sldMkLst>
          <pc:docMk/>
          <pc:sldMk cId="323195847" sldId="319"/>
        </pc:sldMkLst>
      </pc:sldChg>
      <pc:sldChg chg="del">
        <pc:chgData name="Άριστος Αρέστη" userId="813aa191-2d4c-464f-9d05-0a7e494d859f" providerId="ADAL" clId="{49C7B61D-1ACF-4AFF-A04E-A3B433E32474}" dt="2026-10-31T05:50:39.258" v="1" actId="47"/>
        <pc:sldMkLst>
          <pc:docMk/>
          <pc:sldMk cId="4240815766" sldId="320"/>
        </pc:sldMkLst>
      </pc:sldChg>
      <pc:sldChg chg="del">
        <pc:chgData name="Άριστος Αρέστη" userId="813aa191-2d4c-464f-9d05-0a7e494d859f" providerId="ADAL" clId="{49C7B61D-1ACF-4AFF-A04E-A3B433E32474}" dt="2026-10-31T05:50:39.258" v="1" actId="47"/>
        <pc:sldMkLst>
          <pc:docMk/>
          <pc:sldMk cId="2688893505" sldId="321"/>
        </pc:sldMkLst>
      </pc:sldChg>
      <pc:sldChg chg="del">
        <pc:chgData name="Άριστος Αρέστη" userId="813aa191-2d4c-464f-9d05-0a7e494d859f" providerId="ADAL" clId="{49C7B61D-1ACF-4AFF-A04E-A3B433E32474}" dt="2026-10-31T05:50:39.258" v="1" actId="47"/>
        <pc:sldMkLst>
          <pc:docMk/>
          <pc:sldMk cId="2803131493" sldId="322"/>
        </pc:sldMkLst>
      </pc:sldChg>
      <pc:sldChg chg="del">
        <pc:chgData name="Άριστος Αρέστη" userId="813aa191-2d4c-464f-9d05-0a7e494d859f" providerId="ADAL" clId="{49C7B61D-1ACF-4AFF-A04E-A3B433E32474}" dt="2026-10-31T05:50:39.258" v="1" actId="47"/>
        <pc:sldMkLst>
          <pc:docMk/>
          <pc:sldMk cId="269430479" sldId="323"/>
        </pc:sldMkLst>
      </pc:sldChg>
      <pc:sldChg chg="del">
        <pc:chgData name="Άριστος Αρέστη" userId="813aa191-2d4c-464f-9d05-0a7e494d859f" providerId="ADAL" clId="{49C7B61D-1ACF-4AFF-A04E-A3B433E32474}" dt="2026-10-31T05:50:39.258" v="1" actId="47"/>
        <pc:sldMkLst>
          <pc:docMk/>
          <pc:sldMk cId="31738663" sldId="324"/>
        </pc:sldMkLst>
      </pc:sldChg>
      <pc:sldChg chg="del">
        <pc:chgData name="Άριστος Αρέστη" userId="813aa191-2d4c-464f-9d05-0a7e494d859f" providerId="ADAL" clId="{49C7B61D-1ACF-4AFF-A04E-A3B433E32474}" dt="2026-10-31T05:50:39.258" v="1" actId="47"/>
        <pc:sldMkLst>
          <pc:docMk/>
          <pc:sldMk cId="2293801379" sldId="325"/>
        </pc:sldMkLst>
      </pc:sldChg>
      <pc:sldChg chg="del">
        <pc:chgData name="Άριστος Αρέστη" userId="813aa191-2d4c-464f-9d05-0a7e494d859f" providerId="ADAL" clId="{49C7B61D-1ACF-4AFF-A04E-A3B433E32474}" dt="2026-10-31T05:50:39.258" v="1" actId="47"/>
        <pc:sldMkLst>
          <pc:docMk/>
          <pc:sldMk cId="3467604370" sldId="326"/>
        </pc:sldMkLst>
      </pc:sldChg>
      <pc:sldChg chg="del">
        <pc:chgData name="Άριστος Αρέστη" userId="813aa191-2d4c-464f-9d05-0a7e494d859f" providerId="ADAL" clId="{49C7B61D-1ACF-4AFF-A04E-A3B433E32474}" dt="2026-10-31T05:50:39.258" v="1" actId="47"/>
        <pc:sldMkLst>
          <pc:docMk/>
          <pc:sldMk cId="48497479" sldId="327"/>
        </pc:sldMkLst>
      </pc:sldChg>
      <pc:sldChg chg="del">
        <pc:chgData name="Άριστος Αρέστη" userId="813aa191-2d4c-464f-9d05-0a7e494d859f" providerId="ADAL" clId="{49C7B61D-1ACF-4AFF-A04E-A3B433E32474}" dt="2026-10-31T05:50:28.968" v="0" actId="47"/>
        <pc:sldMkLst>
          <pc:docMk/>
          <pc:sldMk cId="3238520119" sldId="328"/>
        </pc:sldMkLst>
      </pc:sldChg>
      <pc:sldChg chg="del">
        <pc:chgData name="Άριστος Αρέστη" userId="813aa191-2d4c-464f-9d05-0a7e494d859f" providerId="ADAL" clId="{49C7B61D-1ACF-4AFF-A04E-A3B433E32474}" dt="2026-10-31T05:50:28.968" v="0" actId="47"/>
        <pc:sldMkLst>
          <pc:docMk/>
          <pc:sldMk cId="3355939526" sldId="329"/>
        </pc:sldMkLst>
      </pc:sldChg>
      <pc:sldChg chg="del">
        <pc:chgData name="Άριστος Αρέστη" userId="813aa191-2d4c-464f-9d05-0a7e494d859f" providerId="ADAL" clId="{49C7B61D-1ACF-4AFF-A04E-A3B433E32474}" dt="2026-10-31T05:50:28.968" v="0" actId="47"/>
        <pc:sldMkLst>
          <pc:docMk/>
          <pc:sldMk cId="3044780865" sldId="330"/>
        </pc:sldMkLst>
      </pc:sldChg>
      <pc:sldChg chg="del">
        <pc:chgData name="Άριστος Αρέστη" userId="813aa191-2d4c-464f-9d05-0a7e494d859f" providerId="ADAL" clId="{49C7B61D-1ACF-4AFF-A04E-A3B433E32474}" dt="2026-10-31T05:50:28.968" v="0" actId="47"/>
        <pc:sldMkLst>
          <pc:docMk/>
          <pc:sldMk cId="1600961853" sldId="342"/>
        </pc:sldMkLst>
      </pc:sldChg>
      <pc:sldChg chg="del">
        <pc:chgData name="Άριστος Αρέστη" userId="813aa191-2d4c-464f-9d05-0a7e494d859f" providerId="ADAL" clId="{49C7B61D-1ACF-4AFF-A04E-A3B433E32474}" dt="2026-10-31T05:50:28.968" v="0" actId="47"/>
        <pc:sldMkLst>
          <pc:docMk/>
          <pc:sldMk cId="2983357102" sldId="343"/>
        </pc:sldMkLst>
      </pc:sldChg>
      <pc:sldMasterChg chg="delSldLayout">
        <pc:chgData name="Άριστος Αρέστη" userId="813aa191-2d4c-464f-9d05-0a7e494d859f" providerId="ADAL" clId="{49C7B61D-1ACF-4AFF-A04E-A3B433E32474}" dt="2026-10-31T05:50:39.258" v="1" actId="47"/>
        <pc:sldMasterMkLst>
          <pc:docMk/>
          <pc:sldMasterMk cId="0" sldId="2147483648"/>
        </pc:sldMasterMkLst>
        <pc:sldLayoutChg chg="del">
          <pc:chgData name="Άριστος Αρέστη" userId="813aa191-2d4c-464f-9d05-0a7e494d859f" providerId="ADAL" clId="{49C7B61D-1ACF-4AFF-A04E-A3B433E32474}" dt="2026-10-31T05:50:39.258" v="1" actId="47"/>
          <pc:sldLayoutMkLst>
            <pc:docMk/>
            <pc:sldMasterMk cId="0" sldId="2147483648"/>
            <pc:sldLayoutMk cId="1957124866" sldId="2147483660"/>
          </pc:sldLayoutMkLst>
        </pc:sldLayoutChg>
        <pc:sldLayoutChg chg="del">
          <pc:chgData name="Άριστος Αρέστη" userId="813aa191-2d4c-464f-9d05-0a7e494d859f" providerId="ADAL" clId="{49C7B61D-1ACF-4AFF-A04E-A3B433E32474}" dt="2026-10-31T05:50:39.258" v="1" actId="47"/>
          <pc:sldLayoutMkLst>
            <pc:docMk/>
            <pc:sldMasterMk cId="0" sldId="2147483648"/>
            <pc:sldLayoutMk cId="2791988042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64329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97800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42349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73212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2820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52868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85028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35183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68970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3086100" cy="6858000"/>
            <a:chOff x="0" y="0"/>
            <a:chExt cx="3086100" cy="6858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3086100" cy="685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83820" y="1447800"/>
              <a:ext cx="2971799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01 </a:t>
              </a:r>
            </a:p>
            <a:p>
              <a:pPr lvl="0"/>
              <a:r>
                <a:rPr lang="el-GR" sz="2800" dirty="0"/>
                <a:t>Διόρθωση Άσκησης Σχεδίου Μαθήματος</a:t>
              </a:r>
              <a:endParaRPr lang="en-GB" sz="3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15050" y="0"/>
            <a:ext cx="3086100" cy="6858000"/>
            <a:chOff x="6172200" y="0"/>
            <a:chExt cx="3086100" cy="6858000"/>
          </a:xfrm>
        </p:grpSpPr>
        <p:sp>
          <p:nvSpPr>
            <p:cNvPr id="6" name="Rectangle 5"/>
            <p:cNvSpPr/>
            <p:nvPr/>
          </p:nvSpPr>
          <p:spPr>
            <a:xfrm>
              <a:off x="6172200" y="0"/>
              <a:ext cx="2971800" cy="685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 flipH="1">
              <a:off x="6286501" y="1463039"/>
              <a:ext cx="2971799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03 </a:t>
              </a:r>
            </a:p>
            <a:p>
              <a:pPr lvl="0"/>
              <a:r>
                <a:rPr lang="el-GR" sz="2800" dirty="0"/>
                <a:t>Σύγχρονες παιδαγωγικές αρχές  - </a:t>
              </a:r>
              <a:r>
                <a:rPr lang="en-GB" sz="2800" dirty="0"/>
                <a:t>Gamification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28950" y="0"/>
            <a:ext cx="3086100" cy="6858000"/>
            <a:chOff x="3086100" y="0"/>
            <a:chExt cx="3086100" cy="6858000"/>
          </a:xfrm>
        </p:grpSpPr>
        <p:sp>
          <p:nvSpPr>
            <p:cNvPr id="4" name="Rectangle 3"/>
            <p:cNvSpPr/>
            <p:nvPr/>
          </p:nvSpPr>
          <p:spPr>
            <a:xfrm>
              <a:off x="3086100" y="0"/>
              <a:ext cx="3086100" cy="6858000"/>
            </a:xfrm>
            <a:prstGeom prst="rect">
              <a:avLst/>
            </a:prstGeom>
            <a:solidFill>
              <a:srgbClr val="FAC0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/>
            <p:cNvSpPr txBox="1"/>
            <p:nvPr/>
          </p:nvSpPr>
          <p:spPr>
            <a:xfrm flipH="1">
              <a:off x="3116581" y="1463039"/>
              <a:ext cx="2971799" cy="1846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02 </a:t>
              </a:r>
            </a:p>
            <a:p>
              <a:r>
                <a:rPr lang="el-GR" sz="2800" dirty="0"/>
                <a:t>Διαχείριση Τάξης</a:t>
              </a:r>
              <a:endParaRPr lang="en-GB" sz="2800" dirty="0"/>
            </a:p>
            <a:p>
              <a:pPr lvl="0"/>
              <a:endParaRPr lang="en-GB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297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Διαχείριση Τάξης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02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946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28600"/>
            <a:ext cx="6172200" cy="6172200"/>
          </a:xfrm>
        </p:spPr>
      </p:pic>
    </p:spTree>
    <p:extLst>
      <p:ext uri="{BB962C8B-B14F-4D97-AF65-F5344CB8AC3E}">
        <p14:creationId xmlns:p14="http://schemas.microsoft.com/office/powerpoint/2010/main" val="1341062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Διαχείριση Τάξης</a:t>
            </a:r>
            <a:endParaRPr lang="el-GR" sz="3600" b="1" dirty="0"/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799"/>
          </a:xfrm>
        </p:spPr>
        <p:txBody>
          <a:bodyPr>
            <a:noAutofit/>
          </a:bodyPr>
          <a:lstStyle/>
          <a:p>
            <a:pPr marL="265113" indent="0">
              <a:spcBef>
                <a:spcPts val="400"/>
              </a:spcBef>
              <a:buNone/>
            </a:pPr>
            <a:r>
              <a:rPr lang="el-GR" sz="2400" dirty="0"/>
              <a:t>Η διαχείριση τάξης δεν αφορά μόνο την πειθαρχία ή τη σιωπή. Είναι η ικανότητα του εκπαιδευτικού να οργανώνει, να καθοδηγεί και να εμπνέει τους μαθητές ώστε να μαθαίνουν αποτελεσματικά. </a:t>
            </a:r>
          </a:p>
          <a:p>
            <a:pPr marL="265113" indent="0">
              <a:spcBef>
                <a:spcPts val="400"/>
              </a:spcBef>
              <a:buNone/>
            </a:pPr>
            <a:r>
              <a:rPr lang="el-GR" sz="2400" dirty="0"/>
              <a:t>Περιλαμβάνει:</a:t>
            </a:r>
          </a:p>
          <a:p>
            <a:pPr marL="608013">
              <a:spcBef>
                <a:spcPts val="400"/>
              </a:spcBef>
            </a:pPr>
            <a:r>
              <a:rPr lang="el-GR" sz="2400" dirty="0"/>
              <a:t>Καθορισμό κανόνων και προσδοκιών.</a:t>
            </a:r>
          </a:p>
          <a:p>
            <a:pPr marL="608013">
              <a:spcBef>
                <a:spcPts val="400"/>
              </a:spcBef>
            </a:pPr>
            <a:r>
              <a:rPr lang="el-GR" sz="2400" dirty="0"/>
              <a:t>Δημιουργία θετικού κλίματος.</a:t>
            </a:r>
          </a:p>
          <a:p>
            <a:pPr marL="608013">
              <a:spcBef>
                <a:spcPts val="400"/>
              </a:spcBef>
            </a:pPr>
            <a:r>
              <a:rPr lang="el-GR" sz="2400" dirty="0"/>
              <a:t>Ενίσχυση της συμμετοχής και της υπευθυνότητας.</a:t>
            </a:r>
          </a:p>
          <a:p>
            <a:pPr marL="608013">
              <a:spcBef>
                <a:spcPts val="400"/>
              </a:spcBef>
            </a:pPr>
            <a:r>
              <a:rPr lang="el-GR" sz="2400" dirty="0"/>
              <a:t>Πρόληψη και αντιμετώπιση συγκρούσεων.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457200" y="5516561"/>
            <a:ext cx="6743193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l-GR" sz="2000" b="1" dirty="0"/>
              <a:t>Στόχος</a:t>
            </a:r>
            <a:r>
              <a:rPr lang="el-GR" sz="2000" dirty="0"/>
              <a:t>: Να υπάρχει τάξη χωρίς να χρειάζεται συνεχής έλεγχος.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89790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Στόχοι Διαχείρισης Τάξης</a:t>
            </a:r>
            <a:endParaRPr lang="el-GR" sz="3600" b="1" dirty="0"/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7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2400" dirty="0"/>
              <a:t>Η αποτελεσματική διαχείριση τάξης επιδιώκει:</a:t>
            </a:r>
          </a:p>
          <a:p>
            <a:r>
              <a:rPr lang="el-GR" sz="2400" b="1" dirty="0"/>
              <a:t>Ασφάλεια:</a:t>
            </a:r>
            <a:r>
              <a:rPr lang="el-GR" sz="2400" dirty="0"/>
              <a:t> συναισθηματική και σωματική.</a:t>
            </a:r>
          </a:p>
          <a:p>
            <a:r>
              <a:rPr lang="el-GR" sz="2400" b="1" dirty="0"/>
              <a:t>Σεβασμό:</a:t>
            </a:r>
            <a:r>
              <a:rPr lang="el-GR" sz="2400" dirty="0"/>
              <a:t> προς τους ανθρώπους, τον χώρο και τη διαδικασία.</a:t>
            </a:r>
          </a:p>
          <a:p>
            <a:r>
              <a:rPr lang="el-GR" sz="2400" b="1" dirty="0"/>
              <a:t>Συνεργασία:</a:t>
            </a:r>
            <a:r>
              <a:rPr lang="el-GR" sz="2400" dirty="0"/>
              <a:t> ενεργός συμμετοχή όλων.</a:t>
            </a:r>
          </a:p>
          <a:p>
            <a:r>
              <a:rPr lang="el-GR" sz="2400" b="1" dirty="0"/>
              <a:t>Υπευθυνότητα:</a:t>
            </a:r>
            <a:r>
              <a:rPr lang="el-GR" sz="2400" dirty="0"/>
              <a:t> κάθε μαθητής αναλαμβάνει τις πράξεις του.</a:t>
            </a:r>
          </a:p>
          <a:p>
            <a:r>
              <a:rPr lang="el-GR" sz="2400" b="1" dirty="0"/>
              <a:t>Αποδοτικότητα:</a:t>
            </a:r>
            <a:r>
              <a:rPr lang="el-GR" sz="2400" dirty="0"/>
              <a:t> ελαχιστοποίηση χαμένου χρόνου και μέγιστη συγκέντρωση στη μάθηση.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87680" y="5316506"/>
            <a:ext cx="7889596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l-GR" sz="2000" dirty="0"/>
              <a:t>Μια καλά διαχειρισμένη τάξη «κυλά» μόνη της, χωρίς φωνές και εντάσεις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04660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Ρόλος του Εκπαιδευτικού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7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2400" dirty="0"/>
              <a:t>Ο εκπαιδευτικός είναι </a:t>
            </a:r>
            <a:r>
              <a:rPr lang="el-GR" sz="2400" b="1" dirty="0"/>
              <a:t>ο συντονιστής της ομάδας</a:t>
            </a:r>
            <a:r>
              <a:rPr lang="el-GR" sz="2400" dirty="0"/>
              <a:t>.</a:t>
            </a:r>
            <a:br>
              <a:rPr lang="el-GR" sz="2400" dirty="0"/>
            </a:br>
            <a:r>
              <a:rPr lang="el-GR" sz="2400" dirty="0"/>
              <a:t>Η συμπεριφορά του καθορίζει τη δυναμική της τάξης.</a:t>
            </a:r>
          </a:p>
          <a:p>
            <a:r>
              <a:rPr lang="el-GR" sz="2400" dirty="0"/>
              <a:t>Θέτει </a:t>
            </a:r>
            <a:r>
              <a:rPr lang="el-GR" sz="2400" b="1" dirty="0"/>
              <a:t>σαφείς και σταθερούς κανόνες</a:t>
            </a:r>
            <a:r>
              <a:rPr lang="el-GR" sz="2400" dirty="0"/>
              <a:t>.</a:t>
            </a:r>
          </a:p>
          <a:p>
            <a:r>
              <a:rPr lang="el-GR" sz="2400" dirty="0"/>
              <a:t>Δείχνει </a:t>
            </a:r>
            <a:r>
              <a:rPr lang="el-GR" sz="2400" b="1" dirty="0"/>
              <a:t>συνέπεια, δικαιοσύνη και </a:t>
            </a:r>
            <a:r>
              <a:rPr lang="el-GR" sz="2400" b="1" dirty="0" err="1"/>
              <a:t>ενσυναίσθηση</a:t>
            </a:r>
            <a:r>
              <a:rPr lang="el-GR" sz="2400" dirty="0"/>
              <a:t>.</a:t>
            </a:r>
          </a:p>
          <a:p>
            <a:r>
              <a:rPr lang="el-GR" sz="2400" dirty="0"/>
              <a:t>Χτίζει </a:t>
            </a:r>
            <a:r>
              <a:rPr lang="el-GR" sz="2400" b="1" dirty="0"/>
              <a:t>σχέσεις εμπιστοσύνης</a:t>
            </a:r>
            <a:r>
              <a:rPr lang="el-GR" sz="2400" dirty="0"/>
              <a:t> με τους μαθητές.</a:t>
            </a:r>
          </a:p>
          <a:p>
            <a:r>
              <a:rPr lang="el-GR" sz="2400" dirty="0"/>
              <a:t>Αντιδρά </a:t>
            </a:r>
            <a:r>
              <a:rPr lang="el-GR" sz="2400" b="1" dirty="0"/>
              <a:t>ήρεμα αλλά αποφασιστικά</a:t>
            </a:r>
            <a:r>
              <a:rPr lang="el-GR" sz="2400" dirty="0"/>
              <a:t> σε παραβάσεις.</a:t>
            </a:r>
          </a:p>
          <a:p>
            <a:r>
              <a:rPr lang="el-GR" sz="2400" dirty="0"/>
              <a:t>Αποτελεί </a:t>
            </a:r>
            <a:r>
              <a:rPr lang="el-GR" sz="2400" b="1" dirty="0"/>
              <a:t>πρότυπο συμπεριφοράς και επικοινωνίας</a:t>
            </a:r>
            <a:r>
              <a:rPr lang="el-G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3997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Καθιέρωση Κανόνων και </a:t>
            </a:r>
            <a:r>
              <a:rPr lang="el-GR" sz="3600" dirty="0" err="1"/>
              <a:t>Ρουτινών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38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2400" dirty="0"/>
              <a:t>Οι κανόνες και οι </a:t>
            </a:r>
            <a:r>
              <a:rPr lang="el-GR" sz="2400" dirty="0" err="1"/>
              <a:t>ρουτίνες</a:t>
            </a:r>
            <a:r>
              <a:rPr lang="el-GR" sz="2400" dirty="0"/>
              <a:t> είναι το “αόρατο πλαίσιο” που κρατά την τάξη σε ισορροπία.</a:t>
            </a:r>
          </a:p>
          <a:p>
            <a:r>
              <a:rPr lang="el-GR" sz="2400" dirty="0"/>
              <a:t>Καθορίζονται </a:t>
            </a:r>
            <a:r>
              <a:rPr lang="el-GR" sz="2400" b="1" dirty="0"/>
              <a:t>από κοινού με τους μαθητές</a:t>
            </a:r>
            <a:r>
              <a:rPr lang="el-GR" sz="2400" dirty="0"/>
              <a:t> (συμμετοχή = δέσμευση).</a:t>
            </a:r>
          </a:p>
          <a:p>
            <a:r>
              <a:rPr lang="el-GR" sz="2400" dirty="0"/>
              <a:t>Είναι </a:t>
            </a:r>
            <a:r>
              <a:rPr lang="el-GR" sz="2400" b="1" dirty="0"/>
              <a:t>λίγοι, σαφείς και θετικά διατυπωμένοι</a:t>
            </a:r>
            <a:r>
              <a:rPr lang="el-GR" sz="2400" dirty="0"/>
              <a:t>.</a:t>
            </a:r>
            <a:br>
              <a:rPr lang="el-GR" sz="2400" dirty="0"/>
            </a:br>
            <a:r>
              <a:rPr lang="el-GR" sz="2400" dirty="0"/>
              <a:t>π.χ. όχι “Μην φωνάζεις”, αλλά “Μιλάμε με χαμηλή φωνή”.</a:t>
            </a:r>
          </a:p>
          <a:p>
            <a:r>
              <a:rPr lang="el-GR" sz="2400" dirty="0"/>
              <a:t>Οι </a:t>
            </a:r>
            <a:r>
              <a:rPr lang="el-GR" sz="2400" dirty="0" err="1"/>
              <a:t>ρουτίνες</a:t>
            </a:r>
            <a:r>
              <a:rPr lang="el-GR" sz="2400" dirty="0"/>
              <a:t> (έναρξη, αλλαγή δραστηριότητας, αποχώρηση) μειώνουν την αταξία.</a:t>
            </a:r>
          </a:p>
          <a:p>
            <a:r>
              <a:rPr lang="el-GR" sz="2400" dirty="0"/>
              <a:t>Κάθε κανόνας συνοδεύεται από </a:t>
            </a:r>
            <a:r>
              <a:rPr lang="el-GR" sz="2400" b="1" dirty="0"/>
              <a:t>λογικές συνέπειες</a:t>
            </a:r>
            <a:r>
              <a:rPr lang="el-GR" sz="2400" dirty="0"/>
              <a:t> — όχι τιμωρίες.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05445"/>
            <a:ext cx="7851124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l-GR" sz="2000" dirty="0"/>
              <a:t>Η συνέπεια στη ρουτίνα δημιουργεί αίσθηση ασφάλειας στους εφήβους.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551589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Θετικό Κλίμα &amp; Κίνητρα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38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2400" dirty="0"/>
              <a:t>Το θετικό κλίμα δεν “προκύπτει” — χτίζεται.</a:t>
            </a:r>
          </a:p>
          <a:p>
            <a:r>
              <a:rPr lang="el-GR" sz="2400" b="1" dirty="0"/>
              <a:t>Ενθαρρύνουμε</a:t>
            </a:r>
            <a:r>
              <a:rPr lang="el-GR" sz="2400" dirty="0"/>
              <a:t> τη συμμετοχή και την προσπάθεια όλων.</a:t>
            </a:r>
          </a:p>
          <a:p>
            <a:r>
              <a:rPr lang="el-GR" sz="2400" b="1" dirty="0"/>
              <a:t>Αναγνωρίζουμε</a:t>
            </a:r>
            <a:r>
              <a:rPr lang="el-GR" sz="2400" dirty="0"/>
              <a:t> κάθε μικρή επιτυχία.</a:t>
            </a:r>
          </a:p>
          <a:p>
            <a:r>
              <a:rPr lang="el-GR" sz="2400" b="1" dirty="0"/>
              <a:t>Ακούμε</a:t>
            </a:r>
            <a:r>
              <a:rPr lang="el-GR" sz="2400" dirty="0"/>
              <a:t> ενεργά τους μαθητές — τους δείχνουμε ότι η γνώμη τους μετρά.</a:t>
            </a:r>
          </a:p>
          <a:p>
            <a:r>
              <a:rPr lang="el-GR" sz="2400" b="1" dirty="0"/>
              <a:t>Δημιουργούμε ευκαιρίες συνεργασίας</a:t>
            </a:r>
            <a:r>
              <a:rPr lang="el-GR" sz="2400" dirty="0"/>
              <a:t> (ομαδικές εργασίες, παιχνίδια ρόλων).</a:t>
            </a:r>
          </a:p>
          <a:p>
            <a:r>
              <a:rPr lang="el-GR" sz="2400" dirty="0"/>
              <a:t>Ενισχύουμε την </a:t>
            </a:r>
            <a:r>
              <a:rPr lang="el-GR" sz="2400" b="1" dirty="0"/>
              <a:t>εσωτερική παρακίνηση</a:t>
            </a:r>
            <a:r>
              <a:rPr lang="el-GR" sz="2400" dirty="0"/>
              <a:t>, όχι τον φόβο τιμωρίας.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767" y="5621307"/>
            <a:ext cx="8772466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l-GR" sz="2000" dirty="0"/>
              <a:t>Οι μαθητές ανθίζουν όταν αισθάνονται ότι τους σέβονται και τους εμπιστεύονται.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68887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Αντιμετώπιση Προβλημάτων Συμπεριφοράς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38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2400" dirty="0"/>
              <a:t>Αναπόφευκτα θα υπάρξουν προκλήσεις. Το πώς αντιδρά ο εκπαιδευτικός κάνει τη διαφορά.</a:t>
            </a:r>
          </a:p>
          <a:p>
            <a:r>
              <a:rPr lang="el-GR" sz="2400" b="1" dirty="0"/>
              <a:t>Πρόληψη</a:t>
            </a:r>
            <a:r>
              <a:rPr lang="el-GR" sz="2400" dirty="0"/>
              <a:t> – καθαροί κανόνες, θετικό κλίμα.</a:t>
            </a:r>
          </a:p>
          <a:p>
            <a:r>
              <a:rPr lang="el-GR" sz="2400" b="1" dirty="0"/>
              <a:t>Παρέμβαση ήπια</a:t>
            </a:r>
            <a:r>
              <a:rPr lang="el-GR" sz="2400" dirty="0"/>
              <a:t> – υπενθύμιση, βλέμμα, αλλαγή δραστηριότητας.</a:t>
            </a:r>
          </a:p>
          <a:p>
            <a:r>
              <a:rPr lang="el-GR" sz="2400" b="1" dirty="0"/>
              <a:t>Ιδιωτική συζήτηση</a:t>
            </a:r>
            <a:r>
              <a:rPr lang="el-GR" sz="2400" dirty="0"/>
              <a:t> – σε ήρεμο τόνο, όχι δημόσια σύγκρουση.</a:t>
            </a:r>
          </a:p>
          <a:p>
            <a:r>
              <a:rPr lang="el-GR" sz="2400" b="1" dirty="0"/>
              <a:t>Αποκατάσταση σχέσης</a:t>
            </a:r>
            <a:r>
              <a:rPr lang="el-GR" sz="2400" dirty="0"/>
              <a:t> – βοήθεια για </a:t>
            </a:r>
            <a:r>
              <a:rPr lang="el-GR" sz="2400" dirty="0" err="1"/>
              <a:t>αναστοχασμό</a:t>
            </a:r>
            <a:r>
              <a:rPr lang="el-GR" sz="2400" dirty="0"/>
              <a:t>, όχι τιμωρία.</a:t>
            </a:r>
          </a:p>
          <a:p>
            <a:r>
              <a:rPr lang="el-GR" sz="2400" b="1" dirty="0"/>
              <a:t>Συνεργασία με γονείς / διεύθυνση</a:t>
            </a:r>
            <a:r>
              <a:rPr lang="el-GR" sz="2400" dirty="0"/>
              <a:t> σε σοβαρά περιστατικά.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38800"/>
            <a:ext cx="7540334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l-GR" sz="2000" dirty="0"/>
              <a:t>Η ψυχραιμία του εκπαιδευτικού είναι το πρώτο μάθημα αυτοελέγχου </a:t>
            </a:r>
          </a:p>
          <a:p>
            <a:r>
              <a:rPr lang="el-GR" sz="2000" dirty="0"/>
              <a:t>για τους μαθητές.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19836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Σύγχρονες Προσεγγίσεις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570038"/>
            <a:ext cx="8229600" cy="4038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2400" dirty="0"/>
              <a:t>Οι σύγχρονες τάξεις χρειάζονται ευελιξία και καινοτομία.</a:t>
            </a:r>
          </a:p>
          <a:p>
            <a:r>
              <a:rPr lang="el-GR" sz="2400" b="1" dirty="0"/>
              <a:t>Συνεργατική Μάθηση:</a:t>
            </a:r>
            <a:r>
              <a:rPr lang="el-GR" sz="2400" dirty="0"/>
              <a:t> μαθητές σε μικρές ομάδες, κοινοί στόχοι.</a:t>
            </a:r>
          </a:p>
          <a:p>
            <a:r>
              <a:rPr lang="el-GR" sz="2400" b="1" dirty="0"/>
              <a:t>Ψηφιακή Τάξη:</a:t>
            </a:r>
            <a:r>
              <a:rPr lang="el-GR" sz="2400" dirty="0"/>
              <a:t> σαφείς κανόνες για χρήση κινητών και υπολογιστών.</a:t>
            </a:r>
          </a:p>
          <a:p>
            <a:r>
              <a:rPr lang="el-GR" sz="2400" b="1" dirty="0"/>
              <a:t>Διαφοροποιημένη Διδασκαλία:</a:t>
            </a:r>
            <a:r>
              <a:rPr lang="el-GR" sz="2400" dirty="0"/>
              <a:t> διαφορετικοί τρόποι προσέγγισης της ίδιας γνώσης.</a:t>
            </a:r>
          </a:p>
          <a:p>
            <a:r>
              <a:rPr lang="el-GR" sz="2400" b="1" dirty="0" err="1"/>
              <a:t>Αναστοχασμός</a:t>
            </a:r>
            <a:r>
              <a:rPr lang="el-GR" sz="2400" b="1" dirty="0"/>
              <a:t>:</a:t>
            </a:r>
            <a:r>
              <a:rPr lang="el-GR" sz="2400" dirty="0"/>
              <a:t> σύντομη συζήτηση στο τέλος για το τι πήγε καλά.</a:t>
            </a:r>
          </a:p>
        </p:txBody>
      </p:sp>
    </p:spTree>
    <p:extLst>
      <p:ext uri="{BB962C8B-B14F-4D97-AF65-F5344CB8AC3E}">
        <p14:creationId xmlns:p14="http://schemas.microsoft.com/office/powerpoint/2010/main" val="4158064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Πειθαρχία </a:t>
            </a:r>
            <a:r>
              <a:rPr lang="en-GB" sz="3600" dirty="0"/>
              <a:t>vs </a:t>
            </a:r>
            <a:r>
              <a:rPr lang="el-GR" sz="3600" dirty="0"/>
              <a:t>Διαχείριση Τάξης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6126163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972577"/>
              </p:ext>
            </p:extLst>
          </p:nvPr>
        </p:nvGraphicFramePr>
        <p:xfrm>
          <a:off x="655301" y="1600201"/>
          <a:ext cx="7833398" cy="4525961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916699">
                  <a:extLst>
                    <a:ext uri="{9D8B030D-6E8A-4147-A177-3AD203B41FA5}">
                      <a16:colId xmlns:a16="http://schemas.microsoft.com/office/drawing/2014/main" val="1328040111"/>
                    </a:ext>
                  </a:extLst>
                </a:gridCol>
                <a:gridCol w="3916699">
                  <a:extLst>
                    <a:ext uri="{9D8B030D-6E8A-4147-A177-3AD203B41FA5}">
                      <a16:colId xmlns:a16="http://schemas.microsoft.com/office/drawing/2014/main" val="1557408015"/>
                    </a:ext>
                  </a:extLst>
                </a:gridCol>
              </a:tblGrid>
              <a:tr h="348151">
                <a:tc>
                  <a:txBody>
                    <a:bodyPr/>
                    <a:lstStyle/>
                    <a:p>
                      <a:r>
                        <a:rPr lang="el-GR" sz="1700" b="1" dirty="0"/>
                        <a:t>Πειθαρχία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l-GR" sz="1700" b="1" dirty="0"/>
                        <a:t>Διαχείριση Τάξης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042178977"/>
                  </a:ext>
                </a:extLst>
              </a:tr>
              <a:tr h="870377">
                <a:tc>
                  <a:txBody>
                    <a:bodyPr/>
                    <a:lstStyle/>
                    <a:p>
                      <a:r>
                        <a:rPr lang="el-GR" sz="1700" dirty="0"/>
                        <a:t>Εστιάζει στην υπακοή και στον έλεγχο της συμπεριφοράς.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l-GR" sz="1700"/>
                        <a:t>Εστιάζει στη δημιουργία θετικού περιβάλλοντος και στην πρόληψη προβλημάτων.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990649979"/>
                  </a:ext>
                </a:extLst>
              </a:tr>
              <a:tr h="870377">
                <a:tc>
                  <a:txBody>
                    <a:bodyPr/>
                    <a:lstStyle/>
                    <a:p>
                      <a:r>
                        <a:rPr lang="el-GR" sz="1700"/>
                        <a:t>Αντιδραστική: επεμβαίνει μετά από μια ανεπιθύμητη συμπεριφορά.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l-GR" sz="1700"/>
                        <a:t>Προληπτική: οργανώνει τον χώρο, τους κανόνες και τις ρουτίνες πριν προκύψουν προβλήματα.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974512660"/>
                  </a:ext>
                </a:extLst>
              </a:tr>
              <a:tr h="609264">
                <a:tc>
                  <a:txBody>
                    <a:bodyPr/>
                    <a:lstStyle/>
                    <a:p>
                      <a:r>
                        <a:rPr lang="el-GR" sz="1700"/>
                        <a:t>Χρησιμοποιεί κανόνες και συνέπειες για να επιβληθεί τάξη.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l-GR" sz="1700"/>
                        <a:t>Χρησιμοποιεί σχέσεις, συνεργασία και κίνητρα για να προαχθεί η μάθηση.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405528265"/>
                  </a:ext>
                </a:extLst>
              </a:tr>
              <a:tr h="609264">
                <a:tc>
                  <a:txBody>
                    <a:bodyPr/>
                    <a:lstStyle/>
                    <a:p>
                      <a:r>
                        <a:rPr lang="el-GR" sz="1700"/>
                        <a:t>Ο εκπαιδευτικός λειτουργεί ως ελεγκτής.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l-GR" sz="1700"/>
                        <a:t>Ο εκπαιδευτικός λειτουργεί ως καθοδηγητής και συντονιστής.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161650003"/>
                  </a:ext>
                </a:extLst>
              </a:tr>
              <a:tr h="609264">
                <a:tc>
                  <a:txBody>
                    <a:bodyPr/>
                    <a:lstStyle/>
                    <a:p>
                      <a:r>
                        <a:rPr lang="el-GR" sz="1700"/>
                        <a:t>Βραχυπρόθεσμη συμμόρφωση.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l-GR" sz="1700"/>
                        <a:t>Μακροπρόθεσμη υπευθυνότητα και αυτορρύθμιση.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557315395"/>
                  </a:ext>
                </a:extLst>
              </a:tr>
              <a:tr h="609264">
                <a:tc>
                  <a:txBody>
                    <a:bodyPr/>
                    <a:lstStyle/>
                    <a:p>
                      <a:r>
                        <a:rPr lang="el-GR" sz="1700"/>
                        <a:t>Π.χ. “Μην μιλάς χωρίς άδεια.”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l-GR" sz="1700" dirty="0"/>
                        <a:t>Π.χ. “Σεβόμαστε τον χρόνο ομιλίας των άλλων.”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928180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536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Ιδέες - Εργαλεία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" y="1519237"/>
            <a:ext cx="3452101" cy="1452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800" y="1519236"/>
            <a:ext cx="3750470" cy="13001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3375818"/>
            <a:ext cx="1439790" cy="5865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36" y="3341771"/>
            <a:ext cx="2247900" cy="2247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" y="4309109"/>
            <a:ext cx="1909762" cy="190976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0210" y="3962399"/>
            <a:ext cx="2451735" cy="163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86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6005</TotalTime>
  <Words>637</Words>
  <Application>Microsoft Office PowerPoint</Application>
  <PresentationFormat>On-screen Show (4:3)</PresentationFormat>
  <Paragraphs>88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Διαχείριση Τάξης</vt:lpstr>
      <vt:lpstr>PowerPoint Presentation</vt:lpstr>
      <vt:lpstr>Διαχείριση Τάξης</vt:lpstr>
      <vt:lpstr>Στόχοι Διαχείρισης Τάξης</vt:lpstr>
      <vt:lpstr>Ρόλος του Εκπαιδευτικού</vt:lpstr>
      <vt:lpstr>Καθιέρωση Κανόνων και Ρουτινών</vt:lpstr>
      <vt:lpstr>Θετικό Κλίμα &amp; Κίνητρα</vt:lpstr>
      <vt:lpstr>Αντιμετώπιση Προβλημάτων Συμπεριφοράς</vt:lpstr>
      <vt:lpstr>Σύγχρονες Προσεγγίσεις</vt:lpstr>
      <vt:lpstr>Πειθαρχία vs Διαχείριση Τάξης</vt:lpstr>
      <vt:lpstr>Ιδέες - Εργαλεία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Άριστος Αρέστη</cp:lastModifiedBy>
  <cp:revision>169</cp:revision>
  <dcterms:created xsi:type="dcterms:W3CDTF">2015-09-15T19:28:21Z</dcterms:created>
  <dcterms:modified xsi:type="dcterms:W3CDTF">2026-10-31T05:50:39Z</dcterms:modified>
</cp:coreProperties>
</file>