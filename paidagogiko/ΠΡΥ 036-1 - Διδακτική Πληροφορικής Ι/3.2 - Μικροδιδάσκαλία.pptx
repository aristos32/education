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7" r:id="rId2"/>
    <p:sldId id="276" r:id="rId3"/>
    <p:sldId id="288" r:id="rId4"/>
    <p:sldId id="332" r:id="rId5"/>
    <p:sldId id="313" r:id="rId6"/>
    <p:sldId id="314" r:id="rId7"/>
    <p:sldId id="317" r:id="rId8"/>
    <p:sldId id="337" r:id="rId9"/>
    <p:sldId id="339" r:id="rId10"/>
    <p:sldId id="340" r:id="rId11"/>
    <p:sldId id="341" r:id="rId12"/>
    <p:sldId id="34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137" d="100"/>
          <a:sy n="137" d="100"/>
        </p:scale>
        <p:origin x="23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28T19:26:19.443" v="3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8T19:24:27.133" v="2" actId="47"/>
        <pc:sldMkLst>
          <pc:docMk/>
          <pc:sldMk cId="3542971618" sldId="280"/>
        </pc:sldMkLst>
      </pc:sldChg>
      <pc:sldChg chg="del">
        <pc:chgData name="Άριστος Αρέστη" userId="813aa191-2d4c-464f-9d05-0a7e494d859f" providerId="ADAL" clId="{49C7B61D-1ACF-4AFF-A04E-A3B433E32474}" dt="2026-10-28T19:26:19.443" v="3" actId="47"/>
        <pc:sldMkLst>
          <pc:docMk/>
          <pc:sldMk cId="3361842378" sldId="33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#1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#1" qsCatId="simple" csTypeId="urn:microsoft.com/office/officeart/2005/8/colors/accent6_2#1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Σχεδιασμός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Χρήση </a:t>
          </a:r>
          <a:r>
            <a:rPr lang="el-GR" dirty="0" err="1"/>
            <a:t>σχέδιου</a:t>
          </a:r>
          <a:r>
            <a:rPr lang="el-GR" dirty="0"/>
            <a:t> μαθήματος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Υλοποίηση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15’ διδασκαλία σε μικρή ομάδα.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Αξιολόγηση - </a:t>
          </a:r>
          <a:r>
            <a:rPr lang="el-GR" dirty="0" err="1"/>
            <a:t>Αναστοχασμός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b="0" dirty="0"/>
            <a:t>Αξιολόγηση από τον συντονιστή και από τους συναδέλφους.</a:t>
          </a:r>
          <a:endParaRPr lang="en-US" b="0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D33F5A14-D354-45FE-ADAC-8331AAF3A276}">
      <dgm:prSet phldrT="[Text]"/>
      <dgm:spPr/>
      <dgm:t>
        <a:bodyPr/>
        <a:lstStyle/>
        <a:p>
          <a:r>
            <a:rPr lang="el-GR" b="0" dirty="0" err="1"/>
            <a:t>Αναστοχασμός</a:t>
          </a:r>
          <a:r>
            <a:rPr lang="el-GR" b="0" dirty="0"/>
            <a:t> από τον εκπαιδευτικό </a:t>
          </a:r>
          <a:endParaRPr lang="en-US" b="0" dirty="0"/>
        </a:p>
      </dgm:t>
    </dgm:pt>
    <dgm:pt modelId="{88533C19-6F07-4630-BA4C-D7592F9C32B2}" type="parTrans" cxnId="{A88FBFFE-9EFE-4E30-B03C-A571273B7F99}">
      <dgm:prSet/>
      <dgm:spPr/>
      <dgm:t>
        <a:bodyPr/>
        <a:lstStyle/>
        <a:p>
          <a:endParaRPr lang="en-CY"/>
        </a:p>
      </dgm:t>
    </dgm:pt>
    <dgm:pt modelId="{EA10D53F-71E7-4370-8B86-1EA7745EE2DB}" type="sibTrans" cxnId="{A88FBFFE-9EFE-4E30-B03C-A571273B7F99}">
      <dgm:prSet/>
      <dgm:spPr/>
      <dgm:t>
        <a:bodyPr/>
        <a:lstStyle/>
        <a:p>
          <a:endParaRPr lang="en-CY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7F856DF5-18D9-4067-9E06-91384C6201DC}" type="presOf" srcId="{D33F5A14-D354-45FE-ADAC-8331AAF3A276}" destId="{13417FB0-47FC-49AD-81C0-3A9B7CD337CA}" srcOrd="0" destOrd="1" presId="urn:microsoft.com/office/officeart/2005/8/layout/hList1"/>
    <dgm:cxn modelId="{A88FBFFE-9EFE-4E30-B03C-A571273B7F99}" srcId="{9B4078A7-C967-4470-B44F-774E74635ACB}" destId="{D33F5A14-D354-45FE-ADAC-8331AAF3A276}" srcOrd="1" destOrd="0" parTransId="{88533C19-6F07-4630-BA4C-D7592F9C32B2}" sibTransId="{EA10D53F-71E7-4370-8B86-1EA7745EE2DB}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Σχεδιασμός</a:t>
          </a:r>
          <a:endParaRPr lang="en-US" sz="2500" kern="1200" dirty="0"/>
        </a:p>
      </dsp:txBody>
      <dsp:txXfrm>
        <a:off x="2571" y="117619"/>
        <a:ext cx="2507456" cy="905707"/>
      </dsp:txXfrm>
    </dsp:sp>
    <dsp:sp modelId="{0D6EC6C8-D46A-4749-B5FE-EE2D87917632}">
      <dsp:nvSpPr>
        <dsp:cNvPr id="0" name=""/>
        <dsp:cNvSpPr/>
      </dsp:nvSpPr>
      <dsp:spPr>
        <a:xfrm>
          <a:off x="2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Χρήση </a:t>
          </a:r>
          <a:r>
            <a:rPr lang="el-GR" sz="2500" kern="1200" dirty="0" err="1"/>
            <a:t>σχέδιου</a:t>
          </a:r>
          <a:r>
            <a:rPr lang="el-GR" sz="2500" kern="1200" dirty="0"/>
            <a:t> μαθήματος</a:t>
          </a:r>
          <a:endParaRPr lang="en-US" sz="2500" kern="1200" dirty="0"/>
        </a:p>
      </dsp:txBody>
      <dsp:txXfrm>
        <a:off x="2571" y="1023326"/>
        <a:ext cx="2507456" cy="3253253"/>
      </dsp:txXfrm>
    </dsp:sp>
    <dsp:sp modelId="{1B874E87-3D10-45C7-83CA-BE3963DDFD51}">
      <dsp:nvSpPr>
        <dsp:cNvPr id="0" name=""/>
        <dsp:cNvSpPr/>
      </dsp:nvSpPr>
      <dsp:spPr>
        <a:xfrm>
          <a:off x="28610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Υλοποίηση</a:t>
          </a:r>
          <a:endParaRPr lang="en-US" sz="2500" kern="1200" dirty="0"/>
        </a:p>
      </dsp:txBody>
      <dsp:txXfrm>
        <a:off x="2861071" y="117619"/>
        <a:ext cx="2507456" cy="905707"/>
      </dsp:txXfrm>
    </dsp:sp>
    <dsp:sp modelId="{F30CB6CB-F46C-41A3-8DB5-08822497F88E}">
      <dsp:nvSpPr>
        <dsp:cNvPr id="0" name=""/>
        <dsp:cNvSpPr/>
      </dsp:nvSpPr>
      <dsp:spPr>
        <a:xfrm>
          <a:off x="28610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15’ διδασκαλία σε μικρή ομάδα.</a:t>
          </a:r>
          <a:endParaRPr lang="en-US" sz="2500" kern="1200" dirty="0"/>
        </a:p>
      </dsp:txBody>
      <dsp:txXfrm>
        <a:off x="2861071" y="1023326"/>
        <a:ext cx="2507456" cy="3253253"/>
      </dsp:txXfrm>
    </dsp:sp>
    <dsp:sp modelId="{F2E6D6ED-784B-46E3-9E3C-6ADA4D3906AA}">
      <dsp:nvSpPr>
        <dsp:cNvPr id="0" name=""/>
        <dsp:cNvSpPr/>
      </dsp:nvSpPr>
      <dsp:spPr>
        <a:xfrm>
          <a:off x="5719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Αξιολόγηση - </a:t>
          </a:r>
          <a:r>
            <a:rPr lang="el-GR" sz="2500" kern="1200" dirty="0" err="1"/>
            <a:t>Αναστοχασμός</a:t>
          </a:r>
          <a:endParaRPr lang="en-US" sz="2500" kern="1200" dirty="0"/>
        </a:p>
      </dsp:txBody>
      <dsp:txXfrm>
        <a:off x="5719571" y="117619"/>
        <a:ext cx="2507456" cy="905707"/>
      </dsp:txXfrm>
    </dsp:sp>
    <dsp:sp modelId="{13417FB0-47FC-49AD-81C0-3A9B7CD337CA}">
      <dsp:nvSpPr>
        <dsp:cNvPr id="0" name=""/>
        <dsp:cNvSpPr/>
      </dsp:nvSpPr>
      <dsp:spPr>
        <a:xfrm>
          <a:off x="5719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/>
            <a:t>Αξιολόγηση από τον συντονιστή και από τους συναδέλφους.</a:t>
          </a:r>
          <a:endParaRPr lang="en-US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 err="1"/>
            <a:t>Αναστοχασμός</a:t>
          </a:r>
          <a:r>
            <a:rPr lang="el-GR" sz="2500" b="0" kern="1200" dirty="0"/>
            <a:t> από τον εκπαιδευτικό </a:t>
          </a:r>
          <a:endParaRPr lang="en-US" sz="2500" b="0" kern="1200" dirty="0"/>
        </a:p>
      </dsp:txBody>
      <dsp:txXfrm>
        <a:off x="5719571" y="1023326"/>
        <a:ext cx="2507456" cy="3253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800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417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97DA-90A3-58F6-104D-E6EC9E5F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C75A6-E7D4-099D-D88F-553F30C2B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98F97-3510-C3CD-2623-BC4B5D87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F25-73AD-AD9D-B0B6-E52974841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65929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CDBA-1E24-6D55-BAC0-554E9A50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8939B-BB46-C1DE-83A0-5E3357D3B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FA401-5DAD-1C0F-20D4-CC566297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510D-8EAA-5756-F893-2C5462584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7403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7101-F3C6-C8CB-DF20-C4211269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D305D-D404-DB72-066B-B4B911C3E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B3CE3-64D5-B2DF-717C-677DCBE07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9742D-E5C5-3893-7D16-CA4EA4E9B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8689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70CA-D167-3EFF-A6F7-FC8D80F4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D4E94-943F-E575-0BCF-ACC0562E0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56229-FB99-4153-85CC-59B60774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F961-284D-AF4F-0091-8EBF8F730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8648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DF36-E6BD-27DA-97F3-7AEC097C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C1E42-B10D-AE9F-CEBF-531D09CB2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2CDBF-3C59-ACFE-CCB9-019121FFB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09B8F-B570-8CFB-916B-621679EA0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050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28-Oct-26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3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forms.gle/owtA63rtt8Te7NGz6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dirty="0" err="1"/>
              <a:t>Μικροδιδασκαλία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Σκοπός</a:t>
            </a:r>
            <a:endParaRPr lang="el-GR" sz="3600" b="1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Ανάπτυξη διδακτικών δεξιοτήτων.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Εξάσκηση σε συγκεκριμένες φάσεις ενός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Εμπέδωση παιδαγωγικών αρχών.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Απόκτηση αυτοπεποίθησης στη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και βελτίωση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466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Βασικές αρχές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Πραγματική αλλά ελεγχόμενη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Επικεντρώνεται στους συγκεκριμένους στόχους.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Προσαρμόζεται στα χαρακτηριστικά της ομάδας.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Περιλαμβάνει ανατροφοδότηση και </a:t>
            </a:r>
            <a:r>
              <a:rPr lang="el-GR" sz="2400" dirty="0" err="1"/>
              <a:t>αυτοαξιολόγηση</a:t>
            </a:r>
            <a:r>
              <a:rPr lang="el-GR" sz="2400" dirty="0"/>
              <a:t>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Ενισχύει την εποικοδομητική σκέψη, όχι την κριτική..</a:t>
            </a:r>
          </a:p>
        </p:txBody>
      </p:sp>
    </p:spTree>
    <p:extLst>
      <p:ext uri="{BB962C8B-B14F-4D97-AF65-F5344CB8AC3E}">
        <p14:creationId xmlns:p14="http://schemas.microsoft.com/office/powerpoint/2010/main" val="2613997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μέρη της </a:t>
            </a:r>
            <a:r>
              <a:rPr lang="el-GR" sz="3600" dirty="0" err="1"/>
              <a:t>Μικροδιδασκαλίας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891102945"/>
              </p:ext>
            </p:extLst>
          </p:nvPr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85452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Ομάδες 1 -3 άτομα (Να συμπληρωθεί η φόρμα μέχρι 1/11 </a:t>
            </a:r>
            <a:r>
              <a:rPr lang="en-GB" sz="2400" dirty="0">
                <a:hlinkClick r:id="rId5"/>
              </a:rPr>
              <a:t>https://forms.gle/owtA63rtt8Te7NGz6</a:t>
            </a:r>
            <a:r>
              <a:rPr lang="el-GR" sz="2400" dirty="0"/>
              <a:t>)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Παρουσίαση στην τάξη 18/11 και 25/11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Παραδοτέα: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Σχέδιο μαθήματος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Υλικό δραστηριότητας 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(29/11)</a:t>
            </a:r>
          </a:p>
        </p:txBody>
      </p:sp>
    </p:spTree>
    <p:extLst>
      <p:ext uri="{BB962C8B-B14F-4D97-AF65-F5344CB8AC3E}">
        <p14:creationId xmlns:p14="http://schemas.microsoft.com/office/powerpoint/2010/main" val="2054986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F51747-7046-33C7-39C5-87421551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70BC4F-FDBB-73B4-318B-2E3F86A310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CAD35464-9244-4A82-9471-533F5F6D0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00F97A-4433-DBB0-EC95-3FC06403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Κάθε ομάδα θα έχει στη διάθεση της 18 λεπτά.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Θα μπορεί να επιλέξει τους δείκτες επιτυχίας/ επάρκειας που επιθυμεί.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Φάσεις που θα γίνουν σε πραγματικό χρόνο: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Φάσεις που θα θεωρηθούν ως γενόμενες: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Εμπέδωση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Αξιολόγηση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ΟΛΕΣ οι φάσεις θα πρέπει να συνοδεύονται από το υλικό τους.</a:t>
            </a:r>
          </a:p>
        </p:txBody>
      </p:sp>
    </p:spTree>
    <p:extLst>
      <p:ext uri="{BB962C8B-B14F-4D97-AF65-F5344CB8AC3E}">
        <p14:creationId xmlns:p14="http://schemas.microsoft.com/office/powerpoint/2010/main" val="2632511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2A58C2A-8CCA-8871-706F-31A9A40F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45A906-168D-FFBB-52ED-0F0C33A48EF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A4E076AD-88B2-D1AB-9393-77B9C1A4A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6E5F6C-7C16-9751-7B3A-685D2641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Το υλικό πρέπει να είναι πρωτότυπο (όχι ΦΕ από το βιβλίο).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Όλοι οι συμμετέχοντες θα πρέπει να έχουν ενεργή συμμετοχή.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Η σειρά παρουσίασης θα γίνει με κλήρωση. 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μπορείτε να αλλάξετε τα παραδοτέα σας πριν την παρουσίαση.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190045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DE1B69A-DE42-FD7E-8A6B-F5C920EC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95776A-E541-90CE-54EF-2CE5AA45D68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15C73DE2-09BE-EC56-4374-4F81C6E52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5BA24B-DB64-98C1-856E-3C3D0641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Σχέδιο μαθήματος (6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Ευθυγράμμιση υλικού με 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Προαπαιτούμενες</a:t>
            </a:r>
            <a:endParaRPr lang="el-GR" sz="2000" dirty="0"/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Φάσεις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Οργάνωση τάξης (θα πρέπει να μπορεί να δικαιολογηθεί μέσα από τις δραστηριότητες)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Μπορείτε να παραλείψετε τις κομβικές ικανότητες και τα μέσα διδασκαλίας.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713495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D5B0BA3-0170-5ADD-221F-A3C3D7C0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73CEF8-CC22-7CDB-AA70-80594DD6101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3C9C0D77-E3A6-DDD8-F76D-5FB0FCBCE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7BA2E4-1F00-31F9-BC61-89690027A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Υλικό Δραστηριότητας (5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Πρωτοτυπία/ Δημιουργικότητα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Καταλληλότητα</a:t>
            </a:r>
            <a:r>
              <a:rPr lang="el-GR" sz="2000" dirty="0"/>
              <a:t> υλικού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Πληρότητα υλικού (καλύπτει όλες τις φάσεις)</a:t>
            </a:r>
          </a:p>
          <a:p>
            <a:pPr marL="550863">
              <a:spcBef>
                <a:spcPts val="400"/>
              </a:spcBef>
            </a:pPr>
            <a:r>
              <a:rPr lang="el-GR" sz="2400" dirty="0" err="1"/>
              <a:t>Μικροδιδασκαλία</a:t>
            </a:r>
            <a:r>
              <a:rPr lang="el-GR" sz="2400" dirty="0"/>
              <a:t> (7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Παρουσίαση/ Διδακτική προσέγγιση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 (διαμορφωτική αξιολόγηση/ </a:t>
            </a:r>
            <a:r>
              <a:rPr lang="el-GR" sz="2000" dirty="0" err="1"/>
              <a:t>αυτοαξιολόγηση</a:t>
            </a:r>
            <a:r>
              <a:rPr lang="el-GR" sz="2000" dirty="0"/>
              <a:t>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Συμμετοχή μελών της ομάδας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Επικοινωνία/ αλληλεπίδραση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Διαχείριση χρόνου/ ροή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21239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9269106-6BA2-7BDC-A073-908B5677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B6799A-6CF3-FEEC-E196-538FE88D175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21ECF8FF-832F-0FCD-EC33-25B8E7FA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FF5E95-4CE9-F907-9407-066E5891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Τεκμηρίωση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Ποιότητα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688820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4853</TotalTime>
  <Words>346</Words>
  <Application>Microsoft Office PowerPoint</Application>
  <PresentationFormat>On-screen Show (4:3)</PresentationFormat>
  <Paragraphs>80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Μικροδιδασκαλία </vt:lpstr>
      <vt:lpstr>Σκοπός</vt:lpstr>
      <vt:lpstr>Βασικές αρχές</vt:lpstr>
      <vt:lpstr>Τα μέρη της Μικροδιδασκαλίας</vt:lpstr>
      <vt:lpstr>Εργασία</vt:lpstr>
      <vt:lpstr>Εργασία</vt:lpstr>
      <vt:lpstr>Εργασία</vt:lpstr>
      <vt:lpstr>Κριτήρια Βαθμολόγησης</vt:lpstr>
      <vt:lpstr>Κριτήρια Βαθμολόγησης</vt:lpstr>
      <vt:lpstr>Κριτήρια Βαθμολόγησης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151</cp:revision>
  <dcterms:created xsi:type="dcterms:W3CDTF">2015-09-15T19:28:21Z</dcterms:created>
  <dcterms:modified xsi:type="dcterms:W3CDTF">2026-10-28T19:26:30Z</dcterms:modified>
</cp:coreProperties>
</file>