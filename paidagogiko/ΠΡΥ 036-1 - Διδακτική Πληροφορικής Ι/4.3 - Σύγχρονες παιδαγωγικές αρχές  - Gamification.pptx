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7" r:id="rId2"/>
    <p:sldId id="276" r:id="rId3"/>
    <p:sldId id="280" r:id="rId4"/>
    <p:sldId id="292" r:id="rId5"/>
    <p:sldId id="318" r:id="rId6"/>
    <p:sldId id="319" r:id="rId7"/>
    <p:sldId id="320" r:id="rId8"/>
    <p:sldId id="321" r:id="rId9"/>
    <p:sldId id="322" r:id="rId10"/>
    <p:sldId id="323" r:id="rId11"/>
    <p:sldId id="325" r:id="rId12"/>
    <p:sldId id="324" r:id="rId13"/>
    <p:sldId id="326" r:id="rId14"/>
    <p:sldId id="327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137" d="100"/>
          <a:sy n="137" d="100"/>
        </p:scale>
        <p:origin x="238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31T05:51:01.177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2844892332" sldId="278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74208894" sldId="299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87196975" sldId="300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589790218" sldId="312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2613997454" sldId="313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2054986358" sldId="317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238520119" sldId="328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355939526" sldId="329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044780865" sldId="330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704660987" sldId="332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2428536457" sldId="333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1341062930" sldId="337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1551589924" sldId="338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4168887938" sldId="339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3198360036" sldId="340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4158064368" sldId="341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1600961853" sldId="342"/>
        </pc:sldMkLst>
      </pc:sldChg>
      <pc:sldChg chg="del">
        <pc:chgData name="Άριστος Αρέστη" userId="813aa191-2d4c-464f-9d05-0a7e494d859f" providerId="ADAL" clId="{49C7B61D-1ACF-4AFF-A04E-A3B433E32474}" dt="2026-10-31T05:51:01.177" v="0" actId="47"/>
        <pc:sldMkLst>
          <pc:docMk/>
          <pc:sldMk cId="2983357102" sldId="3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9654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57838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8a7dedf83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98a7dedf83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698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8a7dedf8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8a7dedf83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095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8a7dedf83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8a7dedf83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50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1070000"/>
            <a:ext cx="3538500" cy="47180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57124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198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view.genially.com/68b21f30fbf5abaaff1a7295/interactive-content-escape-from-pixel-castle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Διόρθωση Άσκησης Σχεδίου Μαθήματος</a:t>
              </a:r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15050" y="0"/>
            <a:ext cx="3086100" cy="6858000"/>
            <a:chOff x="6172200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86501" y="1463039"/>
              <a:ext cx="2971799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Σύγχρονες παιδαγωγικές αρχές  - </a:t>
              </a:r>
              <a:r>
                <a:rPr lang="en-GB" sz="2800" dirty="0"/>
                <a:t>Gamification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2895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r>
                <a:rPr lang="el-GR" sz="2800" dirty="0"/>
                <a:t>Διαχείριση Τάξης</a:t>
              </a:r>
              <a:endParaRPr lang="en-GB" sz="2800" dirty="0"/>
            </a:p>
            <a:p>
              <a:pPr lvl="0"/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Σύγχρονες παιδαγωγικές αρχές  - </a:t>
            </a:r>
            <a:r>
              <a:rPr lang="en-GB" dirty="0"/>
              <a:t>Gamification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03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1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n-GB" sz="3600" dirty="0"/>
              <a:t>Gamification (</a:t>
            </a:r>
            <a:r>
              <a:rPr lang="el-GR" sz="3600" dirty="0" err="1"/>
              <a:t>παιγνιοποίηση</a:t>
            </a:r>
            <a:r>
              <a:rPr lang="en-US" sz="3600" dirty="0"/>
              <a:t>)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800" dirty="0"/>
              <a:t>Είναι μια διδακτική προσέγγιση που χρησιμοποιεί στοιχεία από τα παιχνίδια σε δραστηριότητες που δεν είναι παιχνίδια — όπως το μάθημα στην τάξη.</a:t>
            </a:r>
          </a:p>
          <a:p>
            <a:pPr marL="550863" indent="-285750">
              <a:spcBef>
                <a:spcPts val="400"/>
              </a:spcBef>
            </a:pPr>
            <a:r>
              <a:rPr lang="el-GR" sz="2800" dirty="0"/>
              <a:t>Ο εκπαιδευτικός </a:t>
            </a:r>
            <a:r>
              <a:rPr lang="el-GR" sz="2800" b="1" dirty="0"/>
              <a:t>ενσωματώνει χαρακτηριστικά παιχνιδιού</a:t>
            </a:r>
            <a:r>
              <a:rPr lang="el-GR" sz="2800" dirty="0"/>
              <a:t> μέσα στη μάθηση, όπως:</a:t>
            </a:r>
          </a:p>
          <a:p>
            <a:pPr marL="950913" lvl="1">
              <a:spcBef>
                <a:spcPts val="400"/>
              </a:spcBef>
            </a:pPr>
            <a:r>
              <a:rPr lang="el-GR" dirty="0"/>
              <a:t>Πόντους</a:t>
            </a:r>
          </a:p>
          <a:p>
            <a:pPr marL="950913" lvl="1">
              <a:spcBef>
                <a:spcPts val="400"/>
              </a:spcBef>
            </a:pPr>
            <a:r>
              <a:rPr lang="en-US" dirty="0"/>
              <a:t>Levels</a:t>
            </a:r>
          </a:p>
          <a:p>
            <a:pPr marL="950913" lvl="1">
              <a:spcBef>
                <a:spcPts val="400"/>
              </a:spcBef>
            </a:pPr>
            <a:r>
              <a:rPr lang="en-US" dirty="0"/>
              <a:t>Badges</a:t>
            </a:r>
          </a:p>
          <a:p>
            <a:pPr marL="950913" lvl="1">
              <a:spcBef>
                <a:spcPts val="400"/>
              </a:spcBef>
            </a:pPr>
            <a:r>
              <a:rPr lang="en-US" dirty="0"/>
              <a:t>Leaderboard</a:t>
            </a:r>
          </a:p>
          <a:p>
            <a:pPr marL="665163" lvl="1" indent="0">
              <a:spcBef>
                <a:spcPts val="400"/>
              </a:spcBef>
              <a:buNone/>
            </a:pPr>
            <a:endParaRPr lang="el-GR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352800" y="4114800"/>
            <a:ext cx="5149008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l-GR" dirty="0"/>
              <a:t>Οι μαθητές νιώθουν ότι </a:t>
            </a:r>
            <a:r>
              <a:rPr lang="el-GR" b="1" dirty="0"/>
              <a:t>παίζουν ένα “εκπαιδευτικό παιχνίδι”</a:t>
            </a:r>
            <a:r>
              <a:rPr lang="el-GR" dirty="0"/>
              <a:t>, ενώ στην πραγματικότητα </a:t>
            </a:r>
            <a:r>
              <a:rPr lang="el-GR" b="1" dirty="0"/>
              <a:t>μαθαίνουν</a:t>
            </a:r>
            <a:r>
              <a:rPr lang="el-GR" dirty="0"/>
              <a:t> ή </a:t>
            </a:r>
            <a:r>
              <a:rPr lang="el-GR" b="1" dirty="0"/>
              <a:t>εξασκούνται</a:t>
            </a:r>
            <a:r>
              <a:rPr lang="el-GR" dirty="0"/>
              <a:t>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88957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Σκοπός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608013">
              <a:spcBef>
                <a:spcPts val="400"/>
              </a:spcBef>
            </a:pPr>
            <a:r>
              <a:rPr lang="el-GR" sz="2800" dirty="0"/>
              <a:t>Να αυξήσει το κίνητρο και το ενδιαφέρον των μαθητών.</a:t>
            </a:r>
          </a:p>
          <a:p>
            <a:pPr marL="608013">
              <a:spcBef>
                <a:spcPts val="400"/>
              </a:spcBef>
            </a:pPr>
            <a:r>
              <a:rPr lang="el-GR" sz="2800" dirty="0"/>
              <a:t>Να ενισχύσει τη συνεργασία και τον υγιή ανταγωνισμό.</a:t>
            </a:r>
          </a:p>
          <a:p>
            <a:pPr marL="608013">
              <a:spcBef>
                <a:spcPts val="400"/>
              </a:spcBef>
            </a:pPr>
            <a:r>
              <a:rPr lang="el-GR" sz="2800" dirty="0"/>
              <a:t>Να βοηθήσει τους μαθητές να επιμείνουν σε δύσκολες δραστηριότητες, γιατί υπάρχει ο στόχος του παιχνιδιού.</a:t>
            </a:r>
          </a:p>
        </p:txBody>
      </p:sp>
    </p:spTree>
    <p:extLst>
      <p:ext uri="{BB962C8B-B14F-4D97-AF65-F5344CB8AC3E}">
        <p14:creationId xmlns:p14="http://schemas.microsoft.com/office/powerpoint/2010/main" val="32319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"/>
            <a:ext cx="9172575" cy="31932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" y="3223694"/>
            <a:ext cx="8077200" cy="355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1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2400"/>
            <a:ext cx="8991600" cy="31306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298246"/>
            <a:ext cx="8092440" cy="34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93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2802750" y="1659750"/>
            <a:ext cx="3538500" cy="3538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r>
              <a:rPr lang="en"/>
              <a:t>The GAME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313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381000"/>
            <a:ext cx="8520600" cy="801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Σκοπός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311700" y="1116975"/>
            <a:ext cx="8520600" cy="584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sz="2800" dirty="0"/>
              <a:t>Η εταιρεία σας να κατακτήσει τον κόσμο</a:t>
            </a:r>
            <a:endParaRPr sz="2800" dirty="0"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150" y="2805150"/>
            <a:ext cx="3025624" cy="3025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430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Κανόνες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Λαμβάνεται ο μέσος όρος των βαθμολογιών των μελών της ομάδας.</a:t>
            </a:r>
          </a:p>
          <a:p>
            <a:pPr marL="114300" indent="0">
              <a:buNone/>
            </a:pPr>
            <a:r>
              <a:rPr lang="el-GR" b="1" u="sng" dirty="0"/>
              <a:t>Φάση Α (Α τετράμηνο)</a:t>
            </a:r>
          </a:p>
          <a:p>
            <a:r>
              <a:rPr lang="el-GR" dirty="0"/>
              <a:t>Η κάθε ομάδα ξεκινά από μια χώρα.</a:t>
            </a:r>
          </a:p>
          <a:p>
            <a:r>
              <a:rPr lang="el-GR" dirty="0"/>
              <a:t>Κάθε 5 βαθμούς η ομάδα κατακτά μια χώρα.</a:t>
            </a:r>
          </a:p>
          <a:p>
            <a:r>
              <a:rPr lang="el-GR" dirty="0"/>
              <a:t>Οι πρώτες 3 χώρες πρέπει να έχουν χερσαία σύνορα μεταξύ τους.</a:t>
            </a:r>
          </a:p>
          <a:p>
            <a:pPr marL="114300" indent="0">
              <a:buNone/>
            </a:pPr>
            <a:r>
              <a:rPr lang="el-GR" b="1" u="sng" dirty="0"/>
              <a:t>Φάση Β (Β τετράμηνο)</a:t>
            </a:r>
          </a:p>
          <a:p>
            <a:r>
              <a:rPr lang="el-GR" dirty="0"/>
              <a:t>Η νικήτρια ομάδα (με βάση τη βαθμολογία) κατακτά χώρες από τις χαμένες ομάδες</a:t>
            </a:r>
            <a:endParaRPr lang="en-GB" dirty="0"/>
          </a:p>
          <a:p>
            <a:pPr marL="114300" indent="0">
              <a:buNone/>
            </a:pPr>
            <a:r>
              <a:rPr lang="el-GR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380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85800"/>
            <a:ext cx="8735813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43000"/>
            <a:ext cx="8058509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04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8686800" cy="461140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Kahoot</a:t>
            </a:r>
            <a:r>
              <a:rPr lang="en-US" dirty="0"/>
              <a:t> Island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49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0"/>
            <a:ext cx="9144000" cy="18288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sz="5400" b="1" dirty="0">
                <a:latin typeface="+mn-lt"/>
                <a:cs typeface="Arial" pitchFamily="34" charset="0"/>
              </a:rPr>
              <a:t>Ερωτήσεις</a:t>
            </a:r>
            <a:r>
              <a:rPr lang="en-US" sz="5400" b="1" dirty="0">
                <a:latin typeface="+mn-lt"/>
                <a:cs typeface="Arial" pitchFamily="34" charset="0"/>
              </a:rPr>
              <a:t>;</a:t>
            </a: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6480" y="0"/>
            <a:ext cx="3017520" cy="838200"/>
          </a:xfrm>
          <a:prstGeom prst="rect">
            <a:avLst/>
          </a:prstGeom>
          <a:noFill/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6005</TotalTime>
  <Words>209</Words>
  <Application>Microsoft Office PowerPoint</Application>
  <PresentationFormat>On-screen Show (4:3)</PresentationFormat>
  <Paragraphs>38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Σύγχρονες παιδαγωγικές αρχές  - Gamification</vt:lpstr>
      <vt:lpstr>Gamification (παιγνιοποίηση)</vt:lpstr>
      <vt:lpstr>Σκοπός</vt:lpstr>
      <vt:lpstr>PowerPoint Presentation</vt:lpstr>
      <vt:lpstr>PowerPoint Presentation</vt:lpstr>
      <vt:lpstr>The GAME</vt:lpstr>
      <vt:lpstr>Σκοπός</vt:lpstr>
      <vt:lpstr>Κανόνες</vt:lpstr>
      <vt:lpstr>PowerPoint Presentation</vt:lpstr>
      <vt:lpstr>PowerPoint Presentation</vt:lpstr>
      <vt:lpstr>Kahoot Island</vt:lpstr>
      <vt:lpstr>Ερωτήσεις;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169</cp:revision>
  <dcterms:created xsi:type="dcterms:W3CDTF">2015-09-15T19:28:21Z</dcterms:created>
  <dcterms:modified xsi:type="dcterms:W3CDTF">2026-10-31T05:51:04Z</dcterms:modified>
</cp:coreProperties>
</file>