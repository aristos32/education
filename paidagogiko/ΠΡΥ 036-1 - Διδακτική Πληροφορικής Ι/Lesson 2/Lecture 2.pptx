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theme/themeOverride2.xml" ContentType="application/vnd.openxmlformats-officedocument.themeOverride+xml"/>
  <Override PartName="/ppt/notesSlides/notesSlide2.xml" ContentType="application/vnd.openxmlformats-officedocument.presentationml.notesSlide+xml"/>
  <Override PartName="/ppt/theme/themeOverride3.xml" ContentType="application/vnd.openxmlformats-officedocument.themeOverride+xml"/>
  <Override PartName="/ppt/notesSlides/notesSlide3.xml" ContentType="application/vnd.openxmlformats-officedocument.presentationml.notesSlide+xml"/>
  <Override PartName="/ppt/theme/themeOverride4.xml" ContentType="application/vnd.openxmlformats-officedocument.themeOverride+xml"/>
  <Override PartName="/ppt/notesSlides/notesSlide4.xml" ContentType="application/vnd.openxmlformats-officedocument.presentationml.notesSlide+xml"/>
  <Override PartName="/ppt/theme/themeOverride5.xml" ContentType="application/vnd.openxmlformats-officedocument.themeOverride+xml"/>
  <Override PartName="/ppt/notesSlides/notesSlide5.xml" ContentType="application/vnd.openxmlformats-officedocument.presentationml.notesSlide+xml"/>
  <Override PartName="/ppt/theme/themeOverride6.xml" ContentType="application/vnd.openxmlformats-officedocument.themeOverride+xml"/>
  <Override PartName="/ppt/notesSlides/notesSlide6.xml" ContentType="application/vnd.openxmlformats-officedocument.presentationml.notesSlide+xml"/>
  <Override PartName="/ppt/theme/themeOverride7.xml" ContentType="application/vnd.openxmlformats-officedocument.themeOverride+xml"/>
  <Override PartName="/ppt/notesSlides/notesSlide7.xml" ContentType="application/vnd.openxmlformats-officedocument.presentationml.notesSlide+xml"/>
  <Override PartName="/ppt/theme/themeOverride8.xml" ContentType="application/vnd.openxmlformats-officedocument.themeOverride+xml"/>
  <Override PartName="/ppt/notesSlides/notesSlide8.xml" ContentType="application/vnd.openxmlformats-officedocument.presentationml.notesSlide+xml"/>
  <Override PartName="/ppt/theme/themeOverride9.xml" ContentType="application/vnd.openxmlformats-officedocument.themeOverride+xml"/>
  <Override PartName="/ppt/notesSlides/notesSlide9.xml" ContentType="application/vnd.openxmlformats-officedocument.presentationml.notesSlide+xml"/>
  <Override PartName="/ppt/theme/themeOverride10.xml" ContentType="application/vnd.openxmlformats-officedocument.themeOverride+xml"/>
  <Override PartName="/ppt/notesSlides/notesSlide10.xml" ContentType="application/vnd.openxmlformats-officedocument.presentationml.notesSlide+xml"/>
  <Override PartName="/ppt/theme/themeOverride11.xml" ContentType="application/vnd.openxmlformats-officedocument.themeOverride+xml"/>
  <Override PartName="/ppt/notesSlides/notesSlide11.xml" ContentType="application/vnd.openxmlformats-officedocument.presentationml.notesSlide+xml"/>
  <Override PartName="/ppt/theme/themeOverride12.xml" ContentType="application/vnd.openxmlformats-officedocument.themeOverr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77" r:id="rId2"/>
    <p:sldId id="276" r:id="rId3"/>
    <p:sldId id="280" r:id="rId4"/>
    <p:sldId id="287" r:id="rId5"/>
    <p:sldId id="329" r:id="rId6"/>
    <p:sldId id="330" r:id="rId7"/>
    <p:sldId id="331" r:id="rId8"/>
    <p:sldId id="332" r:id="rId9"/>
    <p:sldId id="333" r:id="rId10"/>
    <p:sldId id="288" r:id="rId11"/>
    <p:sldId id="304" r:id="rId12"/>
    <p:sldId id="305" r:id="rId13"/>
    <p:sldId id="306" r:id="rId14"/>
    <p:sldId id="307" r:id="rId15"/>
    <p:sldId id="309" r:id="rId16"/>
    <p:sldId id="310" r:id="rId17"/>
    <p:sldId id="328" r:id="rId18"/>
    <p:sldId id="292" r:id="rId19"/>
    <p:sldId id="335" r:id="rId20"/>
    <p:sldId id="336" r:id="rId21"/>
    <p:sldId id="337" r:id="rId22"/>
    <p:sldId id="334" r:id="rId23"/>
    <p:sldId id="274"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AC0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15F3D20-910C-4131-A3FE-A875281DE483}" v="26" dt="2026-09-30T08:33:08.78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228" autoAdjust="0"/>
    <p:restoredTop sz="86118" autoAdjust="0"/>
  </p:normalViewPr>
  <p:slideViewPr>
    <p:cSldViewPr>
      <p:cViewPr varScale="1">
        <p:scale>
          <a:sx n="79" d="100"/>
          <a:sy n="79" d="100"/>
        </p:scale>
        <p:origin x="1008" y="8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Παύλος Παυλικκάς" userId="87ce08cf-e656-4f7b-a509-c64b0287524c" providerId="ADAL" clId="{76C507FD-C420-4F5F-B7C5-76F21C83873B}"/>
    <pc:docChg chg="addSld modSld sldOrd">
      <pc:chgData name="Παύλος Παυλικκάς" userId="87ce08cf-e656-4f7b-a509-c64b0287524c" providerId="ADAL" clId="{76C507FD-C420-4F5F-B7C5-76F21C83873B}" dt="2026-09-30T08:33:08.789" v="31"/>
      <pc:docMkLst>
        <pc:docMk/>
      </pc:docMkLst>
      <pc:sldChg chg="modSp">
        <pc:chgData name="Παύλος Παυλικκάς" userId="87ce08cf-e656-4f7b-a509-c64b0287524c" providerId="ADAL" clId="{76C507FD-C420-4F5F-B7C5-76F21C83873B}" dt="2026-09-30T07:15:04.990" v="16"/>
        <pc:sldMkLst>
          <pc:docMk/>
          <pc:sldMk cId="3542971618" sldId="280"/>
        </pc:sldMkLst>
        <pc:spChg chg="mod">
          <ac:chgData name="Παύλος Παυλικκάς" userId="87ce08cf-e656-4f7b-a509-c64b0287524c" providerId="ADAL" clId="{76C507FD-C420-4F5F-B7C5-76F21C83873B}" dt="2026-09-30T07:15:04.990" v="16"/>
          <ac:spMkLst>
            <pc:docMk/>
            <pc:sldMk cId="3542971618" sldId="280"/>
            <ac:spMk id="9" creationId="{00000000-0000-0000-0000-000000000000}"/>
          </ac:spMkLst>
        </pc:spChg>
      </pc:sldChg>
      <pc:sldChg chg="modSp">
        <pc:chgData name="Παύλος Παυλικκάς" userId="87ce08cf-e656-4f7b-a509-c64b0287524c" providerId="ADAL" clId="{76C507FD-C420-4F5F-B7C5-76F21C83873B}" dt="2026-09-30T07:17:10.080" v="22"/>
        <pc:sldMkLst>
          <pc:docMk/>
          <pc:sldMk cId="3737734990" sldId="287"/>
        </pc:sldMkLst>
        <pc:spChg chg="mod">
          <ac:chgData name="Παύλος Παυλικκάς" userId="87ce08cf-e656-4f7b-a509-c64b0287524c" providerId="ADAL" clId="{76C507FD-C420-4F5F-B7C5-76F21C83873B}" dt="2026-09-30T07:17:10.080" v="22"/>
          <ac:spMkLst>
            <pc:docMk/>
            <pc:sldMk cId="3737734990" sldId="287"/>
            <ac:spMk id="2" creationId="{00000000-0000-0000-0000-000000000000}"/>
          </ac:spMkLst>
        </pc:spChg>
      </pc:sldChg>
      <pc:sldChg chg="modSp ord">
        <pc:chgData name="Παύλος Παυλικκάς" userId="87ce08cf-e656-4f7b-a509-c64b0287524c" providerId="ADAL" clId="{76C507FD-C420-4F5F-B7C5-76F21C83873B}" dt="2026-09-30T07:16:47.091" v="21"/>
        <pc:sldMkLst>
          <pc:docMk/>
          <pc:sldMk cId="2418946017" sldId="288"/>
        </pc:sldMkLst>
        <pc:spChg chg="mod">
          <ac:chgData name="Παύλος Παυλικκάς" userId="87ce08cf-e656-4f7b-a509-c64b0287524c" providerId="ADAL" clId="{76C507FD-C420-4F5F-B7C5-76F21C83873B}" dt="2026-09-30T07:16:47.091" v="21"/>
          <ac:spMkLst>
            <pc:docMk/>
            <pc:sldMk cId="2418946017" sldId="288"/>
            <ac:spMk id="2" creationId="{00000000-0000-0000-0000-000000000000}"/>
          </ac:spMkLst>
        </pc:spChg>
      </pc:sldChg>
      <pc:sldChg chg="modSp">
        <pc:chgData name="Παύλος Παυλικκάς" userId="87ce08cf-e656-4f7b-a509-c64b0287524c" providerId="ADAL" clId="{76C507FD-C420-4F5F-B7C5-76F21C83873B}" dt="2026-09-30T08:06:48.525" v="26"/>
        <pc:sldMkLst>
          <pc:docMk/>
          <pc:sldMk cId="3446216825" sldId="292"/>
        </pc:sldMkLst>
        <pc:spChg chg="mod">
          <ac:chgData name="Παύλος Παυλικκάς" userId="87ce08cf-e656-4f7b-a509-c64b0287524c" providerId="ADAL" clId="{76C507FD-C420-4F5F-B7C5-76F21C83873B}" dt="2026-09-30T08:06:48.525" v="26"/>
          <ac:spMkLst>
            <pc:docMk/>
            <pc:sldMk cId="3446216825" sldId="292"/>
            <ac:spMk id="2" creationId="{00000000-0000-0000-0000-000000000000}"/>
          </ac:spMkLst>
        </pc:spChg>
      </pc:sldChg>
      <pc:sldChg chg="modSp">
        <pc:chgData name="Παύλος Παυλικκάς" userId="87ce08cf-e656-4f7b-a509-c64b0287524c" providerId="ADAL" clId="{76C507FD-C420-4F5F-B7C5-76F21C83873B}" dt="2026-09-30T06:28:25.864" v="5"/>
        <pc:sldMkLst>
          <pc:docMk/>
          <pc:sldMk cId="1110861717" sldId="306"/>
        </pc:sldMkLst>
        <pc:graphicFrameChg chg="mod">
          <ac:chgData name="Παύλος Παυλικκάς" userId="87ce08cf-e656-4f7b-a509-c64b0287524c" providerId="ADAL" clId="{76C507FD-C420-4F5F-B7C5-76F21C83873B}" dt="2026-09-30T06:28:25.864" v="5"/>
          <ac:graphicFrameMkLst>
            <pc:docMk/>
            <pc:sldMk cId="1110861717" sldId="306"/>
            <ac:graphicFrameMk id="5" creationId="{00000000-0000-0000-0000-000000000000}"/>
          </ac:graphicFrameMkLst>
        </pc:graphicFrameChg>
      </pc:sldChg>
      <pc:sldChg chg="modSp">
        <pc:chgData name="Παύλος Παυλικκάς" userId="87ce08cf-e656-4f7b-a509-c64b0287524c" providerId="ADAL" clId="{76C507FD-C420-4F5F-B7C5-76F21C83873B}" dt="2026-09-30T06:48:02.573" v="11"/>
        <pc:sldMkLst>
          <pc:docMk/>
          <pc:sldMk cId="3047317244" sldId="307"/>
        </pc:sldMkLst>
        <pc:graphicFrameChg chg="mod">
          <ac:chgData name="Παύλος Παυλικκάς" userId="87ce08cf-e656-4f7b-a509-c64b0287524c" providerId="ADAL" clId="{76C507FD-C420-4F5F-B7C5-76F21C83873B}" dt="2026-09-30T06:48:02.573" v="11"/>
          <ac:graphicFrameMkLst>
            <pc:docMk/>
            <pc:sldMk cId="3047317244" sldId="307"/>
            <ac:graphicFrameMk id="2" creationId="{00000000-0000-0000-0000-000000000000}"/>
          </ac:graphicFrameMkLst>
        </pc:graphicFrameChg>
      </pc:sldChg>
      <pc:sldChg chg="modSp">
        <pc:chgData name="Παύλος Παυλικκάς" userId="87ce08cf-e656-4f7b-a509-c64b0287524c" providerId="ADAL" clId="{76C507FD-C420-4F5F-B7C5-76F21C83873B}" dt="2026-09-30T06:51:40.088" v="13"/>
        <pc:sldMkLst>
          <pc:docMk/>
          <pc:sldMk cId="489489999" sldId="309"/>
        </pc:sldMkLst>
        <pc:graphicFrameChg chg="mod">
          <ac:chgData name="Παύλος Παυλικκάς" userId="87ce08cf-e656-4f7b-a509-c64b0287524c" providerId="ADAL" clId="{76C507FD-C420-4F5F-B7C5-76F21C83873B}" dt="2026-09-30T06:51:40.088" v="13"/>
          <ac:graphicFrameMkLst>
            <pc:docMk/>
            <pc:sldMk cId="489489999" sldId="309"/>
            <ac:graphicFrameMk id="2" creationId="{00000000-0000-0000-0000-000000000000}"/>
          </ac:graphicFrameMkLst>
        </pc:graphicFrameChg>
      </pc:sldChg>
      <pc:sldChg chg="modSp">
        <pc:chgData name="Παύλος Παυλικκάς" userId="87ce08cf-e656-4f7b-a509-c64b0287524c" providerId="ADAL" clId="{76C507FD-C420-4F5F-B7C5-76F21C83873B}" dt="2026-09-30T07:13:55.345" v="15"/>
        <pc:sldMkLst>
          <pc:docMk/>
          <pc:sldMk cId="1232182934" sldId="310"/>
        </pc:sldMkLst>
        <pc:graphicFrameChg chg="mod">
          <ac:chgData name="Παύλος Παυλικκάς" userId="87ce08cf-e656-4f7b-a509-c64b0287524c" providerId="ADAL" clId="{76C507FD-C420-4F5F-B7C5-76F21C83873B}" dt="2026-09-30T07:13:55.345" v="15"/>
          <ac:graphicFrameMkLst>
            <pc:docMk/>
            <pc:sldMk cId="1232182934" sldId="310"/>
            <ac:graphicFrameMk id="2" creationId="{00000000-0000-0000-0000-000000000000}"/>
          </ac:graphicFrameMkLst>
        </pc:graphicFrameChg>
      </pc:sldChg>
      <pc:sldChg chg="modSp ord">
        <pc:chgData name="Παύλος Παυλικκάς" userId="87ce08cf-e656-4f7b-a509-c64b0287524c" providerId="ADAL" clId="{76C507FD-C420-4F5F-B7C5-76F21C83873B}" dt="2026-09-30T07:30:47.150" v="25"/>
        <pc:sldMkLst>
          <pc:docMk/>
          <pc:sldMk cId="3111683312" sldId="329"/>
        </pc:sldMkLst>
        <pc:spChg chg="mod">
          <ac:chgData name="Παύλος Παυλικκάς" userId="87ce08cf-e656-4f7b-a509-c64b0287524c" providerId="ADAL" clId="{76C507FD-C420-4F5F-B7C5-76F21C83873B}" dt="2026-09-30T07:30:47.150" v="25"/>
          <ac:spMkLst>
            <pc:docMk/>
            <pc:sldMk cId="3111683312" sldId="329"/>
            <ac:spMk id="7" creationId="{883944B7-7223-423B-BEFA-F0D7FC831454}"/>
          </ac:spMkLst>
        </pc:spChg>
      </pc:sldChg>
      <pc:sldChg chg="modSp">
        <pc:chgData name="Παύλος Παυλικκάς" userId="87ce08cf-e656-4f7b-a509-c64b0287524c" providerId="ADAL" clId="{76C507FD-C420-4F5F-B7C5-76F21C83873B}" dt="2026-09-30T08:33:08.789" v="31"/>
        <pc:sldMkLst>
          <pc:docMk/>
          <pc:sldMk cId="4121809810" sldId="334"/>
        </pc:sldMkLst>
        <pc:spChg chg="mod">
          <ac:chgData name="Παύλος Παυλικκάς" userId="87ce08cf-e656-4f7b-a509-c64b0287524c" providerId="ADAL" clId="{76C507FD-C420-4F5F-B7C5-76F21C83873B}" dt="2026-09-30T08:33:08.789" v="31"/>
          <ac:spMkLst>
            <pc:docMk/>
            <pc:sldMk cId="4121809810" sldId="334"/>
            <ac:spMk id="3" creationId="{6F56A6F5-F3D4-BA0C-1AD3-8075F14B3DB0}"/>
          </ac:spMkLst>
        </pc:spChg>
      </pc:sldChg>
      <pc:sldChg chg="add setBg">
        <pc:chgData name="Παύλος Παυλικκάς" userId="87ce08cf-e656-4f7b-a509-c64b0287524c" providerId="ADAL" clId="{76C507FD-C420-4F5F-B7C5-76F21C83873B}" dt="2026-09-30T08:08:25.547" v="27"/>
        <pc:sldMkLst>
          <pc:docMk/>
          <pc:sldMk cId="1206363132" sldId="335"/>
        </pc:sldMkLst>
      </pc:sldChg>
      <pc:sldChg chg="modSp ord">
        <pc:chgData name="Παύλος Παυλικκάς" userId="87ce08cf-e656-4f7b-a509-c64b0287524c" providerId="ADAL" clId="{76C507FD-C420-4F5F-B7C5-76F21C83873B}" dt="2026-09-30T08:16:52.670" v="30"/>
        <pc:sldMkLst>
          <pc:docMk/>
          <pc:sldMk cId="668829049" sldId="337"/>
        </pc:sldMkLst>
        <pc:spChg chg="mod">
          <ac:chgData name="Παύλος Παυλικκάς" userId="87ce08cf-e656-4f7b-a509-c64b0287524c" providerId="ADAL" clId="{76C507FD-C420-4F5F-B7C5-76F21C83873B}" dt="2026-09-30T08:16:52.670" v="30"/>
          <ac:spMkLst>
            <pc:docMk/>
            <pc:sldMk cId="668829049" sldId="337"/>
            <ac:spMk id="4" creationId="{38BA242C-50AB-A7B9-36AC-5B41E6A7614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567DA2-3ABD-4083-9D89-D1C9CC448C3D}" type="datetimeFigureOut">
              <a:rPr lang="en-GB" smtClean="0"/>
              <a:t>30/09/2026</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1F438E-B2CF-4AE8-BCBD-5C0C58240136}" type="slidenum">
              <a:rPr lang="en-GB" smtClean="0"/>
              <a:t>‹#›</a:t>
            </a:fld>
            <a:endParaRPr lang="en-GB"/>
          </a:p>
        </p:txBody>
      </p:sp>
    </p:spTree>
    <p:extLst>
      <p:ext uri="{BB962C8B-B14F-4D97-AF65-F5344CB8AC3E}">
        <p14:creationId xmlns:p14="http://schemas.microsoft.com/office/powerpoint/2010/main" val="28115773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E1AF84-2661-2E63-BC81-A5FC876EC7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DC62B9-7AFA-082A-58B5-F66870B1F0DE}"/>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953325E0-1BBD-66C1-302D-3E0EB51E451B}"/>
              </a:ext>
            </a:extLst>
          </p:cNvPr>
          <p:cNvSpPr>
            <a:spLocks noGrp="1"/>
          </p:cNvSpPr>
          <p:nvPr>
            <p:ph type="body" idx="1"/>
          </p:nvPr>
        </p:nvSpPr>
        <p:spPr/>
        <p:txBody>
          <a:bodyPr/>
          <a:lstStyle/>
          <a:p>
            <a:endParaRPr lang="el-GR"/>
          </a:p>
        </p:txBody>
      </p:sp>
      <p:sp>
        <p:nvSpPr>
          <p:cNvPr id="4" name="Slide Number Placeholder 3">
            <a:extLst>
              <a:ext uri="{FF2B5EF4-FFF2-40B4-BE49-F238E27FC236}">
                <a16:creationId xmlns:a16="http://schemas.microsoft.com/office/drawing/2014/main" id="{0D81C73A-769A-5085-FDDC-08A77C553BDC}"/>
              </a:ext>
            </a:extLst>
          </p:cNvPr>
          <p:cNvSpPr>
            <a:spLocks noGrp="1"/>
          </p:cNvSpPr>
          <p:nvPr>
            <p:ph type="sldNum" sz="quarter" idx="10"/>
          </p:nvPr>
        </p:nvSpPr>
        <p:spPr/>
        <p:txBody>
          <a:bodyPr/>
          <a:lstStyle/>
          <a:p>
            <a:fld id="{1A63F591-F0B7-4228-BB71-5A60929AFF28}" type="slidenum">
              <a:rPr lang="el-GR" smtClean="0"/>
              <a:pPr/>
              <a:t>5</a:t>
            </a:fld>
            <a:endParaRPr lang="el-GR"/>
          </a:p>
        </p:txBody>
      </p:sp>
    </p:spTree>
    <p:extLst>
      <p:ext uri="{BB962C8B-B14F-4D97-AF65-F5344CB8AC3E}">
        <p14:creationId xmlns:p14="http://schemas.microsoft.com/office/powerpoint/2010/main" val="10265386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28DB46-43F4-F3F8-8222-FCA6B45715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2DF883-ADA8-7191-AD9E-E0424CE0FC40}"/>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EA8F6DDF-763F-994A-8DE5-BB8F8FDD8A80}"/>
              </a:ext>
            </a:extLst>
          </p:cNvPr>
          <p:cNvSpPr>
            <a:spLocks noGrp="1"/>
          </p:cNvSpPr>
          <p:nvPr>
            <p:ph type="body" idx="1"/>
          </p:nvPr>
        </p:nvSpPr>
        <p:spPr/>
        <p:txBody>
          <a:bodyPr/>
          <a:lstStyle/>
          <a:p>
            <a:endParaRPr lang="el-GR"/>
          </a:p>
        </p:txBody>
      </p:sp>
      <p:sp>
        <p:nvSpPr>
          <p:cNvPr id="4" name="Slide Number Placeholder 3">
            <a:extLst>
              <a:ext uri="{FF2B5EF4-FFF2-40B4-BE49-F238E27FC236}">
                <a16:creationId xmlns:a16="http://schemas.microsoft.com/office/drawing/2014/main" id="{F80FF863-8A49-DC1A-ADE8-05C0DFB25DB5}"/>
              </a:ext>
            </a:extLst>
          </p:cNvPr>
          <p:cNvSpPr>
            <a:spLocks noGrp="1"/>
          </p:cNvSpPr>
          <p:nvPr>
            <p:ph type="sldNum" sz="quarter" idx="10"/>
          </p:nvPr>
        </p:nvSpPr>
        <p:spPr/>
        <p:txBody>
          <a:bodyPr/>
          <a:lstStyle/>
          <a:p>
            <a:fld id="{1A63F591-F0B7-4228-BB71-5A60929AFF28}" type="slidenum">
              <a:rPr lang="el-GR" smtClean="0"/>
              <a:pPr/>
              <a:t>6</a:t>
            </a:fld>
            <a:endParaRPr lang="el-GR"/>
          </a:p>
        </p:txBody>
      </p:sp>
    </p:spTree>
    <p:extLst>
      <p:ext uri="{BB962C8B-B14F-4D97-AF65-F5344CB8AC3E}">
        <p14:creationId xmlns:p14="http://schemas.microsoft.com/office/powerpoint/2010/main" val="12073351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1CE27-764D-D45C-958F-C1355D402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4E0BE3-DA78-8E43-F387-D15C3AEC8E0B}"/>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D4055CC0-EA5D-5CE0-CFBD-0350B59C927D}"/>
              </a:ext>
            </a:extLst>
          </p:cNvPr>
          <p:cNvSpPr>
            <a:spLocks noGrp="1"/>
          </p:cNvSpPr>
          <p:nvPr>
            <p:ph type="body" idx="1"/>
          </p:nvPr>
        </p:nvSpPr>
        <p:spPr/>
        <p:txBody>
          <a:bodyPr/>
          <a:lstStyle/>
          <a:p>
            <a:endParaRPr lang="el-GR"/>
          </a:p>
        </p:txBody>
      </p:sp>
      <p:sp>
        <p:nvSpPr>
          <p:cNvPr id="4" name="Slide Number Placeholder 3">
            <a:extLst>
              <a:ext uri="{FF2B5EF4-FFF2-40B4-BE49-F238E27FC236}">
                <a16:creationId xmlns:a16="http://schemas.microsoft.com/office/drawing/2014/main" id="{C3CAD05C-51F6-86FA-3C29-65F319CAF575}"/>
              </a:ext>
            </a:extLst>
          </p:cNvPr>
          <p:cNvSpPr>
            <a:spLocks noGrp="1"/>
          </p:cNvSpPr>
          <p:nvPr>
            <p:ph type="sldNum" sz="quarter" idx="10"/>
          </p:nvPr>
        </p:nvSpPr>
        <p:spPr/>
        <p:txBody>
          <a:bodyPr/>
          <a:lstStyle/>
          <a:p>
            <a:fld id="{1A63F591-F0B7-4228-BB71-5A60929AFF28}" type="slidenum">
              <a:rPr lang="el-GR" smtClean="0"/>
              <a:pPr/>
              <a:t>7</a:t>
            </a:fld>
            <a:endParaRPr lang="el-GR"/>
          </a:p>
        </p:txBody>
      </p:sp>
    </p:spTree>
    <p:extLst>
      <p:ext uri="{BB962C8B-B14F-4D97-AF65-F5344CB8AC3E}">
        <p14:creationId xmlns:p14="http://schemas.microsoft.com/office/powerpoint/2010/main" val="14209489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2F61D-1667-7F29-BD5E-1A1063DBF5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3ED931-941E-BD2A-5E33-7592F3EB7204}"/>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D82AB19D-34DD-B559-77A6-F088CFDABA9A}"/>
              </a:ext>
            </a:extLst>
          </p:cNvPr>
          <p:cNvSpPr>
            <a:spLocks noGrp="1"/>
          </p:cNvSpPr>
          <p:nvPr>
            <p:ph type="body" idx="1"/>
          </p:nvPr>
        </p:nvSpPr>
        <p:spPr/>
        <p:txBody>
          <a:bodyPr/>
          <a:lstStyle/>
          <a:p>
            <a:endParaRPr lang="el-GR"/>
          </a:p>
        </p:txBody>
      </p:sp>
      <p:sp>
        <p:nvSpPr>
          <p:cNvPr id="4" name="Slide Number Placeholder 3">
            <a:extLst>
              <a:ext uri="{FF2B5EF4-FFF2-40B4-BE49-F238E27FC236}">
                <a16:creationId xmlns:a16="http://schemas.microsoft.com/office/drawing/2014/main" id="{09CA37E3-C2A0-BE17-95C6-C5A6F3A01B9A}"/>
              </a:ext>
            </a:extLst>
          </p:cNvPr>
          <p:cNvSpPr>
            <a:spLocks noGrp="1"/>
          </p:cNvSpPr>
          <p:nvPr>
            <p:ph type="sldNum" sz="quarter" idx="10"/>
          </p:nvPr>
        </p:nvSpPr>
        <p:spPr/>
        <p:txBody>
          <a:bodyPr/>
          <a:lstStyle/>
          <a:p>
            <a:fld id="{1A63F591-F0B7-4228-BB71-5A60929AFF28}" type="slidenum">
              <a:rPr lang="el-GR" smtClean="0"/>
              <a:pPr/>
              <a:t>8</a:t>
            </a:fld>
            <a:endParaRPr lang="el-GR"/>
          </a:p>
        </p:txBody>
      </p:sp>
    </p:spTree>
    <p:extLst>
      <p:ext uri="{BB962C8B-B14F-4D97-AF65-F5344CB8AC3E}">
        <p14:creationId xmlns:p14="http://schemas.microsoft.com/office/powerpoint/2010/main" val="37857321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3C90C-6C32-FC03-976D-FBDF9C0ED3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95A6F-4160-C7AF-6B75-610124C1F18D}"/>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875DF509-4D1A-6A59-EF63-B4D0FCA4137C}"/>
              </a:ext>
            </a:extLst>
          </p:cNvPr>
          <p:cNvSpPr>
            <a:spLocks noGrp="1"/>
          </p:cNvSpPr>
          <p:nvPr>
            <p:ph type="body" idx="1"/>
          </p:nvPr>
        </p:nvSpPr>
        <p:spPr/>
        <p:txBody>
          <a:bodyPr/>
          <a:lstStyle/>
          <a:p>
            <a:endParaRPr lang="el-GR"/>
          </a:p>
        </p:txBody>
      </p:sp>
      <p:sp>
        <p:nvSpPr>
          <p:cNvPr id="4" name="Slide Number Placeholder 3">
            <a:extLst>
              <a:ext uri="{FF2B5EF4-FFF2-40B4-BE49-F238E27FC236}">
                <a16:creationId xmlns:a16="http://schemas.microsoft.com/office/drawing/2014/main" id="{1CA82B04-DB56-4064-9DAC-AC56B5EAC69B}"/>
              </a:ext>
            </a:extLst>
          </p:cNvPr>
          <p:cNvSpPr>
            <a:spLocks noGrp="1"/>
          </p:cNvSpPr>
          <p:nvPr>
            <p:ph type="sldNum" sz="quarter" idx="10"/>
          </p:nvPr>
        </p:nvSpPr>
        <p:spPr/>
        <p:txBody>
          <a:bodyPr/>
          <a:lstStyle/>
          <a:p>
            <a:fld id="{1A63F591-F0B7-4228-BB71-5A60929AFF28}" type="slidenum">
              <a:rPr lang="el-GR" smtClean="0"/>
              <a:pPr/>
              <a:t>9</a:t>
            </a:fld>
            <a:endParaRPr lang="el-GR"/>
          </a:p>
        </p:txBody>
      </p:sp>
    </p:spTree>
    <p:extLst>
      <p:ext uri="{BB962C8B-B14F-4D97-AF65-F5344CB8AC3E}">
        <p14:creationId xmlns:p14="http://schemas.microsoft.com/office/powerpoint/2010/main" val="40348733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11</a:t>
            </a:fld>
            <a:endParaRPr lang="el-GR"/>
          </a:p>
        </p:txBody>
      </p:sp>
    </p:spTree>
    <p:extLst>
      <p:ext uri="{BB962C8B-B14F-4D97-AF65-F5344CB8AC3E}">
        <p14:creationId xmlns:p14="http://schemas.microsoft.com/office/powerpoint/2010/main" val="1242454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12</a:t>
            </a:fld>
            <a:endParaRPr lang="el-GR"/>
          </a:p>
        </p:txBody>
      </p:sp>
    </p:spTree>
    <p:extLst>
      <p:ext uri="{BB962C8B-B14F-4D97-AF65-F5344CB8AC3E}">
        <p14:creationId xmlns:p14="http://schemas.microsoft.com/office/powerpoint/2010/main" val="1616569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13</a:t>
            </a:fld>
            <a:endParaRPr lang="el-GR"/>
          </a:p>
        </p:txBody>
      </p:sp>
    </p:spTree>
    <p:extLst>
      <p:ext uri="{BB962C8B-B14F-4D97-AF65-F5344CB8AC3E}">
        <p14:creationId xmlns:p14="http://schemas.microsoft.com/office/powerpoint/2010/main" val="1729743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14</a:t>
            </a:fld>
            <a:endParaRPr lang="el-GR"/>
          </a:p>
        </p:txBody>
      </p:sp>
    </p:spTree>
    <p:extLst>
      <p:ext uri="{BB962C8B-B14F-4D97-AF65-F5344CB8AC3E}">
        <p14:creationId xmlns:p14="http://schemas.microsoft.com/office/powerpoint/2010/main" val="3544787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15</a:t>
            </a:fld>
            <a:endParaRPr lang="el-GR"/>
          </a:p>
        </p:txBody>
      </p:sp>
    </p:spTree>
    <p:extLst>
      <p:ext uri="{BB962C8B-B14F-4D97-AF65-F5344CB8AC3E}">
        <p14:creationId xmlns:p14="http://schemas.microsoft.com/office/powerpoint/2010/main" val="19650122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17575" y="744538"/>
            <a:ext cx="4962525" cy="3722687"/>
          </a:xfrm>
        </p:spPr>
      </p:sp>
      <p:sp>
        <p:nvSpPr>
          <p:cNvPr id="3" name="Notes Placeholder 2"/>
          <p:cNvSpPr>
            <a:spLocks noGrp="1"/>
          </p:cNvSpPr>
          <p:nvPr>
            <p:ph type="body" idx="1"/>
          </p:nvPr>
        </p:nvSpPr>
        <p:spPr/>
        <p:txBody>
          <a:bodyPr/>
          <a:lstStyle/>
          <a:p>
            <a:endParaRPr lang="el-GR"/>
          </a:p>
        </p:txBody>
      </p:sp>
      <p:sp>
        <p:nvSpPr>
          <p:cNvPr id="4" name="Slide Number Placeholder 3"/>
          <p:cNvSpPr>
            <a:spLocks noGrp="1"/>
          </p:cNvSpPr>
          <p:nvPr>
            <p:ph type="sldNum" sz="quarter" idx="10"/>
          </p:nvPr>
        </p:nvSpPr>
        <p:spPr/>
        <p:txBody>
          <a:bodyPr/>
          <a:lstStyle/>
          <a:p>
            <a:fld id="{1A63F591-F0B7-4228-BB71-5A60929AFF28}" type="slidenum">
              <a:rPr lang="el-GR" smtClean="0"/>
              <a:pPr/>
              <a:t>16</a:t>
            </a:fld>
            <a:endParaRPr lang="el-GR"/>
          </a:p>
        </p:txBody>
      </p:sp>
    </p:spTree>
    <p:extLst>
      <p:ext uri="{BB962C8B-B14F-4D97-AF65-F5344CB8AC3E}">
        <p14:creationId xmlns:p14="http://schemas.microsoft.com/office/powerpoint/2010/main" val="2040700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45D290-BC5C-9086-EBE8-ADBAE0BBD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2F756F-9BEB-486D-E455-68D1645FD4A3}"/>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CABCDE99-06B5-D70F-54A3-23FD3B0D62B5}"/>
              </a:ext>
            </a:extLst>
          </p:cNvPr>
          <p:cNvSpPr>
            <a:spLocks noGrp="1"/>
          </p:cNvSpPr>
          <p:nvPr>
            <p:ph type="body" idx="1"/>
          </p:nvPr>
        </p:nvSpPr>
        <p:spPr/>
        <p:txBody>
          <a:bodyPr/>
          <a:lstStyle/>
          <a:p>
            <a:endParaRPr lang="el-GR"/>
          </a:p>
        </p:txBody>
      </p:sp>
      <p:sp>
        <p:nvSpPr>
          <p:cNvPr id="4" name="Slide Number Placeholder 3">
            <a:extLst>
              <a:ext uri="{FF2B5EF4-FFF2-40B4-BE49-F238E27FC236}">
                <a16:creationId xmlns:a16="http://schemas.microsoft.com/office/drawing/2014/main" id="{149365D4-D113-D4D0-A8E6-ABDBA082F479}"/>
              </a:ext>
            </a:extLst>
          </p:cNvPr>
          <p:cNvSpPr>
            <a:spLocks noGrp="1"/>
          </p:cNvSpPr>
          <p:nvPr>
            <p:ph type="sldNum" sz="quarter" idx="10"/>
          </p:nvPr>
        </p:nvSpPr>
        <p:spPr/>
        <p:txBody>
          <a:bodyPr/>
          <a:lstStyle/>
          <a:p>
            <a:fld id="{1A63F591-F0B7-4228-BB71-5A60929AFF28}" type="slidenum">
              <a:rPr lang="el-GR" smtClean="0"/>
              <a:pPr/>
              <a:t>17</a:t>
            </a:fld>
            <a:endParaRPr lang="el-GR"/>
          </a:p>
        </p:txBody>
      </p:sp>
    </p:spTree>
    <p:extLst>
      <p:ext uri="{BB962C8B-B14F-4D97-AF65-F5344CB8AC3E}">
        <p14:creationId xmlns:p14="http://schemas.microsoft.com/office/powerpoint/2010/main" val="1694612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24C804-7C48-33E2-D922-A6BAD6958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8653F4-9724-D696-24C7-6649CB69729B}"/>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1B2F24BC-48CE-BC46-2E13-05D1F5CA42C6}"/>
              </a:ext>
            </a:extLst>
          </p:cNvPr>
          <p:cNvSpPr>
            <a:spLocks noGrp="1"/>
          </p:cNvSpPr>
          <p:nvPr>
            <p:ph type="body" idx="1"/>
          </p:nvPr>
        </p:nvSpPr>
        <p:spPr/>
        <p:txBody>
          <a:bodyPr/>
          <a:lstStyle/>
          <a:p>
            <a:endParaRPr lang="el-GR"/>
          </a:p>
        </p:txBody>
      </p:sp>
      <p:sp>
        <p:nvSpPr>
          <p:cNvPr id="4" name="Slide Number Placeholder 3">
            <a:extLst>
              <a:ext uri="{FF2B5EF4-FFF2-40B4-BE49-F238E27FC236}">
                <a16:creationId xmlns:a16="http://schemas.microsoft.com/office/drawing/2014/main" id="{8C963F41-444D-5693-3195-EC5A6AF241E1}"/>
              </a:ext>
            </a:extLst>
          </p:cNvPr>
          <p:cNvSpPr>
            <a:spLocks noGrp="1"/>
          </p:cNvSpPr>
          <p:nvPr>
            <p:ph type="sldNum" sz="quarter" idx="10"/>
          </p:nvPr>
        </p:nvSpPr>
        <p:spPr/>
        <p:txBody>
          <a:bodyPr/>
          <a:lstStyle/>
          <a:p>
            <a:fld id="{1A63F591-F0B7-4228-BB71-5A60929AFF28}" type="slidenum">
              <a:rPr lang="el-GR" smtClean="0"/>
              <a:pPr/>
              <a:t>19</a:t>
            </a:fld>
            <a:endParaRPr lang="el-GR"/>
          </a:p>
        </p:txBody>
      </p:sp>
    </p:spTree>
    <p:extLst>
      <p:ext uri="{BB962C8B-B14F-4D97-AF65-F5344CB8AC3E}">
        <p14:creationId xmlns:p14="http://schemas.microsoft.com/office/powerpoint/2010/main" val="21409985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DE86A-E83A-0038-A40D-C8DDD6804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CF7C68-A977-4E63-A804-757363D7B2EC}"/>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1E8C5AE6-34DC-44F3-E7C9-5A62C60CA748}"/>
              </a:ext>
            </a:extLst>
          </p:cNvPr>
          <p:cNvSpPr>
            <a:spLocks noGrp="1"/>
          </p:cNvSpPr>
          <p:nvPr>
            <p:ph type="body" idx="1"/>
          </p:nvPr>
        </p:nvSpPr>
        <p:spPr/>
        <p:txBody>
          <a:bodyPr/>
          <a:lstStyle/>
          <a:p>
            <a:endParaRPr lang="el-GR"/>
          </a:p>
        </p:txBody>
      </p:sp>
      <p:sp>
        <p:nvSpPr>
          <p:cNvPr id="4" name="Slide Number Placeholder 3">
            <a:extLst>
              <a:ext uri="{FF2B5EF4-FFF2-40B4-BE49-F238E27FC236}">
                <a16:creationId xmlns:a16="http://schemas.microsoft.com/office/drawing/2014/main" id="{50CF1A74-B8C0-4F9E-605C-44014FF6BE69}"/>
              </a:ext>
            </a:extLst>
          </p:cNvPr>
          <p:cNvSpPr>
            <a:spLocks noGrp="1"/>
          </p:cNvSpPr>
          <p:nvPr>
            <p:ph type="sldNum" sz="quarter" idx="10"/>
          </p:nvPr>
        </p:nvSpPr>
        <p:spPr/>
        <p:txBody>
          <a:bodyPr/>
          <a:lstStyle/>
          <a:p>
            <a:fld id="{1A63F591-F0B7-4228-BB71-5A60929AFF28}" type="slidenum">
              <a:rPr lang="el-GR" smtClean="0"/>
              <a:pPr/>
              <a:t>20</a:t>
            </a:fld>
            <a:endParaRPr lang="el-GR"/>
          </a:p>
        </p:txBody>
      </p:sp>
    </p:spTree>
    <p:extLst>
      <p:ext uri="{BB962C8B-B14F-4D97-AF65-F5344CB8AC3E}">
        <p14:creationId xmlns:p14="http://schemas.microsoft.com/office/powerpoint/2010/main" val="270671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9E07F-8198-059B-CF64-437FC76DEE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F0454-22BA-9B97-B1A8-461036593B63}"/>
              </a:ext>
            </a:extLst>
          </p:cNvPr>
          <p:cNvSpPr>
            <a:spLocks noGrp="1" noRot="1" noChangeAspect="1"/>
          </p:cNvSpPr>
          <p:nvPr>
            <p:ph type="sldImg"/>
          </p:nvPr>
        </p:nvSpPr>
        <p:spPr>
          <a:xfrm>
            <a:off x="917575" y="744538"/>
            <a:ext cx="4962525" cy="3722687"/>
          </a:xfrm>
        </p:spPr>
      </p:sp>
      <p:sp>
        <p:nvSpPr>
          <p:cNvPr id="3" name="Notes Placeholder 2">
            <a:extLst>
              <a:ext uri="{FF2B5EF4-FFF2-40B4-BE49-F238E27FC236}">
                <a16:creationId xmlns:a16="http://schemas.microsoft.com/office/drawing/2014/main" id="{9303589E-E861-E557-620E-B8740C91867A}"/>
              </a:ext>
            </a:extLst>
          </p:cNvPr>
          <p:cNvSpPr>
            <a:spLocks noGrp="1"/>
          </p:cNvSpPr>
          <p:nvPr>
            <p:ph type="body" idx="1"/>
          </p:nvPr>
        </p:nvSpPr>
        <p:spPr/>
        <p:txBody>
          <a:bodyPr/>
          <a:lstStyle/>
          <a:p>
            <a:endParaRPr lang="el-GR"/>
          </a:p>
        </p:txBody>
      </p:sp>
      <p:sp>
        <p:nvSpPr>
          <p:cNvPr id="4" name="Slide Number Placeholder 3">
            <a:extLst>
              <a:ext uri="{FF2B5EF4-FFF2-40B4-BE49-F238E27FC236}">
                <a16:creationId xmlns:a16="http://schemas.microsoft.com/office/drawing/2014/main" id="{9951D8E8-E0E8-C8BC-9242-5ABF8CA11919}"/>
              </a:ext>
            </a:extLst>
          </p:cNvPr>
          <p:cNvSpPr>
            <a:spLocks noGrp="1"/>
          </p:cNvSpPr>
          <p:nvPr>
            <p:ph type="sldNum" sz="quarter" idx="10"/>
          </p:nvPr>
        </p:nvSpPr>
        <p:spPr/>
        <p:txBody>
          <a:bodyPr/>
          <a:lstStyle/>
          <a:p>
            <a:fld id="{1A63F591-F0B7-4228-BB71-5A60929AFF28}" type="slidenum">
              <a:rPr lang="el-GR" smtClean="0"/>
              <a:pPr/>
              <a:t>21</a:t>
            </a:fld>
            <a:endParaRPr lang="el-GR"/>
          </a:p>
        </p:txBody>
      </p:sp>
    </p:spTree>
    <p:extLst>
      <p:ext uri="{BB962C8B-B14F-4D97-AF65-F5344CB8AC3E}">
        <p14:creationId xmlns:p14="http://schemas.microsoft.com/office/powerpoint/2010/main" val="186281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880B2B7-3155-4641-A8F2-C1656F8110F8}"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80B2B7-3155-4641-A8F2-C1656F8110F8}"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880B2B7-3155-4641-A8F2-C1656F8110F8}"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880B2B7-3155-4641-A8F2-C1656F8110F8}"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880B2B7-3155-4641-A8F2-C1656F8110F8}" type="datetimeFigureOut">
              <a:rPr lang="en-US" smtClean="0"/>
              <a:pPr/>
              <a:t>9/30/2026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880B2B7-3155-4641-A8F2-C1656F8110F8}" type="datetimeFigureOut">
              <a:rPr lang="en-US" smtClean="0"/>
              <a:pPr/>
              <a:t>9/30/2026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80B2B7-3155-4641-A8F2-C1656F8110F8}" type="datetimeFigureOut">
              <a:rPr lang="en-US" smtClean="0"/>
              <a:pPr/>
              <a:t>9/30/2026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80B2B7-3155-4641-A8F2-C1656F8110F8}"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880B2B7-3155-4641-A8F2-C1656F8110F8}" type="datetimeFigureOut">
              <a:rPr lang="en-US" smtClean="0"/>
              <a:pPr/>
              <a:t>9/30/2026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80B2B7-3155-4641-A8F2-C1656F8110F8}"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80B2B7-3155-4641-A8F2-C1656F8110F8}" type="datetimeFigureOut">
              <a:rPr lang="en-US" smtClean="0"/>
              <a:pPr/>
              <a:t>9/30/2026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BD3ACA-0F0F-432C-927D-6EE186D4D50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80B2B7-3155-4641-A8F2-C1656F8110F8}" type="datetimeFigureOut">
              <a:rPr lang="en-US" smtClean="0"/>
              <a:pPr/>
              <a:t>9/30/2026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BD3ACA-0F0F-432C-927D-6EE186D4D50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5.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6.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7.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3000">
              <a:schemeClr val="accent6">
                <a:lumMod val="0"/>
                <a:lumOff val="100000"/>
              </a:schemeClr>
            </a:gs>
            <a:gs pos="29000">
              <a:schemeClr val="accent6">
                <a:lumMod val="0"/>
                <a:lumOff val="100000"/>
              </a:schemeClr>
            </a:gs>
            <a:gs pos="51000">
              <a:srgbClr val="FAC090"/>
            </a:gs>
          </a:gsLst>
          <a:path path="circle">
            <a:fillToRect r="100000" b="100000"/>
          </a:path>
          <a:tileRect l="-100000" t="-100000"/>
        </a:gradFill>
        <a:effectLst/>
      </p:bgPr>
    </p:bg>
    <p:spTree>
      <p:nvGrpSpPr>
        <p:cNvPr id="1" name=""/>
        <p:cNvGrpSpPr/>
        <p:nvPr/>
      </p:nvGrpSpPr>
      <p:grpSpPr>
        <a:xfrm>
          <a:off x="0" y="0"/>
          <a:ext cx="0" cy="0"/>
          <a:chOff x="0" y="0"/>
          <a:chExt cx="0" cy="0"/>
        </a:xfrm>
      </p:grpSpPr>
      <p:sp>
        <p:nvSpPr>
          <p:cNvPr id="24" name="Freeform 23"/>
          <p:cNvSpPr/>
          <p:nvPr/>
        </p:nvSpPr>
        <p:spPr>
          <a:xfrm>
            <a:off x="3886200" y="-1219200"/>
            <a:ext cx="8686799" cy="8869680"/>
          </a:xfrm>
          <a:custGeom>
            <a:avLst/>
            <a:gdLst>
              <a:gd name="connsiteX0" fmla="*/ 6705599 w 8686799"/>
              <a:gd name="connsiteY0" fmla="*/ 6736080 h 8869680"/>
              <a:gd name="connsiteX1" fmla="*/ 7162799 w 8686799"/>
              <a:gd name="connsiteY1" fmla="*/ 5821680 h 8869680"/>
              <a:gd name="connsiteX2" fmla="*/ 8229599 w 8686799"/>
              <a:gd name="connsiteY2" fmla="*/ 5821680 h 8869680"/>
              <a:gd name="connsiteX3" fmla="*/ 8686799 w 8686799"/>
              <a:gd name="connsiteY3" fmla="*/ 6736080 h 8869680"/>
              <a:gd name="connsiteX4" fmla="*/ 8229599 w 8686799"/>
              <a:gd name="connsiteY4" fmla="*/ 7650480 h 8869680"/>
              <a:gd name="connsiteX5" fmla="*/ 7162799 w 8686799"/>
              <a:gd name="connsiteY5" fmla="*/ 7650480 h 8869680"/>
              <a:gd name="connsiteX6" fmla="*/ 6659879 w 8686799"/>
              <a:gd name="connsiteY6" fmla="*/ 2743200 h 8869680"/>
              <a:gd name="connsiteX7" fmla="*/ 7117079 w 8686799"/>
              <a:gd name="connsiteY7" fmla="*/ 1828800 h 8869680"/>
              <a:gd name="connsiteX8" fmla="*/ 8183879 w 8686799"/>
              <a:gd name="connsiteY8" fmla="*/ 1828800 h 8869680"/>
              <a:gd name="connsiteX9" fmla="*/ 8641079 w 8686799"/>
              <a:gd name="connsiteY9" fmla="*/ 2743200 h 8869680"/>
              <a:gd name="connsiteX10" fmla="*/ 8183879 w 8686799"/>
              <a:gd name="connsiteY10" fmla="*/ 3657600 h 8869680"/>
              <a:gd name="connsiteX11" fmla="*/ 7117079 w 8686799"/>
              <a:gd name="connsiteY11" fmla="*/ 3657600 h 8869680"/>
              <a:gd name="connsiteX12" fmla="*/ 6659879 w 8686799"/>
              <a:gd name="connsiteY12" fmla="*/ 4739640 h 8869680"/>
              <a:gd name="connsiteX13" fmla="*/ 7117079 w 8686799"/>
              <a:gd name="connsiteY13" fmla="*/ 3825240 h 8869680"/>
              <a:gd name="connsiteX14" fmla="*/ 8183879 w 8686799"/>
              <a:gd name="connsiteY14" fmla="*/ 3825240 h 8869680"/>
              <a:gd name="connsiteX15" fmla="*/ 8641079 w 8686799"/>
              <a:gd name="connsiteY15" fmla="*/ 4739640 h 8869680"/>
              <a:gd name="connsiteX16" fmla="*/ 8183879 w 8686799"/>
              <a:gd name="connsiteY16" fmla="*/ 5654040 h 8869680"/>
              <a:gd name="connsiteX17" fmla="*/ 7117079 w 8686799"/>
              <a:gd name="connsiteY17" fmla="*/ 5654040 h 8869680"/>
              <a:gd name="connsiteX18" fmla="*/ 5084013 w 8686799"/>
              <a:gd name="connsiteY18" fmla="*/ 7828689 h 8869680"/>
              <a:gd name="connsiteX19" fmla="*/ 5541213 w 8686799"/>
              <a:gd name="connsiteY19" fmla="*/ 6914287 h 8869680"/>
              <a:gd name="connsiteX20" fmla="*/ 6608013 w 8686799"/>
              <a:gd name="connsiteY20" fmla="*/ 6914287 h 8869680"/>
              <a:gd name="connsiteX21" fmla="*/ 7065213 w 8686799"/>
              <a:gd name="connsiteY21" fmla="*/ 7828689 h 8869680"/>
              <a:gd name="connsiteX22" fmla="*/ 6608013 w 8686799"/>
              <a:gd name="connsiteY22" fmla="*/ 8743089 h 8869680"/>
              <a:gd name="connsiteX23" fmla="*/ 5541213 w 8686799"/>
              <a:gd name="connsiteY23" fmla="*/ 8743089 h 8869680"/>
              <a:gd name="connsiteX24" fmla="*/ 5044439 w 8686799"/>
              <a:gd name="connsiteY24" fmla="*/ 5821680 h 8869680"/>
              <a:gd name="connsiteX25" fmla="*/ 5501639 w 8686799"/>
              <a:gd name="connsiteY25" fmla="*/ 4907280 h 8869680"/>
              <a:gd name="connsiteX26" fmla="*/ 6568439 w 8686799"/>
              <a:gd name="connsiteY26" fmla="*/ 4907280 h 8869680"/>
              <a:gd name="connsiteX27" fmla="*/ 7025639 w 8686799"/>
              <a:gd name="connsiteY27" fmla="*/ 5821680 h 8869680"/>
              <a:gd name="connsiteX28" fmla="*/ 6568439 w 8686799"/>
              <a:gd name="connsiteY28" fmla="*/ 6736080 h 8869680"/>
              <a:gd name="connsiteX29" fmla="*/ 5501639 w 8686799"/>
              <a:gd name="connsiteY29" fmla="*/ 6736080 h 8869680"/>
              <a:gd name="connsiteX30" fmla="*/ 4998719 w 8686799"/>
              <a:gd name="connsiteY30" fmla="*/ 1828800 h 8869680"/>
              <a:gd name="connsiteX31" fmla="*/ 5455919 w 8686799"/>
              <a:gd name="connsiteY31" fmla="*/ 914400 h 8869680"/>
              <a:gd name="connsiteX32" fmla="*/ 6522719 w 8686799"/>
              <a:gd name="connsiteY32" fmla="*/ 914400 h 8869680"/>
              <a:gd name="connsiteX33" fmla="*/ 6979919 w 8686799"/>
              <a:gd name="connsiteY33" fmla="*/ 1828800 h 8869680"/>
              <a:gd name="connsiteX34" fmla="*/ 6522719 w 8686799"/>
              <a:gd name="connsiteY34" fmla="*/ 2743200 h 8869680"/>
              <a:gd name="connsiteX35" fmla="*/ 5455919 w 8686799"/>
              <a:gd name="connsiteY35" fmla="*/ 2743200 h 8869680"/>
              <a:gd name="connsiteX36" fmla="*/ 4998719 w 8686799"/>
              <a:gd name="connsiteY36" fmla="*/ 3825240 h 8869680"/>
              <a:gd name="connsiteX37" fmla="*/ 5455919 w 8686799"/>
              <a:gd name="connsiteY37" fmla="*/ 2910840 h 8869680"/>
              <a:gd name="connsiteX38" fmla="*/ 6522719 w 8686799"/>
              <a:gd name="connsiteY38" fmla="*/ 2910840 h 8869680"/>
              <a:gd name="connsiteX39" fmla="*/ 6979919 w 8686799"/>
              <a:gd name="connsiteY39" fmla="*/ 3825240 h 8869680"/>
              <a:gd name="connsiteX40" fmla="*/ 6522719 w 8686799"/>
              <a:gd name="connsiteY40" fmla="*/ 4739640 h 8869680"/>
              <a:gd name="connsiteX41" fmla="*/ 5455919 w 8686799"/>
              <a:gd name="connsiteY41" fmla="*/ 4739640 h 8869680"/>
              <a:gd name="connsiteX42" fmla="*/ 3383280 w 8686799"/>
              <a:gd name="connsiteY42" fmla="*/ 4907280 h 8869680"/>
              <a:gd name="connsiteX43" fmla="*/ 3840480 w 8686799"/>
              <a:gd name="connsiteY43" fmla="*/ 3992880 h 8869680"/>
              <a:gd name="connsiteX44" fmla="*/ 4907279 w 8686799"/>
              <a:gd name="connsiteY44" fmla="*/ 3992880 h 8869680"/>
              <a:gd name="connsiteX45" fmla="*/ 5364479 w 8686799"/>
              <a:gd name="connsiteY45" fmla="*/ 4907280 h 8869680"/>
              <a:gd name="connsiteX46" fmla="*/ 4907279 w 8686799"/>
              <a:gd name="connsiteY46" fmla="*/ 5821680 h 8869680"/>
              <a:gd name="connsiteX47" fmla="*/ 3840480 w 8686799"/>
              <a:gd name="connsiteY47" fmla="*/ 5821680 h 8869680"/>
              <a:gd name="connsiteX48" fmla="*/ 3353291 w 8686799"/>
              <a:gd name="connsiteY48" fmla="*/ 6899541 h 8869680"/>
              <a:gd name="connsiteX49" fmla="*/ 3810491 w 8686799"/>
              <a:gd name="connsiteY49" fmla="*/ 5985141 h 8869680"/>
              <a:gd name="connsiteX50" fmla="*/ 4877291 w 8686799"/>
              <a:gd name="connsiteY50" fmla="*/ 5985141 h 8869680"/>
              <a:gd name="connsiteX51" fmla="*/ 5334491 w 8686799"/>
              <a:gd name="connsiteY51" fmla="*/ 6899541 h 8869680"/>
              <a:gd name="connsiteX52" fmla="*/ 4877291 w 8686799"/>
              <a:gd name="connsiteY52" fmla="*/ 7813941 h 8869680"/>
              <a:gd name="connsiteX53" fmla="*/ 3810491 w 8686799"/>
              <a:gd name="connsiteY53" fmla="*/ 7813941 h 8869680"/>
              <a:gd name="connsiteX54" fmla="*/ 3337560 w 8686799"/>
              <a:gd name="connsiteY54" fmla="*/ 914400 h 8869680"/>
              <a:gd name="connsiteX55" fmla="*/ 3794760 w 8686799"/>
              <a:gd name="connsiteY55" fmla="*/ 0 h 8869680"/>
              <a:gd name="connsiteX56" fmla="*/ 4861559 w 8686799"/>
              <a:gd name="connsiteY56" fmla="*/ 0 h 8869680"/>
              <a:gd name="connsiteX57" fmla="*/ 5318759 w 8686799"/>
              <a:gd name="connsiteY57" fmla="*/ 914400 h 8869680"/>
              <a:gd name="connsiteX58" fmla="*/ 4861559 w 8686799"/>
              <a:gd name="connsiteY58" fmla="*/ 1828800 h 8869680"/>
              <a:gd name="connsiteX59" fmla="*/ 3794760 w 8686799"/>
              <a:gd name="connsiteY59" fmla="*/ 1828800 h 8869680"/>
              <a:gd name="connsiteX60" fmla="*/ 3337560 w 8686799"/>
              <a:gd name="connsiteY60" fmla="*/ 2910840 h 8869680"/>
              <a:gd name="connsiteX61" fmla="*/ 3794760 w 8686799"/>
              <a:gd name="connsiteY61" fmla="*/ 1996440 h 8869680"/>
              <a:gd name="connsiteX62" fmla="*/ 4861559 w 8686799"/>
              <a:gd name="connsiteY62" fmla="*/ 1996440 h 8869680"/>
              <a:gd name="connsiteX63" fmla="*/ 5318759 w 8686799"/>
              <a:gd name="connsiteY63" fmla="*/ 2910840 h 8869680"/>
              <a:gd name="connsiteX64" fmla="*/ 4861559 w 8686799"/>
              <a:gd name="connsiteY64" fmla="*/ 3825240 h 8869680"/>
              <a:gd name="connsiteX65" fmla="*/ 3794760 w 8686799"/>
              <a:gd name="connsiteY65" fmla="*/ 3825240 h 8869680"/>
              <a:gd name="connsiteX66" fmla="*/ 1721873 w 8686799"/>
              <a:gd name="connsiteY66" fmla="*/ 7955280 h 8869680"/>
              <a:gd name="connsiteX67" fmla="*/ 2179073 w 8686799"/>
              <a:gd name="connsiteY67" fmla="*/ 7040880 h 8869680"/>
              <a:gd name="connsiteX68" fmla="*/ 3245873 w 8686799"/>
              <a:gd name="connsiteY68" fmla="*/ 7040880 h 8869680"/>
              <a:gd name="connsiteX69" fmla="*/ 3703073 w 8686799"/>
              <a:gd name="connsiteY69" fmla="*/ 7955280 h 8869680"/>
              <a:gd name="connsiteX70" fmla="*/ 3245873 w 8686799"/>
              <a:gd name="connsiteY70" fmla="*/ 8869680 h 8869680"/>
              <a:gd name="connsiteX71" fmla="*/ 2179073 w 8686799"/>
              <a:gd name="connsiteY71" fmla="*/ 8869680 h 8869680"/>
              <a:gd name="connsiteX72" fmla="*/ 1691640 w 8686799"/>
              <a:gd name="connsiteY72" fmla="*/ 5989320 h 8869680"/>
              <a:gd name="connsiteX73" fmla="*/ 2148841 w 8686799"/>
              <a:gd name="connsiteY73" fmla="*/ 5074920 h 8869680"/>
              <a:gd name="connsiteX74" fmla="*/ 3215640 w 8686799"/>
              <a:gd name="connsiteY74" fmla="*/ 5074920 h 8869680"/>
              <a:gd name="connsiteX75" fmla="*/ 3672840 w 8686799"/>
              <a:gd name="connsiteY75" fmla="*/ 5989320 h 8869680"/>
              <a:gd name="connsiteX76" fmla="*/ 3215640 w 8686799"/>
              <a:gd name="connsiteY76" fmla="*/ 6903719 h 8869680"/>
              <a:gd name="connsiteX77" fmla="*/ 2148840 w 8686799"/>
              <a:gd name="connsiteY77" fmla="*/ 6903719 h 8869680"/>
              <a:gd name="connsiteX78" fmla="*/ 1645920 w 8686799"/>
              <a:gd name="connsiteY78" fmla="*/ 1996440 h 8869680"/>
              <a:gd name="connsiteX79" fmla="*/ 2103120 w 8686799"/>
              <a:gd name="connsiteY79" fmla="*/ 1082040 h 8869680"/>
              <a:gd name="connsiteX80" fmla="*/ 3169920 w 8686799"/>
              <a:gd name="connsiteY80" fmla="*/ 1082040 h 8869680"/>
              <a:gd name="connsiteX81" fmla="*/ 3627120 w 8686799"/>
              <a:gd name="connsiteY81" fmla="*/ 1996440 h 8869680"/>
              <a:gd name="connsiteX82" fmla="*/ 3169920 w 8686799"/>
              <a:gd name="connsiteY82" fmla="*/ 2910840 h 8869680"/>
              <a:gd name="connsiteX83" fmla="*/ 2103120 w 8686799"/>
              <a:gd name="connsiteY83" fmla="*/ 2910840 h 8869680"/>
              <a:gd name="connsiteX84" fmla="*/ 1645920 w 8686799"/>
              <a:gd name="connsiteY84" fmla="*/ 3992880 h 8869680"/>
              <a:gd name="connsiteX85" fmla="*/ 2103120 w 8686799"/>
              <a:gd name="connsiteY85" fmla="*/ 3078480 h 8869680"/>
              <a:gd name="connsiteX86" fmla="*/ 3169920 w 8686799"/>
              <a:gd name="connsiteY86" fmla="*/ 3078480 h 8869680"/>
              <a:gd name="connsiteX87" fmla="*/ 3627120 w 8686799"/>
              <a:gd name="connsiteY87" fmla="*/ 3992880 h 8869680"/>
              <a:gd name="connsiteX88" fmla="*/ 3169920 w 8686799"/>
              <a:gd name="connsiteY88" fmla="*/ 4907280 h 8869680"/>
              <a:gd name="connsiteX89" fmla="*/ 2103120 w 8686799"/>
              <a:gd name="connsiteY89" fmla="*/ 4907280 h 8869680"/>
              <a:gd name="connsiteX90" fmla="*/ 45720 w 8686799"/>
              <a:gd name="connsiteY90" fmla="*/ 5059680 h 8869680"/>
              <a:gd name="connsiteX91" fmla="*/ 502920 w 8686799"/>
              <a:gd name="connsiteY91" fmla="*/ 4145280 h 8869680"/>
              <a:gd name="connsiteX92" fmla="*/ 1569720 w 8686799"/>
              <a:gd name="connsiteY92" fmla="*/ 4145280 h 8869680"/>
              <a:gd name="connsiteX93" fmla="*/ 2026920 w 8686799"/>
              <a:gd name="connsiteY93" fmla="*/ 5059680 h 8869680"/>
              <a:gd name="connsiteX94" fmla="*/ 1569720 w 8686799"/>
              <a:gd name="connsiteY94" fmla="*/ 5974080 h 8869680"/>
              <a:gd name="connsiteX95" fmla="*/ 502920 w 8686799"/>
              <a:gd name="connsiteY95" fmla="*/ 5974080 h 8869680"/>
              <a:gd name="connsiteX96" fmla="*/ 45719 w 8686799"/>
              <a:gd name="connsiteY96" fmla="*/ 6987539 h 8869680"/>
              <a:gd name="connsiteX97" fmla="*/ 502919 w 8686799"/>
              <a:gd name="connsiteY97" fmla="*/ 6073140 h 8869680"/>
              <a:gd name="connsiteX98" fmla="*/ 1569719 w 8686799"/>
              <a:gd name="connsiteY98" fmla="*/ 6073140 h 8869680"/>
              <a:gd name="connsiteX99" fmla="*/ 2026919 w 8686799"/>
              <a:gd name="connsiteY99" fmla="*/ 6987539 h 8869680"/>
              <a:gd name="connsiteX100" fmla="*/ 1569719 w 8686799"/>
              <a:gd name="connsiteY100" fmla="*/ 7901940 h 8869680"/>
              <a:gd name="connsiteX101" fmla="*/ 502919 w 8686799"/>
              <a:gd name="connsiteY101" fmla="*/ 7901940 h 8869680"/>
              <a:gd name="connsiteX102" fmla="*/ 0 w 8686799"/>
              <a:gd name="connsiteY102" fmla="*/ 3063240 h 8869680"/>
              <a:gd name="connsiteX103" fmla="*/ 457200 w 8686799"/>
              <a:gd name="connsiteY103" fmla="*/ 2148840 h 8869680"/>
              <a:gd name="connsiteX104" fmla="*/ 1524000 w 8686799"/>
              <a:gd name="connsiteY104" fmla="*/ 2148840 h 8869680"/>
              <a:gd name="connsiteX105" fmla="*/ 1981200 w 8686799"/>
              <a:gd name="connsiteY105" fmla="*/ 3063240 h 8869680"/>
              <a:gd name="connsiteX106" fmla="*/ 1524000 w 8686799"/>
              <a:gd name="connsiteY106" fmla="*/ 3977640 h 8869680"/>
              <a:gd name="connsiteX107" fmla="*/ 457200 w 8686799"/>
              <a:gd name="connsiteY107" fmla="*/ 3977640 h 8869680"/>
              <a:gd name="connsiteX108" fmla="*/ 0 w 8686799"/>
              <a:gd name="connsiteY108" fmla="*/ 1066800 h 8869680"/>
              <a:gd name="connsiteX109" fmla="*/ 457200 w 8686799"/>
              <a:gd name="connsiteY109" fmla="*/ 152400 h 8869680"/>
              <a:gd name="connsiteX110" fmla="*/ 1524000 w 8686799"/>
              <a:gd name="connsiteY110" fmla="*/ 152400 h 8869680"/>
              <a:gd name="connsiteX111" fmla="*/ 1981200 w 8686799"/>
              <a:gd name="connsiteY111" fmla="*/ 1066800 h 8869680"/>
              <a:gd name="connsiteX112" fmla="*/ 1524000 w 8686799"/>
              <a:gd name="connsiteY112" fmla="*/ 1981200 h 8869680"/>
              <a:gd name="connsiteX113" fmla="*/ 457200 w 8686799"/>
              <a:gd name="connsiteY113" fmla="*/ 1981200 h 886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8686799" h="8869680">
                <a:moveTo>
                  <a:pt x="6705599" y="6736080"/>
                </a:moveTo>
                <a:lnTo>
                  <a:pt x="7162799" y="5821680"/>
                </a:lnTo>
                <a:lnTo>
                  <a:pt x="8229599" y="5821680"/>
                </a:lnTo>
                <a:lnTo>
                  <a:pt x="8686799" y="6736080"/>
                </a:lnTo>
                <a:lnTo>
                  <a:pt x="8229599" y="7650480"/>
                </a:lnTo>
                <a:lnTo>
                  <a:pt x="7162799" y="7650480"/>
                </a:lnTo>
                <a:close/>
                <a:moveTo>
                  <a:pt x="6659879" y="2743200"/>
                </a:moveTo>
                <a:lnTo>
                  <a:pt x="7117079" y="1828800"/>
                </a:lnTo>
                <a:lnTo>
                  <a:pt x="8183879" y="1828800"/>
                </a:lnTo>
                <a:lnTo>
                  <a:pt x="8641079" y="2743200"/>
                </a:lnTo>
                <a:lnTo>
                  <a:pt x="8183879" y="3657600"/>
                </a:lnTo>
                <a:lnTo>
                  <a:pt x="7117079" y="3657600"/>
                </a:lnTo>
                <a:close/>
                <a:moveTo>
                  <a:pt x="6659879" y="4739640"/>
                </a:moveTo>
                <a:lnTo>
                  <a:pt x="7117079" y="3825240"/>
                </a:lnTo>
                <a:lnTo>
                  <a:pt x="8183879" y="3825240"/>
                </a:lnTo>
                <a:lnTo>
                  <a:pt x="8641079" y="4739640"/>
                </a:lnTo>
                <a:lnTo>
                  <a:pt x="8183879" y="5654040"/>
                </a:lnTo>
                <a:lnTo>
                  <a:pt x="7117079" y="5654040"/>
                </a:lnTo>
                <a:close/>
                <a:moveTo>
                  <a:pt x="5084013" y="7828689"/>
                </a:moveTo>
                <a:lnTo>
                  <a:pt x="5541213" y="6914287"/>
                </a:lnTo>
                <a:lnTo>
                  <a:pt x="6608013" y="6914287"/>
                </a:lnTo>
                <a:lnTo>
                  <a:pt x="7065213" y="7828689"/>
                </a:lnTo>
                <a:lnTo>
                  <a:pt x="6608013" y="8743089"/>
                </a:lnTo>
                <a:lnTo>
                  <a:pt x="5541213" y="8743089"/>
                </a:lnTo>
                <a:close/>
                <a:moveTo>
                  <a:pt x="5044439" y="5821680"/>
                </a:moveTo>
                <a:lnTo>
                  <a:pt x="5501639" y="4907280"/>
                </a:lnTo>
                <a:lnTo>
                  <a:pt x="6568439" y="4907280"/>
                </a:lnTo>
                <a:lnTo>
                  <a:pt x="7025639" y="5821680"/>
                </a:lnTo>
                <a:lnTo>
                  <a:pt x="6568439" y="6736080"/>
                </a:lnTo>
                <a:lnTo>
                  <a:pt x="5501639" y="6736080"/>
                </a:lnTo>
                <a:close/>
                <a:moveTo>
                  <a:pt x="4998719" y="1828800"/>
                </a:moveTo>
                <a:lnTo>
                  <a:pt x="5455919" y="914400"/>
                </a:lnTo>
                <a:lnTo>
                  <a:pt x="6522719" y="914400"/>
                </a:lnTo>
                <a:lnTo>
                  <a:pt x="6979919" y="1828800"/>
                </a:lnTo>
                <a:lnTo>
                  <a:pt x="6522719" y="2743200"/>
                </a:lnTo>
                <a:lnTo>
                  <a:pt x="5455919" y="2743200"/>
                </a:lnTo>
                <a:close/>
                <a:moveTo>
                  <a:pt x="4998719" y="3825240"/>
                </a:moveTo>
                <a:lnTo>
                  <a:pt x="5455919" y="2910840"/>
                </a:lnTo>
                <a:lnTo>
                  <a:pt x="6522719" y="2910840"/>
                </a:lnTo>
                <a:lnTo>
                  <a:pt x="6979919" y="3825240"/>
                </a:lnTo>
                <a:lnTo>
                  <a:pt x="6522719" y="4739640"/>
                </a:lnTo>
                <a:lnTo>
                  <a:pt x="5455919" y="4739640"/>
                </a:lnTo>
                <a:close/>
                <a:moveTo>
                  <a:pt x="3383280" y="4907280"/>
                </a:moveTo>
                <a:lnTo>
                  <a:pt x="3840480" y="3992880"/>
                </a:lnTo>
                <a:lnTo>
                  <a:pt x="4907279" y="3992880"/>
                </a:lnTo>
                <a:lnTo>
                  <a:pt x="5364479" y="4907280"/>
                </a:lnTo>
                <a:lnTo>
                  <a:pt x="4907279" y="5821680"/>
                </a:lnTo>
                <a:lnTo>
                  <a:pt x="3840480" y="5821680"/>
                </a:lnTo>
                <a:close/>
                <a:moveTo>
                  <a:pt x="3353291" y="6899541"/>
                </a:moveTo>
                <a:lnTo>
                  <a:pt x="3810491" y="5985141"/>
                </a:lnTo>
                <a:lnTo>
                  <a:pt x="4877291" y="5985141"/>
                </a:lnTo>
                <a:lnTo>
                  <a:pt x="5334491" y="6899541"/>
                </a:lnTo>
                <a:lnTo>
                  <a:pt x="4877291" y="7813941"/>
                </a:lnTo>
                <a:lnTo>
                  <a:pt x="3810491" y="7813941"/>
                </a:lnTo>
                <a:close/>
                <a:moveTo>
                  <a:pt x="3337560" y="914400"/>
                </a:moveTo>
                <a:lnTo>
                  <a:pt x="3794760" y="0"/>
                </a:lnTo>
                <a:lnTo>
                  <a:pt x="4861559" y="0"/>
                </a:lnTo>
                <a:lnTo>
                  <a:pt x="5318759" y="914400"/>
                </a:lnTo>
                <a:lnTo>
                  <a:pt x="4861559" y="1828800"/>
                </a:lnTo>
                <a:lnTo>
                  <a:pt x="3794760" y="1828800"/>
                </a:lnTo>
                <a:close/>
                <a:moveTo>
                  <a:pt x="3337560" y="2910840"/>
                </a:moveTo>
                <a:lnTo>
                  <a:pt x="3794760" y="1996440"/>
                </a:lnTo>
                <a:lnTo>
                  <a:pt x="4861559" y="1996440"/>
                </a:lnTo>
                <a:lnTo>
                  <a:pt x="5318759" y="2910840"/>
                </a:lnTo>
                <a:lnTo>
                  <a:pt x="4861559" y="3825240"/>
                </a:lnTo>
                <a:lnTo>
                  <a:pt x="3794760" y="3825240"/>
                </a:lnTo>
                <a:close/>
                <a:moveTo>
                  <a:pt x="1721873" y="7955280"/>
                </a:moveTo>
                <a:lnTo>
                  <a:pt x="2179073" y="7040880"/>
                </a:lnTo>
                <a:lnTo>
                  <a:pt x="3245873" y="7040880"/>
                </a:lnTo>
                <a:lnTo>
                  <a:pt x="3703073" y="7955280"/>
                </a:lnTo>
                <a:lnTo>
                  <a:pt x="3245873" y="8869680"/>
                </a:lnTo>
                <a:lnTo>
                  <a:pt x="2179073" y="8869680"/>
                </a:lnTo>
                <a:close/>
                <a:moveTo>
                  <a:pt x="1691640" y="5989320"/>
                </a:moveTo>
                <a:lnTo>
                  <a:pt x="2148841" y="5074920"/>
                </a:lnTo>
                <a:lnTo>
                  <a:pt x="3215640" y="5074920"/>
                </a:lnTo>
                <a:lnTo>
                  <a:pt x="3672840" y="5989320"/>
                </a:lnTo>
                <a:lnTo>
                  <a:pt x="3215640" y="6903719"/>
                </a:lnTo>
                <a:lnTo>
                  <a:pt x="2148840" y="6903719"/>
                </a:lnTo>
                <a:close/>
                <a:moveTo>
                  <a:pt x="1645920" y="1996440"/>
                </a:moveTo>
                <a:lnTo>
                  <a:pt x="2103120" y="1082040"/>
                </a:lnTo>
                <a:lnTo>
                  <a:pt x="3169920" y="1082040"/>
                </a:lnTo>
                <a:lnTo>
                  <a:pt x="3627120" y="1996440"/>
                </a:lnTo>
                <a:lnTo>
                  <a:pt x="3169920" y="2910840"/>
                </a:lnTo>
                <a:lnTo>
                  <a:pt x="2103120" y="2910840"/>
                </a:lnTo>
                <a:close/>
                <a:moveTo>
                  <a:pt x="1645920" y="3992880"/>
                </a:moveTo>
                <a:lnTo>
                  <a:pt x="2103120" y="3078480"/>
                </a:lnTo>
                <a:lnTo>
                  <a:pt x="3169920" y="3078480"/>
                </a:lnTo>
                <a:lnTo>
                  <a:pt x="3627120" y="3992880"/>
                </a:lnTo>
                <a:lnTo>
                  <a:pt x="3169920" y="4907280"/>
                </a:lnTo>
                <a:lnTo>
                  <a:pt x="2103120" y="4907280"/>
                </a:lnTo>
                <a:close/>
                <a:moveTo>
                  <a:pt x="45720" y="5059680"/>
                </a:moveTo>
                <a:lnTo>
                  <a:pt x="502920" y="4145280"/>
                </a:lnTo>
                <a:lnTo>
                  <a:pt x="1569720" y="4145280"/>
                </a:lnTo>
                <a:lnTo>
                  <a:pt x="2026920" y="5059680"/>
                </a:lnTo>
                <a:lnTo>
                  <a:pt x="1569720" y="5974080"/>
                </a:lnTo>
                <a:lnTo>
                  <a:pt x="502920" y="5974080"/>
                </a:lnTo>
                <a:close/>
                <a:moveTo>
                  <a:pt x="45719" y="6987539"/>
                </a:moveTo>
                <a:lnTo>
                  <a:pt x="502919" y="6073140"/>
                </a:lnTo>
                <a:lnTo>
                  <a:pt x="1569719" y="6073140"/>
                </a:lnTo>
                <a:lnTo>
                  <a:pt x="2026919" y="6987539"/>
                </a:lnTo>
                <a:lnTo>
                  <a:pt x="1569719" y="7901940"/>
                </a:lnTo>
                <a:lnTo>
                  <a:pt x="502919" y="7901940"/>
                </a:lnTo>
                <a:close/>
                <a:moveTo>
                  <a:pt x="0" y="3063240"/>
                </a:moveTo>
                <a:lnTo>
                  <a:pt x="457200" y="2148840"/>
                </a:lnTo>
                <a:lnTo>
                  <a:pt x="1524000" y="2148840"/>
                </a:lnTo>
                <a:lnTo>
                  <a:pt x="1981200" y="3063240"/>
                </a:lnTo>
                <a:lnTo>
                  <a:pt x="1524000" y="3977640"/>
                </a:lnTo>
                <a:lnTo>
                  <a:pt x="457200" y="3977640"/>
                </a:lnTo>
                <a:close/>
                <a:moveTo>
                  <a:pt x="0" y="1066800"/>
                </a:moveTo>
                <a:lnTo>
                  <a:pt x="457200" y="152400"/>
                </a:lnTo>
                <a:lnTo>
                  <a:pt x="1524000" y="152400"/>
                </a:lnTo>
                <a:lnTo>
                  <a:pt x="1981200" y="1066800"/>
                </a:lnTo>
                <a:lnTo>
                  <a:pt x="1524000" y="1981200"/>
                </a:lnTo>
                <a:lnTo>
                  <a:pt x="457200" y="1981200"/>
                </a:lnTo>
                <a:close/>
              </a:path>
            </a:pathLst>
          </a:cu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itle 1"/>
          <p:cNvSpPr txBox="1">
            <a:spLocks/>
          </p:cNvSpPr>
          <p:nvPr/>
        </p:nvSpPr>
        <p:spPr>
          <a:xfrm>
            <a:off x="0" y="4038600"/>
            <a:ext cx="3886200" cy="1950720"/>
          </a:xfrm>
          <a:prstGeom prst="rect">
            <a:avLst/>
          </a:prstGeom>
          <a:solidFill>
            <a:schemeClr val="accent6">
              <a:lumMod val="60000"/>
              <a:lumOff val="40000"/>
            </a:schemeClr>
          </a:solid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l-GR" sz="4000" b="1" dirty="0">
                <a:latin typeface="+mn-lt"/>
                <a:cs typeface="Arial" pitchFamily="34" charset="0"/>
              </a:rPr>
              <a:t>Πρόγραμμα </a:t>
            </a:r>
            <a:r>
              <a:rPr lang="el-GR" sz="4000" b="1" dirty="0" err="1">
                <a:latin typeface="+mn-lt"/>
                <a:cs typeface="Arial" pitchFamily="34" charset="0"/>
              </a:rPr>
              <a:t>Προϋπηρεσιακής</a:t>
            </a:r>
            <a:r>
              <a:rPr lang="el-GR" sz="4000" b="1" dirty="0">
                <a:latin typeface="+mn-lt"/>
                <a:cs typeface="Arial" pitchFamily="34" charset="0"/>
              </a:rPr>
              <a:t> Κατάρτισης</a:t>
            </a:r>
            <a:endParaRPr lang="en-US" sz="4000" b="1" dirty="0">
              <a:latin typeface="+mn-lt"/>
              <a:cs typeface="Arial" pitchFamily="34" charset="0"/>
            </a:endParaRPr>
          </a:p>
        </p:txBody>
      </p:sp>
      <p:pic>
        <p:nvPicPr>
          <p:cNvPr id="4" name="Picture 2" descr="http://ucy.ac.cy/proypiresiaki/images/template_img/logo_el.png"/>
          <p:cNvPicPr>
            <a:picLocks noChangeAspect="1" noChangeArrowheads="1"/>
          </p:cNvPicPr>
          <p:nvPr/>
        </p:nvPicPr>
        <p:blipFill>
          <a:blip r:embed="rId3"/>
          <a:srcRect/>
          <a:stretch>
            <a:fillRect/>
          </a:stretch>
        </p:blipFill>
        <p:spPr bwMode="auto">
          <a:xfrm>
            <a:off x="344625" y="55306"/>
            <a:ext cx="3566156" cy="990600"/>
          </a:xfrm>
          <a:prstGeom prst="rect">
            <a:avLst/>
          </a:prstGeom>
          <a:noFill/>
        </p:spPr>
      </p:pic>
    </p:spTree>
    <p:extLst>
      <p:ext uri="{BB962C8B-B14F-4D97-AF65-F5344CB8AC3E}">
        <p14:creationId xmlns:p14="http://schemas.microsoft.com/office/powerpoint/2010/main" val="35378815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8000">
              <a:schemeClr val="accent6">
                <a:lumMod val="0"/>
                <a:lumOff val="100000"/>
              </a:schemeClr>
            </a:gs>
            <a:gs pos="51000">
              <a:schemeClr val="accent6">
                <a:lumMod val="0"/>
                <a:lumOff val="100000"/>
              </a:schemeClr>
            </a:gs>
            <a:gs pos="73000">
              <a:srgbClr val="FAC090"/>
            </a:gs>
          </a:gsLst>
          <a:path path="circle">
            <a:fillToRect l="50000" t="-80000" r="50000" b="180000"/>
          </a:path>
        </a:gradFill>
        <a:effectLst/>
      </p:bgPr>
    </p:bg>
    <p:spTree>
      <p:nvGrpSpPr>
        <p:cNvPr id="1" name=""/>
        <p:cNvGrpSpPr/>
        <p:nvPr/>
      </p:nvGrpSpPr>
      <p:grpSpPr>
        <a:xfrm>
          <a:off x="0" y="0"/>
          <a:ext cx="0" cy="0"/>
          <a:chOff x="0" y="0"/>
          <a:chExt cx="0" cy="0"/>
        </a:xfrm>
      </p:grpSpPr>
      <p:sp>
        <p:nvSpPr>
          <p:cNvPr id="24" name="Freeform 23"/>
          <p:cNvSpPr/>
          <p:nvPr/>
        </p:nvSpPr>
        <p:spPr>
          <a:xfrm>
            <a:off x="3886200" y="-2956559"/>
            <a:ext cx="8686799" cy="8869680"/>
          </a:xfrm>
          <a:custGeom>
            <a:avLst/>
            <a:gdLst>
              <a:gd name="connsiteX0" fmla="*/ 6705599 w 8686799"/>
              <a:gd name="connsiteY0" fmla="*/ 6736080 h 8869680"/>
              <a:gd name="connsiteX1" fmla="*/ 7162799 w 8686799"/>
              <a:gd name="connsiteY1" fmla="*/ 5821680 h 8869680"/>
              <a:gd name="connsiteX2" fmla="*/ 8229599 w 8686799"/>
              <a:gd name="connsiteY2" fmla="*/ 5821680 h 8869680"/>
              <a:gd name="connsiteX3" fmla="*/ 8686799 w 8686799"/>
              <a:gd name="connsiteY3" fmla="*/ 6736080 h 8869680"/>
              <a:gd name="connsiteX4" fmla="*/ 8229599 w 8686799"/>
              <a:gd name="connsiteY4" fmla="*/ 7650480 h 8869680"/>
              <a:gd name="connsiteX5" fmla="*/ 7162799 w 8686799"/>
              <a:gd name="connsiteY5" fmla="*/ 7650480 h 8869680"/>
              <a:gd name="connsiteX6" fmla="*/ 6659879 w 8686799"/>
              <a:gd name="connsiteY6" fmla="*/ 2743200 h 8869680"/>
              <a:gd name="connsiteX7" fmla="*/ 7117079 w 8686799"/>
              <a:gd name="connsiteY7" fmla="*/ 1828800 h 8869680"/>
              <a:gd name="connsiteX8" fmla="*/ 8183879 w 8686799"/>
              <a:gd name="connsiteY8" fmla="*/ 1828800 h 8869680"/>
              <a:gd name="connsiteX9" fmla="*/ 8641079 w 8686799"/>
              <a:gd name="connsiteY9" fmla="*/ 2743200 h 8869680"/>
              <a:gd name="connsiteX10" fmla="*/ 8183879 w 8686799"/>
              <a:gd name="connsiteY10" fmla="*/ 3657600 h 8869680"/>
              <a:gd name="connsiteX11" fmla="*/ 7117079 w 8686799"/>
              <a:gd name="connsiteY11" fmla="*/ 3657600 h 8869680"/>
              <a:gd name="connsiteX12" fmla="*/ 6659879 w 8686799"/>
              <a:gd name="connsiteY12" fmla="*/ 4739640 h 8869680"/>
              <a:gd name="connsiteX13" fmla="*/ 7117079 w 8686799"/>
              <a:gd name="connsiteY13" fmla="*/ 3825240 h 8869680"/>
              <a:gd name="connsiteX14" fmla="*/ 8183879 w 8686799"/>
              <a:gd name="connsiteY14" fmla="*/ 3825240 h 8869680"/>
              <a:gd name="connsiteX15" fmla="*/ 8641079 w 8686799"/>
              <a:gd name="connsiteY15" fmla="*/ 4739640 h 8869680"/>
              <a:gd name="connsiteX16" fmla="*/ 8183879 w 8686799"/>
              <a:gd name="connsiteY16" fmla="*/ 5654040 h 8869680"/>
              <a:gd name="connsiteX17" fmla="*/ 7117079 w 8686799"/>
              <a:gd name="connsiteY17" fmla="*/ 5654040 h 8869680"/>
              <a:gd name="connsiteX18" fmla="*/ 5084013 w 8686799"/>
              <a:gd name="connsiteY18" fmla="*/ 7828689 h 8869680"/>
              <a:gd name="connsiteX19" fmla="*/ 5541213 w 8686799"/>
              <a:gd name="connsiteY19" fmla="*/ 6914287 h 8869680"/>
              <a:gd name="connsiteX20" fmla="*/ 6608013 w 8686799"/>
              <a:gd name="connsiteY20" fmla="*/ 6914287 h 8869680"/>
              <a:gd name="connsiteX21" fmla="*/ 7065213 w 8686799"/>
              <a:gd name="connsiteY21" fmla="*/ 7828689 h 8869680"/>
              <a:gd name="connsiteX22" fmla="*/ 6608013 w 8686799"/>
              <a:gd name="connsiteY22" fmla="*/ 8743089 h 8869680"/>
              <a:gd name="connsiteX23" fmla="*/ 5541213 w 8686799"/>
              <a:gd name="connsiteY23" fmla="*/ 8743089 h 8869680"/>
              <a:gd name="connsiteX24" fmla="*/ 5044439 w 8686799"/>
              <a:gd name="connsiteY24" fmla="*/ 5821680 h 8869680"/>
              <a:gd name="connsiteX25" fmla="*/ 5501639 w 8686799"/>
              <a:gd name="connsiteY25" fmla="*/ 4907280 h 8869680"/>
              <a:gd name="connsiteX26" fmla="*/ 6568439 w 8686799"/>
              <a:gd name="connsiteY26" fmla="*/ 4907280 h 8869680"/>
              <a:gd name="connsiteX27" fmla="*/ 7025639 w 8686799"/>
              <a:gd name="connsiteY27" fmla="*/ 5821680 h 8869680"/>
              <a:gd name="connsiteX28" fmla="*/ 6568439 w 8686799"/>
              <a:gd name="connsiteY28" fmla="*/ 6736080 h 8869680"/>
              <a:gd name="connsiteX29" fmla="*/ 5501639 w 8686799"/>
              <a:gd name="connsiteY29" fmla="*/ 6736080 h 8869680"/>
              <a:gd name="connsiteX30" fmla="*/ 4998719 w 8686799"/>
              <a:gd name="connsiteY30" fmla="*/ 1828800 h 8869680"/>
              <a:gd name="connsiteX31" fmla="*/ 5455919 w 8686799"/>
              <a:gd name="connsiteY31" fmla="*/ 914400 h 8869680"/>
              <a:gd name="connsiteX32" fmla="*/ 6522719 w 8686799"/>
              <a:gd name="connsiteY32" fmla="*/ 914400 h 8869680"/>
              <a:gd name="connsiteX33" fmla="*/ 6979919 w 8686799"/>
              <a:gd name="connsiteY33" fmla="*/ 1828800 h 8869680"/>
              <a:gd name="connsiteX34" fmla="*/ 6522719 w 8686799"/>
              <a:gd name="connsiteY34" fmla="*/ 2743200 h 8869680"/>
              <a:gd name="connsiteX35" fmla="*/ 5455919 w 8686799"/>
              <a:gd name="connsiteY35" fmla="*/ 2743200 h 8869680"/>
              <a:gd name="connsiteX36" fmla="*/ 4998719 w 8686799"/>
              <a:gd name="connsiteY36" fmla="*/ 3825240 h 8869680"/>
              <a:gd name="connsiteX37" fmla="*/ 5455919 w 8686799"/>
              <a:gd name="connsiteY37" fmla="*/ 2910840 h 8869680"/>
              <a:gd name="connsiteX38" fmla="*/ 6522719 w 8686799"/>
              <a:gd name="connsiteY38" fmla="*/ 2910840 h 8869680"/>
              <a:gd name="connsiteX39" fmla="*/ 6979919 w 8686799"/>
              <a:gd name="connsiteY39" fmla="*/ 3825240 h 8869680"/>
              <a:gd name="connsiteX40" fmla="*/ 6522719 w 8686799"/>
              <a:gd name="connsiteY40" fmla="*/ 4739640 h 8869680"/>
              <a:gd name="connsiteX41" fmla="*/ 5455919 w 8686799"/>
              <a:gd name="connsiteY41" fmla="*/ 4739640 h 8869680"/>
              <a:gd name="connsiteX42" fmla="*/ 3383280 w 8686799"/>
              <a:gd name="connsiteY42" fmla="*/ 4907280 h 8869680"/>
              <a:gd name="connsiteX43" fmla="*/ 3840480 w 8686799"/>
              <a:gd name="connsiteY43" fmla="*/ 3992880 h 8869680"/>
              <a:gd name="connsiteX44" fmla="*/ 4907279 w 8686799"/>
              <a:gd name="connsiteY44" fmla="*/ 3992880 h 8869680"/>
              <a:gd name="connsiteX45" fmla="*/ 5364479 w 8686799"/>
              <a:gd name="connsiteY45" fmla="*/ 4907280 h 8869680"/>
              <a:gd name="connsiteX46" fmla="*/ 4907279 w 8686799"/>
              <a:gd name="connsiteY46" fmla="*/ 5821680 h 8869680"/>
              <a:gd name="connsiteX47" fmla="*/ 3840480 w 8686799"/>
              <a:gd name="connsiteY47" fmla="*/ 5821680 h 8869680"/>
              <a:gd name="connsiteX48" fmla="*/ 3353291 w 8686799"/>
              <a:gd name="connsiteY48" fmla="*/ 6899541 h 8869680"/>
              <a:gd name="connsiteX49" fmla="*/ 3810491 w 8686799"/>
              <a:gd name="connsiteY49" fmla="*/ 5985141 h 8869680"/>
              <a:gd name="connsiteX50" fmla="*/ 4877291 w 8686799"/>
              <a:gd name="connsiteY50" fmla="*/ 5985141 h 8869680"/>
              <a:gd name="connsiteX51" fmla="*/ 5334491 w 8686799"/>
              <a:gd name="connsiteY51" fmla="*/ 6899541 h 8869680"/>
              <a:gd name="connsiteX52" fmla="*/ 4877291 w 8686799"/>
              <a:gd name="connsiteY52" fmla="*/ 7813941 h 8869680"/>
              <a:gd name="connsiteX53" fmla="*/ 3810491 w 8686799"/>
              <a:gd name="connsiteY53" fmla="*/ 7813941 h 8869680"/>
              <a:gd name="connsiteX54" fmla="*/ 3337560 w 8686799"/>
              <a:gd name="connsiteY54" fmla="*/ 914400 h 8869680"/>
              <a:gd name="connsiteX55" fmla="*/ 3794760 w 8686799"/>
              <a:gd name="connsiteY55" fmla="*/ 0 h 8869680"/>
              <a:gd name="connsiteX56" fmla="*/ 4861559 w 8686799"/>
              <a:gd name="connsiteY56" fmla="*/ 0 h 8869680"/>
              <a:gd name="connsiteX57" fmla="*/ 5318759 w 8686799"/>
              <a:gd name="connsiteY57" fmla="*/ 914400 h 8869680"/>
              <a:gd name="connsiteX58" fmla="*/ 4861559 w 8686799"/>
              <a:gd name="connsiteY58" fmla="*/ 1828800 h 8869680"/>
              <a:gd name="connsiteX59" fmla="*/ 3794760 w 8686799"/>
              <a:gd name="connsiteY59" fmla="*/ 1828800 h 8869680"/>
              <a:gd name="connsiteX60" fmla="*/ 3337560 w 8686799"/>
              <a:gd name="connsiteY60" fmla="*/ 2910840 h 8869680"/>
              <a:gd name="connsiteX61" fmla="*/ 3794760 w 8686799"/>
              <a:gd name="connsiteY61" fmla="*/ 1996440 h 8869680"/>
              <a:gd name="connsiteX62" fmla="*/ 4861559 w 8686799"/>
              <a:gd name="connsiteY62" fmla="*/ 1996440 h 8869680"/>
              <a:gd name="connsiteX63" fmla="*/ 5318759 w 8686799"/>
              <a:gd name="connsiteY63" fmla="*/ 2910840 h 8869680"/>
              <a:gd name="connsiteX64" fmla="*/ 4861559 w 8686799"/>
              <a:gd name="connsiteY64" fmla="*/ 3825240 h 8869680"/>
              <a:gd name="connsiteX65" fmla="*/ 3794760 w 8686799"/>
              <a:gd name="connsiteY65" fmla="*/ 3825240 h 8869680"/>
              <a:gd name="connsiteX66" fmla="*/ 1721873 w 8686799"/>
              <a:gd name="connsiteY66" fmla="*/ 7955280 h 8869680"/>
              <a:gd name="connsiteX67" fmla="*/ 2179073 w 8686799"/>
              <a:gd name="connsiteY67" fmla="*/ 7040880 h 8869680"/>
              <a:gd name="connsiteX68" fmla="*/ 3245873 w 8686799"/>
              <a:gd name="connsiteY68" fmla="*/ 7040880 h 8869680"/>
              <a:gd name="connsiteX69" fmla="*/ 3703073 w 8686799"/>
              <a:gd name="connsiteY69" fmla="*/ 7955280 h 8869680"/>
              <a:gd name="connsiteX70" fmla="*/ 3245873 w 8686799"/>
              <a:gd name="connsiteY70" fmla="*/ 8869680 h 8869680"/>
              <a:gd name="connsiteX71" fmla="*/ 2179073 w 8686799"/>
              <a:gd name="connsiteY71" fmla="*/ 8869680 h 8869680"/>
              <a:gd name="connsiteX72" fmla="*/ 1691640 w 8686799"/>
              <a:gd name="connsiteY72" fmla="*/ 5989320 h 8869680"/>
              <a:gd name="connsiteX73" fmla="*/ 2148841 w 8686799"/>
              <a:gd name="connsiteY73" fmla="*/ 5074920 h 8869680"/>
              <a:gd name="connsiteX74" fmla="*/ 3215640 w 8686799"/>
              <a:gd name="connsiteY74" fmla="*/ 5074920 h 8869680"/>
              <a:gd name="connsiteX75" fmla="*/ 3672840 w 8686799"/>
              <a:gd name="connsiteY75" fmla="*/ 5989320 h 8869680"/>
              <a:gd name="connsiteX76" fmla="*/ 3215640 w 8686799"/>
              <a:gd name="connsiteY76" fmla="*/ 6903719 h 8869680"/>
              <a:gd name="connsiteX77" fmla="*/ 2148840 w 8686799"/>
              <a:gd name="connsiteY77" fmla="*/ 6903719 h 8869680"/>
              <a:gd name="connsiteX78" fmla="*/ 1645920 w 8686799"/>
              <a:gd name="connsiteY78" fmla="*/ 1996440 h 8869680"/>
              <a:gd name="connsiteX79" fmla="*/ 2103120 w 8686799"/>
              <a:gd name="connsiteY79" fmla="*/ 1082040 h 8869680"/>
              <a:gd name="connsiteX80" fmla="*/ 3169920 w 8686799"/>
              <a:gd name="connsiteY80" fmla="*/ 1082040 h 8869680"/>
              <a:gd name="connsiteX81" fmla="*/ 3627120 w 8686799"/>
              <a:gd name="connsiteY81" fmla="*/ 1996440 h 8869680"/>
              <a:gd name="connsiteX82" fmla="*/ 3169920 w 8686799"/>
              <a:gd name="connsiteY82" fmla="*/ 2910840 h 8869680"/>
              <a:gd name="connsiteX83" fmla="*/ 2103120 w 8686799"/>
              <a:gd name="connsiteY83" fmla="*/ 2910840 h 8869680"/>
              <a:gd name="connsiteX84" fmla="*/ 1645920 w 8686799"/>
              <a:gd name="connsiteY84" fmla="*/ 3992880 h 8869680"/>
              <a:gd name="connsiteX85" fmla="*/ 2103120 w 8686799"/>
              <a:gd name="connsiteY85" fmla="*/ 3078480 h 8869680"/>
              <a:gd name="connsiteX86" fmla="*/ 3169920 w 8686799"/>
              <a:gd name="connsiteY86" fmla="*/ 3078480 h 8869680"/>
              <a:gd name="connsiteX87" fmla="*/ 3627120 w 8686799"/>
              <a:gd name="connsiteY87" fmla="*/ 3992880 h 8869680"/>
              <a:gd name="connsiteX88" fmla="*/ 3169920 w 8686799"/>
              <a:gd name="connsiteY88" fmla="*/ 4907280 h 8869680"/>
              <a:gd name="connsiteX89" fmla="*/ 2103120 w 8686799"/>
              <a:gd name="connsiteY89" fmla="*/ 4907280 h 8869680"/>
              <a:gd name="connsiteX90" fmla="*/ 45720 w 8686799"/>
              <a:gd name="connsiteY90" fmla="*/ 5059680 h 8869680"/>
              <a:gd name="connsiteX91" fmla="*/ 502920 w 8686799"/>
              <a:gd name="connsiteY91" fmla="*/ 4145280 h 8869680"/>
              <a:gd name="connsiteX92" fmla="*/ 1569720 w 8686799"/>
              <a:gd name="connsiteY92" fmla="*/ 4145280 h 8869680"/>
              <a:gd name="connsiteX93" fmla="*/ 2026920 w 8686799"/>
              <a:gd name="connsiteY93" fmla="*/ 5059680 h 8869680"/>
              <a:gd name="connsiteX94" fmla="*/ 1569720 w 8686799"/>
              <a:gd name="connsiteY94" fmla="*/ 5974080 h 8869680"/>
              <a:gd name="connsiteX95" fmla="*/ 502920 w 8686799"/>
              <a:gd name="connsiteY95" fmla="*/ 5974080 h 8869680"/>
              <a:gd name="connsiteX96" fmla="*/ 45719 w 8686799"/>
              <a:gd name="connsiteY96" fmla="*/ 6987539 h 8869680"/>
              <a:gd name="connsiteX97" fmla="*/ 502919 w 8686799"/>
              <a:gd name="connsiteY97" fmla="*/ 6073140 h 8869680"/>
              <a:gd name="connsiteX98" fmla="*/ 1569719 w 8686799"/>
              <a:gd name="connsiteY98" fmla="*/ 6073140 h 8869680"/>
              <a:gd name="connsiteX99" fmla="*/ 2026919 w 8686799"/>
              <a:gd name="connsiteY99" fmla="*/ 6987539 h 8869680"/>
              <a:gd name="connsiteX100" fmla="*/ 1569719 w 8686799"/>
              <a:gd name="connsiteY100" fmla="*/ 7901940 h 8869680"/>
              <a:gd name="connsiteX101" fmla="*/ 502919 w 8686799"/>
              <a:gd name="connsiteY101" fmla="*/ 7901940 h 8869680"/>
              <a:gd name="connsiteX102" fmla="*/ 0 w 8686799"/>
              <a:gd name="connsiteY102" fmla="*/ 3063240 h 8869680"/>
              <a:gd name="connsiteX103" fmla="*/ 457200 w 8686799"/>
              <a:gd name="connsiteY103" fmla="*/ 2148840 h 8869680"/>
              <a:gd name="connsiteX104" fmla="*/ 1524000 w 8686799"/>
              <a:gd name="connsiteY104" fmla="*/ 2148840 h 8869680"/>
              <a:gd name="connsiteX105" fmla="*/ 1981200 w 8686799"/>
              <a:gd name="connsiteY105" fmla="*/ 3063240 h 8869680"/>
              <a:gd name="connsiteX106" fmla="*/ 1524000 w 8686799"/>
              <a:gd name="connsiteY106" fmla="*/ 3977640 h 8869680"/>
              <a:gd name="connsiteX107" fmla="*/ 457200 w 8686799"/>
              <a:gd name="connsiteY107" fmla="*/ 3977640 h 8869680"/>
              <a:gd name="connsiteX108" fmla="*/ 0 w 8686799"/>
              <a:gd name="connsiteY108" fmla="*/ 1066800 h 8869680"/>
              <a:gd name="connsiteX109" fmla="*/ 457200 w 8686799"/>
              <a:gd name="connsiteY109" fmla="*/ 152400 h 8869680"/>
              <a:gd name="connsiteX110" fmla="*/ 1524000 w 8686799"/>
              <a:gd name="connsiteY110" fmla="*/ 152400 h 8869680"/>
              <a:gd name="connsiteX111" fmla="*/ 1981200 w 8686799"/>
              <a:gd name="connsiteY111" fmla="*/ 1066800 h 8869680"/>
              <a:gd name="connsiteX112" fmla="*/ 1524000 w 8686799"/>
              <a:gd name="connsiteY112" fmla="*/ 1981200 h 8869680"/>
              <a:gd name="connsiteX113" fmla="*/ 457200 w 8686799"/>
              <a:gd name="connsiteY113" fmla="*/ 1981200 h 886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Lst>
            <a:rect l="l" t="t" r="r" b="b"/>
            <a:pathLst>
              <a:path w="8686799" h="8869680">
                <a:moveTo>
                  <a:pt x="6705599" y="6736080"/>
                </a:moveTo>
                <a:lnTo>
                  <a:pt x="7162799" y="5821680"/>
                </a:lnTo>
                <a:lnTo>
                  <a:pt x="8229599" y="5821680"/>
                </a:lnTo>
                <a:lnTo>
                  <a:pt x="8686799" y="6736080"/>
                </a:lnTo>
                <a:lnTo>
                  <a:pt x="8229599" y="7650480"/>
                </a:lnTo>
                <a:lnTo>
                  <a:pt x="7162799" y="7650480"/>
                </a:lnTo>
                <a:close/>
                <a:moveTo>
                  <a:pt x="6659879" y="2743200"/>
                </a:moveTo>
                <a:lnTo>
                  <a:pt x="7117079" y="1828800"/>
                </a:lnTo>
                <a:lnTo>
                  <a:pt x="8183879" y="1828800"/>
                </a:lnTo>
                <a:lnTo>
                  <a:pt x="8641079" y="2743200"/>
                </a:lnTo>
                <a:lnTo>
                  <a:pt x="8183879" y="3657600"/>
                </a:lnTo>
                <a:lnTo>
                  <a:pt x="7117079" y="3657600"/>
                </a:lnTo>
                <a:close/>
                <a:moveTo>
                  <a:pt x="6659879" y="4739640"/>
                </a:moveTo>
                <a:lnTo>
                  <a:pt x="7117079" y="3825240"/>
                </a:lnTo>
                <a:lnTo>
                  <a:pt x="8183879" y="3825240"/>
                </a:lnTo>
                <a:lnTo>
                  <a:pt x="8641079" y="4739640"/>
                </a:lnTo>
                <a:lnTo>
                  <a:pt x="8183879" y="5654040"/>
                </a:lnTo>
                <a:lnTo>
                  <a:pt x="7117079" y="5654040"/>
                </a:lnTo>
                <a:close/>
                <a:moveTo>
                  <a:pt x="5084013" y="7828689"/>
                </a:moveTo>
                <a:lnTo>
                  <a:pt x="5541213" y="6914287"/>
                </a:lnTo>
                <a:lnTo>
                  <a:pt x="6608013" y="6914287"/>
                </a:lnTo>
                <a:lnTo>
                  <a:pt x="7065213" y="7828689"/>
                </a:lnTo>
                <a:lnTo>
                  <a:pt x="6608013" y="8743089"/>
                </a:lnTo>
                <a:lnTo>
                  <a:pt x="5541213" y="8743089"/>
                </a:lnTo>
                <a:close/>
                <a:moveTo>
                  <a:pt x="5044439" y="5821680"/>
                </a:moveTo>
                <a:lnTo>
                  <a:pt x="5501639" y="4907280"/>
                </a:lnTo>
                <a:lnTo>
                  <a:pt x="6568439" y="4907280"/>
                </a:lnTo>
                <a:lnTo>
                  <a:pt x="7025639" y="5821680"/>
                </a:lnTo>
                <a:lnTo>
                  <a:pt x="6568439" y="6736080"/>
                </a:lnTo>
                <a:lnTo>
                  <a:pt x="5501639" y="6736080"/>
                </a:lnTo>
                <a:close/>
                <a:moveTo>
                  <a:pt x="4998719" y="1828800"/>
                </a:moveTo>
                <a:lnTo>
                  <a:pt x="5455919" y="914400"/>
                </a:lnTo>
                <a:lnTo>
                  <a:pt x="6522719" y="914400"/>
                </a:lnTo>
                <a:lnTo>
                  <a:pt x="6979919" y="1828800"/>
                </a:lnTo>
                <a:lnTo>
                  <a:pt x="6522719" y="2743200"/>
                </a:lnTo>
                <a:lnTo>
                  <a:pt x="5455919" y="2743200"/>
                </a:lnTo>
                <a:close/>
                <a:moveTo>
                  <a:pt x="4998719" y="3825240"/>
                </a:moveTo>
                <a:lnTo>
                  <a:pt x="5455919" y="2910840"/>
                </a:lnTo>
                <a:lnTo>
                  <a:pt x="6522719" y="2910840"/>
                </a:lnTo>
                <a:lnTo>
                  <a:pt x="6979919" y="3825240"/>
                </a:lnTo>
                <a:lnTo>
                  <a:pt x="6522719" y="4739640"/>
                </a:lnTo>
                <a:lnTo>
                  <a:pt x="5455919" y="4739640"/>
                </a:lnTo>
                <a:close/>
                <a:moveTo>
                  <a:pt x="3383280" y="4907280"/>
                </a:moveTo>
                <a:lnTo>
                  <a:pt x="3840480" y="3992880"/>
                </a:lnTo>
                <a:lnTo>
                  <a:pt x="4907279" y="3992880"/>
                </a:lnTo>
                <a:lnTo>
                  <a:pt x="5364479" y="4907280"/>
                </a:lnTo>
                <a:lnTo>
                  <a:pt x="4907279" y="5821680"/>
                </a:lnTo>
                <a:lnTo>
                  <a:pt x="3840480" y="5821680"/>
                </a:lnTo>
                <a:close/>
                <a:moveTo>
                  <a:pt x="3353291" y="6899541"/>
                </a:moveTo>
                <a:lnTo>
                  <a:pt x="3810491" y="5985141"/>
                </a:lnTo>
                <a:lnTo>
                  <a:pt x="4877291" y="5985141"/>
                </a:lnTo>
                <a:lnTo>
                  <a:pt x="5334491" y="6899541"/>
                </a:lnTo>
                <a:lnTo>
                  <a:pt x="4877291" y="7813941"/>
                </a:lnTo>
                <a:lnTo>
                  <a:pt x="3810491" y="7813941"/>
                </a:lnTo>
                <a:close/>
                <a:moveTo>
                  <a:pt x="3337560" y="914400"/>
                </a:moveTo>
                <a:lnTo>
                  <a:pt x="3794760" y="0"/>
                </a:lnTo>
                <a:lnTo>
                  <a:pt x="4861559" y="0"/>
                </a:lnTo>
                <a:lnTo>
                  <a:pt x="5318759" y="914400"/>
                </a:lnTo>
                <a:lnTo>
                  <a:pt x="4861559" y="1828800"/>
                </a:lnTo>
                <a:lnTo>
                  <a:pt x="3794760" y="1828800"/>
                </a:lnTo>
                <a:close/>
                <a:moveTo>
                  <a:pt x="3337560" y="2910840"/>
                </a:moveTo>
                <a:lnTo>
                  <a:pt x="3794760" y="1996440"/>
                </a:lnTo>
                <a:lnTo>
                  <a:pt x="4861559" y="1996440"/>
                </a:lnTo>
                <a:lnTo>
                  <a:pt x="5318759" y="2910840"/>
                </a:lnTo>
                <a:lnTo>
                  <a:pt x="4861559" y="3825240"/>
                </a:lnTo>
                <a:lnTo>
                  <a:pt x="3794760" y="3825240"/>
                </a:lnTo>
                <a:close/>
                <a:moveTo>
                  <a:pt x="1721873" y="7955280"/>
                </a:moveTo>
                <a:lnTo>
                  <a:pt x="2179073" y="7040880"/>
                </a:lnTo>
                <a:lnTo>
                  <a:pt x="3245873" y="7040880"/>
                </a:lnTo>
                <a:lnTo>
                  <a:pt x="3703073" y="7955280"/>
                </a:lnTo>
                <a:lnTo>
                  <a:pt x="3245873" y="8869680"/>
                </a:lnTo>
                <a:lnTo>
                  <a:pt x="2179073" y="8869680"/>
                </a:lnTo>
                <a:close/>
                <a:moveTo>
                  <a:pt x="1691640" y="5989320"/>
                </a:moveTo>
                <a:lnTo>
                  <a:pt x="2148841" y="5074920"/>
                </a:lnTo>
                <a:lnTo>
                  <a:pt x="3215640" y="5074920"/>
                </a:lnTo>
                <a:lnTo>
                  <a:pt x="3672840" y="5989320"/>
                </a:lnTo>
                <a:lnTo>
                  <a:pt x="3215640" y="6903719"/>
                </a:lnTo>
                <a:lnTo>
                  <a:pt x="2148840" y="6903719"/>
                </a:lnTo>
                <a:close/>
                <a:moveTo>
                  <a:pt x="1645920" y="1996440"/>
                </a:moveTo>
                <a:lnTo>
                  <a:pt x="2103120" y="1082040"/>
                </a:lnTo>
                <a:lnTo>
                  <a:pt x="3169920" y="1082040"/>
                </a:lnTo>
                <a:lnTo>
                  <a:pt x="3627120" y="1996440"/>
                </a:lnTo>
                <a:lnTo>
                  <a:pt x="3169920" y="2910840"/>
                </a:lnTo>
                <a:lnTo>
                  <a:pt x="2103120" y="2910840"/>
                </a:lnTo>
                <a:close/>
                <a:moveTo>
                  <a:pt x="1645920" y="3992880"/>
                </a:moveTo>
                <a:lnTo>
                  <a:pt x="2103120" y="3078480"/>
                </a:lnTo>
                <a:lnTo>
                  <a:pt x="3169920" y="3078480"/>
                </a:lnTo>
                <a:lnTo>
                  <a:pt x="3627120" y="3992880"/>
                </a:lnTo>
                <a:lnTo>
                  <a:pt x="3169920" y="4907280"/>
                </a:lnTo>
                <a:lnTo>
                  <a:pt x="2103120" y="4907280"/>
                </a:lnTo>
                <a:close/>
                <a:moveTo>
                  <a:pt x="45720" y="5059680"/>
                </a:moveTo>
                <a:lnTo>
                  <a:pt x="502920" y="4145280"/>
                </a:lnTo>
                <a:lnTo>
                  <a:pt x="1569720" y="4145280"/>
                </a:lnTo>
                <a:lnTo>
                  <a:pt x="2026920" y="5059680"/>
                </a:lnTo>
                <a:lnTo>
                  <a:pt x="1569720" y="5974080"/>
                </a:lnTo>
                <a:lnTo>
                  <a:pt x="502920" y="5974080"/>
                </a:lnTo>
                <a:close/>
                <a:moveTo>
                  <a:pt x="45719" y="6987539"/>
                </a:moveTo>
                <a:lnTo>
                  <a:pt x="502919" y="6073140"/>
                </a:lnTo>
                <a:lnTo>
                  <a:pt x="1569719" y="6073140"/>
                </a:lnTo>
                <a:lnTo>
                  <a:pt x="2026919" y="6987539"/>
                </a:lnTo>
                <a:lnTo>
                  <a:pt x="1569719" y="7901940"/>
                </a:lnTo>
                <a:lnTo>
                  <a:pt x="502919" y="7901940"/>
                </a:lnTo>
                <a:close/>
                <a:moveTo>
                  <a:pt x="0" y="3063240"/>
                </a:moveTo>
                <a:lnTo>
                  <a:pt x="457200" y="2148840"/>
                </a:lnTo>
                <a:lnTo>
                  <a:pt x="1524000" y="2148840"/>
                </a:lnTo>
                <a:lnTo>
                  <a:pt x="1981200" y="3063240"/>
                </a:lnTo>
                <a:lnTo>
                  <a:pt x="1524000" y="3977640"/>
                </a:lnTo>
                <a:lnTo>
                  <a:pt x="457200" y="3977640"/>
                </a:lnTo>
                <a:close/>
                <a:moveTo>
                  <a:pt x="0" y="1066800"/>
                </a:moveTo>
                <a:lnTo>
                  <a:pt x="457200" y="152400"/>
                </a:lnTo>
                <a:lnTo>
                  <a:pt x="1524000" y="152400"/>
                </a:lnTo>
                <a:lnTo>
                  <a:pt x="1981200" y="1066800"/>
                </a:lnTo>
                <a:lnTo>
                  <a:pt x="1524000" y="1981200"/>
                </a:lnTo>
                <a:lnTo>
                  <a:pt x="457200" y="1981200"/>
                </a:lnTo>
                <a:close/>
              </a:path>
            </a:pathLst>
          </a:custGeom>
          <a:blipFill dpi="0" rotWithShape="1">
            <a:blip r:embed="rId2">
              <a:extLst>
                <a:ext uri="{28A0092B-C50C-407E-A947-70E740481C1C}">
                  <a14:useLocalDpi xmlns:a14="http://schemas.microsoft.com/office/drawing/2010/main" val="0"/>
                </a:ext>
              </a:extLst>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Title 1"/>
          <p:cNvSpPr txBox="1">
            <a:spLocks/>
          </p:cNvSpPr>
          <p:nvPr/>
        </p:nvSpPr>
        <p:spPr>
          <a:xfrm>
            <a:off x="81454" y="5440680"/>
            <a:ext cx="8153400" cy="1417320"/>
          </a:xfrm>
          <a:prstGeom prst="rect">
            <a:avLst/>
          </a:prstGeom>
          <a:solidFill>
            <a:schemeClr val="accent6">
              <a:lumMod val="60000"/>
              <a:lumOff val="40000"/>
            </a:schemeClr>
          </a:solidFill>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l-GR" sz="4000" b="1" dirty="0"/>
              <a:t>ΠΡΥ036 - Διδακτική Πληροφορικής Ι</a:t>
            </a:r>
            <a:r>
              <a:rPr lang="en-US" sz="4000" b="1" dirty="0"/>
              <a:t> </a:t>
            </a:r>
          </a:p>
        </p:txBody>
      </p:sp>
      <p:pic>
        <p:nvPicPr>
          <p:cNvPr id="27" name="Picture 2" descr="http://ucy.ac.cy/proypiresiaki/images/template_img/logo_el.png"/>
          <p:cNvPicPr>
            <a:picLocks noChangeAspect="1" noChangeArrowheads="1"/>
          </p:cNvPicPr>
          <p:nvPr/>
        </p:nvPicPr>
        <p:blipFill>
          <a:blip r:embed="rId3"/>
          <a:srcRect/>
          <a:stretch>
            <a:fillRect/>
          </a:stretch>
        </p:blipFill>
        <p:spPr bwMode="auto">
          <a:xfrm>
            <a:off x="187611" y="152400"/>
            <a:ext cx="3566156" cy="990600"/>
          </a:xfrm>
          <a:prstGeom prst="rect">
            <a:avLst/>
          </a:prstGeom>
          <a:noFill/>
        </p:spPr>
      </p:pic>
    </p:spTree>
    <p:extLst>
      <p:ext uri="{BB962C8B-B14F-4D97-AF65-F5344CB8AC3E}">
        <p14:creationId xmlns:p14="http://schemas.microsoft.com/office/powerpoint/2010/main" val="20606419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Group 9"/>
          <p:cNvGrpSpPr/>
          <p:nvPr/>
        </p:nvGrpSpPr>
        <p:grpSpPr>
          <a:xfrm>
            <a:off x="0" y="0"/>
            <a:ext cx="3086100" cy="6858000"/>
            <a:chOff x="0" y="0"/>
            <a:chExt cx="3086100" cy="6858000"/>
          </a:xfrm>
        </p:grpSpPr>
        <p:sp>
          <p:nvSpPr>
            <p:cNvPr id="5" name="Rectangle 4"/>
            <p:cNvSpPr/>
            <p:nvPr/>
          </p:nvSpPr>
          <p:spPr>
            <a:xfrm>
              <a:off x="0" y="0"/>
              <a:ext cx="3086100" cy="6858000"/>
            </a:xfrm>
            <a:prstGeom prst="rect">
              <a:avLst/>
            </a:prstGeom>
            <a:solidFill>
              <a:schemeClr val="accent6">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7" name="TextBox 6"/>
            <p:cNvSpPr txBox="1"/>
            <p:nvPr/>
          </p:nvSpPr>
          <p:spPr>
            <a:xfrm flipH="1">
              <a:off x="83820" y="1447800"/>
              <a:ext cx="2971799" cy="2277547"/>
            </a:xfrm>
            <a:prstGeom prst="rect">
              <a:avLst/>
            </a:prstGeom>
            <a:noFill/>
          </p:spPr>
          <p:txBody>
            <a:bodyPr wrap="square" rtlCol="0">
              <a:spAutoFit/>
            </a:bodyPr>
            <a:lstStyle/>
            <a:p>
              <a:r>
                <a:rPr lang="el-GR" sz="5400" dirty="0"/>
                <a:t>01 </a:t>
              </a:r>
            </a:p>
            <a:p>
              <a:pPr lvl="0"/>
              <a:r>
                <a:rPr lang="el-GR" sz="2800" dirty="0"/>
                <a:t>Σχολιασμός Εργασίας</a:t>
              </a:r>
              <a:endParaRPr lang="en-GB" sz="2800" dirty="0"/>
            </a:p>
            <a:p>
              <a:endParaRPr lang="en-GB" sz="3200" dirty="0"/>
            </a:p>
          </p:txBody>
        </p:sp>
      </p:grpSp>
      <p:grpSp>
        <p:nvGrpSpPr>
          <p:cNvPr id="12" name="Group 11"/>
          <p:cNvGrpSpPr/>
          <p:nvPr/>
        </p:nvGrpSpPr>
        <p:grpSpPr>
          <a:xfrm>
            <a:off x="6172200" y="0"/>
            <a:ext cx="3002280" cy="6858000"/>
            <a:chOff x="6172200" y="0"/>
            <a:chExt cx="3002280" cy="6858000"/>
          </a:xfrm>
        </p:grpSpPr>
        <p:sp>
          <p:nvSpPr>
            <p:cNvPr id="6" name="Rectangle 5"/>
            <p:cNvSpPr/>
            <p:nvPr/>
          </p:nvSpPr>
          <p:spPr>
            <a:xfrm>
              <a:off x="6172200" y="0"/>
              <a:ext cx="2971800" cy="6858000"/>
            </a:xfrm>
            <a:prstGeom prst="rect">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Box 7"/>
            <p:cNvSpPr txBox="1"/>
            <p:nvPr/>
          </p:nvSpPr>
          <p:spPr>
            <a:xfrm flipH="1">
              <a:off x="6202681" y="1447800"/>
              <a:ext cx="2971799" cy="1785104"/>
            </a:xfrm>
            <a:prstGeom prst="rect">
              <a:avLst/>
            </a:prstGeom>
            <a:noFill/>
          </p:spPr>
          <p:txBody>
            <a:bodyPr wrap="square" rtlCol="0">
              <a:spAutoFit/>
            </a:bodyPr>
            <a:lstStyle/>
            <a:p>
              <a:r>
                <a:rPr lang="el-GR" sz="5400" dirty="0"/>
                <a:t>03 </a:t>
              </a:r>
            </a:p>
            <a:p>
              <a:pPr lvl="0"/>
              <a:r>
                <a:rPr lang="el-GR" sz="2800" dirty="0"/>
                <a:t>Ολοκληρωμένο Σχέδιο Μαθήματος</a:t>
              </a:r>
              <a:endParaRPr lang="en-GB" sz="2800" dirty="0"/>
            </a:p>
          </p:txBody>
        </p:sp>
      </p:grpSp>
      <p:grpSp>
        <p:nvGrpSpPr>
          <p:cNvPr id="11" name="Group 10"/>
          <p:cNvGrpSpPr/>
          <p:nvPr/>
        </p:nvGrpSpPr>
        <p:grpSpPr>
          <a:xfrm>
            <a:off x="3086100" y="0"/>
            <a:ext cx="3086100" cy="6858000"/>
            <a:chOff x="3086100" y="0"/>
            <a:chExt cx="3086100" cy="6858000"/>
          </a:xfrm>
        </p:grpSpPr>
        <p:sp>
          <p:nvSpPr>
            <p:cNvPr id="4" name="Rectangle 3"/>
            <p:cNvSpPr/>
            <p:nvPr/>
          </p:nvSpPr>
          <p:spPr>
            <a:xfrm>
              <a:off x="3086100" y="0"/>
              <a:ext cx="3086100" cy="6858000"/>
            </a:xfrm>
            <a:prstGeom prst="rect">
              <a:avLst/>
            </a:prstGeom>
            <a:solidFill>
              <a:srgbClr val="FAC09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Box 8"/>
            <p:cNvSpPr txBox="1"/>
            <p:nvPr/>
          </p:nvSpPr>
          <p:spPr>
            <a:xfrm flipH="1">
              <a:off x="3116581" y="1463039"/>
              <a:ext cx="2971799" cy="3570208"/>
            </a:xfrm>
            <a:prstGeom prst="rect">
              <a:avLst/>
            </a:prstGeom>
            <a:noFill/>
          </p:spPr>
          <p:txBody>
            <a:bodyPr wrap="square" rtlCol="0">
              <a:spAutoFit/>
            </a:bodyPr>
            <a:lstStyle/>
            <a:p>
              <a:r>
                <a:rPr lang="el-GR" sz="5400" dirty="0"/>
                <a:t>02 </a:t>
              </a:r>
            </a:p>
            <a:p>
              <a:pPr lvl="0"/>
              <a:r>
                <a:rPr lang="el-GR" sz="2800" dirty="0"/>
                <a:t>Δημιουργία Σχέδιου Μαθήματος (κομβικές δεξιότητες)</a:t>
              </a:r>
              <a:endParaRPr lang="en-GB" sz="2800" dirty="0"/>
            </a:p>
            <a:p>
              <a:pPr lvl="0"/>
              <a:endParaRPr lang="en-GB" sz="3200" dirty="0"/>
            </a:p>
          </p:txBody>
        </p:sp>
      </p:grpSp>
    </p:spTree>
    <p:extLst>
      <p:ext uri="{BB962C8B-B14F-4D97-AF65-F5344CB8AC3E}">
        <p14:creationId xmlns:p14="http://schemas.microsoft.com/office/powerpoint/2010/main" val="35429716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2000" fill="hold"/>
                                        <p:tgtEl>
                                          <p:spTgt spid="10"/>
                                        </p:tgtEl>
                                        <p:attrNameLst>
                                          <p:attrName>ppt_x</p:attrName>
                                        </p:attrNameLst>
                                      </p:cBhvr>
                                      <p:tavLst>
                                        <p:tav tm="0">
                                          <p:val>
                                            <p:strVal val="0-#ppt_w/2"/>
                                          </p:val>
                                        </p:tav>
                                        <p:tav tm="100000">
                                          <p:val>
                                            <p:strVal val="#ppt_x"/>
                                          </p:val>
                                        </p:tav>
                                      </p:tavLst>
                                    </p:anim>
                                    <p:anim calcmode="lin" valueType="num">
                                      <p:cBhvr additive="base">
                                        <p:cTn id="8" dur="2000" fill="hold"/>
                                        <p:tgtEl>
                                          <p:spTgt spid="10"/>
                                        </p:tgtEl>
                                        <p:attrNameLst>
                                          <p:attrName>ppt_y</p:attrName>
                                        </p:attrNameLst>
                                      </p:cBhvr>
                                      <p:tavLst>
                                        <p:tav tm="0">
                                          <p:val>
                                            <p:strVal val="#ppt_y"/>
                                          </p:val>
                                        </p:tav>
                                        <p:tav tm="100000">
                                          <p:val>
                                            <p:strVal val="#ppt_y"/>
                                          </p:val>
                                        </p:tav>
                                      </p:tavLst>
                                    </p:anim>
                                  </p:childTnLst>
                                </p:cTn>
                              </p:par>
                              <p:par>
                                <p:cTn id="9" presetID="2" presetClass="entr" presetSubtype="8" fill="hold" nodeType="with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additive="base">
                                        <p:cTn id="11" dur="2000" fill="hold"/>
                                        <p:tgtEl>
                                          <p:spTgt spid="11"/>
                                        </p:tgtEl>
                                        <p:attrNameLst>
                                          <p:attrName>ppt_x</p:attrName>
                                        </p:attrNameLst>
                                      </p:cBhvr>
                                      <p:tavLst>
                                        <p:tav tm="0">
                                          <p:val>
                                            <p:strVal val="0-#ppt_w/2"/>
                                          </p:val>
                                        </p:tav>
                                        <p:tav tm="100000">
                                          <p:val>
                                            <p:strVal val="#ppt_x"/>
                                          </p:val>
                                        </p:tav>
                                      </p:tavLst>
                                    </p:anim>
                                    <p:anim calcmode="lin" valueType="num">
                                      <p:cBhvr additive="base">
                                        <p:cTn id="12" dur="2000" fill="hold"/>
                                        <p:tgtEl>
                                          <p:spTgt spid="11"/>
                                        </p:tgtEl>
                                        <p:attrNameLst>
                                          <p:attrName>ppt_y</p:attrName>
                                        </p:attrNameLst>
                                      </p:cBhvr>
                                      <p:tavLst>
                                        <p:tav tm="0">
                                          <p:val>
                                            <p:strVal val="#ppt_y"/>
                                          </p:val>
                                        </p:tav>
                                        <p:tav tm="100000">
                                          <p:val>
                                            <p:strVal val="#ppt_y"/>
                                          </p:val>
                                        </p:tav>
                                      </p:tavLst>
                                    </p:anim>
                                  </p:childTnLst>
                                </p:cTn>
                              </p:par>
                              <p:par>
                                <p:cTn id="13" presetID="2" presetClass="entr" presetSubtype="8"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anim calcmode="lin" valueType="num">
                                      <p:cBhvr additive="base">
                                        <p:cTn id="15" dur="2000" fill="hold"/>
                                        <p:tgtEl>
                                          <p:spTgt spid="12"/>
                                        </p:tgtEl>
                                        <p:attrNameLst>
                                          <p:attrName>ppt_x</p:attrName>
                                        </p:attrNameLst>
                                      </p:cBhvr>
                                      <p:tavLst>
                                        <p:tav tm="0">
                                          <p:val>
                                            <p:strVal val="0-#ppt_w/2"/>
                                          </p:val>
                                        </p:tav>
                                        <p:tav tm="100000">
                                          <p:val>
                                            <p:strVal val="#ppt_x"/>
                                          </p:val>
                                        </p:tav>
                                      </p:tavLst>
                                    </p:anim>
                                    <p:anim calcmode="lin" valueType="num">
                                      <p:cBhvr additive="base">
                                        <p:cTn id="16" dur="2000" fill="hold"/>
                                        <p:tgtEl>
                                          <p:spTgt spid="1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6">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lvl="0"/>
            <a:r>
              <a:rPr lang="el-GR" dirty="0"/>
              <a:t>Σχολιασμός Εργασίας</a:t>
            </a:r>
            <a:endParaRPr lang="en-GB" dirty="0"/>
          </a:p>
        </p:txBody>
      </p:sp>
      <p:sp>
        <p:nvSpPr>
          <p:cNvPr id="3" name="Text Placeholder 2"/>
          <p:cNvSpPr>
            <a:spLocks noGrp="1"/>
          </p:cNvSpPr>
          <p:nvPr>
            <p:ph type="subTitle" idx="1"/>
          </p:nvPr>
        </p:nvSpPr>
        <p:spPr>
          <a:xfrm>
            <a:off x="1371600" y="362585"/>
            <a:ext cx="6400800" cy="1752600"/>
          </a:xfrm>
        </p:spPr>
        <p:txBody>
          <a:bodyPr>
            <a:normAutofit/>
          </a:bodyPr>
          <a:lstStyle/>
          <a:p>
            <a:r>
              <a:rPr lang="el-GR" sz="8000" dirty="0">
                <a:solidFill>
                  <a:schemeClr val="tx1"/>
                </a:solidFill>
              </a:rPr>
              <a:t>01</a:t>
            </a:r>
            <a:endParaRPr lang="en-GB" sz="8000" dirty="0">
              <a:solidFill>
                <a:schemeClr val="tx1"/>
              </a:solidFill>
            </a:endParaRPr>
          </a:p>
        </p:txBody>
      </p:sp>
    </p:spTree>
    <p:extLst>
      <p:ext uri="{BB962C8B-B14F-4D97-AF65-F5344CB8AC3E}">
        <p14:creationId xmlns:p14="http://schemas.microsoft.com/office/powerpoint/2010/main" val="3737734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6C1ED027-ED22-F68C-EA90-25148B62BB57}"/>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4273A5B-7671-2EE1-E332-7E5D2555E2E0}"/>
              </a:ext>
            </a:extLst>
          </p:cNvPr>
          <p:cNvSpPr>
            <a:spLocks noGrp="1"/>
          </p:cNvSpPr>
          <p:nvPr>
            <p:ph type="title"/>
          </p:nvPr>
        </p:nvSpPr>
        <p:spPr>
          <a:solidFill>
            <a:srgbClr val="FAC090"/>
          </a:solidFill>
        </p:spPr>
        <p:txBody>
          <a:bodyPr>
            <a:normAutofit/>
          </a:bodyPr>
          <a:lstStyle/>
          <a:p>
            <a:r>
              <a:rPr lang="el-GR" dirty="0"/>
              <a:t>Β.4.1.M4</a:t>
            </a:r>
            <a:r>
              <a:rPr lang="en-US" dirty="0"/>
              <a:t> </a:t>
            </a:r>
            <a:r>
              <a:rPr lang="el-GR" dirty="0"/>
              <a:t>Διαχείριση Κελιών (2)</a:t>
            </a:r>
          </a:p>
        </p:txBody>
      </p:sp>
      <p:sp>
        <p:nvSpPr>
          <p:cNvPr id="7" name="Content Placeholder 6">
            <a:extLst>
              <a:ext uri="{FF2B5EF4-FFF2-40B4-BE49-F238E27FC236}">
                <a16:creationId xmlns:a16="http://schemas.microsoft.com/office/drawing/2014/main" id="{883944B7-7223-423B-BEFA-F0D7FC831454}"/>
              </a:ext>
            </a:extLst>
          </p:cNvPr>
          <p:cNvSpPr>
            <a:spLocks noGrp="1"/>
          </p:cNvSpPr>
          <p:nvPr>
            <p:ph idx="1"/>
          </p:nvPr>
        </p:nvSpPr>
        <p:spPr/>
        <p:txBody>
          <a:bodyPr>
            <a:noAutofit/>
          </a:bodyPr>
          <a:lstStyle/>
          <a:p>
            <a:pPr marL="550863" indent="-285750">
              <a:spcBef>
                <a:spcPts val="400"/>
              </a:spcBef>
            </a:pPr>
            <a:r>
              <a:rPr lang="el-GR" sz="2400" dirty="0"/>
              <a:t>Λάθος στις </a:t>
            </a:r>
            <a:r>
              <a:rPr lang="el-GR" sz="2400" dirty="0" err="1"/>
              <a:t>προαπαιτούμενες</a:t>
            </a:r>
            <a:r>
              <a:rPr lang="el-GR" sz="2400" dirty="0"/>
              <a:t>:</a:t>
            </a:r>
          </a:p>
          <a:p>
            <a:pPr marL="950913" lvl="1">
              <a:spcBef>
                <a:spcPts val="400"/>
              </a:spcBef>
            </a:pPr>
            <a:r>
              <a:rPr lang="el-GR" sz="2000" dirty="0"/>
              <a:t>Δεν ήταν απαραίτητες: </a:t>
            </a:r>
            <a:r>
              <a:rPr lang="en-US" sz="2000" dirty="0"/>
              <a:t>Undo/Redo, Find, Replace και τα</a:t>
            </a:r>
            <a:r>
              <a:rPr lang="en-US" sz="2000" dirty="0" err="1"/>
              <a:t>ξινόμηση</a:t>
            </a:r>
            <a:endParaRPr lang="el-GR" sz="2000" dirty="0"/>
          </a:p>
          <a:p>
            <a:pPr marL="950913" lvl="1">
              <a:spcBef>
                <a:spcPts val="400"/>
              </a:spcBef>
            </a:pPr>
            <a:r>
              <a:rPr lang="el-GR" sz="2000" dirty="0"/>
              <a:t>Ήταν απαραίτητη: εναλλαγή μεταξύ φύλλων εργασίας.</a:t>
            </a:r>
          </a:p>
          <a:p>
            <a:pPr marL="550863">
              <a:spcBef>
                <a:spcPts val="400"/>
              </a:spcBef>
            </a:pPr>
            <a:r>
              <a:rPr lang="el-GR" sz="2400" dirty="0"/>
              <a:t>Λάθος σε </a:t>
            </a:r>
            <a:r>
              <a:rPr lang="el-GR" sz="2400" dirty="0" err="1"/>
              <a:t>αφόρμηση</a:t>
            </a:r>
            <a:r>
              <a:rPr lang="el-GR" sz="2400" dirty="0"/>
              <a:t>:</a:t>
            </a:r>
          </a:p>
          <a:p>
            <a:pPr marL="950913" lvl="1">
              <a:spcBef>
                <a:spcPts val="400"/>
              </a:spcBef>
            </a:pPr>
            <a:r>
              <a:rPr lang="el-GR" sz="2000" dirty="0"/>
              <a:t>Επεξήγηση του </a:t>
            </a:r>
            <a:r>
              <a:rPr lang="en-US" sz="2000" dirty="0"/>
              <a:t>Autofill: </a:t>
            </a:r>
            <a:r>
              <a:rPr lang="el-GR" sz="2000" b="1" dirty="0"/>
              <a:t>«…</a:t>
            </a:r>
            <a:r>
              <a:rPr lang="en-CY" sz="2000" b="1" dirty="0" err="1"/>
              <a:t>ότ</a:t>
            </a:r>
            <a:r>
              <a:rPr lang="en-CY" sz="2000" b="1" dirty="0"/>
              <a:t>αν το κινητό τους προβλέπει ή συμπληρώνει μια λέξη/φράση που έχουν αρχίσει να πληκτρολογούν</a:t>
            </a:r>
            <a:r>
              <a:rPr lang="el-GR" sz="2000" b="1" dirty="0"/>
              <a:t>»</a:t>
            </a:r>
          </a:p>
        </p:txBody>
      </p:sp>
      <p:pic>
        <p:nvPicPr>
          <p:cNvPr id="5" name="Picture 2" descr="http://ucy.ac.cy/proypiresiaki/images/template_img/logo_el.png">
            <a:extLst>
              <a:ext uri="{FF2B5EF4-FFF2-40B4-BE49-F238E27FC236}">
                <a16:creationId xmlns:a16="http://schemas.microsoft.com/office/drawing/2014/main" id="{74547B7D-FD10-5305-3BF8-2A3121BCD117}"/>
              </a:ext>
            </a:extLst>
          </p:cNvPr>
          <p:cNvPicPr>
            <a:picLocks noChangeAspect="1" noChangeArrowheads="1"/>
          </p:cNvPicPr>
          <p:nvPr/>
        </p:nvPicPr>
        <p:blipFill>
          <a:blip r:embed="rId4"/>
          <a:srcRect/>
          <a:stretch>
            <a:fillRect/>
          </a:stretch>
        </p:blipFill>
        <p:spPr bwMode="auto">
          <a:xfrm>
            <a:off x="7086600" y="6126163"/>
            <a:ext cx="1920240" cy="533400"/>
          </a:xfrm>
          <a:prstGeom prst="rect">
            <a:avLst/>
          </a:prstGeom>
          <a:noFill/>
        </p:spPr>
      </p:pic>
    </p:spTree>
    <p:extLst>
      <p:ext uri="{BB962C8B-B14F-4D97-AF65-F5344CB8AC3E}">
        <p14:creationId xmlns:p14="http://schemas.microsoft.com/office/powerpoint/2010/main" val="3111683312"/>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E6AEED31-A8D6-50DD-0B8E-3911DD087FA9}"/>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9A2591FF-A7F5-320B-3E98-D2982D12D89D}"/>
              </a:ext>
            </a:extLst>
          </p:cNvPr>
          <p:cNvSpPr>
            <a:spLocks noGrp="1"/>
          </p:cNvSpPr>
          <p:nvPr>
            <p:ph type="title"/>
          </p:nvPr>
        </p:nvSpPr>
        <p:spPr>
          <a:solidFill>
            <a:srgbClr val="FAC090"/>
          </a:solidFill>
        </p:spPr>
        <p:txBody>
          <a:bodyPr>
            <a:normAutofit/>
          </a:bodyPr>
          <a:lstStyle/>
          <a:p>
            <a:r>
              <a:rPr lang="el-GR" dirty="0"/>
              <a:t>Β.4.2.Μ4</a:t>
            </a:r>
            <a:r>
              <a:rPr lang="en-US" dirty="0"/>
              <a:t> </a:t>
            </a:r>
            <a:r>
              <a:rPr lang="el-GR" dirty="0"/>
              <a:t>Κείμενο - Λίστες</a:t>
            </a:r>
          </a:p>
        </p:txBody>
      </p:sp>
      <p:sp>
        <p:nvSpPr>
          <p:cNvPr id="7" name="Content Placeholder 6">
            <a:extLst>
              <a:ext uri="{FF2B5EF4-FFF2-40B4-BE49-F238E27FC236}">
                <a16:creationId xmlns:a16="http://schemas.microsoft.com/office/drawing/2014/main" id="{99BF11EF-96D0-AA84-885D-E27E3146B723}"/>
              </a:ext>
            </a:extLst>
          </p:cNvPr>
          <p:cNvSpPr>
            <a:spLocks noGrp="1"/>
          </p:cNvSpPr>
          <p:nvPr>
            <p:ph idx="1"/>
          </p:nvPr>
        </p:nvSpPr>
        <p:spPr/>
        <p:txBody>
          <a:bodyPr>
            <a:noAutofit/>
          </a:bodyPr>
          <a:lstStyle/>
          <a:p>
            <a:pPr marL="550863" indent="-285750">
              <a:spcBef>
                <a:spcPts val="400"/>
              </a:spcBef>
            </a:pPr>
            <a:r>
              <a:rPr lang="el-GR" sz="2400" dirty="0"/>
              <a:t>Δείκτες επιτυχίας και επάρκειας</a:t>
            </a:r>
          </a:p>
          <a:p>
            <a:pPr marL="950913" lvl="1">
              <a:spcBef>
                <a:spcPts val="400"/>
              </a:spcBef>
            </a:pPr>
            <a:r>
              <a:rPr lang="el-GR" sz="2000" dirty="0"/>
              <a:t>Λάθη στον κύριο δείκτη επιτυχίας όσο και στους επιμέρους. (Χρησιμοποιούν μια εφαρμογή παρουσιάσεων για διαχειρίζονται γραφικά αντικείμενα, γραφικά κείμενα και αντικείμενα σχεδίασης)</a:t>
            </a:r>
          </a:p>
          <a:p>
            <a:pPr marL="550863" indent="-285750">
              <a:spcBef>
                <a:spcPts val="400"/>
              </a:spcBef>
            </a:pPr>
            <a:r>
              <a:rPr lang="el-GR" sz="2400" dirty="0"/>
              <a:t>Λάθος στις </a:t>
            </a:r>
            <a:r>
              <a:rPr lang="el-GR" sz="2400" dirty="0" err="1"/>
              <a:t>προαπαιτούμενες</a:t>
            </a:r>
            <a:r>
              <a:rPr lang="el-GR" sz="2400" dirty="0"/>
              <a:t>:</a:t>
            </a:r>
          </a:p>
          <a:p>
            <a:pPr marL="950913" lvl="1">
              <a:spcBef>
                <a:spcPts val="400"/>
              </a:spcBef>
            </a:pPr>
            <a:r>
              <a:rPr lang="el-GR" sz="2000" dirty="0"/>
              <a:t>Δείκτες επιτυχίας μπήκαν ως </a:t>
            </a:r>
            <a:r>
              <a:rPr lang="el-GR" sz="2000" dirty="0" err="1"/>
              <a:t>προαπαιτούμενες</a:t>
            </a:r>
            <a:endParaRPr lang="el-GR" sz="2000" dirty="0"/>
          </a:p>
          <a:p>
            <a:pPr marL="950913" lvl="1">
              <a:spcBef>
                <a:spcPts val="400"/>
              </a:spcBef>
            </a:pPr>
            <a:r>
              <a:rPr lang="el-GR" sz="2000" dirty="0"/>
              <a:t>απουσιάζουν σημαντικές προηγούμενες γνώσεις που απαιτούνται από το φύλλο εργασίας, όπως η εφαρμογή στοίχισης κειμένου και η προσθήκη/αφαίρεση κουκκίδων και αρίθμησης.</a:t>
            </a:r>
          </a:p>
          <a:p>
            <a:pPr marL="550863">
              <a:spcBef>
                <a:spcPts val="400"/>
              </a:spcBef>
            </a:pPr>
            <a:r>
              <a:rPr lang="el-GR" sz="2400" dirty="0"/>
              <a:t>Λάθος σε </a:t>
            </a:r>
            <a:r>
              <a:rPr lang="el-GR" sz="2400" dirty="0" err="1"/>
              <a:t>αφόρμηση</a:t>
            </a:r>
            <a:r>
              <a:rPr lang="el-GR" sz="2400" dirty="0"/>
              <a:t>:</a:t>
            </a:r>
          </a:p>
          <a:p>
            <a:pPr marL="950913" lvl="1">
              <a:spcBef>
                <a:spcPts val="400"/>
              </a:spcBef>
            </a:pPr>
            <a:r>
              <a:rPr lang="el-GR" sz="2000" dirty="0"/>
              <a:t>Δεν γινόταν αναφορά στην υπερσύνδεση (</a:t>
            </a:r>
            <a:r>
              <a:rPr lang="en-US" sz="2000" dirty="0"/>
              <a:t>hyperlink)</a:t>
            </a:r>
            <a:endParaRPr lang="el-GR" sz="2000" dirty="0"/>
          </a:p>
        </p:txBody>
      </p:sp>
      <p:pic>
        <p:nvPicPr>
          <p:cNvPr id="5" name="Picture 2" descr="http://ucy.ac.cy/proypiresiaki/images/template_img/logo_el.png">
            <a:extLst>
              <a:ext uri="{FF2B5EF4-FFF2-40B4-BE49-F238E27FC236}">
                <a16:creationId xmlns:a16="http://schemas.microsoft.com/office/drawing/2014/main" id="{C4CB6235-D5DF-5DC6-8887-74E37A612680}"/>
              </a:ext>
            </a:extLst>
          </p:cNvPr>
          <p:cNvPicPr>
            <a:picLocks noChangeAspect="1" noChangeArrowheads="1"/>
          </p:cNvPicPr>
          <p:nvPr/>
        </p:nvPicPr>
        <p:blipFill>
          <a:blip r:embed="rId4"/>
          <a:srcRect/>
          <a:stretch>
            <a:fillRect/>
          </a:stretch>
        </p:blipFill>
        <p:spPr bwMode="auto">
          <a:xfrm>
            <a:off x="7086600" y="6126163"/>
            <a:ext cx="1920240" cy="533400"/>
          </a:xfrm>
          <a:prstGeom prst="rect">
            <a:avLst/>
          </a:prstGeom>
          <a:noFill/>
        </p:spPr>
      </p:pic>
    </p:spTree>
    <p:extLst>
      <p:ext uri="{BB962C8B-B14F-4D97-AF65-F5344CB8AC3E}">
        <p14:creationId xmlns:p14="http://schemas.microsoft.com/office/powerpoint/2010/main" val="2311325346"/>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5FD167BB-99EE-194D-0FF0-3BBABCDEFA6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AA8381B-2583-3615-3F30-7BF644D508B9}"/>
              </a:ext>
            </a:extLst>
          </p:cNvPr>
          <p:cNvSpPr>
            <a:spLocks noGrp="1"/>
          </p:cNvSpPr>
          <p:nvPr>
            <p:ph type="title"/>
          </p:nvPr>
        </p:nvSpPr>
        <p:spPr>
          <a:solidFill>
            <a:srgbClr val="FAC090"/>
          </a:solidFill>
        </p:spPr>
        <p:txBody>
          <a:bodyPr>
            <a:normAutofit/>
          </a:bodyPr>
          <a:lstStyle/>
          <a:p>
            <a:r>
              <a:rPr lang="el-GR" dirty="0"/>
              <a:t>Β.4.2.Μ6</a:t>
            </a:r>
            <a:r>
              <a:rPr lang="en-US" dirty="0"/>
              <a:t> </a:t>
            </a:r>
            <a:r>
              <a:rPr lang="el-GR" dirty="0"/>
              <a:t>Γραφήματα</a:t>
            </a:r>
          </a:p>
        </p:txBody>
      </p:sp>
      <p:sp>
        <p:nvSpPr>
          <p:cNvPr id="7" name="Content Placeholder 6">
            <a:extLst>
              <a:ext uri="{FF2B5EF4-FFF2-40B4-BE49-F238E27FC236}">
                <a16:creationId xmlns:a16="http://schemas.microsoft.com/office/drawing/2014/main" id="{5780A846-749B-1A8D-083D-05AAA268CF75}"/>
              </a:ext>
            </a:extLst>
          </p:cNvPr>
          <p:cNvSpPr>
            <a:spLocks noGrp="1"/>
          </p:cNvSpPr>
          <p:nvPr>
            <p:ph idx="1"/>
          </p:nvPr>
        </p:nvSpPr>
        <p:spPr/>
        <p:txBody>
          <a:bodyPr>
            <a:noAutofit/>
          </a:bodyPr>
          <a:lstStyle/>
          <a:p>
            <a:pPr marL="550863" indent="-285750">
              <a:spcBef>
                <a:spcPts val="400"/>
              </a:spcBef>
            </a:pPr>
            <a:r>
              <a:rPr lang="el-GR" sz="2400" dirty="0"/>
              <a:t>Δείκτες επιτυχίας και επάρκειας</a:t>
            </a:r>
          </a:p>
          <a:p>
            <a:pPr marL="950913" lvl="1">
              <a:spcBef>
                <a:spcPts val="400"/>
              </a:spcBef>
            </a:pPr>
            <a:r>
              <a:rPr lang="el-GR" sz="2000" dirty="0"/>
              <a:t>Σύγχυση με αντίστοιχο μάθημα της </a:t>
            </a:r>
            <a:r>
              <a:rPr lang="en-US" sz="2000" dirty="0"/>
              <a:t>Excel</a:t>
            </a:r>
            <a:endParaRPr lang="el-GR" sz="2000" dirty="0"/>
          </a:p>
          <a:p>
            <a:pPr marL="550863" indent="-285750">
              <a:spcBef>
                <a:spcPts val="400"/>
              </a:spcBef>
            </a:pPr>
            <a:r>
              <a:rPr lang="el-GR" sz="2400" dirty="0"/>
              <a:t>Λάθος στις </a:t>
            </a:r>
            <a:r>
              <a:rPr lang="el-GR" sz="2400" dirty="0" err="1"/>
              <a:t>προαπαιτούμενες</a:t>
            </a:r>
            <a:r>
              <a:rPr lang="el-GR" sz="2400" dirty="0"/>
              <a:t>:</a:t>
            </a:r>
          </a:p>
          <a:p>
            <a:pPr marL="950913" lvl="1">
              <a:spcBef>
                <a:spcPts val="400"/>
              </a:spcBef>
            </a:pPr>
            <a:r>
              <a:rPr lang="el-GR" sz="2000" dirty="0"/>
              <a:t>Ήταν </a:t>
            </a:r>
            <a:r>
              <a:rPr lang="el-GR" sz="2000" dirty="0" err="1"/>
              <a:t>προαπαιτούμενη</a:t>
            </a:r>
            <a:r>
              <a:rPr lang="el-GR" sz="2000" dirty="0"/>
              <a:t>: Μετακίνηση σε γραφημάτων.</a:t>
            </a:r>
          </a:p>
        </p:txBody>
      </p:sp>
      <p:pic>
        <p:nvPicPr>
          <p:cNvPr id="5" name="Picture 2" descr="http://ucy.ac.cy/proypiresiaki/images/template_img/logo_el.png">
            <a:extLst>
              <a:ext uri="{FF2B5EF4-FFF2-40B4-BE49-F238E27FC236}">
                <a16:creationId xmlns:a16="http://schemas.microsoft.com/office/drawing/2014/main" id="{18D21919-77BE-DF40-1086-21AF86E3CBD3}"/>
              </a:ext>
            </a:extLst>
          </p:cNvPr>
          <p:cNvPicPr>
            <a:picLocks noChangeAspect="1" noChangeArrowheads="1"/>
          </p:cNvPicPr>
          <p:nvPr/>
        </p:nvPicPr>
        <p:blipFill>
          <a:blip r:embed="rId4"/>
          <a:srcRect/>
          <a:stretch>
            <a:fillRect/>
          </a:stretch>
        </p:blipFill>
        <p:spPr bwMode="auto">
          <a:xfrm>
            <a:off x="7086600" y="6126163"/>
            <a:ext cx="1920240" cy="533400"/>
          </a:xfrm>
          <a:prstGeom prst="rect">
            <a:avLst/>
          </a:prstGeom>
          <a:noFill/>
        </p:spPr>
      </p:pic>
    </p:spTree>
    <p:extLst>
      <p:ext uri="{BB962C8B-B14F-4D97-AF65-F5344CB8AC3E}">
        <p14:creationId xmlns:p14="http://schemas.microsoft.com/office/powerpoint/2010/main" val="405121184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B87907F-175D-C7D3-70BB-D72743F60A00}"/>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CA24D3BA-1294-754A-BE7B-B0D149251589}"/>
              </a:ext>
            </a:extLst>
          </p:cNvPr>
          <p:cNvSpPr>
            <a:spLocks noGrp="1"/>
          </p:cNvSpPr>
          <p:nvPr>
            <p:ph type="title"/>
          </p:nvPr>
        </p:nvSpPr>
        <p:spPr>
          <a:solidFill>
            <a:srgbClr val="FAC090"/>
          </a:solidFill>
        </p:spPr>
        <p:txBody>
          <a:bodyPr>
            <a:normAutofit fontScale="90000"/>
          </a:bodyPr>
          <a:lstStyle/>
          <a:p>
            <a:r>
              <a:rPr lang="el-GR" dirty="0"/>
              <a:t>Γ.6.M15 </a:t>
            </a:r>
            <a:br>
              <a:rPr lang="el-GR" dirty="0"/>
            </a:br>
            <a:r>
              <a:rPr lang="el-GR" dirty="0"/>
              <a:t>Επιπρόσθετα Κριτήρια Ερωτημάτων</a:t>
            </a:r>
          </a:p>
        </p:txBody>
      </p:sp>
      <p:sp>
        <p:nvSpPr>
          <p:cNvPr id="7" name="Content Placeholder 6">
            <a:extLst>
              <a:ext uri="{FF2B5EF4-FFF2-40B4-BE49-F238E27FC236}">
                <a16:creationId xmlns:a16="http://schemas.microsoft.com/office/drawing/2014/main" id="{6DC1F3D4-0BF6-789E-89F2-D548A9747B28}"/>
              </a:ext>
            </a:extLst>
          </p:cNvPr>
          <p:cNvSpPr>
            <a:spLocks noGrp="1"/>
          </p:cNvSpPr>
          <p:nvPr>
            <p:ph idx="1"/>
          </p:nvPr>
        </p:nvSpPr>
        <p:spPr/>
        <p:txBody>
          <a:bodyPr>
            <a:noAutofit/>
          </a:bodyPr>
          <a:lstStyle/>
          <a:p>
            <a:pPr marL="550863" indent="-285750">
              <a:spcBef>
                <a:spcPts val="400"/>
              </a:spcBef>
            </a:pPr>
            <a:r>
              <a:rPr lang="el-GR" sz="2400" dirty="0"/>
              <a:t>Λάθος στις </a:t>
            </a:r>
            <a:r>
              <a:rPr lang="el-GR" sz="2400" dirty="0" err="1"/>
              <a:t>προαπαιτούμενες</a:t>
            </a:r>
            <a:r>
              <a:rPr lang="el-GR" sz="2400" dirty="0"/>
              <a:t>:</a:t>
            </a:r>
          </a:p>
          <a:p>
            <a:pPr marL="950913" lvl="1">
              <a:spcBef>
                <a:spcPts val="400"/>
              </a:spcBef>
            </a:pPr>
            <a:r>
              <a:rPr lang="el-GR" sz="2000" dirty="0"/>
              <a:t>ο δείκτης που αφορά τη δημιουργία νέας βάσης δεδομένων, δεν είναι αναγκαίος για το συγκεκριμένο μάθημα, αφού στο φύλλο εργασίας οι μαθητές εργάζονται σε ήδη υπάρχουσα βάση δεδομένων.</a:t>
            </a:r>
          </a:p>
          <a:p>
            <a:pPr marL="550863">
              <a:spcBef>
                <a:spcPts val="400"/>
              </a:spcBef>
            </a:pPr>
            <a:r>
              <a:rPr lang="el-GR" sz="2400" dirty="0" err="1"/>
              <a:t>Αφόρμηση</a:t>
            </a:r>
            <a:endParaRPr lang="el-GR" sz="2400" dirty="0"/>
          </a:p>
          <a:p>
            <a:pPr marL="207963" indent="0">
              <a:spcBef>
                <a:spcPts val="400"/>
              </a:spcBef>
              <a:buNone/>
            </a:pPr>
            <a:r>
              <a:rPr lang="el-GR" sz="2400" dirty="0"/>
              <a:t>Ακολούθως στην εισαγωγή παρουσιάζεται στους μαθητές ένα μικρό σενάριο: τους ζητά να βρουν ένα μέλος στη βάση δεδομένων YouthCentre.accdb, αλλά γνωρίζουν μόνο ένα μέρος του επωνύμου του. Οι μαθητές καλούνται να προτείνουν τρόπους αναζήτησης και μέσα από το παράδειγμα </a:t>
            </a:r>
            <a:r>
              <a:rPr lang="el-GR" sz="2400" dirty="0" err="1"/>
              <a:t>Like</a:t>
            </a:r>
            <a:r>
              <a:rPr lang="el-GR" sz="2400" dirty="0"/>
              <a:t> "Αν*", παρατηρούν πώς μπορεί να χρησιμοποιηθεί το * για πιο ευέλικτη αναζήτηση.</a:t>
            </a:r>
          </a:p>
          <a:p>
            <a:pPr marL="207963" indent="0">
              <a:spcBef>
                <a:spcPts val="400"/>
              </a:spcBef>
              <a:buNone/>
            </a:pPr>
            <a:endParaRPr lang="el-GR" sz="2400" dirty="0"/>
          </a:p>
        </p:txBody>
      </p:sp>
      <p:pic>
        <p:nvPicPr>
          <p:cNvPr id="5" name="Picture 2" descr="http://ucy.ac.cy/proypiresiaki/images/template_img/logo_el.png">
            <a:extLst>
              <a:ext uri="{FF2B5EF4-FFF2-40B4-BE49-F238E27FC236}">
                <a16:creationId xmlns:a16="http://schemas.microsoft.com/office/drawing/2014/main" id="{67EA1DBB-CD49-3C8B-D8EA-71B37DEAD1A3}"/>
              </a:ext>
            </a:extLst>
          </p:cNvPr>
          <p:cNvPicPr>
            <a:picLocks noChangeAspect="1" noChangeArrowheads="1"/>
          </p:cNvPicPr>
          <p:nvPr/>
        </p:nvPicPr>
        <p:blipFill>
          <a:blip r:embed="rId4"/>
          <a:srcRect/>
          <a:stretch>
            <a:fillRect/>
          </a:stretch>
        </p:blipFill>
        <p:spPr bwMode="auto">
          <a:xfrm>
            <a:off x="7086600" y="6126163"/>
            <a:ext cx="1920240" cy="533400"/>
          </a:xfrm>
          <a:prstGeom prst="rect">
            <a:avLst/>
          </a:prstGeom>
          <a:noFill/>
        </p:spPr>
      </p:pic>
    </p:spTree>
    <p:extLst>
      <p:ext uri="{BB962C8B-B14F-4D97-AF65-F5344CB8AC3E}">
        <p14:creationId xmlns:p14="http://schemas.microsoft.com/office/powerpoint/2010/main" val="2004103841"/>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055C64DF-2D07-ED00-34B5-48C03573CAC5}"/>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2E559F85-7781-FB62-F93E-002C4C64A21A}"/>
              </a:ext>
            </a:extLst>
          </p:cNvPr>
          <p:cNvSpPr>
            <a:spLocks noGrp="1"/>
          </p:cNvSpPr>
          <p:nvPr>
            <p:ph type="title"/>
          </p:nvPr>
        </p:nvSpPr>
        <p:spPr>
          <a:solidFill>
            <a:srgbClr val="FAC090"/>
          </a:solidFill>
        </p:spPr>
        <p:txBody>
          <a:bodyPr>
            <a:normAutofit/>
          </a:bodyPr>
          <a:lstStyle/>
          <a:p>
            <a:r>
              <a:rPr lang="el-GR" dirty="0"/>
              <a:t>A.4.Μ6 Πολυμέσα - Εικόνα</a:t>
            </a:r>
          </a:p>
        </p:txBody>
      </p:sp>
      <p:sp>
        <p:nvSpPr>
          <p:cNvPr id="7" name="Content Placeholder 6">
            <a:extLst>
              <a:ext uri="{FF2B5EF4-FFF2-40B4-BE49-F238E27FC236}">
                <a16:creationId xmlns:a16="http://schemas.microsoft.com/office/drawing/2014/main" id="{F04668C7-2787-5FF4-DFAA-BF65936313E9}"/>
              </a:ext>
            </a:extLst>
          </p:cNvPr>
          <p:cNvSpPr>
            <a:spLocks noGrp="1"/>
          </p:cNvSpPr>
          <p:nvPr>
            <p:ph idx="1"/>
          </p:nvPr>
        </p:nvSpPr>
        <p:spPr/>
        <p:txBody>
          <a:bodyPr>
            <a:noAutofit/>
          </a:bodyPr>
          <a:lstStyle/>
          <a:p>
            <a:pPr marL="550863" indent="-285750">
              <a:spcBef>
                <a:spcPts val="400"/>
              </a:spcBef>
            </a:pPr>
            <a:r>
              <a:rPr lang="el-GR" sz="2400" dirty="0"/>
              <a:t>Λάθος στις </a:t>
            </a:r>
            <a:r>
              <a:rPr lang="el-GR" sz="2400" dirty="0" err="1"/>
              <a:t>προαπαιτούμενες</a:t>
            </a:r>
            <a:r>
              <a:rPr lang="el-GR" sz="2400" dirty="0"/>
              <a:t>:</a:t>
            </a:r>
          </a:p>
          <a:p>
            <a:pPr marL="950913" lvl="1">
              <a:spcBef>
                <a:spcPts val="400"/>
              </a:spcBef>
            </a:pPr>
            <a:r>
              <a:rPr lang="el-GR" sz="2000" dirty="0"/>
              <a:t>Δεν ήταν </a:t>
            </a:r>
            <a:r>
              <a:rPr lang="el-GR" sz="2000" dirty="0" err="1"/>
              <a:t>προαπαιτούμενες</a:t>
            </a:r>
            <a:r>
              <a:rPr lang="el-GR" sz="2000" dirty="0"/>
              <a:t>:</a:t>
            </a:r>
          </a:p>
          <a:p>
            <a:pPr marL="1350963" lvl="2">
              <a:spcBef>
                <a:spcPts val="400"/>
              </a:spcBef>
            </a:pPr>
            <a:r>
              <a:rPr lang="el-GR" sz="1600" dirty="0"/>
              <a:t>Εξαγωγή</a:t>
            </a:r>
          </a:p>
          <a:p>
            <a:pPr marL="1350963" lvl="2">
              <a:spcBef>
                <a:spcPts val="400"/>
              </a:spcBef>
            </a:pPr>
            <a:r>
              <a:rPr lang="el-GR" sz="1600" dirty="0"/>
              <a:t>Δημιουργία νέας εικόνας </a:t>
            </a:r>
          </a:p>
          <a:p>
            <a:pPr marL="207963" indent="0">
              <a:spcBef>
                <a:spcPts val="400"/>
              </a:spcBef>
              <a:buNone/>
            </a:pPr>
            <a:endParaRPr lang="el-GR" sz="2400" dirty="0"/>
          </a:p>
        </p:txBody>
      </p:sp>
      <p:pic>
        <p:nvPicPr>
          <p:cNvPr id="5" name="Picture 2" descr="http://ucy.ac.cy/proypiresiaki/images/template_img/logo_el.png">
            <a:extLst>
              <a:ext uri="{FF2B5EF4-FFF2-40B4-BE49-F238E27FC236}">
                <a16:creationId xmlns:a16="http://schemas.microsoft.com/office/drawing/2014/main" id="{E9390B50-C297-FF19-D48A-6913A1FC2038}"/>
              </a:ext>
            </a:extLst>
          </p:cNvPr>
          <p:cNvPicPr>
            <a:picLocks noChangeAspect="1" noChangeArrowheads="1"/>
          </p:cNvPicPr>
          <p:nvPr/>
        </p:nvPicPr>
        <p:blipFill>
          <a:blip r:embed="rId4"/>
          <a:srcRect/>
          <a:stretch>
            <a:fillRect/>
          </a:stretch>
        </p:blipFill>
        <p:spPr bwMode="auto">
          <a:xfrm>
            <a:off x="7086600" y="6126163"/>
            <a:ext cx="1920240" cy="533400"/>
          </a:xfrm>
          <a:prstGeom prst="rect">
            <a:avLst/>
          </a:prstGeom>
          <a:noFill/>
        </p:spPr>
      </p:pic>
    </p:spTree>
    <p:extLst>
      <p:ext uri="{BB962C8B-B14F-4D97-AF65-F5344CB8AC3E}">
        <p14:creationId xmlns:p14="http://schemas.microsoft.com/office/powerpoint/2010/main" val="1845479662"/>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l-GR" dirty="0"/>
              <a:t>Δημιουργία Σχέδιου Μαθήματος (κομβικές δεξιότητες)</a:t>
            </a:r>
            <a:endParaRPr lang="en-GB" dirty="0"/>
          </a:p>
        </p:txBody>
      </p:sp>
      <p:sp>
        <p:nvSpPr>
          <p:cNvPr id="3" name="Text Placeholder 2"/>
          <p:cNvSpPr>
            <a:spLocks noGrp="1"/>
          </p:cNvSpPr>
          <p:nvPr>
            <p:ph type="subTitle" idx="1"/>
          </p:nvPr>
        </p:nvSpPr>
        <p:spPr>
          <a:xfrm>
            <a:off x="1371600" y="362585"/>
            <a:ext cx="6400800" cy="1752600"/>
          </a:xfrm>
        </p:spPr>
        <p:txBody>
          <a:bodyPr>
            <a:normAutofit/>
          </a:bodyPr>
          <a:lstStyle/>
          <a:p>
            <a:r>
              <a:rPr lang="el-GR" sz="8000" dirty="0">
                <a:solidFill>
                  <a:schemeClr val="tx1"/>
                </a:solidFill>
              </a:rPr>
              <a:t>02</a:t>
            </a:r>
            <a:endParaRPr lang="en-GB" sz="8000" dirty="0">
              <a:solidFill>
                <a:schemeClr val="tx1"/>
              </a:solidFill>
            </a:endParaRPr>
          </a:p>
        </p:txBody>
      </p:sp>
    </p:spTree>
    <p:extLst>
      <p:ext uri="{BB962C8B-B14F-4D97-AF65-F5344CB8AC3E}">
        <p14:creationId xmlns:p14="http://schemas.microsoft.com/office/powerpoint/2010/main" val="24189460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1"/>
          <p:cNvSpPr>
            <a:spLocks noGrp="1"/>
          </p:cNvSpPr>
          <p:nvPr>
            <p:ph type="title"/>
          </p:nvPr>
        </p:nvSpPr>
        <p:spPr>
          <a:solidFill>
            <a:srgbClr val="FAC090"/>
          </a:solidFill>
        </p:spPr>
        <p:txBody>
          <a:bodyPr>
            <a:normAutofit/>
          </a:bodyPr>
          <a:lstStyle/>
          <a:p>
            <a:r>
              <a:rPr lang="el-GR" dirty="0"/>
              <a:t>Κομβικές Ικανότητες</a:t>
            </a:r>
          </a:p>
        </p:txBody>
      </p:sp>
      <p:sp>
        <p:nvSpPr>
          <p:cNvPr id="7" name="Content Placeholder 6"/>
          <p:cNvSpPr>
            <a:spLocks noGrp="1"/>
          </p:cNvSpPr>
          <p:nvPr>
            <p:ph idx="1"/>
          </p:nvPr>
        </p:nvSpPr>
        <p:spPr/>
        <p:txBody>
          <a:bodyPr>
            <a:noAutofit/>
          </a:bodyPr>
          <a:lstStyle/>
          <a:p>
            <a:pPr marL="550863" indent="-285750">
              <a:spcBef>
                <a:spcPts val="400"/>
              </a:spcBef>
            </a:pPr>
            <a:r>
              <a:rPr lang="el-GR" sz="2400" dirty="0"/>
              <a:t>Οι κομβικές ικανότητες είναι οι γενικές δεξιότητες που καλλιεργούνται μέσα από τη διδασκαλία όλων των μαθημάτων και όχι μόνο της Πληροφορικής.</a:t>
            </a:r>
            <a:endParaRPr lang="en-US" sz="2400" dirty="0"/>
          </a:p>
          <a:p>
            <a:pPr marL="550863" indent="-285750">
              <a:spcBef>
                <a:spcPts val="400"/>
              </a:spcBef>
            </a:pPr>
            <a:r>
              <a:rPr lang="el-GR" sz="2400" dirty="0"/>
              <a:t>Στόχος τους είναι η ολιστική ανάπτυξη του μαθητή — γνωστική, κοινωνική, συναισθηματική και τεχνολογική.</a:t>
            </a:r>
            <a:endParaRPr lang="en-US" sz="2400" dirty="0"/>
          </a:p>
          <a:p>
            <a:pPr marL="550863" indent="-285750">
              <a:spcBef>
                <a:spcPts val="400"/>
              </a:spcBef>
            </a:pPr>
            <a:r>
              <a:rPr lang="el-GR" sz="2400" dirty="0"/>
              <a:t>Δηλαδή, πέρα από τη γνώση, ενδιαφερόμαστε και για το πώς ο μαθητής σκέφτεται, συνεργάζεται, επικοινωνεί και χρησιμοποιεί υπεύθυνα την τεχνολογία.</a:t>
            </a:r>
          </a:p>
        </p:txBody>
      </p:sp>
      <p:pic>
        <p:nvPicPr>
          <p:cNvPr id="5" name="Picture 2" descr="http://ucy.ac.cy/proypiresiaki/images/template_img/logo_el.png"/>
          <p:cNvPicPr>
            <a:picLocks noChangeAspect="1" noChangeArrowheads="1"/>
          </p:cNvPicPr>
          <p:nvPr/>
        </p:nvPicPr>
        <p:blipFill>
          <a:blip r:embed="rId4"/>
          <a:srcRect/>
          <a:stretch>
            <a:fillRect/>
          </a:stretch>
        </p:blipFill>
        <p:spPr bwMode="auto">
          <a:xfrm>
            <a:off x="7086600" y="6126163"/>
            <a:ext cx="1920240" cy="533400"/>
          </a:xfrm>
          <a:prstGeom prst="rect">
            <a:avLst/>
          </a:prstGeom>
          <a:noFill/>
        </p:spPr>
      </p:pic>
    </p:spTree>
    <p:extLst>
      <p:ext uri="{BB962C8B-B14F-4D97-AF65-F5344CB8AC3E}">
        <p14:creationId xmlns:p14="http://schemas.microsoft.com/office/powerpoint/2010/main" val="3677577980"/>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1"/>
          <p:cNvSpPr>
            <a:spLocks noGrp="1"/>
          </p:cNvSpPr>
          <p:nvPr>
            <p:ph type="title"/>
          </p:nvPr>
        </p:nvSpPr>
        <p:spPr>
          <a:solidFill>
            <a:srgbClr val="FAC090"/>
          </a:solidFill>
        </p:spPr>
        <p:txBody>
          <a:bodyPr>
            <a:normAutofit fontScale="90000"/>
          </a:bodyPr>
          <a:lstStyle/>
          <a:p>
            <a:r>
              <a:rPr lang="el-GR" dirty="0"/>
              <a:t>Ο ρόλος τους στο Σχέδιο Μαθήματος</a:t>
            </a:r>
          </a:p>
        </p:txBody>
      </p:sp>
      <p:sp>
        <p:nvSpPr>
          <p:cNvPr id="7" name="Content Placeholder 6"/>
          <p:cNvSpPr>
            <a:spLocks noGrp="1"/>
          </p:cNvSpPr>
          <p:nvPr>
            <p:ph idx="1"/>
          </p:nvPr>
        </p:nvSpPr>
        <p:spPr/>
        <p:txBody>
          <a:bodyPr>
            <a:noAutofit/>
          </a:bodyPr>
          <a:lstStyle/>
          <a:p>
            <a:pPr marL="550863" indent="-285750">
              <a:spcBef>
                <a:spcPts val="400"/>
              </a:spcBef>
            </a:pPr>
            <a:r>
              <a:rPr lang="el-GR" sz="2400" dirty="0"/>
              <a:t>Δεν αποτελούν “ξεχωριστή ενότητα”, αλλά καλλιεργούνται μέσα από τις δραστηριότητες.</a:t>
            </a:r>
          </a:p>
          <a:p>
            <a:pPr marL="550863" indent="-285750">
              <a:spcBef>
                <a:spcPts val="400"/>
              </a:spcBef>
            </a:pPr>
            <a:r>
              <a:rPr lang="el-GR" sz="2400" dirty="0"/>
              <a:t>Καταγράφονται συνήθως στην ειδική ενότητα “Κομβικές Ικανότητες που καλλιεργούνται” ή/και στη στήλη “Δείκτες” δίπλα στις φάσεις του μαθήματος.</a:t>
            </a:r>
          </a:p>
          <a:p>
            <a:pPr marL="550863" indent="-285750">
              <a:spcBef>
                <a:spcPts val="400"/>
              </a:spcBef>
            </a:pPr>
            <a:r>
              <a:rPr lang="el-GR" sz="2400" dirty="0"/>
              <a:t>Ο εκπαιδευτικός επιλέγει ποιες ικανότητες καλλιεργούνται σε κάθε μάθημα, όχι απαραίτητα όλες.</a:t>
            </a:r>
          </a:p>
        </p:txBody>
      </p:sp>
      <p:pic>
        <p:nvPicPr>
          <p:cNvPr id="5" name="Picture 2" descr="http://ucy.ac.cy/proypiresiaki/images/template_img/logo_el.png"/>
          <p:cNvPicPr>
            <a:picLocks noChangeAspect="1" noChangeArrowheads="1"/>
          </p:cNvPicPr>
          <p:nvPr/>
        </p:nvPicPr>
        <p:blipFill>
          <a:blip r:embed="rId4"/>
          <a:srcRect/>
          <a:stretch>
            <a:fillRect/>
          </a:stretch>
        </p:blipFill>
        <p:spPr bwMode="auto">
          <a:xfrm>
            <a:off x="7086600" y="6233796"/>
            <a:ext cx="1920240" cy="533400"/>
          </a:xfrm>
          <a:prstGeom prst="rect">
            <a:avLst/>
          </a:prstGeom>
          <a:noFill/>
        </p:spPr>
      </p:pic>
    </p:spTree>
    <p:extLst>
      <p:ext uri="{BB962C8B-B14F-4D97-AF65-F5344CB8AC3E}">
        <p14:creationId xmlns:p14="http://schemas.microsoft.com/office/powerpoint/2010/main" val="640548699"/>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415748652"/>
              </p:ext>
            </p:extLst>
          </p:nvPr>
        </p:nvGraphicFramePr>
        <p:xfrm>
          <a:off x="0" y="0"/>
          <a:ext cx="9067800" cy="6710680"/>
        </p:xfrm>
        <a:graphic>
          <a:graphicData uri="http://schemas.openxmlformats.org/drawingml/2006/table">
            <a:tbl>
              <a:tblPr firstRow="1" bandRow="1">
                <a:tableStyleId>{93296810-A885-4BE3-A3E7-6D5BEEA58F35}</a:tableStyleId>
              </a:tblPr>
              <a:tblGrid>
                <a:gridCol w="1028700">
                  <a:extLst>
                    <a:ext uri="{9D8B030D-6E8A-4147-A177-3AD203B41FA5}">
                      <a16:colId xmlns:a16="http://schemas.microsoft.com/office/drawing/2014/main" val="4178931625"/>
                    </a:ext>
                  </a:extLst>
                </a:gridCol>
                <a:gridCol w="3810000">
                  <a:extLst>
                    <a:ext uri="{9D8B030D-6E8A-4147-A177-3AD203B41FA5}">
                      <a16:colId xmlns:a16="http://schemas.microsoft.com/office/drawing/2014/main" val="598453612"/>
                    </a:ext>
                  </a:extLst>
                </a:gridCol>
                <a:gridCol w="4229100">
                  <a:extLst>
                    <a:ext uri="{9D8B030D-6E8A-4147-A177-3AD203B41FA5}">
                      <a16:colId xmlns:a16="http://schemas.microsoft.com/office/drawing/2014/main" val="296151138"/>
                    </a:ext>
                  </a:extLst>
                </a:gridCol>
              </a:tblGrid>
              <a:tr h="370840">
                <a:tc>
                  <a:txBody>
                    <a:bodyPr/>
                    <a:lstStyle/>
                    <a:p>
                      <a:r>
                        <a:rPr lang="el-GR" sz="1600" dirty="0"/>
                        <a:t>Κωδικός</a:t>
                      </a:r>
                    </a:p>
                  </a:txBody>
                  <a:tcPr anchor="ctr"/>
                </a:tc>
                <a:tc>
                  <a:txBody>
                    <a:bodyPr/>
                    <a:lstStyle/>
                    <a:p>
                      <a:r>
                        <a:rPr lang="el-GR" sz="1600" dirty="0"/>
                        <a:t>Κομβική Ικανότητα</a:t>
                      </a:r>
                    </a:p>
                  </a:txBody>
                  <a:tcPr anchor="ctr"/>
                </a:tc>
                <a:tc>
                  <a:txBody>
                    <a:bodyPr/>
                    <a:lstStyle/>
                    <a:p>
                      <a:r>
                        <a:rPr lang="el-GR" sz="1600"/>
                        <a:t>Περιγραφή</a:t>
                      </a:r>
                    </a:p>
                  </a:txBody>
                  <a:tcPr anchor="ctr"/>
                </a:tc>
                <a:extLst>
                  <a:ext uri="{0D108BD9-81ED-4DB2-BD59-A6C34878D82A}">
                    <a16:rowId xmlns:a16="http://schemas.microsoft.com/office/drawing/2014/main" val="3061964832"/>
                  </a:ext>
                </a:extLst>
              </a:tr>
              <a:tr h="370840">
                <a:tc>
                  <a:txBody>
                    <a:bodyPr/>
                    <a:lstStyle/>
                    <a:p>
                      <a:r>
                        <a:rPr lang="el-GR" sz="1600" dirty="0"/>
                        <a:t>κ1</a:t>
                      </a:r>
                    </a:p>
                  </a:txBody>
                  <a:tcPr anchor="ctr"/>
                </a:tc>
                <a:tc>
                  <a:txBody>
                    <a:bodyPr/>
                    <a:lstStyle/>
                    <a:p>
                      <a:r>
                        <a:rPr lang="el-GR" sz="1600" dirty="0"/>
                        <a:t>Δημιουργικότητα</a:t>
                      </a:r>
                    </a:p>
                  </a:txBody>
                  <a:tcPr anchor="ctr"/>
                </a:tc>
                <a:tc>
                  <a:txBody>
                    <a:bodyPr/>
                    <a:lstStyle/>
                    <a:p>
                      <a:r>
                        <a:rPr lang="el-GR" sz="1600" dirty="0"/>
                        <a:t>Εφαρμογή δημιουργικών ιδεών και ανάπτυξη πρωτότυπων λύσεων.</a:t>
                      </a:r>
                    </a:p>
                  </a:txBody>
                  <a:tcPr anchor="ctr"/>
                </a:tc>
                <a:extLst>
                  <a:ext uri="{0D108BD9-81ED-4DB2-BD59-A6C34878D82A}">
                    <a16:rowId xmlns:a16="http://schemas.microsoft.com/office/drawing/2014/main" val="1898072253"/>
                  </a:ext>
                </a:extLst>
              </a:tr>
              <a:tr h="370840">
                <a:tc>
                  <a:txBody>
                    <a:bodyPr/>
                    <a:lstStyle/>
                    <a:p>
                      <a:r>
                        <a:rPr lang="el-GR" sz="1600"/>
                        <a:t>κ2</a:t>
                      </a:r>
                    </a:p>
                  </a:txBody>
                  <a:tcPr anchor="ctr"/>
                </a:tc>
                <a:tc>
                  <a:txBody>
                    <a:bodyPr/>
                    <a:lstStyle/>
                    <a:p>
                      <a:r>
                        <a:rPr lang="el-GR" sz="1600" dirty="0"/>
                        <a:t>Κριτική σκέψη / </a:t>
                      </a:r>
                      <a:r>
                        <a:rPr lang="el-GR" sz="1600" dirty="0" err="1"/>
                        <a:t>αναστοχαστική</a:t>
                      </a:r>
                      <a:r>
                        <a:rPr lang="el-GR" sz="1600" dirty="0"/>
                        <a:t> διαχείριση γνώσης</a:t>
                      </a:r>
                    </a:p>
                  </a:txBody>
                  <a:tcPr anchor="ctr"/>
                </a:tc>
                <a:tc>
                  <a:txBody>
                    <a:bodyPr/>
                    <a:lstStyle/>
                    <a:p>
                      <a:r>
                        <a:rPr lang="el-GR" sz="1600" dirty="0"/>
                        <a:t>Αμφισβήτηση, αξιολόγηση, αιτιολόγηση και επανεξέταση της γνώσης. Ο μαθητής </a:t>
                      </a:r>
                      <a:r>
                        <a:rPr lang="el-GR" sz="1600" dirty="0" err="1"/>
                        <a:t>αναστοχάζεται</a:t>
                      </a:r>
                      <a:r>
                        <a:rPr lang="el-GR" sz="1600" dirty="0"/>
                        <a:t> για το πως κατέληξε σε ένα συμπέρασμα/ λύση.</a:t>
                      </a:r>
                    </a:p>
                  </a:txBody>
                  <a:tcPr anchor="ctr"/>
                </a:tc>
                <a:extLst>
                  <a:ext uri="{0D108BD9-81ED-4DB2-BD59-A6C34878D82A}">
                    <a16:rowId xmlns:a16="http://schemas.microsoft.com/office/drawing/2014/main" val="2371314067"/>
                  </a:ext>
                </a:extLst>
              </a:tr>
              <a:tr h="370840">
                <a:tc>
                  <a:txBody>
                    <a:bodyPr/>
                    <a:lstStyle/>
                    <a:p>
                      <a:r>
                        <a:rPr lang="el-GR" sz="1600" dirty="0"/>
                        <a:t>κ3</a:t>
                      </a:r>
                    </a:p>
                  </a:txBody>
                  <a:tcPr anchor="ctr"/>
                </a:tc>
                <a:tc>
                  <a:txBody>
                    <a:bodyPr/>
                    <a:lstStyle/>
                    <a:p>
                      <a:r>
                        <a:rPr lang="el-GR" sz="1600" dirty="0"/>
                        <a:t>Θεωρητική σκέψη / εφαρμογή της θεωρίας στην πράξη</a:t>
                      </a:r>
                    </a:p>
                  </a:txBody>
                  <a:tcPr anchor="ctr"/>
                </a:tc>
                <a:tc>
                  <a:txBody>
                    <a:bodyPr/>
                    <a:lstStyle/>
                    <a:p>
                      <a:r>
                        <a:rPr lang="el-GR" sz="1600" dirty="0"/>
                        <a:t>Μετατροπή της θεωρίας σε πράξη μέσω παραδειγμάτων ή προγραμματισμού.</a:t>
                      </a:r>
                    </a:p>
                  </a:txBody>
                  <a:tcPr anchor="ctr"/>
                </a:tc>
                <a:extLst>
                  <a:ext uri="{0D108BD9-81ED-4DB2-BD59-A6C34878D82A}">
                    <a16:rowId xmlns:a16="http://schemas.microsoft.com/office/drawing/2014/main" val="1194783934"/>
                  </a:ext>
                </a:extLst>
              </a:tr>
              <a:tr h="370840">
                <a:tc>
                  <a:txBody>
                    <a:bodyPr/>
                    <a:lstStyle/>
                    <a:p>
                      <a:r>
                        <a:rPr lang="el-GR" sz="1600"/>
                        <a:t>κ4</a:t>
                      </a:r>
                    </a:p>
                  </a:txBody>
                  <a:tcPr anchor="ctr"/>
                </a:tc>
                <a:tc>
                  <a:txBody>
                    <a:bodyPr/>
                    <a:lstStyle/>
                    <a:p>
                      <a:r>
                        <a:rPr lang="el-GR" sz="1600" dirty="0"/>
                        <a:t>Ικανότητες ανάλυσης και σχεδιασμού</a:t>
                      </a:r>
                    </a:p>
                  </a:txBody>
                  <a:tcPr anchor="ctr"/>
                </a:tc>
                <a:tc>
                  <a:txBody>
                    <a:bodyPr/>
                    <a:lstStyle/>
                    <a:p>
                      <a:r>
                        <a:rPr lang="el-GR" sz="1600" dirty="0"/>
                        <a:t>Αποδόμηση ενός προβλήματος στα βασικά του στοιχεία, εντοπισμός απαιτήσεων και σχέσεων Ο μαθητής οργανώνει μια δομημένη λύση που ικανοποιεί τις ανάγκες του προβλήματος</a:t>
                      </a:r>
                    </a:p>
                  </a:txBody>
                  <a:tcPr anchor="ctr"/>
                </a:tc>
                <a:extLst>
                  <a:ext uri="{0D108BD9-81ED-4DB2-BD59-A6C34878D82A}">
                    <a16:rowId xmlns:a16="http://schemas.microsoft.com/office/drawing/2014/main" val="1218942311"/>
                  </a:ext>
                </a:extLst>
              </a:tr>
              <a:tr h="370840">
                <a:tc>
                  <a:txBody>
                    <a:bodyPr/>
                    <a:lstStyle/>
                    <a:p>
                      <a:r>
                        <a:rPr lang="el-GR" sz="1600"/>
                        <a:t>κ5</a:t>
                      </a:r>
                    </a:p>
                  </a:txBody>
                  <a:tcPr anchor="ctr"/>
                </a:tc>
                <a:tc>
                  <a:txBody>
                    <a:bodyPr/>
                    <a:lstStyle/>
                    <a:p>
                      <a:r>
                        <a:rPr lang="el-GR" sz="1600"/>
                        <a:t>Συλλογική εργασία / ανταλλαγή πληροφοριών</a:t>
                      </a:r>
                    </a:p>
                  </a:txBody>
                  <a:tcPr anchor="ctr"/>
                </a:tc>
                <a:tc>
                  <a:txBody>
                    <a:bodyPr/>
                    <a:lstStyle/>
                    <a:p>
                      <a:r>
                        <a:rPr lang="el-GR" sz="1600" dirty="0"/>
                        <a:t>Συνεργασία, ομαδικότητα, επικοινωνία στην τάξη.</a:t>
                      </a:r>
                    </a:p>
                  </a:txBody>
                  <a:tcPr anchor="ctr"/>
                </a:tc>
                <a:extLst>
                  <a:ext uri="{0D108BD9-81ED-4DB2-BD59-A6C34878D82A}">
                    <a16:rowId xmlns:a16="http://schemas.microsoft.com/office/drawing/2014/main" val="1746433575"/>
                  </a:ext>
                </a:extLst>
              </a:tr>
              <a:tr h="370840">
                <a:tc>
                  <a:txBody>
                    <a:bodyPr/>
                    <a:lstStyle/>
                    <a:p>
                      <a:r>
                        <a:rPr lang="el-GR" sz="1600" dirty="0"/>
                        <a:t>κ6</a:t>
                      </a:r>
                    </a:p>
                  </a:txBody>
                  <a:tcPr anchor="ctr"/>
                </a:tc>
                <a:tc>
                  <a:txBody>
                    <a:bodyPr/>
                    <a:lstStyle/>
                    <a:p>
                      <a:r>
                        <a:rPr lang="el-GR" sz="1600" dirty="0"/>
                        <a:t>Ικανότητα λύσης προβλημάτων/ετοιμότητα αναζήτησης εναλλακτικών λύσεων/ανάπτυξη εναλλακτικών θεωριών</a:t>
                      </a:r>
                    </a:p>
                  </a:txBody>
                  <a:tcPr anchor="ctr"/>
                </a:tc>
                <a:tc>
                  <a:txBody>
                    <a:bodyPr/>
                    <a:lstStyle/>
                    <a:p>
                      <a:r>
                        <a:rPr lang="el-GR" sz="1600" dirty="0"/>
                        <a:t>Ορισμός και ανάλυση προβλημάτων, παραγωγή εναλλακτικών λύσεων. Ο μαθητής διατυπώνει και αξιολογεί θεωρητικές υποθέσεις ή μοντέλα και να αναθεωρεί τις λύσεις</a:t>
                      </a:r>
                    </a:p>
                  </a:txBody>
                  <a:tcPr anchor="ctr"/>
                </a:tc>
                <a:extLst>
                  <a:ext uri="{0D108BD9-81ED-4DB2-BD59-A6C34878D82A}">
                    <a16:rowId xmlns:a16="http://schemas.microsoft.com/office/drawing/2014/main" val="1636436329"/>
                  </a:ext>
                </a:extLst>
              </a:tr>
              <a:tr h="370840">
                <a:tc>
                  <a:txBody>
                    <a:bodyPr/>
                    <a:lstStyle/>
                    <a:p>
                      <a:r>
                        <a:rPr lang="el-GR" sz="1600"/>
                        <a:t>κ7</a:t>
                      </a:r>
                    </a:p>
                  </a:txBody>
                  <a:tcPr anchor="ctr"/>
                </a:tc>
                <a:tc>
                  <a:txBody>
                    <a:bodyPr/>
                    <a:lstStyle/>
                    <a:p>
                      <a:r>
                        <a:rPr lang="el-GR" sz="1600" dirty="0"/>
                        <a:t>Άριστη, δόκιμη και συνετή χρήση ΤΠΕ</a:t>
                      </a:r>
                    </a:p>
                  </a:txBody>
                  <a:tcPr anchor="ctr"/>
                </a:tc>
                <a:tc>
                  <a:txBody>
                    <a:bodyPr/>
                    <a:lstStyle/>
                    <a:p>
                      <a:r>
                        <a:rPr lang="el-GR" sz="1600" dirty="0"/>
                        <a:t>Ανάπτυξη δεξιοτήτων χειρισμού εργαλείων και συστημάτων και χρήση των ΤΠΕ στην εργασία/ επίλυση προβλήματος.</a:t>
                      </a:r>
                    </a:p>
                  </a:txBody>
                  <a:tcPr anchor="ctr"/>
                </a:tc>
                <a:extLst>
                  <a:ext uri="{0D108BD9-81ED-4DB2-BD59-A6C34878D82A}">
                    <a16:rowId xmlns:a16="http://schemas.microsoft.com/office/drawing/2014/main" val="3262276733"/>
                  </a:ext>
                </a:extLst>
              </a:tr>
              <a:tr h="370840">
                <a:tc>
                  <a:txBody>
                    <a:bodyPr/>
                    <a:lstStyle/>
                    <a:p>
                      <a:r>
                        <a:rPr lang="el-GR" sz="1600"/>
                        <a:t>κ8</a:t>
                      </a:r>
                    </a:p>
                  </a:txBody>
                  <a:tcPr anchor="ctr"/>
                </a:tc>
                <a:tc>
                  <a:txBody>
                    <a:bodyPr/>
                    <a:lstStyle/>
                    <a:p>
                      <a:r>
                        <a:rPr lang="el-GR" sz="1600"/>
                        <a:t>Ενσυναίσθηση / διαπροσωπική επικοινωνία</a:t>
                      </a:r>
                    </a:p>
                  </a:txBody>
                  <a:tcPr anchor="ctr"/>
                </a:tc>
                <a:tc>
                  <a:txBody>
                    <a:bodyPr/>
                    <a:lstStyle/>
                    <a:p>
                      <a:r>
                        <a:rPr lang="el-GR" sz="1600" dirty="0"/>
                        <a:t>Κατανόηση του άλλου, σεβασμός, επικοινωνιακές δεξιότητες.</a:t>
                      </a:r>
                    </a:p>
                  </a:txBody>
                  <a:tcPr anchor="ctr"/>
                </a:tc>
                <a:extLst>
                  <a:ext uri="{0D108BD9-81ED-4DB2-BD59-A6C34878D82A}">
                    <a16:rowId xmlns:a16="http://schemas.microsoft.com/office/drawing/2014/main" val="3617102111"/>
                  </a:ext>
                </a:extLst>
              </a:tr>
            </a:tbl>
          </a:graphicData>
        </a:graphic>
      </p:graphicFrame>
    </p:spTree>
    <p:extLst>
      <p:ext uri="{BB962C8B-B14F-4D97-AF65-F5344CB8AC3E}">
        <p14:creationId xmlns:p14="http://schemas.microsoft.com/office/powerpoint/2010/main" val="1110861717"/>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1"/>
          <p:cNvSpPr>
            <a:spLocks noGrp="1"/>
          </p:cNvSpPr>
          <p:nvPr>
            <p:ph type="title"/>
          </p:nvPr>
        </p:nvSpPr>
        <p:spPr>
          <a:solidFill>
            <a:srgbClr val="FAC090"/>
          </a:solidFill>
        </p:spPr>
        <p:txBody>
          <a:bodyPr>
            <a:noAutofit/>
          </a:bodyPr>
          <a:lstStyle/>
          <a:p>
            <a:r>
              <a:rPr lang="el-GR" sz="3600" b="1" dirty="0"/>
              <a:t>Παράδειγμα 1</a:t>
            </a:r>
          </a:p>
        </p:txBody>
      </p:sp>
      <p:sp>
        <p:nvSpPr>
          <p:cNvPr id="6" name="Content Placeholder 6"/>
          <p:cNvSpPr>
            <a:spLocks noGrp="1"/>
          </p:cNvSpPr>
          <p:nvPr>
            <p:ph idx="1"/>
          </p:nvPr>
        </p:nvSpPr>
        <p:spPr>
          <a:xfrm>
            <a:off x="457200" y="1472119"/>
            <a:ext cx="8229600" cy="1499681"/>
          </a:xfrm>
        </p:spPr>
        <p:txBody>
          <a:bodyPr>
            <a:noAutofit/>
          </a:bodyPr>
          <a:lstStyle/>
          <a:p>
            <a:pPr marL="550863" indent="-285750">
              <a:spcBef>
                <a:spcPts val="400"/>
              </a:spcBef>
            </a:pPr>
            <a:r>
              <a:rPr lang="el-GR" sz="2400" b="1" dirty="0"/>
              <a:t>Περιγραφή δραστηριότητας:</a:t>
            </a:r>
            <a:br>
              <a:rPr lang="el-GR" sz="2400" dirty="0"/>
            </a:br>
            <a:r>
              <a:rPr lang="el-GR" sz="2400" dirty="0"/>
              <a:t>Οι μαθητές, σε μικρές ομάδες, ερευνούν διαδικτυακά για τους κανόνες ασφαλούς πλοήγησης και δημιουργούν μια παρουσίαση  με παραδείγματα, εικόνες και προτάσεις</a:t>
            </a:r>
          </a:p>
        </p:txBody>
      </p:sp>
      <p:graphicFrame>
        <p:nvGraphicFramePr>
          <p:cNvPr id="2" name="Table 1"/>
          <p:cNvGraphicFramePr>
            <a:graphicFrameLocks noGrp="1"/>
          </p:cNvGraphicFramePr>
          <p:nvPr>
            <p:extLst>
              <p:ext uri="{D42A27DB-BD31-4B8C-83A1-F6EECF244321}">
                <p14:modId xmlns:p14="http://schemas.microsoft.com/office/powerpoint/2010/main" val="2442326479"/>
              </p:ext>
            </p:extLst>
          </p:nvPr>
        </p:nvGraphicFramePr>
        <p:xfrm>
          <a:off x="114300" y="3026281"/>
          <a:ext cx="8915400" cy="3662680"/>
        </p:xfrm>
        <a:graphic>
          <a:graphicData uri="http://schemas.openxmlformats.org/drawingml/2006/table">
            <a:tbl>
              <a:tblPr firstRow="1" bandRow="1">
                <a:tableStyleId>{93296810-A885-4BE3-A3E7-6D5BEEA58F35}</a:tableStyleId>
              </a:tblPr>
              <a:tblGrid>
                <a:gridCol w="1568450">
                  <a:extLst>
                    <a:ext uri="{9D8B030D-6E8A-4147-A177-3AD203B41FA5}">
                      <a16:colId xmlns:a16="http://schemas.microsoft.com/office/drawing/2014/main" val="1139020648"/>
                    </a:ext>
                  </a:extLst>
                </a:gridCol>
                <a:gridCol w="3219450">
                  <a:extLst>
                    <a:ext uri="{9D8B030D-6E8A-4147-A177-3AD203B41FA5}">
                      <a16:colId xmlns:a16="http://schemas.microsoft.com/office/drawing/2014/main" val="707633157"/>
                    </a:ext>
                  </a:extLst>
                </a:gridCol>
                <a:gridCol w="4127500">
                  <a:extLst>
                    <a:ext uri="{9D8B030D-6E8A-4147-A177-3AD203B41FA5}">
                      <a16:colId xmlns:a16="http://schemas.microsoft.com/office/drawing/2014/main" val="365453600"/>
                    </a:ext>
                  </a:extLst>
                </a:gridCol>
              </a:tblGrid>
              <a:tr h="370840">
                <a:tc>
                  <a:txBody>
                    <a:bodyPr/>
                    <a:lstStyle/>
                    <a:p>
                      <a:r>
                        <a:rPr lang="el-GR" dirty="0"/>
                        <a:t>Κωδικός</a:t>
                      </a:r>
                    </a:p>
                  </a:txBody>
                  <a:tcPr anchor="ctr"/>
                </a:tc>
                <a:tc>
                  <a:txBody>
                    <a:bodyPr/>
                    <a:lstStyle/>
                    <a:p>
                      <a:r>
                        <a:rPr lang="el-GR" dirty="0"/>
                        <a:t>Ικανότητα</a:t>
                      </a:r>
                    </a:p>
                  </a:txBody>
                  <a:tcPr anchor="ctr"/>
                </a:tc>
                <a:tc>
                  <a:txBody>
                    <a:bodyPr/>
                    <a:lstStyle/>
                    <a:p>
                      <a:r>
                        <a:rPr lang="el-GR"/>
                        <a:t>Πώς καλλιεργείται</a:t>
                      </a:r>
                    </a:p>
                  </a:txBody>
                  <a:tcPr anchor="ctr"/>
                </a:tc>
                <a:extLst>
                  <a:ext uri="{0D108BD9-81ED-4DB2-BD59-A6C34878D82A}">
                    <a16:rowId xmlns:a16="http://schemas.microsoft.com/office/drawing/2014/main" val="3883572163"/>
                  </a:ext>
                </a:extLst>
              </a:tr>
              <a:tr h="370840">
                <a:tc>
                  <a:txBody>
                    <a:bodyPr/>
                    <a:lstStyle/>
                    <a:p>
                      <a:r>
                        <a:rPr lang="el-GR" dirty="0"/>
                        <a:t>κ5</a:t>
                      </a:r>
                    </a:p>
                  </a:txBody>
                  <a:tcPr anchor="ctr"/>
                </a:tc>
                <a:tc>
                  <a:txBody>
                    <a:bodyPr/>
                    <a:lstStyle/>
                    <a:p>
                      <a:r>
                        <a:rPr lang="el-GR" dirty="0"/>
                        <a:t>Συλλογική εργασία</a:t>
                      </a:r>
                    </a:p>
                  </a:txBody>
                  <a:tcPr anchor="ctr"/>
                </a:tc>
                <a:tc>
                  <a:txBody>
                    <a:bodyPr/>
                    <a:lstStyle/>
                    <a:p>
                      <a:r>
                        <a:rPr lang="el-GR" dirty="0"/>
                        <a:t>Συνεργασία στην ομάδα για κατανομή ρόλων</a:t>
                      </a:r>
                    </a:p>
                  </a:txBody>
                  <a:tcPr anchor="ctr"/>
                </a:tc>
                <a:extLst>
                  <a:ext uri="{0D108BD9-81ED-4DB2-BD59-A6C34878D82A}">
                    <a16:rowId xmlns:a16="http://schemas.microsoft.com/office/drawing/2014/main" val="3763337717"/>
                  </a:ext>
                </a:extLst>
              </a:tr>
              <a:tr h="370840">
                <a:tc>
                  <a:txBody>
                    <a:bodyPr/>
                    <a:lstStyle/>
                    <a:p>
                      <a:r>
                        <a:rPr lang="el-GR" dirty="0"/>
                        <a:t>κ7</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l-GR" sz="1800" dirty="0"/>
                        <a:t>Άριστη, δόκιμη και συνετή χρήση ΤΠΕ</a:t>
                      </a:r>
                    </a:p>
                  </a:txBody>
                  <a:tcPr anchor="ctr"/>
                </a:tc>
                <a:tc>
                  <a:txBody>
                    <a:bodyPr/>
                    <a:lstStyle/>
                    <a:p>
                      <a:r>
                        <a:rPr lang="el-GR" dirty="0"/>
                        <a:t>οι μαθητές χρησιμοποιούν το διαδίκτυο για αναζήτηση πληροφοριών και ψηφιακό εργαλείο για να παράγουν ψηφιακό προϊόν.</a:t>
                      </a:r>
                    </a:p>
                  </a:txBody>
                  <a:tcPr anchor="ctr"/>
                </a:tc>
                <a:extLst>
                  <a:ext uri="{0D108BD9-81ED-4DB2-BD59-A6C34878D82A}">
                    <a16:rowId xmlns:a16="http://schemas.microsoft.com/office/drawing/2014/main" val="1201476918"/>
                  </a:ext>
                </a:extLst>
              </a:tr>
              <a:tr h="370840">
                <a:tc>
                  <a:txBody>
                    <a:bodyPr/>
                    <a:lstStyle/>
                    <a:p>
                      <a:r>
                        <a:rPr lang="el-GR" dirty="0"/>
                        <a:t>κ2</a:t>
                      </a:r>
                    </a:p>
                  </a:txBody>
                  <a:tcPr anchor="ctr"/>
                </a:tc>
                <a:tc>
                  <a:txBody>
                    <a:bodyPr/>
                    <a:lstStyle/>
                    <a:p>
                      <a:r>
                        <a:rPr lang="el-GR" dirty="0"/>
                        <a:t>Κριτική σκέψη/ </a:t>
                      </a:r>
                      <a:r>
                        <a:rPr lang="el-GR" dirty="0" err="1"/>
                        <a:t>αναστοχασμός</a:t>
                      </a:r>
                      <a:endParaRPr lang="el-GR" dirty="0"/>
                    </a:p>
                  </a:txBody>
                  <a:tcPr anchor="ctr"/>
                </a:tc>
                <a:tc>
                  <a:txBody>
                    <a:bodyPr/>
                    <a:lstStyle/>
                    <a:p>
                      <a:r>
                        <a:rPr lang="el-GR" dirty="0"/>
                        <a:t>Αν οι μαθητές δεν κάνουν απλώς αναζήτηση αλλά αξιολογούν τις πηγές, συγκρίνουν πληροφορίες και επιλέγουν τεκμηριωμένα τι θα συμπεριλάβουν στην παρουσίαση, τότε έχουμε σαφή Κ2.</a:t>
                      </a:r>
                    </a:p>
                  </a:txBody>
                  <a:tcPr anchor="ctr"/>
                </a:tc>
                <a:extLst>
                  <a:ext uri="{0D108BD9-81ED-4DB2-BD59-A6C34878D82A}">
                    <a16:rowId xmlns:a16="http://schemas.microsoft.com/office/drawing/2014/main" val="3807709153"/>
                  </a:ext>
                </a:extLst>
              </a:tr>
            </a:tbl>
          </a:graphicData>
        </a:graphic>
      </p:graphicFrame>
    </p:spTree>
    <p:extLst>
      <p:ext uri="{BB962C8B-B14F-4D97-AF65-F5344CB8AC3E}">
        <p14:creationId xmlns:p14="http://schemas.microsoft.com/office/powerpoint/2010/main" val="3047317244"/>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1"/>
          <p:cNvSpPr>
            <a:spLocks noGrp="1"/>
          </p:cNvSpPr>
          <p:nvPr>
            <p:ph type="title"/>
          </p:nvPr>
        </p:nvSpPr>
        <p:spPr>
          <a:solidFill>
            <a:srgbClr val="FAC090"/>
          </a:solidFill>
        </p:spPr>
        <p:txBody>
          <a:bodyPr>
            <a:noAutofit/>
          </a:bodyPr>
          <a:lstStyle/>
          <a:p>
            <a:r>
              <a:rPr lang="el-GR" sz="3600" b="1" dirty="0"/>
              <a:t>Παράδειγμα 2</a:t>
            </a:r>
          </a:p>
        </p:txBody>
      </p:sp>
      <p:sp>
        <p:nvSpPr>
          <p:cNvPr id="6" name="Content Placeholder 6"/>
          <p:cNvSpPr>
            <a:spLocks noGrp="1"/>
          </p:cNvSpPr>
          <p:nvPr>
            <p:ph idx="1"/>
          </p:nvPr>
        </p:nvSpPr>
        <p:spPr>
          <a:xfrm>
            <a:off x="0" y="1600201"/>
            <a:ext cx="8991600" cy="1600200"/>
          </a:xfrm>
        </p:spPr>
        <p:txBody>
          <a:bodyPr>
            <a:noAutofit/>
          </a:bodyPr>
          <a:lstStyle/>
          <a:p>
            <a:pPr marL="550863" indent="-285750">
              <a:spcBef>
                <a:spcPts val="400"/>
              </a:spcBef>
            </a:pPr>
            <a:r>
              <a:rPr lang="el-GR" sz="2400" b="1" dirty="0"/>
              <a:t>Περιγραφή δραστηριότητας:</a:t>
            </a:r>
            <a:br>
              <a:rPr lang="el-GR" sz="2400" dirty="0"/>
            </a:br>
            <a:r>
              <a:rPr lang="el-GR" sz="2400" dirty="0"/>
              <a:t>Οι μαθητές δημιουργούν ένα απλό παιχνίδι στο </a:t>
            </a:r>
            <a:r>
              <a:rPr lang="el-GR" sz="2400" dirty="0" err="1"/>
              <a:t>Scratch</a:t>
            </a:r>
            <a:r>
              <a:rPr lang="el-GR" sz="2400" dirty="0"/>
              <a:t> (π.χ. «Πιάσε τη μπάλα»), εφαρμόζοντας έννοιες επανάληψης, συνθηκών και μεταβλητών. Επιλέγουν και διαμορφώνουν ελεύθερα τους χαρακτήρες, τα γραφικά, το σκηνικό και στοιχεία του σεναρίου του παιχνιδιού.</a:t>
            </a:r>
          </a:p>
        </p:txBody>
      </p:sp>
      <p:graphicFrame>
        <p:nvGraphicFramePr>
          <p:cNvPr id="2" name="Table 1"/>
          <p:cNvGraphicFramePr>
            <a:graphicFrameLocks noGrp="1"/>
          </p:cNvGraphicFramePr>
          <p:nvPr>
            <p:extLst>
              <p:ext uri="{D42A27DB-BD31-4B8C-83A1-F6EECF244321}">
                <p14:modId xmlns:p14="http://schemas.microsoft.com/office/powerpoint/2010/main" val="2517793358"/>
              </p:ext>
            </p:extLst>
          </p:nvPr>
        </p:nvGraphicFramePr>
        <p:xfrm>
          <a:off x="181583" y="4112259"/>
          <a:ext cx="8839200" cy="2291080"/>
        </p:xfrm>
        <a:graphic>
          <a:graphicData uri="http://schemas.openxmlformats.org/drawingml/2006/table">
            <a:tbl>
              <a:tblPr firstRow="1" bandRow="1">
                <a:tableStyleId>{93296810-A885-4BE3-A3E7-6D5BEEA58F35}</a:tableStyleId>
              </a:tblPr>
              <a:tblGrid>
                <a:gridCol w="1555044">
                  <a:extLst>
                    <a:ext uri="{9D8B030D-6E8A-4147-A177-3AD203B41FA5}">
                      <a16:colId xmlns:a16="http://schemas.microsoft.com/office/drawing/2014/main" val="1139020648"/>
                    </a:ext>
                  </a:extLst>
                </a:gridCol>
                <a:gridCol w="3191934">
                  <a:extLst>
                    <a:ext uri="{9D8B030D-6E8A-4147-A177-3AD203B41FA5}">
                      <a16:colId xmlns:a16="http://schemas.microsoft.com/office/drawing/2014/main" val="707633157"/>
                    </a:ext>
                  </a:extLst>
                </a:gridCol>
                <a:gridCol w="4092222">
                  <a:extLst>
                    <a:ext uri="{9D8B030D-6E8A-4147-A177-3AD203B41FA5}">
                      <a16:colId xmlns:a16="http://schemas.microsoft.com/office/drawing/2014/main" val="365453600"/>
                    </a:ext>
                  </a:extLst>
                </a:gridCol>
              </a:tblGrid>
              <a:tr h="370840">
                <a:tc>
                  <a:txBody>
                    <a:bodyPr/>
                    <a:lstStyle/>
                    <a:p>
                      <a:r>
                        <a:rPr lang="el-GR" dirty="0"/>
                        <a:t>Κωδικός</a:t>
                      </a:r>
                    </a:p>
                  </a:txBody>
                  <a:tcPr anchor="ctr"/>
                </a:tc>
                <a:tc>
                  <a:txBody>
                    <a:bodyPr/>
                    <a:lstStyle/>
                    <a:p>
                      <a:r>
                        <a:rPr lang="el-GR" dirty="0"/>
                        <a:t>Ικανότητα</a:t>
                      </a:r>
                    </a:p>
                  </a:txBody>
                  <a:tcPr anchor="ctr"/>
                </a:tc>
                <a:tc>
                  <a:txBody>
                    <a:bodyPr/>
                    <a:lstStyle/>
                    <a:p>
                      <a:r>
                        <a:rPr lang="el-GR"/>
                        <a:t>Πώς καλλιεργείται</a:t>
                      </a:r>
                    </a:p>
                  </a:txBody>
                  <a:tcPr anchor="ctr"/>
                </a:tc>
                <a:extLst>
                  <a:ext uri="{0D108BD9-81ED-4DB2-BD59-A6C34878D82A}">
                    <a16:rowId xmlns:a16="http://schemas.microsoft.com/office/drawing/2014/main" val="3883572163"/>
                  </a:ext>
                </a:extLst>
              </a:tr>
              <a:tr h="370840">
                <a:tc>
                  <a:txBody>
                    <a:bodyPr/>
                    <a:lstStyle/>
                    <a:p>
                      <a:r>
                        <a:rPr lang="el-GR" dirty="0"/>
                        <a:t>κ4</a:t>
                      </a:r>
                    </a:p>
                  </a:txBody>
                  <a:tcPr anchor="ctr"/>
                </a:tc>
                <a:tc>
                  <a:txBody>
                    <a:bodyPr/>
                    <a:lstStyle/>
                    <a:p>
                      <a:r>
                        <a:rPr lang="el-GR" dirty="0"/>
                        <a:t>Ικανότητες ανάλυσης και σχεδιασμού</a:t>
                      </a:r>
                    </a:p>
                  </a:txBody>
                  <a:tcPr anchor="ctr"/>
                </a:tc>
                <a:tc>
                  <a:txBody>
                    <a:bodyPr/>
                    <a:lstStyle/>
                    <a:p>
                      <a:r>
                        <a:rPr lang="el-GR" dirty="0"/>
                        <a:t>οι μαθητές σχεδιάζουν οι ίδιοι τη λύση</a:t>
                      </a:r>
                    </a:p>
                  </a:txBody>
                  <a:tcPr anchor="ctr"/>
                </a:tc>
                <a:extLst>
                  <a:ext uri="{0D108BD9-81ED-4DB2-BD59-A6C34878D82A}">
                    <a16:rowId xmlns:a16="http://schemas.microsoft.com/office/drawing/2014/main" val="3763337717"/>
                  </a:ext>
                </a:extLst>
              </a:tr>
              <a:tr h="370840">
                <a:tc>
                  <a:txBody>
                    <a:bodyPr/>
                    <a:lstStyle/>
                    <a:p>
                      <a:r>
                        <a:rPr lang="el-GR"/>
                        <a:t>κ3</a:t>
                      </a:r>
                    </a:p>
                  </a:txBody>
                  <a:tcPr anchor="ctr"/>
                </a:tc>
                <a:tc>
                  <a:txBody>
                    <a:bodyPr/>
                    <a:lstStyle/>
                    <a:p>
                      <a:r>
                        <a:rPr lang="el-GR" dirty="0"/>
                        <a:t>Θεωρία → Πράξη</a:t>
                      </a:r>
                    </a:p>
                  </a:txBody>
                  <a:tcPr anchor="ctr"/>
                </a:tc>
                <a:tc>
                  <a:txBody>
                    <a:bodyPr/>
                    <a:lstStyle/>
                    <a:p>
                      <a:r>
                        <a:rPr lang="el-GR" dirty="0"/>
                        <a:t>Εφαρμογή θεωρητικών εννοιών προγραμματισμού</a:t>
                      </a:r>
                    </a:p>
                  </a:txBody>
                  <a:tcPr anchor="ctr"/>
                </a:tc>
                <a:extLst>
                  <a:ext uri="{0D108BD9-81ED-4DB2-BD59-A6C34878D82A}">
                    <a16:rowId xmlns:a16="http://schemas.microsoft.com/office/drawing/2014/main" val="1201476918"/>
                  </a:ext>
                </a:extLst>
              </a:tr>
              <a:tr h="370840">
                <a:tc>
                  <a:txBody>
                    <a:bodyPr/>
                    <a:lstStyle/>
                    <a:p>
                      <a:r>
                        <a:rPr lang="el-GR" dirty="0"/>
                        <a:t>κ1</a:t>
                      </a:r>
                    </a:p>
                  </a:txBody>
                  <a:tcPr anchor="ctr"/>
                </a:tc>
                <a:tc>
                  <a:txBody>
                    <a:bodyPr/>
                    <a:lstStyle/>
                    <a:p>
                      <a:r>
                        <a:rPr lang="el-GR"/>
                        <a:t>Δημιουργικότητα</a:t>
                      </a:r>
                    </a:p>
                  </a:txBody>
                  <a:tcPr anchor="ctr"/>
                </a:tc>
                <a:tc>
                  <a:txBody>
                    <a:bodyPr/>
                    <a:lstStyle/>
                    <a:p>
                      <a:r>
                        <a:rPr lang="el-GR" dirty="0"/>
                        <a:t>Επιλογή γραφικών, κανόνων και σεναρίου παιχνιδιού</a:t>
                      </a:r>
                    </a:p>
                  </a:txBody>
                  <a:tcPr anchor="ctr"/>
                </a:tc>
                <a:extLst>
                  <a:ext uri="{0D108BD9-81ED-4DB2-BD59-A6C34878D82A}">
                    <a16:rowId xmlns:a16="http://schemas.microsoft.com/office/drawing/2014/main" val="3807709153"/>
                  </a:ext>
                </a:extLst>
              </a:tr>
            </a:tbl>
          </a:graphicData>
        </a:graphic>
      </p:graphicFrame>
    </p:spTree>
    <p:extLst>
      <p:ext uri="{BB962C8B-B14F-4D97-AF65-F5344CB8AC3E}">
        <p14:creationId xmlns:p14="http://schemas.microsoft.com/office/powerpoint/2010/main" val="489489999"/>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Title 1"/>
          <p:cNvSpPr>
            <a:spLocks noGrp="1"/>
          </p:cNvSpPr>
          <p:nvPr>
            <p:ph type="title"/>
          </p:nvPr>
        </p:nvSpPr>
        <p:spPr>
          <a:solidFill>
            <a:srgbClr val="FAC090"/>
          </a:solidFill>
        </p:spPr>
        <p:txBody>
          <a:bodyPr>
            <a:noAutofit/>
          </a:bodyPr>
          <a:lstStyle/>
          <a:p>
            <a:r>
              <a:rPr lang="el-GR" sz="3600" b="1" dirty="0"/>
              <a:t>Παράδειγμα </a:t>
            </a:r>
            <a:r>
              <a:rPr lang="en-US" sz="3600" b="1" dirty="0"/>
              <a:t>3</a:t>
            </a:r>
            <a:endParaRPr lang="el-GR" sz="3600" b="1" dirty="0"/>
          </a:p>
        </p:txBody>
      </p:sp>
      <p:sp>
        <p:nvSpPr>
          <p:cNvPr id="6" name="Content Placeholder 6"/>
          <p:cNvSpPr>
            <a:spLocks noGrp="1"/>
          </p:cNvSpPr>
          <p:nvPr>
            <p:ph idx="1"/>
          </p:nvPr>
        </p:nvSpPr>
        <p:spPr>
          <a:xfrm>
            <a:off x="457200" y="1524000"/>
            <a:ext cx="8229600" cy="1600200"/>
          </a:xfrm>
        </p:spPr>
        <p:txBody>
          <a:bodyPr>
            <a:noAutofit/>
          </a:bodyPr>
          <a:lstStyle/>
          <a:p>
            <a:pPr marL="550863" indent="-285750">
              <a:spcBef>
                <a:spcPts val="400"/>
              </a:spcBef>
            </a:pPr>
            <a:r>
              <a:rPr lang="el-GR" sz="2400" b="1" dirty="0"/>
              <a:t>Περιγραφή δραστηριότητας:</a:t>
            </a:r>
            <a:br>
              <a:rPr lang="el-GR" sz="2400" dirty="0"/>
            </a:br>
            <a:r>
              <a:rPr lang="el-GR" sz="2400" dirty="0"/>
              <a:t>Οι μαθητές σχεδιάζουν καλούνται να λύσουν την άσκηση στην </a:t>
            </a:r>
            <a:r>
              <a:rPr lang="en-US" sz="2400" dirty="0"/>
              <a:t>Python </a:t>
            </a:r>
            <a:r>
              <a:rPr lang="el-GR" sz="2400" dirty="0"/>
              <a:t>που δέχεται </a:t>
            </a:r>
            <a:r>
              <a:rPr lang="en-US" sz="2400" dirty="0"/>
              <a:t>3 </a:t>
            </a:r>
            <a:r>
              <a:rPr lang="el-GR" sz="2400" dirty="0"/>
              <a:t>ακέραιους αριθμούς και τυπώνει τον μεσαίο σε αξία. Ο μαθητές εργάζονται ομαδικά και καλούνται να παρουσιάσουν 2 διαφορετικούς τρόπους επίλυσης του προβλήματος.</a:t>
            </a:r>
          </a:p>
        </p:txBody>
      </p:sp>
      <p:graphicFrame>
        <p:nvGraphicFramePr>
          <p:cNvPr id="2" name="Table 1"/>
          <p:cNvGraphicFramePr>
            <a:graphicFrameLocks noGrp="1"/>
          </p:cNvGraphicFramePr>
          <p:nvPr>
            <p:extLst>
              <p:ext uri="{D42A27DB-BD31-4B8C-83A1-F6EECF244321}">
                <p14:modId xmlns:p14="http://schemas.microsoft.com/office/powerpoint/2010/main" val="1807728487"/>
              </p:ext>
            </p:extLst>
          </p:nvPr>
        </p:nvGraphicFramePr>
        <p:xfrm>
          <a:off x="431260" y="3733801"/>
          <a:ext cx="8229600" cy="2936240"/>
        </p:xfrm>
        <a:graphic>
          <a:graphicData uri="http://schemas.openxmlformats.org/drawingml/2006/table">
            <a:tbl>
              <a:tblPr firstRow="1" bandRow="1">
                <a:tableStyleId>{93296810-A885-4BE3-A3E7-6D5BEEA58F35}</a:tableStyleId>
              </a:tblPr>
              <a:tblGrid>
                <a:gridCol w="1447800">
                  <a:extLst>
                    <a:ext uri="{9D8B030D-6E8A-4147-A177-3AD203B41FA5}">
                      <a16:colId xmlns:a16="http://schemas.microsoft.com/office/drawing/2014/main" val="1139020648"/>
                    </a:ext>
                  </a:extLst>
                </a:gridCol>
                <a:gridCol w="2971800">
                  <a:extLst>
                    <a:ext uri="{9D8B030D-6E8A-4147-A177-3AD203B41FA5}">
                      <a16:colId xmlns:a16="http://schemas.microsoft.com/office/drawing/2014/main" val="707633157"/>
                    </a:ext>
                  </a:extLst>
                </a:gridCol>
                <a:gridCol w="3810000">
                  <a:extLst>
                    <a:ext uri="{9D8B030D-6E8A-4147-A177-3AD203B41FA5}">
                      <a16:colId xmlns:a16="http://schemas.microsoft.com/office/drawing/2014/main" val="365453600"/>
                    </a:ext>
                  </a:extLst>
                </a:gridCol>
              </a:tblGrid>
              <a:tr h="370840">
                <a:tc>
                  <a:txBody>
                    <a:bodyPr/>
                    <a:lstStyle/>
                    <a:p>
                      <a:r>
                        <a:rPr lang="el-GR" dirty="0"/>
                        <a:t>Κωδικός</a:t>
                      </a:r>
                    </a:p>
                  </a:txBody>
                  <a:tcPr anchor="ctr"/>
                </a:tc>
                <a:tc>
                  <a:txBody>
                    <a:bodyPr/>
                    <a:lstStyle/>
                    <a:p>
                      <a:r>
                        <a:rPr lang="el-GR" dirty="0"/>
                        <a:t>Ικανότητα</a:t>
                      </a:r>
                    </a:p>
                  </a:txBody>
                  <a:tcPr anchor="ctr"/>
                </a:tc>
                <a:tc>
                  <a:txBody>
                    <a:bodyPr/>
                    <a:lstStyle/>
                    <a:p>
                      <a:r>
                        <a:rPr lang="el-GR"/>
                        <a:t>Πώς καλλιεργείται</a:t>
                      </a:r>
                    </a:p>
                  </a:txBody>
                  <a:tcPr anchor="ctr"/>
                </a:tc>
                <a:extLst>
                  <a:ext uri="{0D108BD9-81ED-4DB2-BD59-A6C34878D82A}">
                    <a16:rowId xmlns:a16="http://schemas.microsoft.com/office/drawing/2014/main" val="3883572163"/>
                  </a:ext>
                </a:extLst>
              </a:tr>
              <a:tr h="370840">
                <a:tc>
                  <a:txBody>
                    <a:bodyPr/>
                    <a:lstStyle/>
                    <a:p>
                      <a:r>
                        <a:rPr lang="el-GR" dirty="0"/>
                        <a:t>κ3</a:t>
                      </a:r>
                    </a:p>
                  </a:txBody>
                  <a:tcPr anchor="ctr"/>
                </a:tc>
                <a:tc>
                  <a:txBody>
                    <a:bodyPr/>
                    <a:lstStyle/>
                    <a:p>
                      <a:r>
                        <a:rPr lang="el-GR" dirty="0"/>
                        <a:t>Εφαρμογή θεωρίας στην πράξη</a:t>
                      </a:r>
                    </a:p>
                  </a:txBody>
                  <a:tcPr anchor="ctr"/>
                </a:tc>
                <a:tc>
                  <a:txBody>
                    <a:bodyPr/>
                    <a:lstStyle/>
                    <a:p>
                      <a:r>
                        <a:rPr lang="el-GR" dirty="0"/>
                        <a:t>Εφαρμογή στην πράξη της θεωρίας</a:t>
                      </a:r>
                    </a:p>
                  </a:txBody>
                  <a:tcPr anchor="ctr"/>
                </a:tc>
                <a:extLst>
                  <a:ext uri="{0D108BD9-81ED-4DB2-BD59-A6C34878D82A}">
                    <a16:rowId xmlns:a16="http://schemas.microsoft.com/office/drawing/2014/main" val="3763337717"/>
                  </a:ext>
                </a:extLst>
              </a:tr>
              <a:tr h="370840">
                <a:tc>
                  <a:txBody>
                    <a:bodyPr/>
                    <a:lstStyle/>
                    <a:p>
                      <a:r>
                        <a:rPr lang="el-GR" dirty="0"/>
                        <a:t>κ4</a:t>
                      </a:r>
                    </a:p>
                  </a:txBody>
                  <a:tcPr anchor="ctr"/>
                </a:tc>
                <a:tc>
                  <a:txBody>
                    <a:bodyPr/>
                    <a:lstStyle/>
                    <a:p>
                      <a:r>
                        <a:rPr lang="el-GR" dirty="0"/>
                        <a:t>Ικανότητες ανάλυσης / σχεδιασμού</a:t>
                      </a:r>
                    </a:p>
                  </a:txBody>
                  <a:tcPr anchor="ctr"/>
                </a:tc>
                <a:tc>
                  <a:txBody>
                    <a:bodyPr/>
                    <a:lstStyle/>
                    <a:p>
                      <a:r>
                        <a:rPr lang="el-GR" dirty="0"/>
                        <a:t>Σχεδιασμός λύσεων</a:t>
                      </a:r>
                    </a:p>
                  </a:txBody>
                  <a:tcPr anchor="ctr"/>
                </a:tc>
                <a:extLst>
                  <a:ext uri="{0D108BD9-81ED-4DB2-BD59-A6C34878D82A}">
                    <a16:rowId xmlns:a16="http://schemas.microsoft.com/office/drawing/2014/main" val="1201476918"/>
                  </a:ext>
                </a:extLst>
              </a:tr>
              <a:tr h="370840">
                <a:tc>
                  <a:txBody>
                    <a:bodyPr/>
                    <a:lstStyle/>
                    <a:p>
                      <a:r>
                        <a:rPr lang="el-GR" dirty="0"/>
                        <a:t>κ6</a:t>
                      </a:r>
                    </a:p>
                  </a:txBody>
                  <a:tcPr anchor="ctr"/>
                </a:tc>
                <a:tc>
                  <a:txBody>
                    <a:bodyPr/>
                    <a:lstStyle/>
                    <a:p>
                      <a:r>
                        <a:rPr lang="el-GR" dirty="0"/>
                        <a:t>Ικανότητα λύσης προβλημάτων / Αναζήτηση εναλλακτικών λύσεων</a:t>
                      </a:r>
                    </a:p>
                  </a:txBody>
                  <a:tcPr anchor="ctr"/>
                </a:tc>
                <a:tc>
                  <a:txBody>
                    <a:bodyPr/>
                    <a:lstStyle/>
                    <a:p>
                      <a:r>
                        <a:rPr lang="el-GR" dirty="0"/>
                        <a:t>Οι μαθητές πρέπει να δώσουν 2 διαφορετικούς λύσεις.</a:t>
                      </a:r>
                    </a:p>
                  </a:txBody>
                  <a:tcPr anchor="ctr"/>
                </a:tc>
                <a:extLst>
                  <a:ext uri="{0D108BD9-81ED-4DB2-BD59-A6C34878D82A}">
                    <a16:rowId xmlns:a16="http://schemas.microsoft.com/office/drawing/2014/main" val="4014740569"/>
                  </a:ext>
                </a:extLst>
              </a:tr>
              <a:tr h="370840">
                <a:tc>
                  <a:txBody>
                    <a:bodyPr/>
                    <a:lstStyle/>
                    <a:p>
                      <a:r>
                        <a:rPr lang="el-GR" dirty="0"/>
                        <a:t>κ5</a:t>
                      </a:r>
                    </a:p>
                  </a:txBody>
                  <a:tcPr anchor="ctr"/>
                </a:tc>
                <a:tc>
                  <a:txBody>
                    <a:bodyPr/>
                    <a:lstStyle/>
                    <a:p>
                      <a:r>
                        <a:rPr lang="el-GR" dirty="0"/>
                        <a:t>Συλλογική εργασία</a:t>
                      </a:r>
                    </a:p>
                  </a:txBody>
                  <a:tcPr anchor="ctr"/>
                </a:tc>
                <a:tc>
                  <a:txBody>
                    <a:bodyPr/>
                    <a:lstStyle/>
                    <a:p>
                      <a:r>
                        <a:rPr lang="el-GR" dirty="0"/>
                        <a:t>Συνεργασία σε ομάδες</a:t>
                      </a:r>
                    </a:p>
                  </a:txBody>
                  <a:tcPr anchor="ctr"/>
                </a:tc>
                <a:extLst>
                  <a:ext uri="{0D108BD9-81ED-4DB2-BD59-A6C34878D82A}">
                    <a16:rowId xmlns:a16="http://schemas.microsoft.com/office/drawing/2014/main" val="342050734"/>
                  </a:ext>
                </a:extLst>
              </a:tr>
            </a:tbl>
          </a:graphicData>
        </a:graphic>
      </p:graphicFrame>
    </p:spTree>
    <p:extLst>
      <p:ext uri="{BB962C8B-B14F-4D97-AF65-F5344CB8AC3E}">
        <p14:creationId xmlns:p14="http://schemas.microsoft.com/office/powerpoint/2010/main" val="1232182934"/>
      </p:ext>
    </p:extLst>
  </p:cSld>
  <p:clrMapOvr>
    <a:overrideClrMapping bg1="lt1" tx1="dk1" bg2="lt2" tx2="dk2" accent1="accent1" accent2="accent2" accent3="accent3" accent4="accent4" accent5="accent5" accent6="accent6" hlink="hlink" folHlink="folHlink"/>
  </p:clrMapOvr>
</p:sld>
</file>

<file path=ppt/slides/slide1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C2A285BE-4FC8-2BB3-D34C-6800E445EEA1}"/>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B16910B7-9645-E864-F7A5-AC7EE5432DEB}"/>
              </a:ext>
            </a:extLst>
          </p:cNvPr>
          <p:cNvSpPr>
            <a:spLocks noGrp="1"/>
          </p:cNvSpPr>
          <p:nvPr>
            <p:ph type="title"/>
          </p:nvPr>
        </p:nvSpPr>
        <p:spPr>
          <a:solidFill>
            <a:srgbClr val="FAC090"/>
          </a:solidFill>
        </p:spPr>
        <p:txBody>
          <a:bodyPr>
            <a:noAutofit/>
          </a:bodyPr>
          <a:lstStyle/>
          <a:p>
            <a:r>
              <a:rPr lang="el-GR" sz="3600" b="1" dirty="0"/>
              <a:t>κ8</a:t>
            </a:r>
          </a:p>
        </p:txBody>
      </p:sp>
      <p:sp>
        <p:nvSpPr>
          <p:cNvPr id="6" name="Content Placeholder 6">
            <a:extLst>
              <a:ext uri="{FF2B5EF4-FFF2-40B4-BE49-F238E27FC236}">
                <a16:creationId xmlns:a16="http://schemas.microsoft.com/office/drawing/2014/main" id="{41E677FE-8F36-742D-B2FB-A806A8737718}"/>
              </a:ext>
            </a:extLst>
          </p:cNvPr>
          <p:cNvSpPr>
            <a:spLocks noGrp="1"/>
          </p:cNvSpPr>
          <p:nvPr>
            <p:ph idx="1"/>
          </p:nvPr>
        </p:nvSpPr>
        <p:spPr>
          <a:xfrm>
            <a:off x="152400" y="1600200"/>
            <a:ext cx="8839200" cy="5181599"/>
          </a:xfrm>
        </p:spPr>
        <p:txBody>
          <a:bodyPr>
            <a:noAutofit/>
          </a:bodyPr>
          <a:lstStyle/>
          <a:p>
            <a:pPr marL="550863" indent="-285750">
              <a:spcBef>
                <a:spcPts val="400"/>
              </a:spcBef>
            </a:pPr>
            <a:r>
              <a:rPr lang="el-GR" sz="2400" b="1" dirty="0"/>
              <a:t>Περιγραφή δραστηριότητας:</a:t>
            </a:r>
            <a:endParaRPr lang="en-US" sz="2400" b="1" dirty="0"/>
          </a:p>
          <a:p>
            <a:pPr marL="265113" indent="0">
              <a:spcBef>
                <a:spcPts val="400"/>
              </a:spcBef>
              <a:buNone/>
            </a:pPr>
            <a:r>
              <a:rPr lang="el-GR" sz="2400" dirty="0"/>
              <a:t>Οι μαθητές εργάζονται σε ζευγάρια. Τους δίνεται ένα απότομο και αγενές μήνυμα ηλεκτρονικού ταχυδρομείου που υποτίθεται ότι ένας μαθητής έστειλε σε έναν καθηγητή</a:t>
            </a:r>
            <a:r>
              <a:rPr lang="el-GR" sz="2400" b="1" dirty="0"/>
              <a:t>:</a:t>
            </a:r>
            <a:r>
              <a:rPr lang="en-US" sz="2400" b="1" dirty="0"/>
              <a:t> </a:t>
            </a:r>
            <a:r>
              <a:rPr lang="el-GR" sz="2400" b="1" dirty="0"/>
              <a:t>«Δεν κατάλαβα τίποτα από την εργασία. Στείλε μου τι πρέπει να κάνω γιατί πρέπει να την παραδώσω αύριο.»</a:t>
            </a:r>
            <a:endParaRPr lang="en-US" sz="2400" b="1" dirty="0"/>
          </a:p>
          <a:p>
            <a:pPr marL="265113" indent="0">
              <a:spcBef>
                <a:spcPts val="400"/>
              </a:spcBef>
              <a:buNone/>
            </a:pPr>
            <a:r>
              <a:rPr lang="el-GR" sz="2400" dirty="0"/>
              <a:t>Οι μαθητές συζητούν πώς μπορεί να αισθανθεί ο παραλήπτης διαβάζοντας το συγκεκριμένο μήνυμα και εντοπίζουν σημεία που θα μπορούσαν να δημιουργήσουν αρνητική εντύπωση ή παρεξήγηση. Στη συνέχεια, ξαναγράφουν το email χρησιμοποιώντας ευγενικό και κατάλληλο ύφος, χωρίς όμως να αλλάξουν τον σκοπό του μηνύματος. Τα ζευγάρια παρουσιάζουν τις προτάσεις τους στην τάξη και συζητούν τις διαφορετικές διατυπώσεις.</a:t>
            </a:r>
          </a:p>
        </p:txBody>
      </p:sp>
    </p:spTree>
    <p:extLst>
      <p:ext uri="{BB962C8B-B14F-4D97-AF65-F5344CB8AC3E}">
        <p14:creationId xmlns:p14="http://schemas.microsoft.com/office/powerpoint/2010/main" val="1171405002"/>
      </p:ext>
    </p:extLst>
  </p:cSld>
  <p:clrMapOvr>
    <a:overrideClrMapping bg1="lt1" tx1="dk1" bg2="lt2" tx2="dk2" accent1="accent1" accent2="accent2" accent3="accent3" accent4="accent4" accent5="accent5" accent6="accent6" hlink="hlink" folHlink="folHlink"/>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6">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lvl="0"/>
            <a:r>
              <a:rPr lang="el-GR" dirty="0"/>
              <a:t>Ολοκληρωμένο Σχέδιο Μαθήματος</a:t>
            </a:r>
            <a:endParaRPr lang="en-GB" dirty="0"/>
          </a:p>
        </p:txBody>
      </p:sp>
      <p:sp>
        <p:nvSpPr>
          <p:cNvPr id="3" name="Text Placeholder 2"/>
          <p:cNvSpPr>
            <a:spLocks noGrp="1"/>
          </p:cNvSpPr>
          <p:nvPr>
            <p:ph type="subTitle" idx="1"/>
          </p:nvPr>
        </p:nvSpPr>
        <p:spPr>
          <a:xfrm>
            <a:off x="1371600" y="362585"/>
            <a:ext cx="6400800" cy="1752600"/>
          </a:xfrm>
        </p:spPr>
        <p:txBody>
          <a:bodyPr>
            <a:normAutofit/>
          </a:bodyPr>
          <a:lstStyle/>
          <a:p>
            <a:r>
              <a:rPr lang="el-GR" sz="8000" dirty="0">
                <a:solidFill>
                  <a:schemeClr val="tx1"/>
                </a:solidFill>
              </a:rPr>
              <a:t>03</a:t>
            </a:r>
            <a:endParaRPr lang="en-GB" sz="8000" dirty="0">
              <a:solidFill>
                <a:schemeClr val="tx1"/>
              </a:solidFill>
            </a:endParaRPr>
          </a:p>
        </p:txBody>
      </p:sp>
    </p:spTree>
    <p:extLst>
      <p:ext uri="{BB962C8B-B14F-4D97-AF65-F5344CB8AC3E}">
        <p14:creationId xmlns:p14="http://schemas.microsoft.com/office/powerpoint/2010/main" val="34462168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8203B-E726-D144-E6BC-AEA70411464E}"/>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ADA4F11B-B000-55F0-03B4-38BCFDC88DB3}"/>
              </a:ext>
            </a:extLst>
          </p:cNvPr>
          <p:cNvSpPr>
            <a:spLocks noGrp="1"/>
          </p:cNvSpPr>
          <p:nvPr>
            <p:ph type="title"/>
          </p:nvPr>
        </p:nvSpPr>
        <p:spPr>
          <a:solidFill>
            <a:srgbClr val="FAC090"/>
          </a:solidFill>
        </p:spPr>
        <p:txBody>
          <a:bodyPr>
            <a:noAutofit/>
          </a:bodyPr>
          <a:lstStyle/>
          <a:p>
            <a:r>
              <a:rPr lang="el-GR" sz="3600" b="1" dirty="0"/>
              <a:t>1</a:t>
            </a:r>
            <a:r>
              <a:rPr lang="el-GR" sz="3600" b="1" baseline="30000" dirty="0"/>
              <a:t>η</a:t>
            </a:r>
            <a:r>
              <a:rPr lang="el-GR" sz="3600" b="1" dirty="0"/>
              <a:t> σελίδα </a:t>
            </a:r>
          </a:p>
        </p:txBody>
      </p:sp>
      <p:sp>
        <p:nvSpPr>
          <p:cNvPr id="6" name="Content Placeholder 6">
            <a:extLst>
              <a:ext uri="{FF2B5EF4-FFF2-40B4-BE49-F238E27FC236}">
                <a16:creationId xmlns:a16="http://schemas.microsoft.com/office/drawing/2014/main" id="{AD27F697-6718-5454-8450-47B5F93F6AF4}"/>
              </a:ext>
            </a:extLst>
          </p:cNvPr>
          <p:cNvSpPr>
            <a:spLocks noGrp="1"/>
          </p:cNvSpPr>
          <p:nvPr>
            <p:ph idx="1"/>
          </p:nvPr>
        </p:nvSpPr>
        <p:spPr>
          <a:xfrm>
            <a:off x="457200" y="1524000"/>
            <a:ext cx="8229600" cy="4724400"/>
          </a:xfrm>
        </p:spPr>
        <p:txBody>
          <a:bodyPr>
            <a:noAutofit/>
          </a:bodyPr>
          <a:lstStyle/>
          <a:p>
            <a:pPr marL="550863" indent="-285750">
              <a:spcBef>
                <a:spcPts val="400"/>
              </a:spcBef>
            </a:pPr>
            <a:r>
              <a:rPr lang="el-GR" sz="2400" dirty="0"/>
              <a:t>Πληροφορίες Μαθήματος (τμήμα, ημερομηνία </a:t>
            </a:r>
            <a:r>
              <a:rPr lang="el-GR" sz="2400" dirty="0" err="1"/>
              <a:t>κλπ</a:t>
            </a:r>
            <a:r>
              <a:rPr lang="el-GR" sz="2400" dirty="0"/>
              <a:t>)</a:t>
            </a:r>
          </a:p>
          <a:p>
            <a:pPr marL="550863" indent="-285750">
              <a:spcBef>
                <a:spcPts val="400"/>
              </a:spcBef>
            </a:pPr>
            <a:r>
              <a:rPr lang="el-GR" sz="2400" dirty="0"/>
              <a:t>Δείκτες Επιτυχίας</a:t>
            </a:r>
          </a:p>
          <a:p>
            <a:pPr marL="550863" indent="-285750">
              <a:spcBef>
                <a:spcPts val="400"/>
              </a:spcBef>
            </a:pPr>
            <a:r>
              <a:rPr lang="el-GR" sz="2400" dirty="0"/>
              <a:t>Δείκτες Επάρκειας</a:t>
            </a:r>
          </a:p>
          <a:p>
            <a:pPr marL="550863" indent="-285750">
              <a:spcBef>
                <a:spcPts val="400"/>
              </a:spcBef>
            </a:pPr>
            <a:r>
              <a:rPr lang="el-GR" sz="2400" dirty="0" err="1"/>
              <a:t>Προαπαιτούμενες</a:t>
            </a:r>
            <a:r>
              <a:rPr lang="el-GR" sz="2400" dirty="0"/>
              <a:t> γνώσεις</a:t>
            </a:r>
          </a:p>
          <a:p>
            <a:pPr marL="550863" indent="-285750">
              <a:spcBef>
                <a:spcPts val="400"/>
              </a:spcBef>
            </a:pPr>
            <a:r>
              <a:rPr lang="el-GR" sz="2400" dirty="0"/>
              <a:t>Κομβικές</a:t>
            </a:r>
          </a:p>
          <a:p>
            <a:pPr marL="550863" indent="-285750">
              <a:spcBef>
                <a:spcPts val="400"/>
              </a:spcBef>
            </a:pPr>
            <a:r>
              <a:rPr lang="el-GR" sz="2400" dirty="0"/>
              <a:t>Μέσα διδασκαλίας</a:t>
            </a:r>
          </a:p>
          <a:p>
            <a:pPr marL="550863" indent="-285750">
              <a:spcBef>
                <a:spcPts val="400"/>
              </a:spcBef>
            </a:pPr>
            <a:r>
              <a:rPr lang="el-GR" sz="2400" dirty="0"/>
              <a:t>Οργάνωση τάξης</a:t>
            </a:r>
          </a:p>
          <a:p>
            <a:pPr marL="550863" indent="-285750">
              <a:spcBef>
                <a:spcPts val="400"/>
              </a:spcBef>
            </a:pPr>
            <a:endParaRPr lang="el-GR" sz="2400" dirty="0"/>
          </a:p>
        </p:txBody>
      </p:sp>
    </p:spTree>
    <p:extLst>
      <p:ext uri="{BB962C8B-B14F-4D97-AF65-F5344CB8AC3E}">
        <p14:creationId xmlns:p14="http://schemas.microsoft.com/office/powerpoint/2010/main" val="12063631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566B52-903D-5389-A95D-BDAEFDD7F60D}"/>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0564DD88-04D7-9C80-3C09-29BA52026139}"/>
              </a:ext>
            </a:extLst>
          </p:cNvPr>
          <p:cNvSpPr>
            <a:spLocks noGrp="1"/>
          </p:cNvSpPr>
          <p:nvPr>
            <p:ph type="title"/>
          </p:nvPr>
        </p:nvSpPr>
        <p:spPr>
          <a:solidFill>
            <a:srgbClr val="FAC090"/>
          </a:solidFill>
        </p:spPr>
        <p:txBody>
          <a:bodyPr>
            <a:noAutofit/>
          </a:bodyPr>
          <a:lstStyle/>
          <a:p>
            <a:r>
              <a:rPr lang="el-GR" sz="3600" b="1" dirty="0"/>
              <a:t>2</a:t>
            </a:r>
            <a:r>
              <a:rPr lang="el-GR" sz="3600" b="1" baseline="30000" dirty="0"/>
              <a:t>η</a:t>
            </a:r>
            <a:r>
              <a:rPr lang="el-GR" sz="3600" b="1" dirty="0"/>
              <a:t> σελίδα (πορεία διδασκαλίας)</a:t>
            </a:r>
          </a:p>
        </p:txBody>
      </p:sp>
      <p:graphicFrame>
        <p:nvGraphicFramePr>
          <p:cNvPr id="5" name="Content Placeholder 4">
            <a:extLst>
              <a:ext uri="{FF2B5EF4-FFF2-40B4-BE49-F238E27FC236}">
                <a16:creationId xmlns:a16="http://schemas.microsoft.com/office/drawing/2014/main" id="{46649315-6646-E2F7-3528-FC31D9E1C16C}"/>
              </a:ext>
            </a:extLst>
          </p:cNvPr>
          <p:cNvGraphicFramePr>
            <a:graphicFrameLocks noGrp="1"/>
          </p:cNvGraphicFramePr>
          <p:nvPr>
            <p:ph idx="1"/>
            <p:extLst>
              <p:ext uri="{D42A27DB-BD31-4B8C-83A1-F6EECF244321}">
                <p14:modId xmlns:p14="http://schemas.microsoft.com/office/powerpoint/2010/main" val="494828774"/>
              </p:ext>
            </p:extLst>
          </p:nvPr>
        </p:nvGraphicFramePr>
        <p:xfrm>
          <a:off x="457200" y="1600200"/>
          <a:ext cx="8229600" cy="2225040"/>
        </p:xfrm>
        <a:graphic>
          <a:graphicData uri="http://schemas.openxmlformats.org/drawingml/2006/table">
            <a:tbl>
              <a:tblPr firstRow="1" bandRow="1">
                <a:tableStyleId>{93296810-A885-4BE3-A3E7-6D5BEEA58F35}</a:tableStyleId>
              </a:tblPr>
              <a:tblGrid>
                <a:gridCol w="4114800">
                  <a:extLst>
                    <a:ext uri="{9D8B030D-6E8A-4147-A177-3AD203B41FA5}">
                      <a16:colId xmlns:a16="http://schemas.microsoft.com/office/drawing/2014/main" val="1205752269"/>
                    </a:ext>
                  </a:extLst>
                </a:gridCol>
                <a:gridCol w="4114800">
                  <a:extLst>
                    <a:ext uri="{9D8B030D-6E8A-4147-A177-3AD203B41FA5}">
                      <a16:colId xmlns:a16="http://schemas.microsoft.com/office/drawing/2014/main" val="1450860903"/>
                    </a:ext>
                  </a:extLst>
                </a:gridCol>
              </a:tblGrid>
              <a:tr h="370840">
                <a:tc>
                  <a:txBody>
                    <a:bodyPr/>
                    <a:lstStyle/>
                    <a:p>
                      <a:r>
                        <a:rPr lang="el-GR" dirty="0"/>
                        <a:t>Φάση</a:t>
                      </a:r>
                      <a:endParaRPr lang="en-CY" dirty="0"/>
                    </a:p>
                  </a:txBody>
                  <a:tcPr/>
                </a:tc>
                <a:tc>
                  <a:txBody>
                    <a:bodyPr/>
                    <a:lstStyle/>
                    <a:p>
                      <a:r>
                        <a:rPr lang="el-GR" dirty="0"/>
                        <a:t>Ενδεικτικός Χρόνος</a:t>
                      </a:r>
                      <a:endParaRPr lang="en-CY" dirty="0"/>
                    </a:p>
                  </a:txBody>
                  <a:tcPr/>
                </a:tc>
                <a:extLst>
                  <a:ext uri="{0D108BD9-81ED-4DB2-BD59-A6C34878D82A}">
                    <a16:rowId xmlns:a16="http://schemas.microsoft.com/office/drawing/2014/main" val="2338305934"/>
                  </a:ext>
                </a:extLst>
              </a:tr>
              <a:tr h="370840">
                <a:tc>
                  <a:txBody>
                    <a:bodyPr/>
                    <a:lstStyle/>
                    <a:p>
                      <a:r>
                        <a:rPr lang="el-GR" dirty="0"/>
                        <a:t>Εισαγωγή</a:t>
                      </a:r>
                      <a:endParaRPr lang="en-CY" dirty="0"/>
                    </a:p>
                  </a:txBody>
                  <a:tcPr/>
                </a:tc>
                <a:tc>
                  <a:txBody>
                    <a:bodyPr/>
                    <a:lstStyle/>
                    <a:p>
                      <a:r>
                        <a:rPr lang="el-GR" dirty="0"/>
                        <a:t>5’ </a:t>
                      </a:r>
                      <a:endParaRPr lang="en-CY" dirty="0"/>
                    </a:p>
                  </a:txBody>
                  <a:tcPr/>
                </a:tc>
                <a:extLst>
                  <a:ext uri="{0D108BD9-81ED-4DB2-BD59-A6C34878D82A}">
                    <a16:rowId xmlns:a16="http://schemas.microsoft.com/office/drawing/2014/main" val="3633745465"/>
                  </a:ext>
                </a:extLst>
              </a:tr>
              <a:tr h="370840">
                <a:tc>
                  <a:txBody>
                    <a:bodyPr/>
                    <a:lstStyle/>
                    <a:p>
                      <a:r>
                        <a:rPr lang="el-GR" dirty="0"/>
                        <a:t>Παρουσίαση</a:t>
                      </a:r>
                      <a:endParaRPr lang="en-CY" dirty="0"/>
                    </a:p>
                  </a:txBody>
                  <a:tcPr/>
                </a:tc>
                <a:tc>
                  <a:txBody>
                    <a:bodyPr/>
                    <a:lstStyle/>
                    <a:p>
                      <a:r>
                        <a:rPr lang="el-GR" dirty="0"/>
                        <a:t>10’ </a:t>
                      </a:r>
                      <a:endParaRPr lang="en-CY" dirty="0"/>
                    </a:p>
                  </a:txBody>
                  <a:tcPr/>
                </a:tc>
                <a:extLst>
                  <a:ext uri="{0D108BD9-81ED-4DB2-BD59-A6C34878D82A}">
                    <a16:rowId xmlns:a16="http://schemas.microsoft.com/office/drawing/2014/main" val="1922550946"/>
                  </a:ext>
                </a:extLst>
              </a:tr>
              <a:tr h="370840">
                <a:tc>
                  <a:txBody>
                    <a:bodyPr/>
                    <a:lstStyle/>
                    <a:p>
                      <a:r>
                        <a:rPr lang="el-GR" dirty="0"/>
                        <a:t>Εμπέδωση</a:t>
                      </a:r>
                      <a:endParaRPr lang="en-CY" dirty="0"/>
                    </a:p>
                  </a:txBody>
                  <a:tcPr/>
                </a:tc>
                <a:tc>
                  <a:txBody>
                    <a:bodyPr/>
                    <a:lstStyle/>
                    <a:p>
                      <a:r>
                        <a:rPr lang="el-GR" dirty="0"/>
                        <a:t>10’</a:t>
                      </a:r>
                      <a:endParaRPr lang="en-CY" dirty="0"/>
                    </a:p>
                  </a:txBody>
                  <a:tcPr/>
                </a:tc>
                <a:extLst>
                  <a:ext uri="{0D108BD9-81ED-4DB2-BD59-A6C34878D82A}">
                    <a16:rowId xmlns:a16="http://schemas.microsoft.com/office/drawing/2014/main" val="310230692"/>
                  </a:ext>
                </a:extLst>
              </a:tr>
              <a:tr h="370840">
                <a:tc>
                  <a:txBody>
                    <a:bodyPr/>
                    <a:lstStyle/>
                    <a:p>
                      <a:r>
                        <a:rPr lang="el-GR" dirty="0"/>
                        <a:t>Αξιολόγηση</a:t>
                      </a:r>
                      <a:endParaRPr lang="en-CY" dirty="0"/>
                    </a:p>
                  </a:txBody>
                  <a:tcPr/>
                </a:tc>
                <a:tc>
                  <a:txBody>
                    <a:bodyPr/>
                    <a:lstStyle/>
                    <a:p>
                      <a:r>
                        <a:rPr lang="el-GR" dirty="0"/>
                        <a:t>10’</a:t>
                      </a:r>
                      <a:endParaRPr lang="en-CY" dirty="0"/>
                    </a:p>
                  </a:txBody>
                  <a:tcPr/>
                </a:tc>
                <a:extLst>
                  <a:ext uri="{0D108BD9-81ED-4DB2-BD59-A6C34878D82A}">
                    <a16:rowId xmlns:a16="http://schemas.microsoft.com/office/drawing/2014/main" val="1730574395"/>
                  </a:ext>
                </a:extLst>
              </a:tr>
              <a:tr h="370840">
                <a:tc>
                  <a:txBody>
                    <a:bodyPr/>
                    <a:lstStyle/>
                    <a:p>
                      <a:r>
                        <a:rPr lang="el-GR" dirty="0"/>
                        <a:t>Σύνοψη</a:t>
                      </a:r>
                      <a:endParaRPr lang="en-CY" dirty="0"/>
                    </a:p>
                  </a:txBody>
                  <a:tcPr/>
                </a:tc>
                <a:tc>
                  <a:txBody>
                    <a:bodyPr/>
                    <a:lstStyle/>
                    <a:p>
                      <a:r>
                        <a:rPr lang="el-GR" dirty="0"/>
                        <a:t>5’ </a:t>
                      </a:r>
                      <a:endParaRPr lang="en-CY" dirty="0"/>
                    </a:p>
                  </a:txBody>
                  <a:tcPr/>
                </a:tc>
                <a:extLst>
                  <a:ext uri="{0D108BD9-81ED-4DB2-BD59-A6C34878D82A}">
                    <a16:rowId xmlns:a16="http://schemas.microsoft.com/office/drawing/2014/main" val="1932447466"/>
                  </a:ext>
                </a:extLst>
              </a:tr>
            </a:tbl>
          </a:graphicData>
        </a:graphic>
      </p:graphicFrame>
    </p:spTree>
    <p:extLst>
      <p:ext uri="{BB962C8B-B14F-4D97-AF65-F5344CB8AC3E}">
        <p14:creationId xmlns:p14="http://schemas.microsoft.com/office/powerpoint/2010/main" val="2836230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D689F-7E18-9698-7088-4C1BC8AB34DA}"/>
            </a:ext>
          </a:extLst>
        </p:cNvPr>
        <p:cNvGrpSpPr/>
        <p:nvPr/>
      </p:nvGrpSpPr>
      <p:grpSpPr>
        <a:xfrm>
          <a:off x="0" y="0"/>
          <a:ext cx="0" cy="0"/>
          <a:chOff x="0" y="0"/>
          <a:chExt cx="0" cy="0"/>
        </a:xfrm>
      </p:grpSpPr>
      <p:sp>
        <p:nvSpPr>
          <p:cNvPr id="4" name="Title 1">
            <a:extLst>
              <a:ext uri="{FF2B5EF4-FFF2-40B4-BE49-F238E27FC236}">
                <a16:creationId xmlns:a16="http://schemas.microsoft.com/office/drawing/2014/main" id="{38BA242C-50AB-A7B9-36AC-5B41E6A7614A}"/>
              </a:ext>
            </a:extLst>
          </p:cNvPr>
          <p:cNvSpPr>
            <a:spLocks noGrp="1"/>
          </p:cNvSpPr>
          <p:nvPr>
            <p:ph type="title"/>
          </p:nvPr>
        </p:nvSpPr>
        <p:spPr>
          <a:solidFill>
            <a:srgbClr val="FAC090"/>
          </a:solidFill>
        </p:spPr>
        <p:txBody>
          <a:bodyPr>
            <a:noAutofit/>
          </a:bodyPr>
          <a:lstStyle/>
          <a:p>
            <a:r>
              <a:rPr lang="el-GR" sz="3600" b="1" dirty="0"/>
              <a:t>2</a:t>
            </a:r>
            <a:r>
              <a:rPr lang="el-GR" sz="3600" b="1" baseline="30000" dirty="0"/>
              <a:t>η</a:t>
            </a:r>
            <a:r>
              <a:rPr lang="el-GR" sz="3600" b="1" dirty="0"/>
              <a:t> σελίδα (στήλη δείκτες)</a:t>
            </a:r>
          </a:p>
        </p:txBody>
      </p:sp>
      <p:sp>
        <p:nvSpPr>
          <p:cNvPr id="6" name="Content Placeholder 6">
            <a:extLst>
              <a:ext uri="{FF2B5EF4-FFF2-40B4-BE49-F238E27FC236}">
                <a16:creationId xmlns:a16="http://schemas.microsoft.com/office/drawing/2014/main" id="{15B94861-FADB-CB39-32D8-6A007B213CEA}"/>
              </a:ext>
            </a:extLst>
          </p:cNvPr>
          <p:cNvSpPr>
            <a:spLocks noGrp="1"/>
          </p:cNvSpPr>
          <p:nvPr>
            <p:ph idx="1"/>
          </p:nvPr>
        </p:nvSpPr>
        <p:spPr>
          <a:xfrm>
            <a:off x="457200" y="1524000"/>
            <a:ext cx="8229600" cy="5059362"/>
          </a:xfrm>
        </p:spPr>
        <p:txBody>
          <a:bodyPr>
            <a:noAutofit/>
          </a:bodyPr>
          <a:lstStyle/>
          <a:p>
            <a:pPr marL="550863" indent="-285750">
              <a:spcBef>
                <a:spcPts val="400"/>
              </a:spcBef>
            </a:pPr>
            <a:r>
              <a:rPr lang="el-GR" sz="2400" dirty="0"/>
              <a:t>Σε αυτή τη στήλη γράφουμε τους δείκτες επιτυχίας/ επάρκειας και τις κομβικές ικανότητες με βάση την κωδικοποίηση που δώσαμε στην 1</a:t>
            </a:r>
            <a:r>
              <a:rPr lang="el-GR" sz="2400" baseline="30000" dirty="0"/>
              <a:t>η</a:t>
            </a:r>
            <a:r>
              <a:rPr lang="el-GR" sz="2400" dirty="0"/>
              <a:t> σελίδα.</a:t>
            </a:r>
          </a:p>
          <a:p>
            <a:pPr marL="550863" indent="-285750">
              <a:spcBef>
                <a:spcPts val="400"/>
              </a:spcBef>
            </a:pPr>
            <a:r>
              <a:rPr lang="el-GR" sz="2400" dirty="0"/>
              <a:t>Οι </a:t>
            </a:r>
            <a:r>
              <a:rPr lang="el-GR" sz="2400" dirty="0" err="1"/>
              <a:t>προαπαιτούμενες</a:t>
            </a:r>
            <a:r>
              <a:rPr lang="el-GR" sz="2400" dirty="0"/>
              <a:t> δεν χρειάζεται να εμφανίζονται σε αυτή την στήλη.</a:t>
            </a:r>
          </a:p>
          <a:p>
            <a:pPr marL="550863" indent="-285750">
              <a:spcBef>
                <a:spcPts val="400"/>
              </a:spcBef>
            </a:pPr>
            <a:r>
              <a:rPr lang="el-GR" sz="2400" b="1" dirty="0"/>
              <a:t>ΠΡΟΣΟΧΗ</a:t>
            </a:r>
          </a:p>
          <a:p>
            <a:pPr marL="950913" lvl="1">
              <a:spcBef>
                <a:spcPts val="400"/>
              </a:spcBef>
            </a:pPr>
            <a:r>
              <a:rPr lang="el-GR" sz="2000" dirty="0"/>
              <a:t>οι δείκτες επιτυχίας εμφανίζονται σε σημεία που ο μαθητής αξιολογείται – πετυχαίνει στόχους ή σε σημεία που γίνεται άμεση αναφορά (π.χ. εισαγωγή – σύνοψη)</a:t>
            </a:r>
          </a:p>
          <a:p>
            <a:pPr marL="950913" lvl="1">
              <a:spcBef>
                <a:spcPts val="400"/>
              </a:spcBef>
            </a:pPr>
            <a:r>
              <a:rPr lang="el-GR" sz="2000" dirty="0"/>
              <a:t>στη φάση που διδάσκομε τις νέες γνώσεις (παρουσίαση) θα πρέπει να εμφανίζονται  οι δείκτες επάρκειας. </a:t>
            </a:r>
          </a:p>
          <a:p>
            <a:pPr marL="950913" lvl="1">
              <a:spcBef>
                <a:spcPts val="400"/>
              </a:spcBef>
            </a:pPr>
            <a:r>
              <a:rPr lang="el-GR" sz="2000" dirty="0"/>
              <a:t>αν έχουμε συντρέχουσα αξιολόγηση (παρουσίαση/ εμπέδωση) μπορούν να εμφανίζονται και οι δείκτες επιτυχίας και οι δείκτες επάρκειας.</a:t>
            </a:r>
          </a:p>
          <a:p>
            <a:pPr marL="550863" indent="-285750">
              <a:spcBef>
                <a:spcPts val="400"/>
              </a:spcBef>
            </a:pPr>
            <a:endParaRPr lang="el-GR" sz="2400" dirty="0"/>
          </a:p>
          <a:p>
            <a:pPr marL="550863" indent="-285750">
              <a:spcBef>
                <a:spcPts val="400"/>
              </a:spcBef>
            </a:pPr>
            <a:endParaRPr lang="el-GR" sz="2400" dirty="0"/>
          </a:p>
        </p:txBody>
      </p:sp>
    </p:spTree>
    <p:extLst>
      <p:ext uri="{BB962C8B-B14F-4D97-AF65-F5344CB8AC3E}">
        <p14:creationId xmlns:p14="http://schemas.microsoft.com/office/powerpoint/2010/main" val="6688290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1CF57-2BB3-F44F-3B59-8AAE6BCAA826}"/>
              </a:ext>
            </a:extLst>
          </p:cNvPr>
          <p:cNvSpPr>
            <a:spLocks noGrp="1"/>
          </p:cNvSpPr>
          <p:nvPr>
            <p:ph type="title"/>
          </p:nvPr>
        </p:nvSpPr>
        <p:spPr/>
        <p:txBody>
          <a:bodyPr>
            <a:normAutofit fontScale="90000"/>
          </a:bodyPr>
          <a:lstStyle/>
          <a:p>
            <a:r>
              <a:rPr lang="el-GR" dirty="0"/>
              <a:t>Εργασία για σπίτι</a:t>
            </a:r>
            <a:br>
              <a:rPr lang="el-GR" dirty="0"/>
            </a:br>
            <a:r>
              <a:rPr lang="el-GR"/>
              <a:t>(παράδοση 11/10)</a:t>
            </a:r>
            <a:endParaRPr lang="en-CY" dirty="0"/>
          </a:p>
        </p:txBody>
      </p:sp>
      <p:sp>
        <p:nvSpPr>
          <p:cNvPr id="3" name="Content Placeholder 2">
            <a:extLst>
              <a:ext uri="{FF2B5EF4-FFF2-40B4-BE49-F238E27FC236}">
                <a16:creationId xmlns:a16="http://schemas.microsoft.com/office/drawing/2014/main" id="{6F56A6F5-F3D4-BA0C-1AD3-8075F14B3DB0}"/>
              </a:ext>
            </a:extLst>
          </p:cNvPr>
          <p:cNvSpPr>
            <a:spLocks noGrp="1"/>
          </p:cNvSpPr>
          <p:nvPr>
            <p:ph idx="1"/>
          </p:nvPr>
        </p:nvSpPr>
        <p:spPr>
          <a:xfrm>
            <a:off x="457200" y="1600200"/>
            <a:ext cx="8229600" cy="4419600"/>
          </a:xfrm>
        </p:spPr>
        <p:txBody>
          <a:bodyPr>
            <a:normAutofit fontScale="77500" lnSpcReduction="20000"/>
          </a:bodyPr>
          <a:lstStyle/>
          <a:p>
            <a:r>
              <a:rPr lang="el-GR" dirty="0"/>
              <a:t>Ένα ολοκληρωμένο σχέδιο μαθήματος σε μάθημα της επιλογής σας. </a:t>
            </a:r>
          </a:p>
          <a:p>
            <a:r>
              <a:rPr lang="el-GR" dirty="0"/>
              <a:t>Κριτήρια βαθμολόγησης</a:t>
            </a:r>
          </a:p>
          <a:p>
            <a:pPr lvl="1"/>
            <a:r>
              <a:rPr lang="el-GR" dirty="0"/>
              <a:t>Επικεφαλίδα 1</a:t>
            </a:r>
            <a:r>
              <a:rPr lang="el-GR" baseline="30000" dirty="0"/>
              <a:t>ης</a:t>
            </a:r>
            <a:r>
              <a:rPr lang="el-GR" dirty="0"/>
              <a:t> σελίδας (0.5 μ.)</a:t>
            </a:r>
          </a:p>
          <a:p>
            <a:pPr lvl="1"/>
            <a:r>
              <a:rPr lang="el-GR" dirty="0"/>
              <a:t>Δείκτες Επιτυχίας (1 μ.)</a:t>
            </a:r>
          </a:p>
          <a:p>
            <a:pPr lvl="1"/>
            <a:r>
              <a:rPr lang="el-GR" dirty="0"/>
              <a:t>Δείκτες Επάρκειας (1 μ.)</a:t>
            </a:r>
          </a:p>
          <a:p>
            <a:pPr lvl="1"/>
            <a:r>
              <a:rPr lang="el-GR" dirty="0" err="1"/>
              <a:t>Προαπαιτούμενες</a:t>
            </a:r>
            <a:r>
              <a:rPr lang="el-GR" dirty="0"/>
              <a:t> (1 μ.)</a:t>
            </a:r>
          </a:p>
          <a:p>
            <a:pPr lvl="1"/>
            <a:r>
              <a:rPr lang="el-GR" dirty="0"/>
              <a:t>Κομβικές (1 μ.)</a:t>
            </a:r>
          </a:p>
          <a:p>
            <a:pPr lvl="1"/>
            <a:r>
              <a:rPr lang="el-GR" dirty="0"/>
              <a:t>Οργάνωση τάξης/ μέσα (0.5 μ.)</a:t>
            </a:r>
          </a:p>
          <a:p>
            <a:pPr lvl="1"/>
            <a:r>
              <a:rPr lang="el-GR" dirty="0"/>
              <a:t>Πορεία Διδασκαλίας (5 μ.)</a:t>
            </a:r>
          </a:p>
          <a:p>
            <a:pPr lvl="2"/>
            <a:r>
              <a:rPr lang="el-GR" dirty="0"/>
              <a:t>Φάση Διδασκαλίας (1 μ.)</a:t>
            </a:r>
          </a:p>
          <a:p>
            <a:pPr lvl="2"/>
            <a:r>
              <a:rPr lang="el-GR" dirty="0"/>
              <a:t>Δραστηριότητες (3 μ.)</a:t>
            </a:r>
          </a:p>
          <a:p>
            <a:pPr lvl="2"/>
            <a:r>
              <a:rPr lang="el-GR" dirty="0"/>
              <a:t>Δείκτες (1 μ.)</a:t>
            </a:r>
            <a:endParaRPr lang="en-CY" dirty="0"/>
          </a:p>
          <a:p>
            <a:pPr lvl="1"/>
            <a:endParaRPr lang="en-CY" dirty="0"/>
          </a:p>
        </p:txBody>
      </p:sp>
    </p:spTree>
    <p:extLst>
      <p:ext uri="{BB962C8B-B14F-4D97-AF65-F5344CB8AC3E}">
        <p14:creationId xmlns:p14="http://schemas.microsoft.com/office/powerpoint/2010/main" val="41218098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286000"/>
            <a:ext cx="9144000" cy="1828800"/>
          </a:xfrm>
          <a:solidFill>
            <a:schemeClr val="accent6">
              <a:lumMod val="60000"/>
              <a:lumOff val="40000"/>
            </a:schemeClr>
          </a:solidFill>
        </p:spPr>
        <p:txBody>
          <a:bodyPr>
            <a:normAutofit/>
          </a:bodyPr>
          <a:lstStyle/>
          <a:p>
            <a:r>
              <a:rPr lang="el-GR" sz="5400" b="1" dirty="0">
                <a:latin typeface="+mn-lt"/>
                <a:cs typeface="Arial" pitchFamily="34" charset="0"/>
              </a:rPr>
              <a:t>Ερωτήσεις</a:t>
            </a:r>
            <a:r>
              <a:rPr lang="en-US" sz="5400" b="1" dirty="0">
                <a:latin typeface="+mn-lt"/>
                <a:cs typeface="Arial" pitchFamily="34" charset="0"/>
              </a:rPr>
              <a:t>;</a:t>
            </a:r>
          </a:p>
        </p:txBody>
      </p:sp>
      <p:pic>
        <p:nvPicPr>
          <p:cNvPr id="11266" name="Picture 2" descr="http://ucy.ac.cy/proypiresiaki/images/template_img/logo_el.png"/>
          <p:cNvPicPr>
            <a:picLocks noChangeAspect="1" noChangeArrowheads="1"/>
          </p:cNvPicPr>
          <p:nvPr/>
        </p:nvPicPr>
        <p:blipFill>
          <a:blip r:embed="rId2"/>
          <a:srcRect/>
          <a:stretch>
            <a:fillRect/>
          </a:stretch>
        </p:blipFill>
        <p:spPr bwMode="auto">
          <a:xfrm>
            <a:off x="6126480" y="0"/>
            <a:ext cx="3017520" cy="838200"/>
          </a:xfrm>
          <a:prstGeom prst="rect">
            <a:avLst/>
          </a:prstGeom>
          <a:noFill/>
        </p:spPr>
      </p:pic>
      <p:sp>
        <p:nvSpPr>
          <p:cNvPr id="1025" name="Rectangle 1"/>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a:ln>
                <a:noFill/>
              </a:ln>
              <a:solidFill>
                <a:schemeClr val="tx1"/>
              </a:solidFill>
              <a:effectLst/>
              <a:latin typeface="Arial" pitchFamily="34" charset="0"/>
              <a:cs typeface="Arial" pitchFamily="34"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
  <TotalTime>4439</TotalTime>
  <Words>1273</Words>
  <Application>Microsoft Office PowerPoint</Application>
  <PresentationFormat>On-screen Show (4:3)</PresentationFormat>
  <Paragraphs>184</Paragraphs>
  <Slides>23</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PowerPoint Presentation</vt:lpstr>
      <vt:lpstr>PowerPoint Presentation</vt:lpstr>
      <vt:lpstr>PowerPoint Presentation</vt:lpstr>
      <vt:lpstr>Σχολιασμός Εργασίας</vt:lpstr>
      <vt:lpstr>Β.4.1.M4 Διαχείριση Κελιών (2)</vt:lpstr>
      <vt:lpstr>Β.4.2.Μ4 Κείμενο - Λίστες</vt:lpstr>
      <vt:lpstr>Β.4.2.Μ6 Γραφήματα</vt:lpstr>
      <vt:lpstr>Γ.6.M15  Επιπρόσθετα Κριτήρια Ερωτημάτων</vt:lpstr>
      <vt:lpstr>A.4.Μ6 Πολυμέσα - Εικόνα</vt:lpstr>
      <vt:lpstr>Δημιουργία Σχέδιου Μαθήματος (κομβικές δεξιότητες)</vt:lpstr>
      <vt:lpstr>Κομβικές Ικανότητες</vt:lpstr>
      <vt:lpstr>Ο ρόλος τους στο Σχέδιο Μαθήματος</vt:lpstr>
      <vt:lpstr>PowerPoint Presentation</vt:lpstr>
      <vt:lpstr>Παράδειγμα 1</vt:lpstr>
      <vt:lpstr>Παράδειγμα 2</vt:lpstr>
      <vt:lpstr>Παράδειγμα 3</vt:lpstr>
      <vt:lpstr>κ8</vt:lpstr>
      <vt:lpstr>Ολοκληρωμένο Σχέδιο Μαθήματος</vt:lpstr>
      <vt:lpstr>1η σελίδα </vt:lpstr>
      <vt:lpstr>2η σελίδα (πορεία διδασκαλίας)</vt:lpstr>
      <vt:lpstr>2η σελίδα (στήλη δείκτες)</vt:lpstr>
      <vt:lpstr>Εργασία για σπίτι (παράδοση 11/10)</vt:lpstr>
      <vt:lpstr>Ερωτήσεις;</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User</dc:creator>
  <cp:lastModifiedBy>Παύλος Παυλικκάς</cp:lastModifiedBy>
  <cp:revision>126</cp:revision>
  <dcterms:created xsi:type="dcterms:W3CDTF">2015-09-15T19:28:21Z</dcterms:created>
  <dcterms:modified xsi:type="dcterms:W3CDTF">2026-09-30T08:40:11Z</dcterms:modified>
</cp:coreProperties>
</file>