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88" r:id="rId2"/>
    <p:sldId id="304" r:id="rId3"/>
    <p:sldId id="305" r:id="rId4"/>
    <p:sldId id="306" r:id="rId5"/>
    <p:sldId id="307" r:id="rId6"/>
    <p:sldId id="309" r:id="rId7"/>
    <p:sldId id="310" r:id="rId8"/>
    <p:sldId id="328"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C0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28" autoAdjust="0"/>
    <p:restoredTop sz="86118" autoAdjust="0"/>
  </p:normalViewPr>
  <p:slideViewPr>
    <p:cSldViewPr>
      <p:cViewPr varScale="1">
        <p:scale>
          <a:sx n="95" d="100"/>
          <a:sy n="95" d="100"/>
        </p:scale>
        <p:origin x="166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Άριστος Αρέστη" userId="813aa191-2d4c-464f-9d05-0a7e494d859f" providerId="ADAL" clId="{49C7B61D-1ACF-4AFF-A04E-A3B433E32474}"/>
    <pc:docChg chg="delSld">
      <pc:chgData name="Άριστος Αρέστη" userId="813aa191-2d4c-464f-9d05-0a7e494d859f" providerId="ADAL" clId="{49C7B61D-1ACF-4AFF-A04E-A3B433E32474}" dt="2026-10-18T18:28:46.583" v="1" actId="47"/>
      <pc:docMkLst>
        <pc:docMk/>
      </pc:docMkLst>
      <pc:sldChg chg="del">
        <pc:chgData name="Άριστος Αρέστη" userId="813aa191-2d4c-464f-9d05-0a7e494d859f" providerId="ADAL" clId="{49C7B61D-1ACF-4AFF-A04E-A3B433E32474}" dt="2026-10-18T18:28:46.583" v="1" actId="47"/>
        <pc:sldMkLst>
          <pc:docMk/>
          <pc:sldMk cId="0" sldId="274"/>
        </pc:sldMkLst>
      </pc:sldChg>
      <pc:sldChg chg="del">
        <pc:chgData name="Άριστος Αρέστη" userId="813aa191-2d4c-464f-9d05-0a7e494d859f" providerId="ADAL" clId="{49C7B61D-1ACF-4AFF-A04E-A3B433E32474}" dt="2026-10-18T18:24:35.029" v="0" actId="2696"/>
        <pc:sldMkLst>
          <pc:docMk/>
          <pc:sldMk cId="2060641964" sldId="276"/>
        </pc:sldMkLst>
      </pc:sldChg>
      <pc:sldChg chg="del">
        <pc:chgData name="Άριστος Αρέστη" userId="813aa191-2d4c-464f-9d05-0a7e494d859f" providerId="ADAL" clId="{49C7B61D-1ACF-4AFF-A04E-A3B433E32474}" dt="2026-10-18T18:24:35.029" v="0" actId="2696"/>
        <pc:sldMkLst>
          <pc:docMk/>
          <pc:sldMk cId="3537881536" sldId="277"/>
        </pc:sldMkLst>
      </pc:sldChg>
      <pc:sldChg chg="del">
        <pc:chgData name="Άριστος Αρέστη" userId="813aa191-2d4c-464f-9d05-0a7e494d859f" providerId="ADAL" clId="{49C7B61D-1ACF-4AFF-A04E-A3B433E32474}" dt="2026-10-18T18:24:35.029" v="0" actId="2696"/>
        <pc:sldMkLst>
          <pc:docMk/>
          <pc:sldMk cId="3542971618" sldId="280"/>
        </pc:sldMkLst>
      </pc:sldChg>
      <pc:sldChg chg="del">
        <pc:chgData name="Άριστος Αρέστη" userId="813aa191-2d4c-464f-9d05-0a7e494d859f" providerId="ADAL" clId="{49C7B61D-1ACF-4AFF-A04E-A3B433E32474}" dt="2026-10-18T18:24:35.029" v="0" actId="2696"/>
        <pc:sldMkLst>
          <pc:docMk/>
          <pc:sldMk cId="3737734990" sldId="287"/>
        </pc:sldMkLst>
      </pc:sldChg>
      <pc:sldChg chg="del">
        <pc:chgData name="Άριστος Αρέστη" userId="813aa191-2d4c-464f-9d05-0a7e494d859f" providerId="ADAL" clId="{49C7B61D-1ACF-4AFF-A04E-A3B433E32474}" dt="2026-10-18T18:28:46.583" v="1" actId="47"/>
        <pc:sldMkLst>
          <pc:docMk/>
          <pc:sldMk cId="3446216825" sldId="292"/>
        </pc:sldMkLst>
      </pc:sldChg>
      <pc:sldChg chg="del">
        <pc:chgData name="Άριστος Αρέστη" userId="813aa191-2d4c-464f-9d05-0a7e494d859f" providerId="ADAL" clId="{49C7B61D-1ACF-4AFF-A04E-A3B433E32474}" dt="2026-10-18T18:24:35.029" v="0" actId="2696"/>
        <pc:sldMkLst>
          <pc:docMk/>
          <pc:sldMk cId="3111683312" sldId="329"/>
        </pc:sldMkLst>
      </pc:sldChg>
      <pc:sldChg chg="del">
        <pc:chgData name="Άριστος Αρέστη" userId="813aa191-2d4c-464f-9d05-0a7e494d859f" providerId="ADAL" clId="{49C7B61D-1ACF-4AFF-A04E-A3B433E32474}" dt="2026-10-18T18:24:35.029" v="0" actId="2696"/>
        <pc:sldMkLst>
          <pc:docMk/>
          <pc:sldMk cId="2311325346" sldId="330"/>
        </pc:sldMkLst>
      </pc:sldChg>
      <pc:sldChg chg="del">
        <pc:chgData name="Άριστος Αρέστη" userId="813aa191-2d4c-464f-9d05-0a7e494d859f" providerId="ADAL" clId="{49C7B61D-1ACF-4AFF-A04E-A3B433E32474}" dt="2026-10-18T18:24:35.029" v="0" actId="2696"/>
        <pc:sldMkLst>
          <pc:docMk/>
          <pc:sldMk cId="4051211844" sldId="331"/>
        </pc:sldMkLst>
      </pc:sldChg>
      <pc:sldChg chg="del">
        <pc:chgData name="Άριστος Αρέστη" userId="813aa191-2d4c-464f-9d05-0a7e494d859f" providerId="ADAL" clId="{49C7B61D-1ACF-4AFF-A04E-A3B433E32474}" dt="2026-10-18T18:24:35.029" v="0" actId="2696"/>
        <pc:sldMkLst>
          <pc:docMk/>
          <pc:sldMk cId="2004103841" sldId="332"/>
        </pc:sldMkLst>
      </pc:sldChg>
      <pc:sldChg chg="del">
        <pc:chgData name="Άριστος Αρέστη" userId="813aa191-2d4c-464f-9d05-0a7e494d859f" providerId="ADAL" clId="{49C7B61D-1ACF-4AFF-A04E-A3B433E32474}" dt="2026-10-18T18:24:35.029" v="0" actId="2696"/>
        <pc:sldMkLst>
          <pc:docMk/>
          <pc:sldMk cId="1845479662" sldId="333"/>
        </pc:sldMkLst>
      </pc:sldChg>
      <pc:sldChg chg="del">
        <pc:chgData name="Άριστος Αρέστη" userId="813aa191-2d4c-464f-9d05-0a7e494d859f" providerId="ADAL" clId="{49C7B61D-1ACF-4AFF-A04E-A3B433E32474}" dt="2026-10-18T18:28:46.583" v="1" actId="47"/>
        <pc:sldMkLst>
          <pc:docMk/>
          <pc:sldMk cId="4121809810" sldId="334"/>
        </pc:sldMkLst>
      </pc:sldChg>
      <pc:sldChg chg="del">
        <pc:chgData name="Άριστος Αρέστη" userId="813aa191-2d4c-464f-9d05-0a7e494d859f" providerId="ADAL" clId="{49C7B61D-1ACF-4AFF-A04E-A3B433E32474}" dt="2026-10-18T18:28:46.583" v="1" actId="47"/>
        <pc:sldMkLst>
          <pc:docMk/>
          <pc:sldMk cId="1206363132" sldId="335"/>
        </pc:sldMkLst>
      </pc:sldChg>
      <pc:sldChg chg="del">
        <pc:chgData name="Άριστος Αρέστη" userId="813aa191-2d4c-464f-9d05-0a7e494d859f" providerId="ADAL" clId="{49C7B61D-1ACF-4AFF-A04E-A3B433E32474}" dt="2026-10-18T18:28:46.583" v="1" actId="47"/>
        <pc:sldMkLst>
          <pc:docMk/>
          <pc:sldMk cId="2836230710" sldId="336"/>
        </pc:sldMkLst>
      </pc:sldChg>
      <pc:sldChg chg="del">
        <pc:chgData name="Άριστος Αρέστη" userId="813aa191-2d4c-464f-9d05-0a7e494d859f" providerId="ADAL" clId="{49C7B61D-1ACF-4AFF-A04E-A3B433E32474}" dt="2026-10-18T18:28:46.583" v="1" actId="47"/>
        <pc:sldMkLst>
          <pc:docMk/>
          <pc:sldMk cId="668829049" sldId="337"/>
        </pc:sldMkLst>
      </pc:sldChg>
    </pc:docChg>
  </pc:docChgLst>
  <pc:docChgLst>
    <pc:chgData name="Παύλος Παυλικκάς" userId="87ce08cf-e656-4f7b-a509-c64b0287524c" providerId="ADAL" clId="{76C507FD-C420-4F5F-B7C5-76F21C83873B}"/>
    <pc:docChg chg="addSld modSld sldOrd">
      <pc:chgData name="Παύλος Παυλικκάς" userId="87ce08cf-e656-4f7b-a509-c64b0287524c" providerId="ADAL" clId="{76C507FD-C420-4F5F-B7C5-76F21C83873B}" dt="2026-09-30T08:33:08.789" v="31"/>
      <pc:docMkLst>
        <pc:docMk/>
      </pc:docMkLst>
      <pc:sldChg chg="modSp ord">
        <pc:chgData name="Παύλος Παυλικκάς" userId="87ce08cf-e656-4f7b-a509-c64b0287524c" providerId="ADAL" clId="{76C507FD-C420-4F5F-B7C5-76F21C83873B}" dt="2026-09-30T07:16:47.091" v="21"/>
        <pc:sldMkLst>
          <pc:docMk/>
          <pc:sldMk cId="2418946017" sldId="288"/>
        </pc:sldMkLst>
        <pc:spChg chg="mod">
          <ac:chgData name="Παύλος Παυλικκάς" userId="87ce08cf-e656-4f7b-a509-c64b0287524c" providerId="ADAL" clId="{76C507FD-C420-4F5F-B7C5-76F21C83873B}" dt="2026-09-30T07:16:47.091" v="21"/>
          <ac:spMkLst>
            <pc:docMk/>
            <pc:sldMk cId="2418946017" sldId="288"/>
            <ac:spMk id="2" creationId="{00000000-0000-0000-0000-000000000000}"/>
          </ac:spMkLst>
        </pc:spChg>
      </pc:sldChg>
      <pc:sldChg chg="modSp">
        <pc:chgData name="Παύλος Παυλικκάς" userId="87ce08cf-e656-4f7b-a509-c64b0287524c" providerId="ADAL" clId="{76C507FD-C420-4F5F-B7C5-76F21C83873B}" dt="2026-09-30T06:28:25.864" v="5"/>
        <pc:sldMkLst>
          <pc:docMk/>
          <pc:sldMk cId="1110861717" sldId="306"/>
        </pc:sldMkLst>
        <pc:graphicFrameChg chg="mod">
          <ac:chgData name="Παύλος Παυλικκάς" userId="87ce08cf-e656-4f7b-a509-c64b0287524c" providerId="ADAL" clId="{76C507FD-C420-4F5F-B7C5-76F21C83873B}" dt="2026-09-30T06:28:25.864" v="5"/>
          <ac:graphicFrameMkLst>
            <pc:docMk/>
            <pc:sldMk cId="1110861717" sldId="306"/>
            <ac:graphicFrameMk id="5" creationId="{00000000-0000-0000-0000-000000000000}"/>
          </ac:graphicFrameMkLst>
        </pc:graphicFrameChg>
      </pc:sldChg>
      <pc:sldChg chg="modSp">
        <pc:chgData name="Παύλος Παυλικκάς" userId="87ce08cf-e656-4f7b-a509-c64b0287524c" providerId="ADAL" clId="{76C507FD-C420-4F5F-B7C5-76F21C83873B}" dt="2026-09-30T06:48:02.573" v="11"/>
        <pc:sldMkLst>
          <pc:docMk/>
          <pc:sldMk cId="3047317244" sldId="307"/>
        </pc:sldMkLst>
        <pc:graphicFrameChg chg="mod">
          <ac:chgData name="Παύλος Παυλικκάς" userId="87ce08cf-e656-4f7b-a509-c64b0287524c" providerId="ADAL" clId="{76C507FD-C420-4F5F-B7C5-76F21C83873B}" dt="2026-09-30T06:48:02.573" v="11"/>
          <ac:graphicFrameMkLst>
            <pc:docMk/>
            <pc:sldMk cId="3047317244" sldId="307"/>
            <ac:graphicFrameMk id="2" creationId="{00000000-0000-0000-0000-000000000000}"/>
          </ac:graphicFrameMkLst>
        </pc:graphicFrameChg>
      </pc:sldChg>
      <pc:sldChg chg="modSp">
        <pc:chgData name="Παύλος Παυλικκάς" userId="87ce08cf-e656-4f7b-a509-c64b0287524c" providerId="ADAL" clId="{76C507FD-C420-4F5F-B7C5-76F21C83873B}" dt="2026-09-30T06:51:40.088" v="13"/>
        <pc:sldMkLst>
          <pc:docMk/>
          <pc:sldMk cId="489489999" sldId="309"/>
        </pc:sldMkLst>
        <pc:graphicFrameChg chg="mod">
          <ac:chgData name="Παύλος Παυλικκάς" userId="87ce08cf-e656-4f7b-a509-c64b0287524c" providerId="ADAL" clId="{76C507FD-C420-4F5F-B7C5-76F21C83873B}" dt="2026-09-30T06:51:40.088" v="13"/>
          <ac:graphicFrameMkLst>
            <pc:docMk/>
            <pc:sldMk cId="489489999" sldId="309"/>
            <ac:graphicFrameMk id="2" creationId="{00000000-0000-0000-0000-000000000000}"/>
          </ac:graphicFrameMkLst>
        </pc:graphicFrameChg>
      </pc:sldChg>
      <pc:sldChg chg="modSp">
        <pc:chgData name="Παύλος Παυλικκάς" userId="87ce08cf-e656-4f7b-a509-c64b0287524c" providerId="ADAL" clId="{76C507FD-C420-4F5F-B7C5-76F21C83873B}" dt="2026-09-30T07:13:55.345" v="15"/>
        <pc:sldMkLst>
          <pc:docMk/>
          <pc:sldMk cId="1232182934" sldId="310"/>
        </pc:sldMkLst>
        <pc:graphicFrameChg chg="mod">
          <ac:chgData name="Παύλος Παυλικκάς" userId="87ce08cf-e656-4f7b-a509-c64b0287524c" providerId="ADAL" clId="{76C507FD-C420-4F5F-B7C5-76F21C83873B}" dt="2026-09-30T07:13:55.345" v="15"/>
          <ac:graphicFrameMkLst>
            <pc:docMk/>
            <pc:sldMk cId="1232182934" sldId="310"/>
            <ac:graphicFrameMk id="2"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67DA2-3ABD-4083-9D89-D1C9CC448C3D}" type="datetimeFigureOut">
              <a:rPr lang="en-GB" smtClean="0"/>
              <a:t>18/10/2026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1F438E-B2CF-4AE8-BCBD-5C0C58240136}" type="slidenum">
              <a:rPr lang="en-GB" smtClean="0"/>
              <a:t>‹#›</a:t>
            </a:fld>
            <a:endParaRPr lang="en-GB"/>
          </a:p>
        </p:txBody>
      </p:sp>
    </p:spTree>
    <p:extLst>
      <p:ext uri="{BB962C8B-B14F-4D97-AF65-F5344CB8AC3E}">
        <p14:creationId xmlns:p14="http://schemas.microsoft.com/office/powerpoint/2010/main" val="281157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2</a:t>
            </a:fld>
            <a:endParaRPr lang="el-GR"/>
          </a:p>
        </p:txBody>
      </p:sp>
    </p:spTree>
    <p:extLst>
      <p:ext uri="{BB962C8B-B14F-4D97-AF65-F5344CB8AC3E}">
        <p14:creationId xmlns:p14="http://schemas.microsoft.com/office/powerpoint/2010/main" val="12424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3</a:t>
            </a:fld>
            <a:endParaRPr lang="el-GR"/>
          </a:p>
        </p:txBody>
      </p:sp>
    </p:spTree>
    <p:extLst>
      <p:ext uri="{BB962C8B-B14F-4D97-AF65-F5344CB8AC3E}">
        <p14:creationId xmlns:p14="http://schemas.microsoft.com/office/powerpoint/2010/main" val="1616569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4</a:t>
            </a:fld>
            <a:endParaRPr lang="el-GR"/>
          </a:p>
        </p:txBody>
      </p:sp>
    </p:spTree>
    <p:extLst>
      <p:ext uri="{BB962C8B-B14F-4D97-AF65-F5344CB8AC3E}">
        <p14:creationId xmlns:p14="http://schemas.microsoft.com/office/powerpoint/2010/main" val="1729743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5</a:t>
            </a:fld>
            <a:endParaRPr lang="el-GR"/>
          </a:p>
        </p:txBody>
      </p:sp>
    </p:spTree>
    <p:extLst>
      <p:ext uri="{BB962C8B-B14F-4D97-AF65-F5344CB8AC3E}">
        <p14:creationId xmlns:p14="http://schemas.microsoft.com/office/powerpoint/2010/main" val="354478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6</a:t>
            </a:fld>
            <a:endParaRPr lang="el-GR"/>
          </a:p>
        </p:txBody>
      </p:sp>
    </p:spTree>
    <p:extLst>
      <p:ext uri="{BB962C8B-B14F-4D97-AF65-F5344CB8AC3E}">
        <p14:creationId xmlns:p14="http://schemas.microsoft.com/office/powerpoint/2010/main" val="1965012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7</a:t>
            </a:fld>
            <a:endParaRPr lang="el-GR"/>
          </a:p>
        </p:txBody>
      </p:sp>
    </p:spTree>
    <p:extLst>
      <p:ext uri="{BB962C8B-B14F-4D97-AF65-F5344CB8AC3E}">
        <p14:creationId xmlns:p14="http://schemas.microsoft.com/office/powerpoint/2010/main" val="2040700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D290-BC5C-9086-EBE8-ADBAE0BBD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F756F-9BEB-486D-E455-68D1645FD4A3}"/>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CABCDE99-06B5-D70F-54A3-23FD3B0D62B5}"/>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149365D4-D113-D4D0-A8E6-ABDBA082F479}"/>
              </a:ext>
            </a:extLst>
          </p:cNvPr>
          <p:cNvSpPr>
            <a:spLocks noGrp="1"/>
          </p:cNvSpPr>
          <p:nvPr>
            <p:ph type="sldNum" sz="quarter" idx="10"/>
          </p:nvPr>
        </p:nvSpPr>
        <p:spPr/>
        <p:txBody>
          <a:bodyPr/>
          <a:lstStyle/>
          <a:p>
            <a:fld id="{1A63F591-F0B7-4228-BB71-5A60929AFF28}" type="slidenum">
              <a:rPr lang="el-GR" smtClean="0"/>
              <a:pPr/>
              <a:t>8</a:t>
            </a:fld>
            <a:endParaRPr lang="el-GR"/>
          </a:p>
        </p:txBody>
      </p:sp>
    </p:spTree>
    <p:extLst>
      <p:ext uri="{BB962C8B-B14F-4D97-AF65-F5344CB8AC3E}">
        <p14:creationId xmlns:p14="http://schemas.microsoft.com/office/powerpoint/2010/main" val="1694612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80B2B7-3155-4641-A8F2-C1656F8110F8}" type="datetimeFigureOut">
              <a:rPr lang="en-US" smtClean="0"/>
              <a:pPr/>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0B2B7-3155-4641-A8F2-C1656F8110F8}" type="datetimeFigureOut">
              <a:rPr lang="en-US" smtClean="0"/>
              <a:pPr/>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80B2B7-3155-4641-A8F2-C1656F8110F8}" type="datetimeFigureOut">
              <a:rPr lang="en-US" smtClean="0"/>
              <a:pPr/>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80B2B7-3155-4641-A8F2-C1656F8110F8}" type="datetimeFigureOut">
              <a:rPr lang="en-US" smtClean="0"/>
              <a:pPr/>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80B2B7-3155-4641-A8F2-C1656F8110F8}" type="datetimeFigureOut">
              <a:rPr lang="en-US" smtClean="0"/>
              <a:pPr/>
              <a:t>18-Oct-26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80B2B7-3155-4641-A8F2-C1656F8110F8}" type="datetimeFigureOut">
              <a:rPr lang="en-US" smtClean="0"/>
              <a:pPr/>
              <a:t>18-Oct-26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80B2B7-3155-4641-A8F2-C1656F8110F8}" type="datetimeFigureOut">
              <a:rPr lang="en-US" smtClean="0"/>
              <a:pPr/>
              <a:t>18-Oct-26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80B2B7-3155-4641-A8F2-C1656F8110F8}" type="datetimeFigureOut">
              <a:rPr lang="en-US" smtClean="0"/>
              <a:pPr/>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80B2B7-3155-4641-A8F2-C1656F8110F8}" type="datetimeFigureOut">
              <a:rPr lang="en-US" smtClean="0"/>
              <a:pPr/>
              <a:t>18-Oct-26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0B2B7-3155-4641-A8F2-C1656F8110F8}" type="datetimeFigureOut">
              <a:rPr lang="en-US" smtClean="0"/>
              <a:pPr/>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0B2B7-3155-4641-A8F2-C1656F8110F8}" type="datetimeFigureOut">
              <a:rPr lang="en-US" smtClean="0"/>
              <a:pPr/>
              <a:t>18-Oct-26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0B2B7-3155-4641-A8F2-C1656F8110F8}" type="datetimeFigureOut">
              <a:rPr lang="en-US" smtClean="0"/>
              <a:pPr/>
              <a:t>18-Oct-26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BD3ACA-0F0F-432C-927D-6EE186D4D50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l-GR" dirty="0"/>
              <a:t>Δημιουργία Σχέδιου Μαθήματος (κομβικές δεξιότητες)</a:t>
            </a:r>
            <a:endParaRPr lang="en-GB" dirty="0"/>
          </a:p>
        </p:txBody>
      </p:sp>
      <p:sp>
        <p:nvSpPr>
          <p:cNvPr id="3" name="Text Placeholder 2"/>
          <p:cNvSpPr>
            <a:spLocks noGrp="1"/>
          </p:cNvSpPr>
          <p:nvPr>
            <p:ph type="subTitle" idx="1"/>
          </p:nvPr>
        </p:nvSpPr>
        <p:spPr>
          <a:xfrm>
            <a:off x="1371600" y="362585"/>
            <a:ext cx="6400800" cy="1752600"/>
          </a:xfrm>
        </p:spPr>
        <p:txBody>
          <a:bodyPr>
            <a:normAutofit/>
          </a:bodyPr>
          <a:lstStyle/>
          <a:p>
            <a:r>
              <a:rPr lang="el-GR" sz="8000" dirty="0">
                <a:solidFill>
                  <a:schemeClr val="tx1"/>
                </a:solidFill>
              </a:rPr>
              <a:t>02</a:t>
            </a:r>
            <a:endParaRPr lang="en-GB" sz="8000" dirty="0">
              <a:solidFill>
                <a:schemeClr val="tx1"/>
              </a:solidFill>
            </a:endParaRPr>
          </a:p>
        </p:txBody>
      </p:sp>
    </p:spTree>
    <p:extLst>
      <p:ext uri="{BB962C8B-B14F-4D97-AF65-F5344CB8AC3E}">
        <p14:creationId xmlns:p14="http://schemas.microsoft.com/office/powerpoint/2010/main" val="2418946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rmAutofit/>
          </a:bodyPr>
          <a:lstStyle/>
          <a:p>
            <a:r>
              <a:rPr lang="el-GR" dirty="0"/>
              <a:t>Κομβικές Ικανότητες</a:t>
            </a:r>
          </a:p>
        </p:txBody>
      </p:sp>
      <p:sp>
        <p:nvSpPr>
          <p:cNvPr id="7" name="Content Placeholder 6"/>
          <p:cNvSpPr>
            <a:spLocks noGrp="1"/>
          </p:cNvSpPr>
          <p:nvPr>
            <p:ph idx="1"/>
          </p:nvPr>
        </p:nvSpPr>
        <p:spPr/>
        <p:txBody>
          <a:bodyPr>
            <a:noAutofit/>
          </a:bodyPr>
          <a:lstStyle/>
          <a:p>
            <a:pPr marL="550863" indent="-285750">
              <a:spcBef>
                <a:spcPts val="400"/>
              </a:spcBef>
            </a:pPr>
            <a:r>
              <a:rPr lang="el-GR" sz="2400" dirty="0"/>
              <a:t>Οι κομβικές ικανότητες είναι οι γενικές δεξιότητες που καλλιεργούνται μέσα από τη διδασκαλία όλων των μαθημάτων και όχι μόνο της Πληροφορικής.</a:t>
            </a:r>
            <a:endParaRPr lang="en-US" sz="2400" dirty="0"/>
          </a:p>
          <a:p>
            <a:pPr marL="550863" indent="-285750">
              <a:spcBef>
                <a:spcPts val="400"/>
              </a:spcBef>
            </a:pPr>
            <a:r>
              <a:rPr lang="el-GR" sz="2400" dirty="0"/>
              <a:t>Στόχος τους είναι η ολιστική ανάπτυξη του μαθητή — γνωστική, κοινωνική, συναισθηματική και τεχνολογική.</a:t>
            </a:r>
            <a:endParaRPr lang="en-US" sz="2400" dirty="0"/>
          </a:p>
          <a:p>
            <a:pPr marL="550863" indent="-285750">
              <a:spcBef>
                <a:spcPts val="400"/>
              </a:spcBef>
            </a:pPr>
            <a:r>
              <a:rPr lang="el-GR" sz="2400" dirty="0"/>
              <a:t>Δηλαδή, πέρα από τη γνώση, ενδιαφερόμαστε και για το πώς ο μαθητής σκέφτεται, συνεργάζεται, επικοινωνεί και χρησιμοποιεί υπεύθυνα την τεχνολογία.</a:t>
            </a:r>
          </a:p>
        </p:txBody>
      </p:sp>
      <p:pic>
        <p:nvPicPr>
          <p:cNvPr id="5" name="Picture 2" descr="http://ucy.ac.cy/proypiresiaki/images/template_img/logo_el.png"/>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367757798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rmAutofit fontScale="90000"/>
          </a:bodyPr>
          <a:lstStyle/>
          <a:p>
            <a:r>
              <a:rPr lang="el-GR" dirty="0"/>
              <a:t>Ο ρόλος τους στο Σχέδιο Μαθήματος</a:t>
            </a:r>
          </a:p>
        </p:txBody>
      </p:sp>
      <p:sp>
        <p:nvSpPr>
          <p:cNvPr id="7" name="Content Placeholder 6"/>
          <p:cNvSpPr>
            <a:spLocks noGrp="1"/>
          </p:cNvSpPr>
          <p:nvPr>
            <p:ph idx="1"/>
          </p:nvPr>
        </p:nvSpPr>
        <p:spPr/>
        <p:txBody>
          <a:bodyPr>
            <a:noAutofit/>
          </a:bodyPr>
          <a:lstStyle/>
          <a:p>
            <a:pPr marL="550863" indent="-285750">
              <a:spcBef>
                <a:spcPts val="400"/>
              </a:spcBef>
            </a:pPr>
            <a:r>
              <a:rPr lang="el-GR" sz="2400" dirty="0"/>
              <a:t>Δεν αποτελούν “ξεχωριστή ενότητα”, αλλά καλλιεργούνται μέσα από τις δραστηριότητες.</a:t>
            </a:r>
          </a:p>
          <a:p>
            <a:pPr marL="550863" indent="-285750">
              <a:spcBef>
                <a:spcPts val="400"/>
              </a:spcBef>
            </a:pPr>
            <a:r>
              <a:rPr lang="el-GR" sz="2400" dirty="0"/>
              <a:t>Καταγράφονται συνήθως στην ειδική ενότητα “Κομβικές Ικανότητες που καλλιεργούνται” ή/και στη στήλη “Δείκτες” δίπλα στις φάσεις του μαθήματος.</a:t>
            </a:r>
          </a:p>
          <a:p>
            <a:pPr marL="550863" indent="-285750">
              <a:spcBef>
                <a:spcPts val="400"/>
              </a:spcBef>
            </a:pPr>
            <a:r>
              <a:rPr lang="el-GR" sz="2400" dirty="0"/>
              <a:t>Ο εκπαιδευτικός επιλέγει ποιες ικανότητες καλλιεργούνται σε κάθε μάθημα, όχι απαραίτητα όλες.</a:t>
            </a:r>
          </a:p>
        </p:txBody>
      </p:sp>
      <p:pic>
        <p:nvPicPr>
          <p:cNvPr id="5" name="Picture 2" descr="http://ucy.ac.cy/proypiresiaki/images/template_img/logo_el.png"/>
          <p:cNvPicPr>
            <a:picLocks noChangeAspect="1" noChangeArrowheads="1"/>
          </p:cNvPicPr>
          <p:nvPr/>
        </p:nvPicPr>
        <p:blipFill>
          <a:blip r:embed="rId4"/>
          <a:srcRect/>
          <a:stretch>
            <a:fillRect/>
          </a:stretch>
        </p:blipFill>
        <p:spPr bwMode="auto">
          <a:xfrm>
            <a:off x="7086600" y="6233796"/>
            <a:ext cx="1920240" cy="533400"/>
          </a:xfrm>
          <a:prstGeom prst="rect">
            <a:avLst/>
          </a:prstGeom>
          <a:noFill/>
        </p:spPr>
      </p:pic>
    </p:spTree>
    <p:extLst>
      <p:ext uri="{BB962C8B-B14F-4D97-AF65-F5344CB8AC3E}">
        <p14:creationId xmlns:p14="http://schemas.microsoft.com/office/powerpoint/2010/main" val="64054869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415748652"/>
              </p:ext>
            </p:extLst>
          </p:nvPr>
        </p:nvGraphicFramePr>
        <p:xfrm>
          <a:off x="0" y="0"/>
          <a:ext cx="9067800" cy="6710680"/>
        </p:xfrm>
        <a:graphic>
          <a:graphicData uri="http://schemas.openxmlformats.org/drawingml/2006/table">
            <a:tbl>
              <a:tblPr firstRow="1" bandRow="1">
                <a:tableStyleId>{93296810-A885-4BE3-A3E7-6D5BEEA58F35}</a:tableStyleId>
              </a:tblPr>
              <a:tblGrid>
                <a:gridCol w="1028700">
                  <a:extLst>
                    <a:ext uri="{9D8B030D-6E8A-4147-A177-3AD203B41FA5}">
                      <a16:colId xmlns:a16="http://schemas.microsoft.com/office/drawing/2014/main" val="4178931625"/>
                    </a:ext>
                  </a:extLst>
                </a:gridCol>
                <a:gridCol w="3810000">
                  <a:extLst>
                    <a:ext uri="{9D8B030D-6E8A-4147-A177-3AD203B41FA5}">
                      <a16:colId xmlns:a16="http://schemas.microsoft.com/office/drawing/2014/main" val="598453612"/>
                    </a:ext>
                  </a:extLst>
                </a:gridCol>
                <a:gridCol w="4229100">
                  <a:extLst>
                    <a:ext uri="{9D8B030D-6E8A-4147-A177-3AD203B41FA5}">
                      <a16:colId xmlns:a16="http://schemas.microsoft.com/office/drawing/2014/main" val="296151138"/>
                    </a:ext>
                  </a:extLst>
                </a:gridCol>
              </a:tblGrid>
              <a:tr h="370840">
                <a:tc>
                  <a:txBody>
                    <a:bodyPr/>
                    <a:lstStyle/>
                    <a:p>
                      <a:r>
                        <a:rPr lang="el-GR" sz="1600" dirty="0"/>
                        <a:t>Κωδικός</a:t>
                      </a:r>
                    </a:p>
                  </a:txBody>
                  <a:tcPr anchor="ctr"/>
                </a:tc>
                <a:tc>
                  <a:txBody>
                    <a:bodyPr/>
                    <a:lstStyle/>
                    <a:p>
                      <a:r>
                        <a:rPr lang="el-GR" sz="1600" dirty="0"/>
                        <a:t>Κομβική Ικανότητα</a:t>
                      </a:r>
                    </a:p>
                  </a:txBody>
                  <a:tcPr anchor="ctr"/>
                </a:tc>
                <a:tc>
                  <a:txBody>
                    <a:bodyPr/>
                    <a:lstStyle/>
                    <a:p>
                      <a:r>
                        <a:rPr lang="el-GR" sz="1600"/>
                        <a:t>Περιγραφή</a:t>
                      </a:r>
                    </a:p>
                  </a:txBody>
                  <a:tcPr anchor="ctr"/>
                </a:tc>
                <a:extLst>
                  <a:ext uri="{0D108BD9-81ED-4DB2-BD59-A6C34878D82A}">
                    <a16:rowId xmlns:a16="http://schemas.microsoft.com/office/drawing/2014/main" val="3061964832"/>
                  </a:ext>
                </a:extLst>
              </a:tr>
              <a:tr h="370840">
                <a:tc>
                  <a:txBody>
                    <a:bodyPr/>
                    <a:lstStyle/>
                    <a:p>
                      <a:r>
                        <a:rPr lang="el-GR" sz="1600" dirty="0"/>
                        <a:t>κ1</a:t>
                      </a:r>
                    </a:p>
                  </a:txBody>
                  <a:tcPr anchor="ctr"/>
                </a:tc>
                <a:tc>
                  <a:txBody>
                    <a:bodyPr/>
                    <a:lstStyle/>
                    <a:p>
                      <a:r>
                        <a:rPr lang="el-GR" sz="1600" dirty="0"/>
                        <a:t>Δημιουργικότητα</a:t>
                      </a:r>
                    </a:p>
                  </a:txBody>
                  <a:tcPr anchor="ctr"/>
                </a:tc>
                <a:tc>
                  <a:txBody>
                    <a:bodyPr/>
                    <a:lstStyle/>
                    <a:p>
                      <a:r>
                        <a:rPr lang="el-GR" sz="1600" dirty="0"/>
                        <a:t>Εφαρμογή δημιουργικών ιδεών και ανάπτυξη πρωτότυπων λύσεων.</a:t>
                      </a:r>
                    </a:p>
                  </a:txBody>
                  <a:tcPr anchor="ctr"/>
                </a:tc>
                <a:extLst>
                  <a:ext uri="{0D108BD9-81ED-4DB2-BD59-A6C34878D82A}">
                    <a16:rowId xmlns:a16="http://schemas.microsoft.com/office/drawing/2014/main" val="1898072253"/>
                  </a:ext>
                </a:extLst>
              </a:tr>
              <a:tr h="370840">
                <a:tc>
                  <a:txBody>
                    <a:bodyPr/>
                    <a:lstStyle/>
                    <a:p>
                      <a:r>
                        <a:rPr lang="el-GR" sz="1600"/>
                        <a:t>κ2</a:t>
                      </a:r>
                    </a:p>
                  </a:txBody>
                  <a:tcPr anchor="ctr"/>
                </a:tc>
                <a:tc>
                  <a:txBody>
                    <a:bodyPr/>
                    <a:lstStyle/>
                    <a:p>
                      <a:r>
                        <a:rPr lang="el-GR" sz="1600" dirty="0"/>
                        <a:t>Κριτική σκέψη / </a:t>
                      </a:r>
                      <a:r>
                        <a:rPr lang="el-GR" sz="1600" dirty="0" err="1"/>
                        <a:t>αναστοχαστική</a:t>
                      </a:r>
                      <a:r>
                        <a:rPr lang="el-GR" sz="1600" dirty="0"/>
                        <a:t> διαχείριση γνώσης</a:t>
                      </a:r>
                    </a:p>
                  </a:txBody>
                  <a:tcPr anchor="ctr"/>
                </a:tc>
                <a:tc>
                  <a:txBody>
                    <a:bodyPr/>
                    <a:lstStyle/>
                    <a:p>
                      <a:r>
                        <a:rPr lang="el-GR" sz="1600" dirty="0"/>
                        <a:t>Αμφισβήτηση, αξιολόγηση, αιτιολόγηση και επανεξέταση της γνώσης. Ο μαθητής </a:t>
                      </a:r>
                      <a:r>
                        <a:rPr lang="el-GR" sz="1600" dirty="0" err="1"/>
                        <a:t>αναστοχάζεται</a:t>
                      </a:r>
                      <a:r>
                        <a:rPr lang="el-GR" sz="1600" dirty="0"/>
                        <a:t> για το πως κατέληξε σε ένα συμπέρασμα/ λύση.</a:t>
                      </a:r>
                    </a:p>
                  </a:txBody>
                  <a:tcPr anchor="ctr"/>
                </a:tc>
                <a:extLst>
                  <a:ext uri="{0D108BD9-81ED-4DB2-BD59-A6C34878D82A}">
                    <a16:rowId xmlns:a16="http://schemas.microsoft.com/office/drawing/2014/main" val="2371314067"/>
                  </a:ext>
                </a:extLst>
              </a:tr>
              <a:tr h="370840">
                <a:tc>
                  <a:txBody>
                    <a:bodyPr/>
                    <a:lstStyle/>
                    <a:p>
                      <a:r>
                        <a:rPr lang="el-GR" sz="1600" dirty="0"/>
                        <a:t>κ3</a:t>
                      </a:r>
                    </a:p>
                  </a:txBody>
                  <a:tcPr anchor="ctr"/>
                </a:tc>
                <a:tc>
                  <a:txBody>
                    <a:bodyPr/>
                    <a:lstStyle/>
                    <a:p>
                      <a:r>
                        <a:rPr lang="el-GR" sz="1600" dirty="0"/>
                        <a:t>Θεωρητική σκέψη / εφαρμογή της θεωρίας στην πράξη</a:t>
                      </a:r>
                    </a:p>
                  </a:txBody>
                  <a:tcPr anchor="ctr"/>
                </a:tc>
                <a:tc>
                  <a:txBody>
                    <a:bodyPr/>
                    <a:lstStyle/>
                    <a:p>
                      <a:r>
                        <a:rPr lang="el-GR" sz="1600" dirty="0"/>
                        <a:t>Μετατροπή της θεωρίας σε πράξη μέσω παραδειγμάτων ή προγραμματισμού.</a:t>
                      </a:r>
                    </a:p>
                  </a:txBody>
                  <a:tcPr anchor="ctr"/>
                </a:tc>
                <a:extLst>
                  <a:ext uri="{0D108BD9-81ED-4DB2-BD59-A6C34878D82A}">
                    <a16:rowId xmlns:a16="http://schemas.microsoft.com/office/drawing/2014/main" val="1194783934"/>
                  </a:ext>
                </a:extLst>
              </a:tr>
              <a:tr h="370840">
                <a:tc>
                  <a:txBody>
                    <a:bodyPr/>
                    <a:lstStyle/>
                    <a:p>
                      <a:r>
                        <a:rPr lang="el-GR" sz="1600"/>
                        <a:t>κ4</a:t>
                      </a:r>
                    </a:p>
                  </a:txBody>
                  <a:tcPr anchor="ctr"/>
                </a:tc>
                <a:tc>
                  <a:txBody>
                    <a:bodyPr/>
                    <a:lstStyle/>
                    <a:p>
                      <a:r>
                        <a:rPr lang="el-GR" sz="1600" dirty="0"/>
                        <a:t>Ικανότητες ανάλυσης και σχεδιασμού</a:t>
                      </a:r>
                    </a:p>
                  </a:txBody>
                  <a:tcPr anchor="ctr"/>
                </a:tc>
                <a:tc>
                  <a:txBody>
                    <a:bodyPr/>
                    <a:lstStyle/>
                    <a:p>
                      <a:r>
                        <a:rPr lang="el-GR" sz="1600" dirty="0"/>
                        <a:t>Αποδόμηση ενός προβλήματος στα βασικά του στοιχεία, εντοπισμός απαιτήσεων και σχέσεων Ο μαθητής οργανώνει μια δομημένη λύση που ικανοποιεί τις ανάγκες του προβλήματος</a:t>
                      </a:r>
                    </a:p>
                  </a:txBody>
                  <a:tcPr anchor="ctr"/>
                </a:tc>
                <a:extLst>
                  <a:ext uri="{0D108BD9-81ED-4DB2-BD59-A6C34878D82A}">
                    <a16:rowId xmlns:a16="http://schemas.microsoft.com/office/drawing/2014/main" val="1218942311"/>
                  </a:ext>
                </a:extLst>
              </a:tr>
              <a:tr h="370840">
                <a:tc>
                  <a:txBody>
                    <a:bodyPr/>
                    <a:lstStyle/>
                    <a:p>
                      <a:r>
                        <a:rPr lang="el-GR" sz="1600"/>
                        <a:t>κ5</a:t>
                      </a:r>
                    </a:p>
                  </a:txBody>
                  <a:tcPr anchor="ctr"/>
                </a:tc>
                <a:tc>
                  <a:txBody>
                    <a:bodyPr/>
                    <a:lstStyle/>
                    <a:p>
                      <a:r>
                        <a:rPr lang="el-GR" sz="1600"/>
                        <a:t>Συλλογική εργασία / ανταλλαγή πληροφοριών</a:t>
                      </a:r>
                    </a:p>
                  </a:txBody>
                  <a:tcPr anchor="ctr"/>
                </a:tc>
                <a:tc>
                  <a:txBody>
                    <a:bodyPr/>
                    <a:lstStyle/>
                    <a:p>
                      <a:r>
                        <a:rPr lang="el-GR" sz="1600" dirty="0"/>
                        <a:t>Συνεργασία, ομαδικότητα, επικοινωνία στην τάξη.</a:t>
                      </a:r>
                    </a:p>
                  </a:txBody>
                  <a:tcPr anchor="ctr"/>
                </a:tc>
                <a:extLst>
                  <a:ext uri="{0D108BD9-81ED-4DB2-BD59-A6C34878D82A}">
                    <a16:rowId xmlns:a16="http://schemas.microsoft.com/office/drawing/2014/main" val="1746433575"/>
                  </a:ext>
                </a:extLst>
              </a:tr>
              <a:tr h="370840">
                <a:tc>
                  <a:txBody>
                    <a:bodyPr/>
                    <a:lstStyle/>
                    <a:p>
                      <a:r>
                        <a:rPr lang="el-GR" sz="1600" dirty="0"/>
                        <a:t>κ6</a:t>
                      </a:r>
                    </a:p>
                  </a:txBody>
                  <a:tcPr anchor="ctr"/>
                </a:tc>
                <a:tc>
                  <a:txBody>
                    <a:bodyPr/>
                    <a:lstStyle/>
                    <a:p>
                      <a:r>
                        <a:rPr lang="el-GR" sz="1600" dirty="0"/>
                        <a:t>Ικανότητα λύσης προβλημάτων/ετοιμότητα αναζήτησης εναλλακτικών λύσεων/ανάπτυξη εναλλακτικών θεωριών</a:t>
                      </a:r>
                    </a:p>
                  </a:txBody>
                  <a:tcPr anchor="ctr"/>
                </a:tc>
                <a:tc>
                  <a:txBody>
                    <a:bodyPr/>
                    <a:lstStyle/>
                    <a:p>
                      <a:r>
                        <a:rPr lang="el-GR" sz="1600" dirty="0"/>
                        <a:t>Ορισμός και ανάλυση προβλημάτων, παραγωγή εναλλακτικών λύσεων. Ο μαθητής διατυπώνει και αξιολογεί θεωρητικές υποθέσεις ή μοντέλα και να αναθεωρεί τις λύσεις</a:t>
                      </a:r>
                    </a:p>
                  </a:txBody>
                  <a:tcPr anchor="ctr"/>
                </a:tc>
                <a:extLst>
                  <a:ext uri="{0D108BD9-81ED-4DB2-BD59-A6C34878D82A}">
                    <a16:rowId xmlns:a16="http://schemas.microsoft.com/office/drawing/2014/main" val="1636436329"/>
                  </a:ext>
                </a:extLst>
              </a:tr>
              <a:tr h="370840">
                <a:tc>
                  <a:txBody>
                    <a:bodyPr/>
                    <a:lstStyle/>
                    <a:p>
                      <a:r>
                        <a:rPr lang="el-GR" sz="1600"/>
                        <a:t>κ7</a:t>
                      </a:r>
                    </a:p>
                  </a:txBody>
                  <a:tcPr anchor="ctr"/>
                </a:tc>
                <a:tc>
                  <a:txBody>
                    <a:bodyPr/>
                    <a:lstStyle/>
                    <a:p>
                      <a:r>
                        <a:rPr lang="el-GR" sz="1600" dirty="0"/>
                        <a:t>Άριστη, δόκιμη και συνετή χρήση ΤΠΕ</a:t>
                      </a:r>
                    </a:p>
                  </a:txBody>
                  <a:tcPr anchor="ctr"/>
                </a:tc>
                <a:tc>
                  <a:txBody>
                    <a:bodyPr/>
                    <a:lstStyle/>
                    <a:p>
                      <a:r>
                        <a:rPr lang="el-GR" sz="1600" dirty="0"/>
                        <a:t>Ανάπτυξη δεξιοτήτων χειρισμού εργαλείων και συστημάτων και χρήση των ΤΠΕ στην εργασία/ επίλυση προβλήματος.</a:t>
                      </a:r>
                    </a:p>
                  </a:txBody>
                  <a:tcPr anchor="ctr"/>
                </a:tc>
                <a:extLst>
                  <a:ext uri="{0D108BD9-81ED-4DB2-BD59-A6C34878D82A}">
                    <a16:rowId xmlns:a16="http://schemas.microsoft.com/office/drawing/2014/main" val="3262276733"/>
                  </a:ext>
                </a:extLst>
              </a:tr>
              <a:tr h="370840">
                <a:tc>
                  <a:txBody>
                    <a:bodyPr/>
                    <a:lstStyle/>
                    <a:p>
                      <a:r>
                        <a:rPr lang="el-GR" sz="1600"/>
                        <a:t>κ8</a:t>
                      </a:r>
                    </a:p>
                  </a:txBody>
                  <a:tcPr anchor="ctr"/>
                </a:tc>
                <a:tc>
                  <a:txBody>
                    <a:bodyPr/>
                    <a:lstStyle/>
                    <a:p>
                      <a:r>
                        <a:rPr lang="el-GR" sz="1600"/>
                        <a:t>Ενσυναίσθηση / διαπροσωπική επικοινωνία</a:t>
                      </a:r>
                    </a:p>
                  </a:txBody>
                  <a:tcPr anchor="ctr"/>
                </a:tc>
                <a:tc>
                  <a:txBody>
                    <a:bodyPr/>
                    <a:lstStyle/>
                    <a:p>
                      <a:r>
                        <a:rPr lang="el-GR" sz="1600" dirty="0"/>
                        <a:t>Κατανόηση του άλλου, σεβασμός, επικοινωνιακές δεξιότητες.</a:t>
                      </a:r>
                    </a:p>
                  </a:txBody>
                  <a:tcPr anchor="ctr"/>
                </a:tc>
                <a:extLst>
                  <a:ext uri="{0D108BD9-81ED-4DB2-BD59-A6C34878D82A}">
                    <a16:rowId xmlns:a16="http://schemas.microsoft.com/office/drawing/2014/main" val="3617102111"/>
                  </a:ext>
                </a:extLst>
              </a:tr>
            </a:tbl>
          </a:graphicData>
        </a:graphic>
      </p:graphicFrame>
    </p:spTree>
    <p:extLst>
      <p:ext uri="{BB962C8B-B14F-4D97-AF65-F5344CB8AC3E}">
        <p14:creationId xmlns:p14="http://schemas.microsoft.com/office/powerpoint/2010/main" val="111086171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Autofit/>
          </a:bodyPr>
          <a:lstStyle/>
          <a:p>
            <a:r>
              <a:rPr lang="el-GR" sz="3600" b="1" dirty="0"/>
              <a:t>Παράδειγμα 1</a:t>
            </a:r>
          </a:p>
        </p:txBody>
      </p:sp>
      <p:sp>
        <p:nvSpPr>
          <p:cNvPr id="6" name="Content Placeholder 6"/>
          <p:cNvSpPr>
            <a:spLocks noGrp="1"/>
          </p:cNvSpPr>
          <p:nvPr>
            <p:ph idx="1"/>
          </p:nvPr>
        </p:nvSpPr>
        <p:spPr>
          <a:xfrm>
            <a:off x="457200" y="1472119"/>
            <a:ext cx="8229600" cy="1499681"/>
          </a:xfrm>
        </p:spPr>
        <p:txBody>
          <a:bodyPr>
            <a:noAutofit/>
          </a:bodyPr>
          <a:lstStyle/>
          <a:p>
            <a:pPr marL="550863" indent="-285750">
              <a:spcBef>
                <a:spcPts val="400"/>
              </a:spcBef>
            </a:pPr>
            <a:r>
              <a:rPr lang="el-GR" sz="2400" b="1" dirty="0"/>
              <a:t>Περιγραφή δραστηριότητας:</a:t>
            </a:r>
            <a:br>
              <a:rPr lang="el-GR" sz="2400" dirty="0"/>
            </a:br>
            <a:r>
              <a:rPr lang="el-GR" sz="2400" dirty="0"/>
              <a:t>Οι μαθητές, σε μικρές ομάδες, ερευνούν διαδικτυακά για τους κανόνες ασφαλούς πλοήγησης και δημιουργούν μια παρουσίαση  με παραδείγματα, εικόνες και προτάσεις</a:t>
            </a:r>
          </a:p>
        </p:txBody>
      </p:sp>
      <p:graphicFrame>
        <p:nvGraphicFramePr>
          <p:cNvPr id="2" name="Table 1"/>
          <p:cNvGraphicFramePr>
            <a:graphicFrameLocks noGrp="1"/>
          </p:cNvGraphicFramePr>
          <p:nvPr>
            <p:extLst>
              <p:ext uri="{D42A27DB-BD31-4B8C-83A1-F6EECF244321}">
                <p14:modId xmlns:p14="http://schemas.microsoft.com/office/powerpoint/2010/main" val="2442326479"/>
              </p:ext>
            </p:extLst>
          </p:nvPr>
        </p:nvGraphicFramePr>
        <p:xfrm>
          <a:off x="114300" y="3026281"/>
          <a:ext cx="8915400" cy="3662680"/>
        </p:xfrm>
        <a:graphic>
          <a:graphicData uri="http://schemas.openxmlformats.org/drawingml/2006/table">
            <a:tbl>
              <a:tblPr firstRow="1" bandRow="1">
                <a:tableStyleId>{93296810-A885-4BE3-A3E7-6D5BEEA58F35}</a:tableStyleId>
              </a:tblPr>
              <a:tblGrid>
                <a:gridCol w="1568450">
                  <a:extLst>
                    <a:ext uri="{9D8B030D-6E8A-4147-A177-3AD203B41FA5}">
                      <a16:colId xmlns:a16="http://schemas.microsoft.com/office/drawing/2014/main" val="1139020648"/>
                    </a:ext>
                  </a:extLst>
                </a:gridCol>
                <a:gridCol w="3219450">
                  <a:extLst>
                    <a:ext uri="{9D8B030D-6E8A-4147-A177-3AD203B41FA5}">
                      <a16:colId xmlns:a16="http://schemas.microsoft.com/office/drawing/2014/main" val="707633157"/>
                    </a:ext>
                  </a:extLst>
                </a:gridCol>
                <a:gridCol w="4127500">
                  <a:extLst>
                    <a:ext uri="{9D8B030D-6E8A-4147-A177-3AD203B41FA5}">
                      <a16:colId xmlns:a16="http://schemas.microsoft.com/office/drawing/2014/main" val="365453600"/>
                    </a:ext>
                  </a:extLst>
                </a:gridCol>
              </a:tblGrid>
              <a:tr h="370840">
                <a:tc>
                  <a:txBody>
                    <a:bodyPr/>
                    <a:lstStyle/>
                    <a:p>
                      <a:r>
                        <a:rPr lang="el-GR" dirty="0"/>
                        <a:t>Κωδικός</a:t>
                      </a:r>
                    </a:p>
                  </a:txBody>
                  <a:tcPr anchor="ctr"/>
                </a:tc>
                <a:tc>
                  <a:txBody>
                    <a:bodyPr/>
                    <a:lstStyle/>
                    <a:p>
                      <a:r>
                        <a:rPr lang="el-GR" dirty="0"/>
                        <a:t>Ικανότητα</a:t>
                      </a:r>
                    </a:p>
                  </a:txBody>
                  <a:tcPr anchor="ctr"/>
                </a:tc>
                <a:tc>
                  <a:txBody>
                    <a:bodyPr/>
                    <a:lstStyle/>
                    <a:p>
                      <a:r>
                        <a:rPr lang="el-GR"/>
                        <a:t>Πώς καλλιεργείται</a:t>
                      </a:r>
                    </a:p>
                  </a:txBody>
                  <a:tcPr anchor="ctr"/>
                </a:tc>
                <a:extLst>
                  <a:ext uri="{0D108BD9-81ED-4DB2-BD59-A6C34878D82A}">
                    <a16:rowId xmlns:a16="http://schemas.microsoft.com/office/drawing/2014/main" val="3883572163"/>
                  </a:ext>
                </a:extLst>
              </a:tr>
              <a:tr h="370840">
                <a:tc>
                  <a:txBody>
                    <a:bodyPr/>
                    <a:lstStyle/>
                    <a:p>
                      <a:r>
                        <a:rPr lang="el-GR" dirty="0"/>
                        <a:t>κ5</a:t>
                      </a:r>
                    </a:p>
                  </a:txBody>
                  <a:tcPr anchor="ctr"/>
                </a:tc>
                <a:tc>
                  <a:txBody>
                    <a:bodyPr/>
                    <a:lstStyle/>
                    <a:p>
                      <a:r>
                        <a:rPr lang="el-GR" dirty="0"/>
                        <a:t>Συλλογική εργασία</a:t>
                      </a:r>
                    </a:p>
                  </a:txBody>
                  <a:tcPr anchor="ctr"/>
                </a:tc>
                <a:tc>
                  <a:txBody>
                    <a:bodyPr/>
                    <a:lstStyle/>
                    <a:p>
                      <a:r>
                        <a:rPr lang="el-GR" dirty="0"/>
                        <a:t>Συνεργασία στην ομάδα για κατανομή ρόλων</a:t>
                      </a:r>
                    </a:p>
                  </a:txBody>
                  <a:tcPr anchor="ctr"/>
                </a:tc>
                <a:extLst>
                  <a:ext uri="{0D108BD9-81ED-4DB2-BD59-A6C34878D82A}">
                    <a16:rowId xmlns:a16="http://schemas.microsoft.com/office/drawing/2014/main" val="3763337717"/>
                  </a:ext>
                </a:extLst>
              </a:tr>
              <a:tr h="370840">
                <a:tc>
                  <a:txBody>
                    <a:bodyPr/>
                    <a:lstStyle/>
                    <a:p>
                      <a:r>
                        <a:rPr lang="el-GR" dirty="0"/>
                        <a:t>κ7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dirty="0"/>
                        <a:t>Άριστη, δόκιμη και συνετή χρήση ΤΠΕ</a:t>
                      </a:r>
                    </a:p>
                  </a:txBody>
                  <a:tcPr anchor="ctr"/>
                </a:tc>
                <a:tc>
                  <a:txBody>
                    <a:bodyPr/>
                    <a:lstStyle/>
                    <a:p>
                      <a:r>
                        <a:rPr lang="el-GR" dirty="0"/>
                        <a:t>οι μαθητές χρησιμοποιούν το διαδίκτυο για αναζήτηση πληροφοριών και ψηφιακό εργαλείο για να παράγουν ψηφιακό προϊόν.</a:t>
                      </a:r>
                    </a:p>
                  </a:txBody>
                  <a:tcPr anchor="ctr"/>
                </a:tc>
                <a:extLst>
                  <a:ext uri="{0D108BD9-81ED-4DB2-BD59-A6C34878D82A}">
                    <a16:rowId xmlns:a16="http://schemas.microsoft.com/office/drawing/2014/main" val="1201476918"/>
                  </a:ext>
                </a:extLst>
              </a:tr>
              <a:tr h="370840">
                <a:tc>
                  <a:txBody>
                    <a:bodyPr/>
                    <a:lstStyle/>
                    <a:p>
                      <a:r>
                        <a:rPr lang="el-GR" dirty="0"/>
                        <a:t>κ2</a:t>
                      </a:r>
                    </a:p>
                  </a:txBody>
                  <a:tcPr anchor="ctr"/>
                </a:tc>
                <a:tc>
                  <a:txBody>
                    <a:bodyPr/>
                    <a:lstStyle/>
                    <a:p>
                      <a:r>
                        <a:rPr lang="el-GR" dirty="0"/>
                        <a:t>Κριτική σκέψη/ </a:t>
                      </a:r>
                      <a:r>
                        <a:rPr lang="el-GR" dirty="0" err="1"/>
                        <a:t>αναστοχασμός</a:t>
                      </a:r>
                      <a:endParaRPr lang="el-GR" dirty="0"/>
                    </a:p>
                  </a:txBody>
                  <a:tcPr anchor="ctr"/>
                </a:tc>
                <a:tc>
                  <a:txBody>
                    <a:bodyPr/>
                    <a:lstStyle/>
                    <a:p>
                      <a:r>
                        <a:rPr lang="el-GR" dirty="0"/>
                        <a:t>Αν οι μαθητές δεν κάνουν απλώς αναζήτηση αλλά αξιολογούν τις πηγές, συγκρίνουν πληροφορίες και επιλέγουν τεκμηριωμένα τι θα συμπεριλάβουν στην παρουσίαση, τότε έχουμε σαφή Κ2.</a:t>
                      </a:r>
                    </a:p>
                  </a:txBody>
                  <a:tcPr anchor="ctr"/>
                </a:tc>
                <a:extLst>
                  <a:ext uri="{0D108BD9-81ED-4DB2-BD59-A6C34878D82A}">
                    <a16:rowId xmlns:a16="http://schemas.microsoft.com/office/drawing/2014/main" val="3807709153"/>
                  </a:ext>
                </a:extLst>
              </a:tr>
            </a:tbl>
          </a:graphicData>
        </a:graphic>
      </p:graphicFrame>
    </p:spTree>
    <p:extLst>
      <p:ext uri="{BB962C8B-B14F-4D97-AF65-F5344CB8AC3E}">
        <p14:creationId xmlns:p14="http://schemas.microsoft.com/office/powerpoint/2010/main" val="304731724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Autofit/>
          </a:bodyPr>
          <a:lstStyle/>
          <a:p>
            <a:r>
              <a:rPr lang="el-GR" sz="3600" b="1" dirty="0"/>
              <a:t>Παράδειγμα 2</a:t>
            </a:r>
          </a:p>
        </p:txBody>
      </p:sp>
      <p:sp>
        <p:nvSpPr>
          <p:cNvPr id="6" name="Content Placeholder 6"/>
          <p:cNvSpPr>
            <a:spLocks noGrp="1"/>
          </p:cNvSpPr>
          <p:nvPr>
            <p:ph idx="1"/>
          </p:nvPr>
        </p:nvSpPr>
        <p:spPr>
          <a:xfrm>
            <a:off x="0" y="1600201"/>
            <a:ext cx="8991600" cy="1600200"/>
          </a:xfrm>
        </p:spPr>
        <p:txBody>
          <a:bodyPr>
            <a:noAutofit/>
          </a:bodyPr>
          <a:lstStyle/>
          <a:p>
            <a:pPr marL="550863" indent="-285750">
              <a:spcBef>
                <a:spcPts val="400"/>
              </a:spcBef>
            </a:pPr>
            <a:r>
              <a:rPr lang="el-GR" sz="2400" b="1" dirty="0"/>
              <a:t>Περιγραφή δραστηριότητας:</a:t>
            </a:r>
            <a:br>
              <a:rPr lang="el-GR" sz="2400" dirty="0"/>
            </a:br>
            <a:r>
              <a:rPr lang="el-GR" sz="2400" dirty="0"/>
              <a:t>Οι μαθητές δημιουργούν ένα απλό παιχνίδι στο </a:t>
            </a:r>
            <a:r>
              <a:rPr lang="el-GR" sz="2400" dirty="0" err="1"/>
              <a:t>Scratch</a:t>
            </a:r>
            <a:r>
              <a:rPr lang="el-GR" sz="2400" dirty="0"/>
              <a:t> (π.χ. «Πιάσε τη μπάλα»), εφαρμόζοντας έννοιες επανάληψης, συνθηκών και μεταβλητών. Επιλέγουν και διαμορφώνουν ελεύθερα τους χαρακτήρες, τα γραφικά, το σκηνικό και στοιχεία του σεναρίου του παιχνιδιού.</a:t>
            </a:r>
          </a:p>
        </p:txBody>
      </p:sp>
      <p:graphicFrame>
        <p:nvGraphicFramePr>
          <p:cNvPr id="2" name="Table 1"/>
          <p:cNvGraphicFramePr>
            <a:graphicFrameLocks noGrp="1"/>
          </p:cNvGraphicFramePr>
          <p:nvPr>
            <p:extLst>
              <p:ext uri="{D42A27DB-BD31-4B8C-83A1-F6EECF244321}">
                <p14:modId xmlns:p14="http://schemas.microsoft.com/office/powerpoint/2010/main" val="2517793358"/>
              </p:ext>
            </p:extLst>
          </p:nvPr>
        </p:nvGraphicFramePr>
        <p:xfrm>
          <a:off x="181583" y="4112259"/>
          <a:ext cx="8839200" cy="2291080"/>
        </p:xfrm>
        <a:graphic>
          <a:graphicData uri="http://schemas.openxmlformats.org/drawingml/2006/table">
            <a:tbl>
              <a:tblPr firstRow="1" bandRow="1">
                <a:tableStyleId>{93296810-A885-4BE3-A3E7-6D5BEEA58F35}</a:tableStyleId>
              </a:tblPr>
              <a:tblGrid>
                <a:gridCol w="1555044">
                  <a:extLst>
                    <a:ext uri="{9D8B030D-6E8A-4147-A177-3AD203B41FA5}">
                      <a16:colId xmlns:a16="http://schemas.microsoft.com/office/drawing/2014/main" val="1139020648"/>
                    </a:ext>
                  </a:extLst>
                </a:gridCol>
                <a:gridCol w="3191934">
                  <a:extLst>
                    <a:ext uri="{9D8B030D-6E8A-4147-A177-3AD203B41FA5}">
                      <a16:colId xmlns:a16="http://schemas.microsoft.com/office/drawing/2014/main" val="707633157"/>
                    </a:ext>
                  </a:extLst>
                </a:gridCol>
                <a:gridCol w="4092222">
                  <a:extLst>
                    <a:ext uri="{9D8B030D-6E8A-4147-A177-3AD203B41FA5}">
                      <a16:colId xmlns:a16="http://schemas.microsoft.com/office/drawing/2014/main" val="365453600"/>
                    </a:ext>
                  </a:extLst>
                </a:gridCol>
              </a:tblGrid>
              <a:tr h="370840">
                <a:tc>
                  <a:txBody>
                    <a:bodyPr/>
                    <a:lstStyle/>
                    <a:p>
                      <a:r>
                        <a:rPr lang="el-GR" dirty="0"/>
                        <a:t>Κωδικός</a:t>
                      </a:r>
                    </a:p>
                  </a:txBody>
                  <a:tcPr anchor="ctr"/>
                </a:tc>
                <a:tc>
                  <a:txBody>
                    <a:bodyPr/>
                    <a:lstStyle/>
                    <a:p>
                      <a:r>
                        <a:rPr lang="el-GR" dirty="0"/>
                        <a:t>Ικανότητα</a:t>
                      </a:r>
                    </a:p>
                  </a:txBody>
                  <a:tcPr anchor="ctr"/>
                </a:tc>
                <a:tc>
                  <a:txBody>
                    <a:bodyPr/>
                    <a:lstStyle/>
                    <a:p>
                      <a:r>
                        <a:rPr lang="el-GR"/>
                        <a:t>Πώς καλλιεργείται</a:t>
                      </a:r>
                    </a:p>
                  </a:txBody>
                  <a:tcPr anchor="ctr"/>
                </a:tc>
                <a:extLst>
                  <a:ext uri="{0D108BD9-81ED-4DB2-BD59-A6C34878D82A}">
                    <a16:rowId xmlns:a16="http://schemas.microsoft.com/office/drawing/2014/main" val="3883572163"/>
                  </a:ext>
                </a:extLst>
              </a:tr>
              <a:tr h="370840">
                <a:tc>
                  <a:txBody>
                    <a:bodyPr/>
                    <a:lstStyle/>
                    <a:p>
                      <a:r>
                        <a:rPr lang="el-GR" dirty="0"/>
                        <a:t>κ4</a:t>
                      </a:r>
                    </a:p>
                  </a:txBody>
                  <a:tcPr anchor="ctr"/>
                </a:tc>
                <a:tc>
                  <a:txBody>
                    <a:bodyPr/>
                    <a:lstStyle/>
                    <a:p>
                      <a:r>
                        <a:rPr lang="el-GR" dirty="0"/>
                        <a:t>Ικανότητες ανάλυσης και σχεδιασμού</a:t>
                      </a:r>
                    </a:p>
                  </a:txBody>
                  <a:tcPr anchor="ctr"/>
                </a:tc>
                <a:tc>
                  <a:txBody>
                    <a:bodyPr/>
                    <a:lstStyle/>
                    <a:p>
                      <a:r>
                        <a:rPr lang="el-GR" dirty="0"/>
                        <a:t>οι μαθητές σχεδιάζουν οι ίδιοι τη λύση</a:t>
                      </a:r>
                    </a:p>
                  </a:txBody>
                  <a:tcPr anchor="ctr"/>
                </a:tc>
                <a:extLst>
                  <a:ext uri="{0D108BD9-81ED-4DB2-BD59-A6C34878D82A}">
                    <a16:rowId xmlns:a16="http://schemas.microsoft.com/office/drawing/2014/main" val="3763337717"/>
                  </a:ext>
                </a:extLst>
              </a:tr>
              <a:tr h="370840">
                <a:tc>
                  <a:txBody>
                    <a:bodyPr/>
                    <a:lstStyle/>
                    <a:p>
                      <a:r>
                        <a:rPr lang="el-GR"/>
                        <a:t>κ3</a:t>
                      </a:r>
                    </a:p>
                  </a:txBody>
                  <a:tcPr anchor="ctr"/>
                </a:tc>
                <a:tc>
                  <a:txBody>
                    <a:bodyPr/>
                    <a:lstStyle/>
                    <a:p>
                      <a:r>
                        <a:rPr lang="el-GR" dirty="0"/>
                        <a:t>Θεωρία → Πράξη</a:t>
                      </a:r>
                    </a:p>
                  </a:txBody>
                  <a:tcPr anchor="ctr"/>
                </a:tc>
                <a:tc>
                  <a:txBody>
                    <a:bodyPr/>
                    <a:lstStyle/>
                    <a:p>
                      <a:r>
                        <a:rPr lang="el-GR" dirty="0"/>
                        <a:t>Εφαρμογή θεωρητικών εννοιών προγραμματισμού</a:t>
                      </a:r>
                    </a:p>
                  </a:txBody>
                  <a:tcPr anchor="ctr"/>
                </a:tc>
                <a:extLst>
                  <a:ext uri="{0D108BD9-81ED-4DB2-BD59-A6C34878D82A}">
                    <a16:rowId xmlns:a16="http://schemas.microsoft.com/office/drawing/2014/main" val="1201476918"/>
                  </a:ext>
                </a:extLst>
              </a:tr>
              <a:tr h="370840">
                <a:tc>
                  <a:txBody>
                    <a:bodyPr/>
                    <a:lstStyle/>
                    <a:p>
                      <a:r>
                        <a:rPr lang="el-GR" dirty="0"/>
                        <a:t>κ1</a:t>
                      </a:r>
                    </a:p>
                  </a:txBody>
                  <a:tcPr anchor="ctr"/>
                </a:tc>
                <a:tc>
                  <a:txBody>
                    <a:bodyPr/>
                    <a:lstStyle/>
                    <a:p>
                      <a:r>
                        <a:rPr lang="el-GR"/>
                        <a:t>Δημιουργικότητα</a:t>
                      </a:r>
                    </a:p>
                  </a:txBody>
                  <a:tcPr anchor="ctr"/>
                </a:tc>
                <a:tc>
                  <a:txBody>
                    <a:bodyPr/>
                    <a:lstStyle/>
                    <a:p>
                      <a:r>
                        <a:rPr lang="el-GR" dirty="0"/>
                        <a:t>Επιλογή γραφικών, κανόνων και σεναρίου παιχνιδιού</a:t>
                      </a:r>
                    </a:p>
                  </a:txBody>
                  <a:tcPr anchor="ctr"/>
                </a:tc>
                <a:extLst>
                  <a:ext uri="{0D108BD9-81ED-4DB2-BD59-A6C34878D82A}">
                    <a16:rowId xmlns:a16="http://schemas.microsoft.com/office/drawing/2014/main" val="3807709153"/>
                  </a:ext>
                </a:extLst>
              </a:tr>
            </a:tbl>
          </a:graphicData>
        </a:graphic>
      </p:graphicFrame>
    </p:spTree>
    <p:extLst>
      <p:ext uri="{BB962C8B-B14F-4D97-AF65-F5344CB8AC3E}">
        <p14:creationId xmlns:p14="http://schemas.microsoft.com/office/powerpoint/2010/main" val="48948999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Autofit/>
          </a:bodyPr>
          <a:lstStyle/>
          <a:p>
            <a:r>
              <a:rPr lang="el-GR" sz="3600" b="1" dirty="0"/>
              <a:t>Παράδειγμα </a:t>
            </a:r>
            <a:r>
              <a:rPr lang="en-US" sz="3600" b="1" dirty="0"/>
              <a:t>3</a:t>
            </a:r>
            <a:endParaRPr lang="el-GR" sz="3600" b="1" dirty="0"/>
          </a:p>
        </p:txBody>
      </p:sp>
      <p:sp>
        <p:nvSpPr>
          <p:cNvPr id="6" name="Content Placeholder 6"/>
          <p:cNvSpPr>
            <a:spLocks noGrp="1"/>
          </p:cNvSpPr>
          <p:nvPr>
            <p:ph idx="1"/>
          </p:nvPr>
        </p:nvSpPr>
        <p:spPr>
          <a:xfrm>
            <a:off x="457200" y="1524000"/>
            <a:ext cx="8229600" cy="1600200"/>
          </a:xfrm>
        </p:spPr>
        <p:txBody>
          <a:bodyPr>
            <a:noAutofit/>
          </a:bodyPr>
          <a:lstStyle/>
          <a:p>
            <a:pPr marL="550863" indent="-285750">
              <a:spcBef>
                <a:spcPts val="400"/>
              </a:spcBef>
            </a:pPr>
            <a:r>
              <a:rPr lang="el-GR" sz="2400" b="1" dirty="0"/>
              <a:t>Περιγραφή δραστηριότητας:</a:t>
            </a:r>
            <a:br>
              <a:rPr lang="el-GR" sz="2400" dirty="0"/>
            </a:br>
            <a:r>
              <a:rPr lang="el-GR" sz="2400" dirty="0"/>
              <a:t>Οι μαθητές σχεδιάζουν καλούνται να λύσουν την άσκηση στην </a:t>
            </a:r>
            <a:r>
              <a:rPr lang="en-US" sz="2400" dirty="0"/>
              <a:t>Python </a:t>
            </a:r>
            <a:r>
              <a:rPr lang="el-GR" sz="2400" dirty="0"/>
              <a:t>που δέχεται </a:t>
            </a:r>
            <a:r>
              <a:rPr lang="en-US" sz="2400" dirty="0"/>
              <a:t>3 </a:t>
            </a:r>
            <a:r>
              <a:rPr lang="el-GR" sz="2400" dirty="0"/>
              <a:t>ακέραιους αριθμούς και τυπώνει τον μεσαίο σε αξία. Ο μαθητές εργάζονται ομαδικά και καλούνται να παρουσιάσουν 2 διαφορετικούς τρόπους επίλυσης του προβλήματος.</a:t>
            </a:r>
          </a:p>
        </p:txBody>
      </p:sp>
      <p:graphicFrame>
        <p:nvGraphicFramePr>
          <p:cNvPr id="2" name="Table 1"/>
          <p:cNvGraphicFramePr>
            <a:graphicFrameLocks noGrp="1"/>
          </p:cNvGraphicFramePr>
          <p:nvPr>
            <p:extLst>
              <p:ext uri="{D42A27DB-BD31-4B8C-83A1-F6EECF244321}">
                <p14:modId xmlns:p14="http://schemas.microsoft.com/office/powerpoint/2010/main" val="1807728487"/>
              </p:ext>
            </p:extLst>
          </p:nvPr>
        </p:nvGraphicFramePr>
        <p:xfrm>
          <a:off x="431260" y="3733801"/>
          <a:ext cx="8229600" cy="2936240"/>
        </p:xfrm>
        <a:graphic>
          <a:graphicData uri="http://schemas.openxmlformats.org/drawingml/2006/table">
            <a:tbl>
              <a:tblPr firstRow="1" bandRow="1">
                <a:tableStyleId>{93296810-A885-4BE3-A3E7-6D5BEEA58F35}</a:tableStyleId>
              </a:tblPr>
              <a:tblGrid>
                <a:gridCol w="1447800">
                  <a:extLst>
                    <a:ext uri="{9D8B030D-6E8A-4147-A177-3AD203B41FA5}">
                      <a16:colId xmlns:a16="http://schemas.microsoft.com/office/drawing/2014/main" val="1139020648"/>
                    </a:ext>
                  </a:extLst>
                </a:gridCol>
                <a:gridCol w="2971800">
                  <a:extLst>
                    <a:ext uri="{9D8B030D-6E8A-4147-A177-3AD203B41FA5}">
                      <a16:colId xmlns:a16="http://schemas.microsoft.com/office/drawing/2014/main" val="707633157"/>
                    </a:ext>
                  </a:extLst>
                </a:gridCol>
                <a:gridCol w="3810000">
                  <a:extLst>
                    <a:ext uri="{9D8B030D-6E8A-4147-A177-3AD203B41FA5}">
                      <a16:colId xmlns:a16="http://schemas.microsoft.com/office/drawing/2014/main" val="365453600"/>
                    </a:ext>
                  </a:extLst>
                </a:gridCol>
              </a:tblGrid>
              <a:tr h="370840">
                <a:tc>
                  <a:txBody>
                    <a:bodyPr/>
                    <a:lstStyle/>
                    <a:p>
                      <a:r>
                        <a:rPr lang="el-GR" dirty="0"/>
                        <a:t>Κωδικός</a:t>
                      </a:r>
                    </a:p>
                  </a:txBody>
                  <a:tcPr anchor="ctr"/>
                </a:tc>
                <a:tc>
                  <a:txBody>
                    <a:bodyPr/>
                    <a:lstStyle/>
                    <a:p>
                      <a:r>
                        <a:rPr lang="el-GR" dirty="0"/>
                        <a:t>Ικανότητα</a:t>
                      </a:r>
                    </a:p>
                  </a:txBody>
                  <a:tcPr anchor="ctr"/>
                </a:tc>
                <a:tc>
                  <a:txBody>
                    <a:bodyPr/>
                    <a:lstStyle/>
                    <a:p>
                      <a:r>
                        <a:rPr lang="el-GR"/>
                        <a:t>Πώς καλλιεργείται</a:t>
                      </a:r>
                    </a:p>
                  </a:txBody>
                  <a:tcPr anchor="ctr"/>
                </a:tc>
                <a:extLst>
                  <a:ext uri="{0D108BD9-81ED-4DB2-BD59-A6C34878D82A}">
                    <a16:rowId xmlns:a16="http://schemas.microsoft.com/office/drawing/2014/main" val="3883572163"/>
                  </a:ext>
                </a:extLst>
              </a:tr>
              <a:tr h="370840">
                <a:tc>
                  <a:txBody>
                    <a:bodyPr/>
                    <a:lstStyle/>
                    <a:p>
                      <a:r>
                        <a:rPr lang="el-GR" dirty="0"/>
                        <a:t>κ3</a:t>
                      </a:r>
                    </a:p>
                  </a:txBody>
                  <a:tcPr anchor="ctr"/>
                </a:tc>
                <a:tc>
                  <a:txBody>
                    <a:bodyPr/>
                    <a:lstStyle/>
                    <a:p>
                      <a:r>
                        <a:rPr lang="el-GR" dirty="0"/>
                        <a:t>Εφαρμογή θεωρίας στην πράξη</a:t>
                      </a:r>
                    </a:p>
                  </a:txBody>
                  <a:tcPr anchor="ctr"/>
                </a:tc>
                <a:tc>
                  <a:txBody>
                    <a:bodyPr/>
                    <a:lstStyle/>
                    <a:p>
                      <a:r>
                        <a:rPr lang="el-GR" dirty="0"/>
                        <a:t>Εφαρμογή στην πράξη της θεωρίας</a:t>
                      </a:r>
                    </a:p>
                  </a:txBody>
                  <a:tcPr anchor="ctr"/>
                </a:tc>
                <a:extLst>
                  <a:ext uri="{0D108BD9-81ED-4DB2-BD59-A6C34878D82A}">
                    <a16:rowId xmlns:a16="http://schemas.microsoft.com/office/drawing/2014/main" val="3763337717"/>
                  </a:ext>
                </a:extLst>
              </a:tr>
              <a:tr h="370840">
                <a:tc>
                  <a:txBody>
                    <a:bodyPr/>
                    <a:lstStyle/>
                    <a:p>
                      <a:r>
                        <a:rPr lang="el-GR" dirty="0"/>
                        <a:t>κ4</a:t>
                      </a:r>
                    </a:p>
                  </a:txBody>
                  <a:tcPr anchor="ctr"/>
                </a:tc>
                <a:tc>
                  <a:txBody>
                    <a:bodyPr/>
                    <a:lstStyle/>
                    <a:p>
                      <a:r>
                        <a:rPr lang="el-GR" dirty="0"/>
                        <a:t>Ικανότητες ανάλυσης / σχεδιασμού</a:t>
                      </a:r>
                    </a:p>
                  </a:txBody>
                  <a:tcPr anchor="ctr"/>
                </a:tc>
                <a:tc>
                  <a:txBody>
                    <a:bodyPr/>
                    <a:lstStyle/>
                    <a:p>
                      <a:r>
                        <a:rPr lang="el-GR" dirty="0"/>
                        <a:t>Σχεδιασμός λύσεων</a:t>
                      </a:r>
                    </a:p>
                  </a:txBody>
                  <a:tcPr anchor="ctr"/>
                </a:tc>
                <a:extLst>
                  <a:ext uri="{0D108BD9-81ED-4DB2-BD59-A6C34878D82A}">
                    <a16:rowId xmlns:a16="http://schemas.microsoft.com/office/drawing/2014/main" val="1201476918"/>
                  </a:ext>
                </a:extLst>
              </a:tr>
              <a:tr h="370840">
                <a:tc>
                  <a:txBody>
                    <a:bodyPr/>
                    <a:lstStyle/>
                    <a:p>
                      <a:r>
                        <a:rPr lang="el-GR" dirty="0"/>
                        <a:t>κ6</a:t>
                      </a:r>
                    </a:p>
                  </a:txBody>
                  <a:tcPr anchor="ctr"/>
                </a:tc>
                <a:tc>
                  <a:txBody>
                    <a:bodyPr/>
                    <a:lstStyle/>
                    <a:p>
                      <a:r>
                        <a:rPr lang="el-GR" dirty="0"/>
                        <a:t>Ικανότητα λύσης προβλημάτων / Αναζήτηση εναλλακτικών λύσεων</a:t>
                      </a:r>
                    </a:p>
                  </a:txBody>
                  <a:tcPr anchor="ctr"/>
                </a:tc>
                <a:tc>
                  <a:txBody>
                    <a:bodyPr/>
                    <a:lstStyle/>
                    <a:p>
                      <a:r>
                        <a:rPr lang="el-GR" dirty="0"/>
                        <a:t>Οι μαθητές πρέπει να δώσουν 2 διαφορετικούς λύσεις.</a:t>
                      </a:r>
                    </a:p>
                  </a:txBody>
                  <a:tcPr anchor="ctr"/>
                </a:tc>
                <a:extLst>
                  <a:ext uri="{0D108BD9-81ED-4DB2-BD59-A6C34878D82A}">
                    <a16:rowId xmlns:a16="http://schemas.microsoft.com/office/drawing/2014/main" val="4014740569"/>
                  </a:ext>
                </a:extLst>
              </a:tr>
              <a:tr h="370840">
                <a:tc>
                  <a:txBody>
                    <a:bodyPr/>
                    <a:lstStyle/>
                    <a:p>
                      <a:r>
                        <a:rPr lang="el-GR" dirty="0"/>
                        <a:t>κ5</a:t>
                      </a:r>
                    </a:p>
                  </a:txBody>
                  <a:tcPr anchor="ctr"/>
                </a:tc>
                <a:tc>
                  <a:txBody>
                    <a:bodyPr/>
                    <a:lstStyle/>
                    <a:p>
                      <a:r>
                        <a:rPr lang="el-GR" dirty="0"/>
                        <a:t>Συλλογική εργασία</a:t>
                      </a:r>
                    </a:p>
                  </a:txBody>
                  <a:tcPr anchor="ctr"/>
                </a:tc>
                <a:tc>
                  <a:txBody>
                    <a:bodyPr/>
                    <a:lstStyle/>
                    <a:p>
                      <a:r>
                        <a:rPr lang="el-GR" dirty="0"/>
                        <a:t>Συνεργασία σε ομάδες</a:t>
                      </a:r>
                    </a:p>
                  </a:txBody>
                  <a:tcPr anchor="ctr"/>
                </a:tc>
                <a:extLst>
                  <a:ext uri="{0D108BD9-81ED-4DB2-BD59-A6C34878D82A}">
                    <a16:rowId xmlns:a16="http://schemas.microsoft.com/office/drawing/2014/main" val="342050734"/>
                  </a:ext>
                </a:extLst>
              </a:tr>
            </a:tbl>
          </a:graphicData>
        </a:graphic>
      </p:graphicFrame>
    </p:spTree>
    <p:extLst>
      <p:ext uri="{BB962C8B-B14F-4D97-AF65-F5344CB8AC3E}">
        <p14:creationId xmlns:p14="http://schemas.microsoft.com/office/powerpoint/2010/main" val="123218293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2A285BE-4FC8-2BB3-D34C-6800E445EEA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16910B7-9645-E864-F7A5-AC7EE5432DEB}"/>
              </a:ext>
            </a:extLst>
          </p:cNvPr>
          <p:cNvSpPr>
            <a:spLocks noGrp="1"/>
          </p:cNvSpPr>
          <p:nvPr>
            <p:ph type="title"/>
          </p:nvPr>
        </p:nvSpPr>
        <p:spPr>
          <a:solidFill>
            <a:srgbClr val="FAC090"/>
          </a:solidFill>
        </p:spPr>
        <p:txBody>
          <a:bodyPr>
            <a:noAutofit/>
          </a:bodyPr>
          <a:lstStyle/>
          <a:p>
            <a:r>
              <a:rPr lang="el-GR" sz="3600" b="1" dirty="0"/>
              <a:t>κ8</a:t>
            </a:r>
          </a:p>
        </p:txBody>
      </p:sp>
      <p:sp>
        <p:nvSpPr>
          <p:cNvPr id="6" name="Content Placeholder 6">
            <a:extLst>
              <a:ext uri="{FF2B5EF4-FFF2-40B4-BE49-F238E27FC236}">
                <a16:creationId xmlns:a16="http://schemas.microsoft.com/office/drawing/2014/main" id="{41E677FE-8F36-742D-B2FB-A806A8737718}"/>
              </a:ext>
            </a:extLst>
          </p:cNvPr>
          <p:cNvSpPr>
            <a:spLocks noGrp="1"/>
          </p:cNvSpPr>
          <p:nvPr>
            <p:ph idx="1"/>
          </p:nvPr>
        </p:nvSpPr>
        <p:spPr>
          <a:xfrm>
            <a:off x="152400" y="1600200"/>
            <a:ext cx="8839200" cy="5181599"/>
          </a:xfrm>
        </p:spPr>
        <p:txBody>
          <a:bodyPr>
            <a:noAutofit/>
          </a:bodyPr>
          <a:lstStyle/>
          <a:p>
            <a:pPr marL="550863" indent="-285750">
              <a:spcBef>
                <a:spcPts val="400"/>
              </a:spcBef>
            </a:pPr>
            <a:r>
              <a:rPr lang="el-GR" sz="2400" b="1" dirty="0"/>
              <a:t>Περιγραφή δραστηριότητας:</a:t>
            </a:r>
            <a:endParaRPr lang="en-US" sz="2400" b="1" dirty="0"/>
          </a:p>
          <a:p>
            <a:pPr marL="265113" indent="0">
              <a:spcBef>
                <a:spcPts val="400"/>
              </a:spcBef>
              <a:buNone/>
            </a:pPr>
            <a:r>
              <a:rPr lang="el-GR" sz="2400" dirty="0"/>
              <a:t>Οι μαθητές εργάζονται σε ζευγάρια. Τους δίνεται ένα απότομο και αγενές μήνυμα ηλεκτρονικού ταχυδρομείου που υποτίθεται ότι ένας μαθητής έστειλε σε έναν καθηγητή</a:t>
            </a:r>
            <a:r>
              <a:rPr lang="el-GR" sz="2400" b="1" dirty="0"/>
              <a:t>:</a:t>
            </a:r>
            <a:r>
              <a:rPr lang="en-US" sz="2400" b="1" dirty="0"/>
              <a:t> </a:t>
            </a:r>
            <a:r>
              <a:rPr lang="el-GR" sz="2400" b="1" dirty="0"/>
              <a:t>«Δεν κατάλαβα τίποτα από την εργασία. Στείλε μου τι πρέπει να κάνω γιατί πρέπει να την παραδώσω αύριο.»</a:t>
            </a:r>
            <a:endParaRPr lang="en-US" sz="2400" b="1" dirty="0"/>
          </a:p>
          <a:p>
            <a:pPr marL="265113" indent="0">
              <a:spcBef>
                <a:spcPts val="400"/>
              </a:spcBef>
              <a:buNone/>
            </a:pPr>
            <a:r>
              <a:rPr lang="el-GR" sz="2400" dirty="0"/>
              <a:t>Οι μαθητές συζητούν πώς μπορεί να αισθανθεί ο παραλήπτης διαβάζοντας το συγκεκριμένο μήνυμα και εντοπίζουν σημεία που θα μπορούσαν να δημιουργήσουν αρνητική εντύπωση ή παρεξήγηση. Στη συνέχεια, ξαναγράφουν το email χρησιμοποιώντας ευγενικό και κατάλληλο ύφος, χωρίς όμως να αλλάξουν τον σκοπό του μηνύματος. Τα ζευγάρια παρουσιάζουν τις προτάσεις τους στην τάξη και συζητούν τις διαφορετικές διατυπώσεις.</a:t>
            </a:r>
          </a:p>
        </p:txBody>
      </p:sp>
    </p:spTree>
    <p:extLst>
      <p:ext uri="{BB962C8B-B14F-4D97-AF65-F5344CB8AC3E}">
        <p14:creationId xmlns:p14="http://schemas.microsoft.com/office/powerpoint/2010/main" val="1171405002"/>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4439</TotalTime>
  <Words>702</Words>
  <Application>Microsoft Office PowerPoint</Application>
  <PresentationFormat>On-screen Show (4:3)</PresentationFormat>
  <Paragraphs>93</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Δημιουργία Σχέδιου Μαθήματος (κομβικές δεξιότητες)</vt:lpstr>
      <vt:lpstr>Κομβικές Ικανότητες</vt:lpstr>
      <vt:lpstr>Ο ρόλος τους στο Σχέδιο Μαθήματος</vt:lpstr>
      <vt:lpstr>PowerPoint Presentation</vt:lpstr>
      <vt:lpstr>Παράδειγμα 1</vt:lpstr>
      <vt:lpstr>Παράδειγμα 2</vt:lpstr>
      <vt:lpstr>Παράδειγμα 3</vt:lpstr>
      <vt:lpstr>κ8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Άριστος Αρέστη</cp:lastModifiedBy>
  <cp:revision>126</cp:revision>
  <dcterms:created xsi:type="dcterms:W3CDTF">2015-09-15T19:28:21Z</dcterms:created>
  <dcterms:modified xsi:type="dcterms:W3CDTF">2026-10-18T18:28:47Z</dcterms:modified>
</cp:coreProperties>
</file>